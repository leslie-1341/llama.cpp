
<file path=[Content_Types].xml><?xml version="1.0" encoding="utf-8"?>
<Types xmlns="http://schemas.openxmlformats.org/package/2006/content-types">
  <Default Extension="jpeg" ContentType="image/jpeg"/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1.xml" ContentType="application/vnd.openxmlformats-officedocument.presentationml.notesSlide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ags/tag17.xml" ContentType="application/vnd.openxmlformats-officedocument.presentationml.tag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handoutMasterIdLst>
    <p:handoutMasterId r:id="rId42"/>
  </p:handoutMasterIdLst>
  <p:sldIdLst>
    <p:sldId id="257" r:id="rId2"/>
    <p:sldId id="258" r:id="rId3"/>
    <p:sldId id="264" r:id="rId4"/>
    <p:sldId id="260" r:id="rId5"/>
    <p:sldId id="292" r:id="rId6"/>
    <p:sldId id="293" r:id="rId7"/>
    <p:sldId id="294" r:id="rId8"/>
    <p:sldId id="295" r:id="rId9"/>
    <p:sldId id="296" r:id="rId10"/>
    <p:sldId id="297" r:id="rId11"/>
    <p:sldId id="309" r:id="rId12"/>
    <p:sldId id="266" r:id="rId13"/>
    <p:sldId id="300" r:id="rId14"/>
    <p:sldId id="758" r:id="rId15"/>
    <p:sldId id="310" r:id="rId16"/>
    <p:sldId id="272" r:id="rId17"/>
    <p:sldId id="301" r:id="rId18"/>
    <p:sldId id="303" r:id="rId19"/>
    <p:sldId id="765" r:id="rId20"/>
    <p:sldId id="304" r:id="rId21"/>
    <p:sldId id="311" r:id="rId22"/>
    <p:sldId id="278" r:id="rId23"/>
    <p:sldId id="280" r:id="rId24"/>
    <p:sldId id="754" r:id="rId25"/>
    <p:sldId id="759" r:id="rId26"/>
    <p:sldId id="766" r:id="rId27"/>
    <p:sldId id="281" r:id="rId28"/>
    <p:sldId id="313" r:id="rId29"/>
    <p:sldId id="314" r:id="rId30"/>
    <p:sldId id="760" r:id="rId31"/>
    <p:sldId id="306" r:id="rId32"/>
    <p:sldId id="755" r:id="rId33"/>
    <p:sldId id="762" r:id="rId34"/>
    <p:sldId id="763" r:id="rId35"/>
    <p:sldId id="312" r:id="rId36"/>
    <p:sldId id="757" r:id="rId37"/>
    <p:sldId id="756" r:id="rId38"/>
    <p:sldId id="286" r:id="rId39"/>
    <p:sldId id="753" r:id="rId4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1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34263"/>
    <a:srgbClr val="3A6695"/>
    <a:srgbClr val="9CC5FD"/>
    <a:srgbClr val="1E2B5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6D9F66E-5EB9-4882-86FB-DCBF35E3C3E4}" styleName="中度样式 4 - 强调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912C8C85-51F0-491E-9774-3900AFEF0FD7}" styleName="浅色样式 2 - 强调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8A107856-5554-42FB-B03E-39F5DBC370BA}" styleName="中度样式 4 - 强调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AF606853-7671-496A-8E4F-DF71F8EC918B}" styleName="深色样式 1 - 强调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46F890A9-2807-4EBB-B81D-B2AA78EC7F39}" styleName="深色样式 2 - 强调 5/强调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0A1B5D5-9B99-4C35-A422-299274C87663}" styleName="中度样式 1 - 强调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中度样式 2 - 强调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8FB837D-C827-4EFA-A057-4D05807E0F7C}" styleName="主题样式 1 - 强调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A488322-F2BA-4B5B-9748-0D474271808F}" styleName="中度样式 3 - 强调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779" autoAdjust="0"/>
    <p:restoredTop sz="93963" autoAdjust="0"/>
  </p:normalViewPr>
  <p:slideViewPr>
    <p:cSldViewPr snapToGrid="0">
      <p:cViewPr>
        <p:scale>
          <a:sx n="75" d="100"/>
          <a:sy n="75" d="100"/>
        </p:scale>
        <p:origin x="1912" y="816"/>
      </p:cViewPr>
      <p:guideLst>
        <p:guide orient="horz" pos="2212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b="1" smtClean="0">
                <a:latin typeface="Songti SC" panose="02010600040101010101" pitchFamily="2" charset="-122"/>
                <a:ea typeface="Songti SC" panose="02010600040101010101" pitchFamily="2" charset="-122"/>
              </a:rPr>
              <a:t>2026/8/12</a:t>
            </a:fld>
            <a:endParaRPr lang="zh-CN" altLang="en-US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b="1" smtClean="0">
                <a:latin typeface="Songti SC" panose="02010600040101010101" pitchFamily="2" charset="-122"/>
                <a:ea typeface="Songti SC" panose="02010600040101010101" pitchFamily="2" charset="-122"/>
              </a:rPr>
              <a:t>‹#›</a:t>
            </a:fld>
            <a:endParaRPr lang="zh-CN" altLang="en-US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E7CE4261-0CDD-45A3-84C2-311859DE5B03}" type="datetimeFigureOut">
              <a:rPr lang="zh-CN" altLang="en-US" smtClean="0"/>
              <a:pPr/>
              <a:t>2026/8/12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5EF711DA-82CB-44C8-99EC-9CE596A896F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1" i="0" kern="1200">
        <a:solidFill>
          <a:schemeClr val="tx1"/>
        </a:solidFill>
        <a:latin typeface="Songti SC" panose="02010600040101010101" pitchFamily="2" charset="-122"/>
        <a:ea typeface="Songti SC" panose="02010600040101010101" pitchFamily="2" charset="-122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亮亮图文旗舰店</a:t>
            </a:r>
          </a:p>
          <a:p>
            <a:r>
              <a:rPr lang="en-US" altLang="zh-CN" dirty="0"/>
              <a:t>https://liangliangtuwen.tmall.com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3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4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5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6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7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8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9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10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D9667-5382-5AA7-46CE-46B023825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958EDC4-718A-FBF7-0D0B-F1AA83EDB0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FD5CFBA-482A-E121-90F1-747CFC6350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9D3C4E4-7DE8-2165-63FC-59E02D77AE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46702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12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13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6004FC-4B70-5D98-BA3D-204AE1D70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4D123D1-A807-0997-CD9C-6C06AFAFDC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A772D3C-FE89-0C28-1287-72FF4FE87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5E4B531-F90D-54B3-4F55-57D7268E13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903791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A2825-5022-E0C1-39BA-6BC2AFEAB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9F9086A-C23E-9224-92E1-C0CF6DAA31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0EF7224-9EFE-80A4-5047-9E23ED39A3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4A4CA37-3BCC-4BB1-C30D-9F3039DEB3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02701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16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17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18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3AE90-D771-89A1-7B58-69C7CF0F1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76A0F4D-677F-E30C-491E-700BB8DFB2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EEF1A2F-01DB-7070-B2DB-5718E10FB1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AC8ECD0-CA02-8D90-ECCA-7040D31A1D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7955990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20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635CE-8439-F93A-1AB4-B6B3FC3D7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B2A1E29-993F-8373-56FE-0EE3B2A274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2DD9770-8470-EA4C-551A-4DC28B5C54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319EBBD-E5F6-D48E-D6AE-B7CC967CA2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15298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22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23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BCF1F-DFB0-BDE2-055B-53EB39083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370D092-A16E-FB08-7272-B62762105E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ED7EA06-C8FB-3FBC-32D6-2D6D524D1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5CC968C-883A-1EE7-55B7-77F01FD610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981647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9F02C-90CC-AF25-3F65-6CBE8F9A0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52597E8-CB1F-9214-EA35-0BC1488E3E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01F4ADB-37D3-B7C8-A099-CFCD6C2818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88CA79D-1693-CB71-4AC4-8375569A99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25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30369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7FDEC3-7A09-3FC7-F9E2-AB46D00FD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6C7F066-EF2E-2455-C287-02D33806A2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7207C86-7D43-901A-8CEF-08A1382765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1E28371-51DA-BF31-CABB-79AB31AED9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26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515176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27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A4506-AB9F-0747-C80F-4B6DFF936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90507B6-3F7C-A887-53CF-C26C80D30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D6BE6E5-A4C4-4B15-CDB0-134E2D769F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4210BBD-F9A1-368D-6C93-2A5E0723EF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475707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A2FDD-1C95-7617-95F6-AF078E5E7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F25EDDF-29FB-3A5C-C13F-B89E901EFC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12985FD-0EBA-D322-C37B-052F04D0D1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E3445D4-FBC8-0405-7FE5-C0EC6C251D2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210197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E33325-1164-9F64-4FF4-DFD316C72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74EB917-6B30-90A3-5064-B022E58E78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768D87F-7ED0-4AA8-56C9-BE318CD93E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11983B8-799B-65E3-5C35-4BE5EC77791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708538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31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DA65A-8E0D-DCF4-E3BC-BE67FA0FC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19D45A4-622F-FDF3-449F-40943AA175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2316F3E-326C-849A-A69A-6BA903E948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1AF2A9B-E8C0-151D-6ECA-4B941607DB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32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353288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84B58-EE0B-5748-BB80-9EBA69E93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0C641A4-57E9-7544-BD4E-9CF22DE1CA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D9F868C-B509-C597-4C38-44AAE655A7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898198D-A7A6-267F-AB1C-36035AF9F6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33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0267471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B4954-FDEF-CCCA-19B1-FFEFFE60F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ADDDED5-2BFD-FF38-A5B5-4BDF5D8755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C392E43-DB24-87FD-11C1-16E9721FFD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9A9FA32-7413-92D6-83E3-622ADD8FDF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34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821193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7EAC4-E799-31E6-AC1C-16077A79E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C49EF2E-2454-81AB-CB7E-DA7CFE79CF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18FDA03-24C5-1371-87FB-05AA4B0BEF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C719DF0-5A16-0B93-23DE-B9537949A0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35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824835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57EA8-88BE-6367-A531-53FCFFEA1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58FD1E9-3C7F-22DF-E566-60B27CD188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80E2E7B-C8F5-144F-D0B4-BA31FF4975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CBADB64-5D4E-33D5-90D9-441B552E97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36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46994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BB4CA-F53D-ED13-4520-E6D8A9A78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2A63712-FD28-522D-E14A-50602774C4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A9903E6-15EA-C09C-61AD-1EA35B6492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AF211F9-3A32-72F6-72A4-569D27048D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37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820641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F711DA-82CB-44C8-99EC-9CE596A896FB}" type="slidenum">
              <a:rPr lang="zh-CN" altLang="en-US" smtClean="0"/>
              <a:t>38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2EB26A-5605-47B9-8D7B-49FE0922DC13}" type="slidenum">
              <a:rPr lang="zh-CN" altLang="en-US" smtClean="0"/>
              <a:t>39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694536CA-A6C4-4358-AF93-5CCBD70D248C}" type="datetimeFigureOut">
              <a:rPr lang="zh-CN" altLang="en-US" smtClean="0"/>
              <a:pPr/>
              <a:t>2026/8/12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A8537B7A-7510-410A-AA53-45D600DA0276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  <a:lvl2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2pPr>
            <a:lvl3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3pPr>
            <a:lvl4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4pPr>
            <a:lvl5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5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694536CA-A6C4-4358-AF93-5CCBD70D248C}" type="datetimeFigureOut">
              <a:rPr lang="zh-CN" altLang="en-US" smtClean="0"/>
              <a:pPr/>
              <a:t>2026/8/12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A8537B7A-7510-410A-AA53-45D600DA0276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 b="1" i="0">
                <a:solidFill>
                  <a:schemeClr val="tx1">
                    <a:tint val="75000"/>
                  </a:schemeClr>
                </a:solidFill>
                <a:latin typeface="Songti SC" panose="02010600040101010101" pitchFamily="2" charset="-122"/>
                <a:ea typeface="Songti SC" panose="02010600040101010101" pitchFamily="2" charset="-122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694536CA-A6C4-4358-AF93-5CCBD70D248C}" type="datetimeFigureOut">
              <a:rPr lang="zh-CN" altLang="en-US" smtClean="0"/>
              <a:pPr/>
              <a:t>2026/8/12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A8537B7A-7510-410A-AA53-45D600DA0276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  <a:lvl2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2pPr>
            <a:lvl3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3pPr>
            <a:lvl4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4pPr>
            <a:lvl5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5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  <a:lvl2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2pPr>
            <a:lvl3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3pPr>
            <a:lvl4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4pPr>
            <a:lvl5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5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694536CA-A6C4-4358-AF93-5CCBD70D248C}" type="datetimeFigureOut">
              <a:rPr lang="zh-CN" altLang="en-US" smtClean="0"/>
              <a:pPr/>
              <a:t>2026/8/12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A8537B7A-7510-410A-AA53-45D600DA0276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  <a:lvl2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2pPr>
            <a:lvl3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3pPr>
            <a:lvl4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4pPr>
            <a:lvl5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5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  <a:lvl2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2pPr>
            <a:lvl3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3pPr>
            <a:lvl4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4pPr>
            <a:lvl5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5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694536CA-A6C4-4358-AF93-5CCBD70D248C}" type="datetimeFigureOut">
              <a:rPr lang="zh-CN" altLang="en-US" smtClean="0"/>
              <a:pPr/>
              <a:t>2026/8/12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A8537B7A-7510-410A-AA53-45D600DA0276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694536CA-A6C4-4358-AF93-5CCBD70D248C}" type="datetimeFigureOut">
              <a:rPr lang="zh-CN" altLang="en-US" smtClean="0"/>
              <a:pPr/>
              <a:t>2026/8/12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A8537B7A-7510-410A-AA53-45D600DA0276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694536CA-A6C4-4358-AF93-5CCBD70D248C}" type="datetimeFigureOut">
              <a:rPr lang="zh-CN" altLang="en-US" smtClean="0"/>
              <a:pPr/>
              <a:t>2026/8/12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A8537B7A-7510-410A-AA53-45D600DA0276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  <a:lvl2pPr>
              <a:defRPr sz="2800" b="1" i="0">
                <a:latin typeface="Songti SC" panose="02010600040101010101" pitchFamily="2" charset="-122"/>
                <a:ea typeface="Songti SC" panose="02010600040101010101" pitchFamily="2" charset="-122"/>
              </a:defRPr>
            </a:lvl2pPr>
            <a:lvl3pPr>
              <a:defRPr sz="2400" b="1" i="0">
                <a:latin typeface="Songti SC" panose="02010600040101010101" pitchFamily="2" charset="-122"/>
                <a:ea typeface="Songti SC" panose="02010600040101010101" pitchFamily="2" charset="-122"/>
              </a:defRPr>
            </a:lvl3pPr>
            <a:lvl4pPr>
              <a:defRPr sz="2000" b="1" i="0">
                <a:latin typeface="Songti SC" panose="02010600040101010101" pitchFamily="2" charset="-122"/>
                <a:ea typeface="Songti SC" panose="02010600040101010101" pitchFamily="2" charset="-122"/>
              </a:defRPr>
            </a:lvl4pPr>
            <a:lvl5pPr>
              <a:defRPr sz="2000" b="1" i="0">
                <a:latin typeface="Songti SC" panose="02010600040101010101" pitchFamily="2" charset="-122"/>
                <a:ea typeface="Songti SC" panose="02010600040101010101" pitchFamily="2" charset="-122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694536CA-A6C4-4358-AF93-5CCBD70D248C}" type="datetimeFigureOut">
              <a:rPr lang="zh-CN" altLang="en-US" smtClean="0"/>
              <a:pPr/>
              <a:t>2026/8/12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A8537B7A-7510-410A-AA53-45D600DA0276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694536CA-A6C4-4358-AF93-5CCBD70D248C}" type="datetimeFigureOut">
              <a:rPr lang="zh-CN" altLang="en-US" smtClean="0"/>
              <a:pPr/>
              <a:t>2026/8/12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A8537B7A-7510-410A-AA53-45D600DA0276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  <a:lvl2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2pPr>
            <a:lvl3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3pPr>
            <a:lvl4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4pPr>
            <a:lvl5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5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694536CA-A6C4-4358-AF93-5CCBD70D248C}" type="datetimeFigureOut">
              <a:rPr lang="zh-CN" altLang="en-US" smtClean="0"/>
              <a:pPr/>
              <a:t>2026/8/12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A8537B7A-7510-410A-AA53-45D600DA0276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  <a:lvl2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2pPr>
            <a:lvl3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3pPr>
            <a:lvl4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4pPr>
            <a:lvl5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5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694536CA-A6C4-4358-AF93-5CCBD70D248C}" type="datetimeFigureOut">
              <a:rPr lang="zh-CN" altLang="en-US" smtClean="0"/>
              <a:pPr/>
              <a:t>2026/8/12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 i="0"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A8537B7A-7510-410A-AA53-45D600DA0276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>
                    <a:tint val="75000"/>
                  </a:schemeClr>
                </a:solidFill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694536CA-A6C4-4358-AF93-5CCBD70D248C}" type="datetimeFigureOut">
              <a:rPr lang="zh-CN" altLang="en-US" smtClean="0"/>
              <a:pPr/>
              <a:t>2026/8/12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tx1">
                    <a:tint val="75000"/>
                  </a:schemeClr>
                </a:solidFill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 i="0">
                <a:solidFill>
                  <a:schemeClr val="tx1">
                    <a:tint val="75000"/>
                  </a:schemeClr>
                </a:solidFill>
                <a:latin typeface="Songti SC" panose="02010600040101010101" pitchFamily="2" charset="-122"/>
                <a:ea typeface="Songti SC" panose="02010600040101010101" pitchFamily="2" charset="-122"/>
              </a:defRPr>
            </a:lvl1pPr>
          </a:lstStyle>
          <a:p>
            <a:fld id="{A8537B7A-7510-410A-AA53-45D600DA0276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i="0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tx1"/>
          </a:solidFill>
          <a:latin typeface="Songti SC" panose="02010600040101010101" pitchFamily="2" charset="-122"/>
          <a:ea typeface="Songti SC" panose="02010600040101010101" pitchFamily="2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1" i="0" kern="1200">
          <a:solidFill>
            <a:schemeClr val="tx1"/>
          </a:solidFill>
          <a:latin typeface="Songti SC" panose="02010600040101010101" pitchFamily="2" charset="-122"/>
          <a:ea typeface="Songti SC" panose="02010600040101010101" pitchFamily="2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1" i="0" kern="1200">
          <a:solidFill>
            <a:schemeClr val="tx1"/>
          </a:solidFill>
          <a:latin typeface="Songti SC" panose="02010600040101010101" pitchFamily="2" charset="-122"/>
          <a:ea typeface="Songti SC" panose="02010600040101010101" pitchFamily="2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1" i="0" kern="1200">
          <a:solidFill>
            <a:schemeClr val="tx1"/>
          </a:solidFill>
          <a:latin typeface="Songti SC" panose="02010600040101010101" pitchFamily="2" charset="-122"/>
          <a:ea typeface="Songti SC" panose="02010600040101010101" pitchFamily="2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1" i="0" kern="1200">
          <a:solidFill>
            <a:schemeClr val="tx1"/>
          </a:solidFill>
          <a:latin typeface="Songti SC" panose="02010600040101010101" pitchFamily="2" charset="-122"/>
          <a:ea typeface="Songti SC" panose="02010600040101010101" pitchFamily="2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1" i="0" kern="1200">
          <a:solidFill>
            <a:schemeClr val="tx1"/>
          </a:solidFill>
          <a:latin typeface="Songti SC" panose="02010600040101010101" pitchFamily="2" charset="-122"/>
          <a:ea typeface="Songti SC" panose="0201060004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audio" Target="../media/media1.mp3"/><Relationship Id="rId13" Type="http://schemas.openxmlformats.org/officeDocument/2006/relationships/image" Target="../media/image3.png"/><Relationship Id="rId3" Type="http://schemas.openxmlformats.org/officeDocument/2006/relationships/tags" Target="../tags/tag3.xml"/><Relationship Id="rId7" Type="http://schemas.microsoft.com/office/2007/relationships/media" Target="../media/media1.mp3"/><Relationship Id="rId12" Type="http://schemas.openxmlformats.org/officeDocument/2006/relationships/image" Target="../media/image2.pn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image" Target="../media/image1.png"/><Relationship Id="rId5" Type="http://schemas.openxmlformats.org/officeDocument/2006/relationships/tags" Target="../tags/tag5.xml"/><Relationship Id="rId10" Type="http://schemas.openxmlformats.org/officeDocument/2006/relationships/notesSlide" Target="../notesSlides/notesSlide1.xml"/><Relationship Id="rId4" Type="http://schemas.openxmlformats.org/officeDocument/2006/relationships/tags" Target="../tags/tag4.xml"/><Relationship Id="rId9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14.xml"/><Relationship Id="rId3" Type="http://schemas.openxmlformats.org/officeDocument/2006/relationships/tags" Target="../tags/tag9.xml"/><Relationship Id="rId7" Type="http://schemas.openxmlformats.org/officeDocument/2006/relationships/tags" Target="../tags/tag13.xml"/><Relationship Id="rId12" Type="http://schemas.openxmlformats.org/officeDocument/2006/relationships/notesSlide" Target="../notesSlides/notesSlide2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tags" Target="../tags/tag12.xml"/><Relationship Id="rId11" Type="http://schemas.openxmlformats.org/officeDocument/2006/relationships/slideLayout" Target="../slideLayouts/slideLayout7.xml"/><Relationship Id="rId5" Type="http://schemas.openxmlformats.org/officeDocument/2006/relationships/tags" Target="../tags/tag11.xml"/><Relationship Id="rId10" Type="http://schemas.openxmlformats.org/officeDocument/2006/relationships/tags" Target="../tags/tag16.xml"/><Relationship Id="rId4" Type="http://schemas.openxmlformats.org/officeDocument/2006/relationships/tags" Target="../tags/tag10.xml"/><Relationship Id="rId9" Type="http://schemas.openxmlformats.org/officeDocument/2006/relationships/tags" Target="../tags/tag1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7.xml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tags" Target="../tags/tag25.xml"/><Relationship Id="rId13" Type="http://schemas.openxmlformats.org/officeDocument/2006/relationships/tags" Target="../tags/tag30.xml"/><Relationship Id="rId3" Type="http://schemas.openxmlformats.org/officeDocument/2006/relationships/tags" Target="../tags/tag20.xml"/><Relationship Id="rId7" Type="http://schemas.openxmlformats.org/officeDocument/2006/relationships/tags" Target="../tags/tag24.xml"/><Relationship Id="rId12" Type="http://schemas.openxmlformats.org/officeDocument/2006/relationships/tags" Target="../tags/tag29.xml"/><Relationship Id="rId2" Type="http://schemas.openxmlformats.org/officeDocument/2006/relationships/tags" Target="../tags/tag19.xml"/><Relationship Id="rId16" Type="http://schemas.openxmlformats.org/officeDocument/2006/relationships/image" Target="../media/image3.png"/><Relationship Id="rId1" Type="http://schemas.openxmlformats.org/officeDocument/2006/relationships/tags" Target="../tags/tag18.xml"/><Relationship Id="rId6" Type="http://schemas.openxmlformats.org/officeDocument/2006/relationships/tags" Target="../tags/tag23.xml"/><Relationship Id="rId11" Type="http://schemas.openxmlformats.org/officeDocument/2006/relationships/tags" Target="../tags/tag28.xml"/><Relationship Id="rId5" Type="http://schemas.openxmlformats.org/officeDocument/2006/relationships/tags" Target="../tags/tag22.xml"/><Relationship Id="rId15" Type="http://schemas.openxmlformats.org/officeDocument/2006/relationships/notesSlide" Target="../notesSlides/notesSlide37.xml"/><Relationship Id="rId10" Type="http://schemas.openxmlformats.org/officeDocument/2006/relationships/tags" Target="../tags/tag27.xml"/><Relationship Id="rId4" Type="http://schemas.openxmlformats.org/officeDocument/2006/relationships/tags" Target="../tags/tag21.xml"/><Relationship Id="rId9" Type="http://schemas.openxmlformats.org/officeDocument/2006/relationships/tags" Target="../tags/tag26.xml"/><Relationship Id="rId14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MH_Other_8"/>
          <p:cNvPicPr/>
          <p:nvPr>
            <p:custDataLst>
              <p:tags r:id="rId1"/>
            </p:custDataLst>
          </p:nvPr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887"/>
          <a:stretch>
            <a:fillRect/>
          </a:stretch>
        </p:blipFill>
        <p:spPr bwMode="auto">
          <a:xfrm rot="5400000" flipH="1">
            <a:off x="6024000" y="-3032194"/>
            <a:ext cx="144000" cy="104502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MH_Other_8"/>
          <p:cNvPicPr/>
          <p:nvPr>
            <p:custDataLst>
              <p:tags r:id="rId2"/>
            </p:custDataLst>
          </p:nvPr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887"/>
          <a:stretch>
            <a:fillRect/>
          </a:stretch>
        </p:blipFill>
        <p:spPr bwMode="auto">
          <a:xfrm rot="16200000" flipH="1" flipV="1">
            <a:off x="6024001" y="-127232"/>
            <a:ext cx="144000" cy="104502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矩形 7"/>
          <p:cNvSpPr/>
          <p:nvPr/>
        </p:nvSpPr>
        <p:spPr>
          <a:xfrm>
            <a:off x="0" y="2204967"/>
            <a:ext cx="12192000" cy="286136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1663499" y="2367384"/>
            <a:ext cx="886499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5400" b="1" dirty="0">
                <a:solidFill>
                  <a:schemeClr val="bg1">
                    <a:lumMod val="9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面向内存受限环境的</a:t>
            </a:r>
            <a:r>
              <a:rPr lang="en-US" altLang="zh-CN" sz="5400" b="1" dirty="0">
                <a:solidFill>
                  <a:schemeClr val="bg1">
                    <a:lumMod val="9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LLM</a:t>
            </a:r>
            <a:r>
              <a:rPr lang="zh-CN" altLang="en-US" sz="5400" b="1" dirty="0">
                <a:solidFill>
                  <a:schemeClr val="bg1">
                    <a:lumMod val="9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推理内存优化系统</a:t>
            </a:r>
          </a:p>
        </p:txBody>
      </p:sp>
      <p:sp>
        <p:nvSpPr>
          <p:cNvPr id="16" name="TextBox 10"/>
          <p:cNvSpPr txBox="1"/>
          <p:nvPr/>
        </p:nvSpPr>
        <p:spPr>
          <a:xfrm>
            <a:off x="2565804" y="4324947"/>
            <a:ext cx="7060388" cy="523196"/>
          </a:xfrm>
          <a:prstGeom prst="rect">
            <a:avLst/>
          </a:prstGeom>
          <a:noFill/>
        </p:spPr>
        <p:txBody>
          <a:bodyPr wrap="square" lIns="91416" tIns="45708" rIns="91416" bIns="45708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ctr"/>
            <a:r>
              <a:rPr lang="en-US" altLang="zh-CN" sz="2800" b="1" dirty="0">
                <a:solidFill>
                  <a:schemeClr val="bg1">
                    <a:lumMod val="9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Harbin Institute of Technology</a:t>
            </a:r>
          </a:p>
        </p:txBody>
      </p:sp>
      <p:sp>
        <p:nvSpPr>
          <p:cNvPr id="13" name="TextBox 6"/>
          <p:cNvSpPr txBox="1"/>
          <p:nvPr>
            <p:custDataLst>
              <p:tags r:id="rId3"/>
            </p:custDataLst>
          </p:nvPr>
        </p:nvSpPr>
        <p:spPr>
          <a:xfrm>
            <a:off x="2850004" y="5676601"/>
            <a:ext cx="3262383" cy="400085"/>
          </a:xfrm>
          <a:prstGeom prst="rect">
            <a:avLst/>
          </a:prstGeom>
          <a:noFill/>
        </p:spPr>
        <p:txBody>
          <a:bodyPr wrap="none" lIns="91416" tIns="45708" rIns="91416" bIns="45708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accent2"/>
                </a:solidFill>
                <a:latin typeface="+mn-ea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tx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队伍成员：苏安炫、李思甜</a:t>
            </a:r>
            <a:endParaRPr lang="zh-CN" altLang="en-US" b="1" dirty="0">
              <a:solidFill>
                <a:schemeClr val="tx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14" name="TextBox 7"/>
          <p:cNvSpPr txBox="1"/>
          <p:nvPr>
            <p:custDataLst>
              <p:tags r:id="rId4"/>
            </p:custDataLst>
          </p:nvPr>
        </p:nvSpPr>
        <p:spPr>
          <a:xfrm>
            <a:off x="6989375" y="5676601"/>
            <a:ext cx="3005904" cy="400085"/>
          </a:xfrm>
          <a:prstGeom prst="rect">
            <a:avLst/>
          </a:prstGeom>
          <a:noFill/>
        </p:spPr>
        <p:txBody>
          <a:bodyPr wrap="none" lIns="91416" tIns="45708" rIns="91416" bIns="45708" rtlCol="0">
            <a:spAutoFit/>
          </a:bodyPr>
          <a:lstStyle/>
          <a:p>
            <a:pPr algn="ctr"/>
            <a:r>
              <a:rPr lang="zh-CN" altLang="en-US" sz="2000" b="1" dirty="0">
                <a:latin typeface="Songti SC Black" panose="02010600040101010101" pitchFamily="2" charset="-122"/>
                <a:ea typeface="Songti SC Black" panose="02010600040101010101" pitchFamily="2" charset="-122"/>
              </a:rPr>
              <a:t>指导老师：夏文、李诗逸</a:t>
            </a:r>
          </a:p>
        </p:txBody>
      </p:sp>
      <p:sp>
        <p:nvSpPr>
          <p:cNvPr id="11" name="Freeform 7"/>
          <p:cNvSpPr>
            <a:spLocks noChangeAspect="1" noEditPoints="1"/>
          </p:cNvSpPr>
          <p:nvPr>
            <p:custDataLst>
              <p:tags r:id="rId5"/>
            </p:custDataLst>
          </p:nvPr>
        </p:nvSpPr>
        <p:spPr bwMode="auto">
          <a:xfrm>
            <a:off x="2306365" y="5648207"/>
            <a:ext cx="462900" cy="466244"/>
          </a:xfrm>
          <a:custGeom>
            <a:avLst/>
            <a:gdLst>
              <a:gd name="T0" fmla="*/ 661 w 904"/>
              <a:gd name="T1" fmla="*/ 461 h 905"/>
              <a:gd name="T2" fmla="*/ 661 w 904"/>
              <a:gd name="T3" fmla="*/ 339 h 905"/>
              <a:gd name="T4" fmla="*/ 605 w 904"/>
              <a:gd name="T5" fmla="*/ 339 h 905"/>
              <a:gd name="T6" fmla="*/ 605 w 904"/>
              <a:gd name="T7" fmla="*/ 461 h 905"/>
              <a:gd name="T8" fmla="*/ 456 w 904"/>
              <a:gd name="T9" fmla="*/ 610 h 905"/>
              <a:gd name="T10" fmla="*/ 453 w 904"/>
              <a:gd name="T11" fmla="*/ 610 h 905"/>
              <a:gd name="T12" fmla="*/ 452 w 904"/>
              <a:gd name="T13" fmla="*/ 610 h 905"/>
              <a:gd name="T14" fmla="*/ 451 w 904"/>
              <a:gd name="T15" fmla="*/ 610 h 905"/>
              <a:gd name="T16" fmla="*/ 448 w 904"/>
              <a:gd name="T17" fmla="*/ 610 h 905"/>
              <a:gd name="T18" fmla="*/ 299 w 904"/>
              <a:gd name="T19" fmla="*/ 461 h 905"/>
              <a:gd name="T20" fmla="*/ 299 w 904"/>
              <a:gd name="T21" fmla="*/ 339 h 905"/>
              <a:gd name="T22" fmla="*/ 244 w 904"/>
              <a:gd name="T23" fmla="*/ 339 h 905"/>
              <a:gd name="T24" fmla="*/ 244 w 904"/>
              <a:gd name="T25" fmla="*/ 461 h 905"/>
              <a:gd name="T26" fmla="*/ 419 w 904"/>
              <a:gd name="T27" fmla="*/ 664 h 905"/>
              <a:gd name="T28" fmla="*/ 419 w 904"/>
              <a:gd name="T29" fmla="*/ 752 h 905"/>
              <a:gd name="T30" fmla="*/ 295 w 904"/>
              <a:gd name="T31" fmla="*/ 787 h 905"/>
              <a:gd name="T32" fmla="*/ 610 w 904"/>
              <a:gd name="T33" fmla="*/ 787 h 905"/>
              <a:gd name="T34" fmla="*/ 484 w 904"/>
              <a:gd name="T35" fmla="*/ 751 h 905"/>
              <a:gd name="T36" fmla="*/ 484 w 904"/>
              <a:gd name="T37" fmla="*/ 664 h 905"/>
              <a:gd name="T38" fmla="*/ 661 w 904"/>
              <a:gd name="T39" fmla="*/ 461 h 905"/>
              <a:gd name="T40" fmla="*/ 450 w 904"/>
              <a:gd name="T41" fmla="*/ 558 h 905"/>
              <a:gd name="T42" fmla="*/ 452 w 904"/>
              <a:gd name="T43" fmla="*/ 558 h 905"/>
              <a:gd name="T44" fmla="*/ 454 w 904"/>
              <a:gd name="T45" fmla="*/ 558 h 905"/>
              <a:gd name="T46" fmla="*/ 554 w 904"/>
              <a:gd name="T47" fmla="*/ 459 h 905"/>
              <a:gd name="T48" fmla="*/ 554 w 904"/>
              <a:gd name="T49" fmla="*/ 218 h 905"/>
              <a:gd name="T50" fmla="*/ 454 w 904"/>
              <a:gd name="T51" fmla="*/ 118 h 905"/>
              <a:gd name="T52" fmla="*/ 452 w 904"/>
              <a:gd name="T53" fmla="*/ 118 h 905"/>
              <a:gd name="T54" fmla="*/ 450 w 904"/>
              <a:gd name="T55" fmla="*/ 118 h 905"/>
              <a:gd name="T56" fmla="*/ 351 w 904"/>
              <a:gd name="T57" fmla="*/ 218 h 905"/>
              <a:gd name="T58" fmla="*/ 351 w 904"/>
              <a:gd name="T59" fmla="*/ 459 h 905"/>
              <a:gd name="T60" fmla="*/ 450 w 904"/>
              <a:gd name="T61" fmla="*/ 558 h 905"/>
              <a:gd name="T62" fmla="*/ 452 w 904"/>
              <a:gd name="T63" fmla="*/ 0 h 905"/>
              <a:gd name="T64" fmla="*/ 904 w 904"/>
              <a:gd name="T65" fmla="*/ 453 h 905"/>
              <a:gd name="T66" fmla="*/ 452 w 904"/>
              <a:gd name="T67" fmla="*/ 905 h 905"/>
              <a:gd name="T68" fmla="*/ 0 w 904"/>
              <a:gd name="T69" fmla="*/ 453 h 905"/>
              <a:gd name="T70" fmla="*/ 452 w 904"/>
              <a:gd name="T71" fmla="*/ 0 h 90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</a:cxnLst>
            <a:rect l="0" t="0" r="r" b="b"/>
            <a:pathLst>
              <a:path w="904" h="905">
                <a:moveTo>
                  <a:pt x="661" y="461"/>
                </a:moveTo>
                <a:lnTo>
                  <a:pt x="661" y="339"/>
                </a:lnTo>
                <a:cubicBezTo>
                  <a:pt x="661" y="304"/>
                  <a:pt x="605" y="304"/>
                  <a:pt x="605" y="339"/>
                </a:cubicBezTo>
                <a:lnTo>
                  <a:pt x="605" y="461"/>
                </a:lnTo>
                <a:cubicBezTo>
                  <a:pt x="605" y="543"/>
                  <a:pt x="538" y="610"/>
                  <a:pt x="456" y="610"/>
                </a:cubicBezTo>
                <a:cubicBezTo>
                  <a:pt x="455" y="610"/>
                  <a:pt x="454" y="610"/>
                  <a:pt x="453" y="610"/>
                </a:cubicBezTo>
                <a:lnTo>
                  <a:pt x="452" y="610"/>
                </a:lnTo>
                <a:lnTo>
                  <a:pt x="451" y="610"/>
                </a:lnTo>
                <a:cubicBezTo>
                  <a:pt x="450" y="610"/>
                  <a:pt x="449" y="610"/>
                  <a:pt x="448" y="610"/>
                </a:cubicBezTo>
                <a:cubicBezTo>
                  <a:pt x="366" y="610"/>
                  <a:pt x="299" y="543"/>
                  <a:pt x="299" y="461"/>
                </a:cubicBezTo>
                <a:lnTo>
                  <a:pt x="299" y="339"/>
                </a:lnTo>
                <a:cubicBezTo>
                  <a:pt x="299" y="304"/>
                  <a:pt x="244" y="304"/>
                  <a:pt x="244" y="339"/>
                </a:cubicBezTo>
                <a:cubicBezTo>
                  <a:pt x="244" y="355"/>
                  <a:pt x="244" y="461"/>
                  <a:pt x="244" y="461"/>
                </a:cubicBezTo>
                <a:cubicBezTo>
                  <a:pt x="244" y="564"/>
                  <a:pt x="320" y="650"/>
                  <a:pt x="419" y="664"/>
                </a:cubicBezTo>
                <a:lnTo>
                  <a:pt x="419" y="752"/>
                </a:lnTo>
                <a:lnTo>
                  <a:pt x="295" y="787"/>
                </a:lnTo>
                <a:lnTo>
                  <a:pt x="610" y="787"/>
                </a:lnTo>
                <a:lnTo>
                  <a:pt x="484" y="751"/>
                </a:lnTo>
                <a:lnTo>
                  <a:pt x="484" y="664"/>
                </a:lnTo>
                <a:cubicBezTo>
                  <a:pt x="584" y="650"/>
                  <a:pt x="661" y="564"/>
                  <a:pt x="661" y="461"/>
                </a:cubicBezTo>
                <a:close/>
                <a:moveTo>
                  <a:pt x="450" y="558"/>
                </a:moveTo>
                <a:cubicBezTo>
                  <a:pt x="451" y="558"/>
                  <a:pt x="451" y="558"/>
                  <a:pt x="452" y="558"/>
                </a:cubicBezTo>
                <a:cubicBezTo>
                  <a:pt x="453" y="558"/>
                  <a:pt x="453" y="558"/>
                  <a:pt x="454" y="558"/>
                </a:cubicBezTo>
                <a:cubicBezTo>
                  <a:pt x="509" y="558"/>
                  <a:pt x="554" y="514"/>
                  <a:pt x="554" y="459"/>
                </a:cubicBezTo>
                <a:lnTo>
                  <a:pt x="554" y="218"/>
                </a:lnTo>
                <a:cubicBezTo>
                  <a:pt x="554" y="163"/>
                  <a:pt x="509" y="118"/>
                  <a:pt x="454" y="118"/>
                </a:cubicBezTo>
                <a:cubicBezTo>
                  <a:pt x="453" y="118"/>
                  <a:pt x="453" y="118"/>
                  <a:pt x="452" y="118"/>
                </a:cubicBezTo>
                <a:cubicBezTo>
                  <a:pt x="452" y="118"/>
                  <a:pt x="451" y="118"/>
                  <a:pt x="450" y="118"/>
                </a:cubicBezTo>
                <a:cubicBezTo>
                  <a:pt x="395" y="118"/>
                  <a:pt x="351" y="163"/>
                  <a:pt x="351" y="218"/>
                </a:cubicBezTo>
                <a:lnTo>
                  <a:pt x="351" y="459"/>
                </a:lnTo>
                <a:cubicBezTo>
                  <a:pt x="351" y="514"/>
                  <a:pt x="395" y="558"/>
                  <a:pt x="450" y="558"/>
                </a:cubicBezTo>
                <a:close/>
                <a:moveTo>
                  <a:pt x="452" y="0"/>
                </a:moveTo>
                <a:cubicBezTo>
                  <a:pt x="702" y="0"/>
                  <a:pt x="904" y="203"/>
                  <a:pt x="904" y="453"/>
                </a:cubicBezTo>
                <a:cubicBezTo>
                  <a:pt x="904" y="702"/>
                  <a:pt x="702" y="905"/>
                  <a:pt x="452" y="905"/>
                </a:cubicBezTo>
                <a:cubicBezTo>
                  <a:pt x="202" y="905"/>
                  <a:pt x="0" y="702"/>
                  <a:pt x="0" y="453"/>
                </a:cubicBezTo>
                <a:cubicBezTo>
                  <a:pt x="0" y="203"/>
                  <a:pt x="202" y="0"/>
                  <a:pt x="452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vert="horz" wrap="square" lIns="91416" tIns="45708" rIns="91416" bIns="45708" numCol="1" anchor="t" anchorCtr="0" compatLnSpc="1"/>
          <a:lstStyle/>
          <a:p>
            <a:endParaRPr lang="zh-CN" altLang="en-US" b="1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12" name="Freeform 8"/>
          <p:cNvSpPr>
            <a:spLocks noChangeAspect="1" noEditPoints="1"/>
          </p:cNvSpPr>
          <p:nvPr>
            <p:custDataLst>
              <p:tags r:id="rId6"/>
            </p:custDataLst>
          </p:nvPr>
        </p:nvSpPr>
        <p:spPr bwMode="auto">
          <a:xfrm>
            <a:off x="6377352" y="5643521"/>
            <a:ext cx="464288" cy="466246"/>
          </a:xfrm>
          <a:custGeom>
            <a:avLst/>
            <a:gdLst>
              <a:gd name="T0" fmla="*/ 422 w 422"/>
              <a:gd name="T1" fmla="*/ 211 h 422"/>
              <a:gd name="T2" fmla="*/ 0 w 422"/>
              <a:gd name="T3" fmla="*/ 211 h 422"/>
              <a:gd name="T4" fmla="*/ 340 w 422"/>
              <a:gd name="T5" fmla="*/ 117 h 422"/>
              <a:gd name="T6" fmla="*/ 345 w 422"/>
              <a:gd name="T7" fmla="*/ 123 h 422"/>
              <a:gd name="T8" fmla="*/ 344 w 422"/>
              <a:gd name="T9" fmla="*/ 226 h 422"/>
              <a:gd name="T10" fmla="*/ 340 w 422"/>
              <a:gd name="T11" fmla="*/ 227 h 422"/>
              <a:gd name="T12" fmla="*/ 217 w 422"/>
              <a:gd name="T13" fmla="*/ 226 h 422"/>
              <a:gd name="T14" fmla="*/ 215 w 422"/>
              <a:gd name="T15" fmla="*/ 222 h 422"/>
              <a:gd name="T16" fmla="*/ 286 w 422"/>
              <a:gd name="T17" fmla="*/ 164 h 422"/>
              <a:gd name="T18" fmla="*/ 215 w 422"/>
              <a:gd name="T19" fmla="*/ 171 h 422"/>
              <a:gd name="T20" fmla="*/ 217 w 422"/>
              <a:gd name="T21" fmla="*/ 119 h 422"/>
              <a:gd name="T22" fmla="*/ 220 w 422"/>
              <a:gd name="T23" fmla="*/ 117 h 422"/>
              <a:gd name="T24" fmla="*/ 220 w 422"/>
              <a:gd name="T25" fmla="*/ 96 h 422"/>
              <a:gd name="T26" fmla="*/ 202 w 422"/>
              <a:gd name="T27" fmla="*/ 104 h 422"/>
              <a:gd name="T28" fmla="*/ 194 w 422"/>
              <a:gd name="T29" fmla="*/ 174 h 422"/>
              <a:gd name="T30" fmla="*/ 186 w 422"/>
              <a:gd name="T31" fmla="*/ 166 h 422"/>
              <a:gd name="T32" fmla="*/ 137 w 422"/>
              <a:gd name="T33" fmla="*/ 151 h 422"/>
              <a:gd name="T34" fmla="*/ 54 w 422"/>
              <a:gd name="T35" fmla="*/ 173 h 422"/>
              <a:gd name="T36" fmla="*/ 77 w 422"/>
              <a:gd name="T37" fmla="*/ 243 h 422"/>
              <a:gd name="T38" fmla="*/ 81 w 422"/>
              <a:gd name="T39" fmla="*/ 192 h 422"/>
              <a:gd name="T40" fmla="*/ 81 w 422"/>
              <a:gd name="T41" fmla="*/ 256 h 422"/>
              <a:gd name="T42" fmla="*/ 106 w 422"/>
              <a:gd name="T43" fmla="*/ 350 h 422"/>
              <a:gd name="T44" fmla="*/ 112 w 422"/>
              <a:gd name="T45" fmla="*/ 272 h 422"/>
              <a:gd name="T46" fmla="*/ 137 w 422"/>
              <a:gd name="T47" fmla="*/ 350 h 422"/>
              <a:gd name="T48" fmla="*/ 137 w 422"/>
              <a:gd name="T49" fmla="*/ 256 h 422"/>
              <a:gd name="T50" fmla="*/ 137 w 422"/>
              <a:gd name="T51" fmla="*/ 192 h 422"/>
              <a:gd name="T52" fmla="*/ 162 w 422"/>
              <a:gd name="T53" fmla="*/ 192 h 422"/>
              <a:gd name="T54" fmla="*/ 186 w 422"/>
              <a:gd name="T55" fmla="*/ 185 h 422"/>
              <a:gd name="T56" fmla="*/ 194 w 422"/>
              <a:gd name="T57" fmla="*/ 222 h 422"/>
              <a:gd name="T58" fmla="*/ 202 w 422"/>
              <a:gd name="T59" fmla="*/ 240 h 422"/>
              <a:gd name="T60" fmla="*/ 220 w 422"/>
              <a:gd name="T61" fmla="*/ 248 h 422"/>
              <a:gd name="T62" fmla="*/ 359 w 422"/>
              <a:gd name="T63" fmla="*/ 240 h 422"/>
              <a:gd name="T64" fmla="*/ 366 w 422"/>
              <a:gd name="T65" fmla="*/ 222 h 422"/>
              <a:gd name="T66" fmla="*/ 359 w 422"/>
              <a:gd name="T67" fmla="*/ 104 h 422"/>
              <a:gd name="T68" fmla="*/ 220 w 422"/>
              <a:gd name="T69" fmla="*/ 96 h 422"/>
              <a:gd name="T70" fmla="*/ 344 w 422"/>
              <a:gd name="T71" fmla="*/ 277 h 422"/>
              <a:gd name="T72" fmla="*/ 346 w 422"/>
              <a:gd name="T73" fmla="*/ 351 h 422"/>
              <a:gd name="T74" fmla="*/ 298 w 422"/>
              <a:gd name="T75" fmla="*/ 277 h 422"/>
              <a:gd name="T76" fmla="*/ 250 w 422"/>
              <a:gd name="T77" fmla="*/ 351 h 422"/>
              <a:gd name="T78" fmla="*/ 244 w 422"/>
              <a:gd name="T79" fmla="*/ 277 h 422"/>
              <a:gd name="T80" fmla="*/ 221 w 422"/>
              <a:gd name="T81" fmla="*/ 254 h 422"/>
              <a:gd name="T82" fmla="*/ 109 w 422"/>
              <a:gd name="T83" fmla="*/ 75 h 422"/>
              <a:gd name="T84" fmla="*/ 109 w 422"/>
              <a:gd name="T85" fmla="*/ 146 h 422"/>
              <a:gd name="T86" fmla="*/ 109 w 422"/>
              <a:gd name="T87" fmla="*/ 75 h 42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</a:cxnLst>
            <a:rect l="0" t="0" r="r" b="b"/>
            <a:pathLst>
              <a:path w="422" h="422">
                <a:moveTo>
                  <a:pt x="211" y="0"/>
                </a:moveTo>
                <a:cubicBezTo>
                  <a:pt x="327" y="0"/>
                  <a:pt x="422" y="94"/>
                  <a:pt x="422" y="211"/>
                </a:cubicBezTo>
                <a:cubicBezTo>
                  <a:pt x="422" y="327"/>
                  <a:pt x="327" y="422"/>
                  <a:pt x="211" y="422"/>
                </a:cubicBezTo>
                <a:cubicBezTo>
                  <a:pt x="94" y="422"/>
                  <a:pt x="0" y="327"/>
                  <a:pt x="0" y="211"/>
                </a:cubicBezTo>
                <a:cubicBezTo>
                  <a:pt x="0" y="94"/>
                  <a:pt x="94" y="0"/>
                  <a:pt x="211" y="0"/>
                </a:cubicBezTo>
                <a:close/>
                <a:moveTo>
                  <a:pt x="340" y="117"/>
                </a:moveTo>
                <a:cubicBezTo>
                  <a:pt x="341" y="117"/>
                  <a:pt x="343" y="118"/>
                  <a:pt x="344" y="119"/>
                </a:cubicBezTo>
                <a:cubicBezTo>
                  <a:pt x="345" y="120"/>
                  <a:pt x="345" y="121"/>
                  <a:pt x="345" y="123"/>
                </a:cubicBezTo>
                <a:lnTo>
                  <a:pt x="345" y="222"/>
                </a:lnTo>
                <a:cubicBezTo>
                  <a:pt x="345" y="223"/>
                  <a:pt x="345" y="225"/>
                  <a:pt x="344" y="226"/>
                </a:cubicBezTo>
                <a:lnTo>
                  <a:pt x="344" y="226"/>
                </a:lnTo>
                <a:cubicBezTo>
                  <a:pt x="343" y="227"/>
                  <a:pt x="341" y="227"/>
                  <a:pt x="340" y="227"/>
                </a:cubicBezTo>
                <a:lnTo>
                  <a:pt x="220" y="227"/>
                </a:lnTo>
                <a:cubicBezTo>
                  <a:pt x="219" y="227"/>
                  <a:pt x="218" y="227"/>
                  <a:pt x="217" y="226"/>
                </a:cubicBezTo>
                <a:lnTo>
                  <a:pt x="217" y="226"/>
                </a:lnTo>
                <a:cubicBezTo>
                  <a:pt x="216" y="225"/>
                  <a:pt x="215" y="223"/>
                  <a:pt x="215" y="222"/>
                </a:cubicBezTo>
                <a:lnTo>
                  <a:pt x="215" y="179"/>
                </a:lnTo>
                <a:lnTo>
                  <a:pt x="286" y="164"/>
                </a:lnTo>
                <a:lnTo>
                  <a:pt x="286" y="162"/>
                </a:lnTo>
                <a:lnTo>
                  <a:pt x="215" y="171"/>
                </a:lnTo>
                <a:lnTo>
                  <a:pt x="215" y="123"/>
                </a:lnTo>
                <a:cubicBezTo>
                  <a:pt x="215" y="121"/>
                  <a:pt x="216" y="120"/>
                  <a:pt x="217" y="119"/>
                </a:cubicBezTo>
                <a:lnTo>
                  <a:pt x="217" y="119"/>
                </a:lnTo>
                <a:cubicBezTo>
                  <a:pt x="218" y="118"/>
                  <a:pt x="219" y="117"/>
                  <a:pt x="220" y="117"/>
                </a:cubicBezTo>
                <a:lnTo>
                  <a:pt x="340" y="117"/>
                </a:lnTo>
                <a:close/>
                <a:moveTo>
                  <a:pt x="220" y="96"/>
                </a:moveTo>
                <a:cubicBezTo>
                  <a:pt x="213" y="96"/>
                  <a:pt x="206" y="99"/>
                  <a:pt x="202" y="104"/>
                </a:cubicBezTo>
                <a:lnTo>
                  <a:pt x="202" y="104"/>
                </a:lnTo>
                <a:cubicBezTo>
                  <a:pt x="197" y="109"/>
                  <a:pt x="194" y="115"/>
                  <a:pt x="194" y="123"/>
                </a:cubicBezTo>
                <a:lnTo>
                  <a:pt x="194" y="174"/>
                </a:lnTo>
                <a:lnTo>
                  <a:pt x="186" y="175"/>
                </a:lnTo>
                <a:lnTo>
                  <a:pt x="186" y="166"/>
                </a:lnTo>
                <a:lnTo>
                  <a:pt x="162" y="166"/>
                </a:lnTo>
                <a:lnTo>
                  <a:pt x="137" y="151"/>
                </a:lnTo>
                <a:lnTo>
                  <a:pt x="77" y="151"/>
                </a:lnTo>
                <a:cubicBezTo>
                  <a:pt x="64" y="151"/>
                  <a:pt x="54" y="161"/>
                  <a:pt x="54" y="173"/>
                </a:cubicBezTo>
                <a:lnTo>
                  <a:pt x="54" y="243"/>
                </a:lnTo>
                <a:lnTo>
                  <a:pt x="77" y="243"/>
                </a:lnTo>
                <a:lnTo>
                  <a:pt x="77" y="192"/>
                </a:lnTo>
                <a:lnTo>
                  <a:pt x="81" y="192"/>
                </a:lnTo>
                <a:lnTo>
                  <a:pt x="81" y="243"/>
                </a:lnTo>
                <a:lnTo>
                  <a:pt x="81" y="256"/>
                </a:lnTo>
                <a:lnTo>
                  <a:pt x="81" y="350"/>
                </a:lnTo>
                <a:lnTo>
                  <a:pt x="106" y="350"/>
                </a:lnTo>
                <a:lnTo>
                  <a:pt x="106" y="272"/>
                </a:lnTo>
                <a:lnTo>
                  <a:pt x="112" y="272"/>
                </a:lnTo>
                <a:lnTo>
                  <a:pt x="112" y="350"/>
                </a:lnTo>
                <a:lnTo>
                  <a:pt x="137" y="350"/>
                </a:lnTo>
                <a:lnTo>
                  <a:pt x="137" y="336"/>
                </a:lnTo>
                <a:lnTo>
                  <a:pt x="137" y="256"/>
                </a:lnTo>
                <a:lnTo>
                  <a:pt x="137" y="243"/>
                </a:lnTo>
                <a:lnTo>
                  <a:pt x="137" y="192"/>
                </a:lnTo>
                <a:lnTo>
                  <a:pt x="137" y="177"/>
                </a:lnTo>
                <a:lnTo>
                  <a:pt x="162" y="192"/>
                </a:lnTo>
                <a:lnTo>
                  <a:pt x="186" y="192"/>
                </a:lnTo>
                <a:lnTo>
                  <a:pt x="186" y="185"/>
                </a:lnTo>
                <a:lnTo>
                  <a:pt x="194" y="184"/>
                </a:lnTo>
                <a:lnTo>
                  <a:pt x="194" y="222"/>
                </a:lnTo>
                <a:cubicBezTo>
                  <a:pt x="194" y="229"/>
                  <a:pt x="197" y="236"/>
                  <a:pt x="202" y="240"/>
                </a:cubicBezTo>
                <a:lnTo>
                  <a:pt x="202" y="240"/>
                </a:lnTo>
                <a:lnTo>
                  <a:pt x="202" y="241"/>
                </a:lnTo>
                <a:cubicBezTo>
                  <a:pt x="207" y="245"/>
                  <a:pt x="213" y="248"/>
                  <a:pt x="220" y="248"/>
                </a:cubicBezTo>
                <a:lnTo>
                  <a:pt x="340" y="248"/>
                </a:lnTo>
                <a:cubicBezTo>
                  <a:pt x="347" y="248"/>
                  <a:pt x="354" y="245"/>
                  <a:pt x="359" y="240"/>
                </a:cubicBezTo>
                <a:lnTo>
                  <a:pt x="359" y="241"/>
                </a:lnTo>
                <a:cubicBezTo>
                  <a:pt x="363" y="236"/>
                  <a:pt x="366" y="229"/>
                  <a:pt x="366" y="222"/>
                </a:cubicBezTo>
                <a:lnTo>
                  <a:pt x="366" y="123"/>
                </a:lnTo>
                <a:cubicBezTo>
                  <a:pt x="366" y="115"/>
                  <a:pt x="363" y="109"/>
                  <a:pt x="359" y="104"/>
                </a:cubicBezTo>
                <a:cubicBezTo>
                  <a:pt x="354" y="99"/>
                  <a:pt x="347" y="96"/>
                  <a:pt x="340" y="96"/>
                </a:cubicBezTo>
                <a:lnTo>
                  <a:pt x="220" y="96"/>
                </a:lnTo>
                <a:close/>
                <a:moveTo>
                  <a:pt x="344" y="254"/>
                </a:moveTo>
                <a:lnTo>
                  <a:pt x="344" y="277"/>
                </a:lnTo>
                <a:lnTo>
                  <a:pt x="325" y="277"/>
                </a:lnTo>
                <a:lnTo>
                  <a:pt x="346" y="351"/>
                </a:lnTo>
                <a:lnTo>
                  <a:pt x="319" y="351"/>
                </a:lnTo>
                <a:lnTo>
                  <a:pt x="298" y="277"/>
                </a:lnTo>
                <a:lnTo>
                  <a:pt x="271" y="277"/>
                </a:lnTo>
                <a:lnTo>
                  <a:pt x="250" y="351"/>
                </a:lnTo>
                <a:lnTo>
                  <a:pt x="223" y="351"/>
                </a:lnTo>
                <a:lnTo>
                  <a:pt x="244" y="277"/>
                </a:lnTo>
                <a:lnTo>
                  <a:pt x="221" y="277"/>
                </a:lnTo>
                <a:lnTo>
                  <a:pt x="221" y="254"/>
                </a:lnTo>
                <a:lnTo>
                  <a:pt x="344" y="254"/>
                </a:lnTo>
                <a:close/>
                <a:moveTo>
                  <a:pt x="109" y="75"/>
                </a:moveTo>
                <a:cubicBezTo>
                  <a:pt x="129" y="75"/>
                  <a:pt x="145" y="91"/>
                  <a:pt x="145" y="111"/>
                </a:cubicBezTo>
                <a:cubicBezTo>
                  <a:pt x="145" y="130"/>
                  <a:pt x="129" y="146"/>
                  <a:pt x="109" y="146"/>
                </a:cubicBezTo>
                <a:cubicBezTo>
                  <a:pt x="90" y="146"/>
                  <a:pt x="74" y="130"/>
                  <a:pt x="74" y="111"/>
                </a:cubicBezTo>
                <a:cubicBezTo>
                  <a:pt x="74" y="91"/>
                  <a:pt x="90" y="75"/>
                  <a:pt x="109" y="75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vert="horz" wrap="square" lIns="91416" tIns="45708" rIns="91416" bIns="45708" numCol="1" anchor="t" anchorCtr="0" compatLnSpc="1"/>
          <a:lstStyle/>
          <a:p>
            <a:endParaRPr lang="zh-CN" altLang="en-US" sz="2800" b="1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pic>
        <p:nvPicPr>
          <p:cNvPr id="4" name="Florian Bur - The Way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2" cstate="print"/>
          <a:stretch>
            <a:fillRect/>
          </a:stretch>
        </p:blipFill>
        <p:spPr>
          <a:xfrm>
            <a:off x="-609600" y="6311900"/>
            <a:ext cx="406400" cy="406400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F4D3DCC3-0570-14DA-A297-B5849753B1AC}"/>
              </a:ext>
            </a:extLst>
          </p:cNvPr>
          <p:cNvPicPr>
            <a:picLocks noChangeAspect="1"/>
          </p:cNvPicPr>
          <p:nvPr/>
        </p:nvPicPr>
        <p:blipFill rotWithShape="1">
          <a:blip r:embed="rId13"/>
          <a:srcRect t="29956" r="-277"/>
          <a:stretch>
            <a:fillRect/>
          </a:stretch>
        </p:blipFill>
        <p:spPr>
          <a:xfrm>
            <a:off x="3330718" y="553354"/>
            <a:ext cx="5288915" cy="11733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:blinds dir="vert"/>
      </p:transition>
    </mc:Choice>
    <mc:Fallback xmlns="">
      <p:transition spd="slow">
        <p:blinds dir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" presetClass="entr" presetSubtype="8" decel="533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2" decel="533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50" presetClass="entr" presetSubtype="0" decel="10000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+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4400"/>
                            </p:stCondLst>
                            <p:childTnLst>
                              <p:par>
                                <p:cTn id="27" presetID="8" presetClass="entr" presetSubtype="32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out)">
                                      <p:cBhvr>
                                        <p:cTn id="29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300"/>
                            </p:stCondLst>
                            <p:childTnLst>
                              <p:par>
                                <p:cTn id="3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8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300"/>
                            </p:stCondLst>
                            <p:childTnLst>
                              <p:par>
                                <p:cTn id="4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98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100000" numSld="100">
                <p:cTn id="50" repeatCount="indefinite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  <p:bldLst>
      <p:bldP spid="8" grpId="0" animBg="1"/>
      <p:bldP spid="15" grpId="0"/>
      <p:bldP spid="16" grpId="0"/>
      <p:bldP spid="13" grpId="0"/>
      <p:bldP spid="14" grpId="0"/>
      <p:bldP spid="11" grpId="0" bldLvl="0" animBg="1"/>
      <p:bldP spid="12" grpId="0" bldLvl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圆角矩形 16"/>
          <p:cNvSpPr/>
          <p:nvPr/>
        </p:nvSpPr>
        <p:spPr>
          <a:xfrm>
            <a:off x="-1791046" y="1892300"/>
            <a:ext cx="5651845" cy="3073400"/>
          </a:xfrm>
          <a:prstGeom prst="roundRect">
            <a:avLst>
              <a:gd name="adj" fmla="val 5000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" name="圆角矩形 1"/>
          <p:cNvSpPr/>
          <p:nvPr/>
        </p:nvSpPr>
        <p:spPr>
          <a:xfrm>
            <a:off x="-1556426" y="1998319"/>
            <a:ext cx="5261917" cy="2861362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5" name="圆角矩形 4"/>
          <p:cNvSpPr/>
          <p:nvPr>
            <p:custDataLst>
              <p:tags r:id="rId1"/>
            </p:custDataLst>
          </p:nvPr>
        </p:nvSpPr>
        <p:spPr>
          <a:xfrm>
            <a:off x="5398976" y="1421175"/>
            <a:ext cx="911156" cy="57714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Songti SC" panose="02010600040101010101" pitchFamily="2" charset="-122"/>
                <a:ea typeface="Songti SC" panose="02010600040101010101" pitchFamily="2" charset="-122"/>
              </a:rPr>
              <a:t>01</a:t>
            </a:r>
            <a:endParaRPr lang="zh-CN" altLang="en-US" b="1" dirty="0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6" name="圆角矩形 5"/>
          <p:cNvSpPr/>
          <p:nvPr>
            <p:custDataLst>
              <p:tags r:id="rId2"/>
            </p:custDataLst>
          </p:nvPr>
        </p:nvSpPr>
        <p:spPr>
          <a:xfrm>
            <a:off x="5398976" y="2389100"/>
            <a:ext cx="911156" cy="57714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Songti SC" panose="02010600040101010101" pitchFamily="2" charset="-122"/>
                <a:ea typeface="Songti SC" panose="02010600040101010101" pitchFamily="2" charset="-122"/>
              </a:rPr>
              <a:t>02</a:t>
            </a:r>
            <a:endParaRPr lang="zh-CN" altLang="en-US" b="1" dirty="0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7" name="圆角矩形 6"/>
          <p:cNvSpPr/>
          <p:nvPr>
            <p:custDataLst>
              <p:tags r:id="rId3"/>
            </p:custDataLst>
          </p:nvPr>
        </p:nvSpPr>
        <p:spPr>
          <a:xfrm>
            <a:off x="5398976" y="3357025"/>
            <a:ext cx="911156" cy="57714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Songti SC" panose="02010600040101010101" pitchFamily="2" charset="-122"/>
                <a:ea typeface="Songti SC" panose="02010600040101010101" pitchFamily="2" charset="-122"/>
              </a:rPr>
              <a:t>03</a:t>
            </a:r>
            <a:endParaRPr lang="zh-CN" altLang="en-US" b="1" dirty="0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8" name="圆角矩形 7"/>
          <p:cNvSpPr/>
          <p:nvPr>
            <p:custDataLst>
              <p:tags r:id="rId4"/>
            </p:custDataLst>
          </p:nvPr>
        </p:nvSpPr>
        <p:spPr>
          <a:xfrm>
            <a:off x="5398976" y="4324950"/>
            <a:ext cx="911156" cy="57714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Songti SC" panose="02010600040101010101" pitchFamily="2" charset="-122"/>
                <a:ea typeface="Songti SC" panose="02010600040101010101" pitchFamily="2" charset="-122"/>
              </a:rPr>
              <a:t>04</a:t>
            </a:r>
            <a:endParaRPr lang="zh-CN" altLang="en-US" b="1" dirty="0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9" name="圆角矩形 8"/>
          <p:cNvSpPr/>
          <p:nvPr>
            <p:custDataLst>
              <p:tags r:id="rId5"/>
            </p:custDataLst>
          </p:nvPr>
        </p:nvSpPr>
        <p:spPr>
          <a:xfrm>
            <a:off x="5398976" y="5292877"/>
            <a:ext cx="911156" cy="57714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Songti SC" panose="02010600040101010101" pitchFamily="2" charset="-122"/>
                <a:ea typeface="Songti SC" panose="02010600040101010101" pitchFamily="2" charset="-122"/>
              </a:rPr>
              <a:t>05</a:t>
            </a:r>
            <a:endParaRPr lang="zh-CN" altLang="en-US" b="1" dirty="0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59" name="圆角矩形 58"/>
          <p:cNvSpPr/>
          <p:nvPr>
            <p:custDataLst>
              <p:tags r:id="rId6"/>
            </p:custDataLst>
          </p:nvPr>
        </p:nvSpPr>
        <p:spPr>
          <a:xfrm>
            <a:off x="6503876" y="1421175"/>
            <a:ext cx="3476556" cy="57714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latin typeface="Songti SC" panose="02010600040101010101" pitchFamily="2" charset="-122"/>
                <a:ea typeface="Songti SC" panose="02010600040101010101" pitchFamily="2" charset="-122"/>
              </a:rPr>
              <a:t>项目介绍</a:t>
            </a:r>
          </a:p>
        </p:txBody>
      </p:sp>
      <p:sp>
        <p:nvSpPr>
          <p:cNvPr id="60" name="圆角矩形 59"/>
          <p:cNvSpPr/>
          <p:nvPr>
            <p:custDataLst>
              <p:tags r:id="rId7"/>
            </p:custDataLst>
          </p:nvPr>
        </p:nvSpPr>
        <p:spPr>
          <a:xfrm>
            <a:off x="6503876" y="2389100"/>
            <a:ext cx="3476556" cy="57714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latin typeface="Songti SC" panose="02010600040101010101" pitchFamily="2" charset="-122"/>
                <a:ea typeface="Songti SC" panose="02010600040101010101" pitchFamily="2" charset="-122"/>
              </a:rPr>
              <a:t>系统架构</a:t>
            </a:r>
          </a:p>
        </p:txBody>
      </p:sp>
      <p:sp>
        <p:nvSpPr>
          <p:cNvPr id="61" name="圆角矩形 60"/>
          <p:cNvSpPr/>
          <p:nvPr>
            <p:custDataLst>
              <p:tags r:id="rId8"/>
            </p:custDataLst>
          </p:nvPr>
        </p:nvSpPr>
        <p:spPr>
          <a:xfrm>
            <a:off x="6503876" y="3357025"/>
            <a:ext cx="3476556" cy="57714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latin typeface="Songti SC" panose="02010600040101010101" pitchFamily="2" charset="-122"/>
                <a:ea typeface="Songti SC" panose="02010600040101010101" pitchFamily="2" charset="-122"/>
              </a:rPr>
              <a:t>模块设计实现</a:t>
            </a:r>
          </a:p>
        </p:txBody>
      </p:sp>
      <p:sp>
        <p:nvSpPr>
          <p:cNvPr id="62" name="圆角矩形 61"/>
          <p:cNvSpPr/>
          <p:nvPr>
            <p:custDataLst>
              <p:tags r:id="rId9"/>
            </p:custDataLst>
          </p:nvPr>
        </p:nvSpPr>
        <p:spPr>
          <a:xfrm>
            <a:off x="6503876" y="4324950"/>
            <a:ext cx="3476556" cy="57714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latin typeface="Songti SC" panose="02010600040101010101" pitchFamily="2" charset="-122"/>
                <a:ea typeface="Songti SC" panose="02010600040101010101" pitchFamily="2" charset="-122"/>
              </a:rPr>
              <a:t>项目测试</a:t>
            </a:r>
          </a:p>
        </p:txBody>
      </p:sp>
      <p:sp>
        <p:nvSpPr>
          <p:cNvPr id="63" name="圆角矩形 62"/>
          <p:cNvSpPr/>
          <p:nvPr>
            <p:custDataLst>
              <p:tags r:id="rId10"/>
            </p:custDataLst>
          </p:nvPr>
        </p:nvSpPr>
        <p:spPr>
          <a:xfrm>
            <a:off x="6503876" y="5292877"/>
            <a:ext cx="3476556" cy="57714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latin typeface="Songti SC" panose="02010600040101010101" pitchFamily="2" charset="-122"/>
                <a:ea typeface="Songti SC" panose="02010600040101010101" pitchFamily="2" charset="-122"/>
              </a:rPr>
              <a:t>项目总结</a:t>
            </a:r>
          </a:p>
        </p:txBody>
      </p:sp>
      <p:sp>
        <p:nvSpPr>
          <p:cNvPr id="64" name="TextBox 78"/>
          <p:cNvSpPr txBox="1"/>
          <p:nvPr/>
        </p:nvSpPr>
        <p:spPr>
          <a:xfrm>
            <a:off x="589218" y="3733289"/>
            <a:ext cx="2016899" cy="5024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665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CONTENTS</a:t>
            </a:r>
            <a:endParaRPr lang="zh-CN" altLang="en-US" sz="2665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65" name="TextBox 79"/>
          <p:cNvSpPr txBox="1"/>
          <p:nvPr/>
        </p:nvSpPr>
        <p:spPr>
          <a:xfrm>
            <a:off x="641317" y="2677173"/>
            <a:ext cx="1912703" cy="9952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5865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目 录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533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decel="533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0"/>
                            </p:stCondLst>
                            <p:childTnLst>
                              <p:par>
                                <p:cTn id="2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" presetClass="entr" presetSubtype="2" decel="533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75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75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000"/>
                            </p:stCondLst>
                            <p:childTnLst>
                              <p:par>
                                <p:cTn id="3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" presetClass="entr" presetSubtype="2" decel="533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75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75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500"/>
                            </p:stCondLst>
                            <p:childTnLst>
                              <p:par>
                                <p:cTn id="4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" presetClass="entr" presetSubtype="2" decel="533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75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75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3000"/>
                            </p:stCondLst>
                            <p:childTnLst>
                              <p:par>
                                <p:cTn id="5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" presetClass="entr" presetSubtype="2" decel="533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75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75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3500"/>
                            </p:stCondLst>
                            <p:childTnLst>
                              <p:par>
                                <p:cTn id="6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" presetClass="entr" presetSubtype="2" decel="533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75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75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" grpId="0" animBg="1"/>
      <p:bldP spid="5" grpId="0" animBg="1"/>
      <p:bldP spid="6" grpId="0" animBg="1"/>
      <p:bldP spid="7" grpId="0" animBg="1"/>
      <p:bldP spid="8" grpId="0" animBg="1"/>
      <p:bldP spid="9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/>
      <p:bldP spid="6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 rot="5400000">
            <a:off x="4227759" y="-4227756"/>
            <a:ext cx="3736490" cy="1219200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grpSp>
        <p:nvGrpSpPr>
          <p:cNvPr id="5" name="组合 4"/>
          <p:cNvGrpSpPr/>
          <p:nvPr/>
        </p:nvGrpSpPr>
        <p:grpSpPr>
          <a:xfrm>
            <a:off x="4919877" y="2920080"/>
            <a:ext cx="2352246" cy="1642832"/>
            <a:chOff x="5127859" y="2518592"/>
            <a:chExt cx="1936282" cy="1723208"/>
          </a:xfrm>
        </p:grpSpPr>
        <p:sp>
          <p:nvSpPr>
            <p:cNvPr id="6" name="任意多边形 5"/>
            <p:cNvSpPr/>
            <p:nvPr/>
          </p:nvSpPr>
          <p:spPr>
            <a:xfrm>
              <a:off x="5127859" y="2518592"/>
              <a:ext cx="1936282" cy="1723208"/>
            </a:xfrm>
            <a:custGeom>
              <a:avLst/>
              <a:gdLst>
                <a:gd name="connsiteX0" fmla="*/ 576168 w 1961391"/>
                <a:gd name="connsiteY0" fmla="*/ 0 h 1745551"/>
                <a:gd name="connsiteX1" fmla="*/ 863600 w 1961391"/>
                <a:gd name="connsiteY1" fmla="*/ 0 h 1745551"/>
                <a:gd name="connsiteX2" fmla="*/ 1097791 w 1961391"/>
                <a:gd name="connsiteY2" fmla="*/ 0 h 1745551"/>
                <a:gd name="connsiteX3" fmla="*/ 1385223 w 1961391"/>
                <a:gd name="connsiteY3" fmla="*/ 0 h 1745551"/>
                <a:gd name="connsiteX4" fmla="*/ 1539918 w 1961391"/>
                <a:gd name="connsiteY4" fmla="*/ 88854 h 1745551"/>
                <a:gd name="connsiteX5" fmla="*/ 1940980 w 1961391"/>
                <a:gd name="connsiteY5" fmla="*/ 783921 h 1745551"/>
                <a:gd name="connsiteX6" fmla="*/ 1961391 w 1961391"/>
                <a:gd name="connsiteY6" fmla="*/ 872775 h 1745551"/>
                <a:gd name="connsiteX7" fmla="*/ 1940980 w 1961391"/>
                <a:gd name="connsiteY7" fmla="*/ 961629 h 1745551"/>
                <a:gd name="connsiteX8" fmla="*/ 1539918 w 1961391"/>
                <a:gd name="connsiteY8" fmla="*/ 1656697 h 1745551"/>
                <a:gd name="connsiteX9" fmla="*/ 1385223 w 1961391"/>
                <a:gd name="connsiteY9" fmla="*/ 1745551 h 1745551"/>
                <a:gd name="connsiteX10" fmla="*/ 1120460 w 1961391"/>
                <a:gd name="connsiteY10" fmla="*/ 1745551 h 1745551"/>
                <a:gd name="connsiteX11" fmla="*/ 1097791 w 1961391"/>
                <a:gd name="connsiteY11" fmla="*/ 1745551 h 1745551"/>
                <a:gd name="connsiteX12" fmla="*/ 1039896 w 1961391"/>
                <a:gd name="connsiteY12" fmla="*/ 1745551 h 1745551"/>
                <a:gd name="connsiteX13" fmla="*/ 1013340 w 1961391"/>
                <a:gd name="connsiteY13" fmla="*/ 1745551 h 1745551"/>
                <a:gd name="connsiteX14" fmla="*/ 948051 w 1961391"/>
                <a:gd name="connsiteY14" fmla="*/ 1745551 h 1745551"/>
                <a:gd name="connsiteX15" fmla="*/ 921495 w 1961391"/>
                <a:gd name="connsiteY15" fmla="*/ 1745551 h 1745551"/>
                <a:gd name="connsiteX16" fmla="*/ 863600 w 1961391"/>
                <a:gd name="connsiteY16" fmla="*/ 1745551 h 1745551"/>
                <a:gd name="connsiteX17" fmla="*/ 840931 w 1961391"/>
                <a:gd name="connsiteY17" fmla="*/ 1745551 h 1745551"/>
                <a:gd name="connsiteX18" fmla="*/ 576168 w 1961391"/>
                <a:gd name="connsiteY18" fmla="*/ 1745551 h 1745551"/>
                <a:gd name="connsiteX19" fmla="*/ 421473 w 1961391"/>
                <a:gd name="connsiteY19" fmla="*/ 1656697 h 1745551"/>
                <a:gd name="connsiteX20" fmla="*/ 20411 w 1961391"/>
                <a:gd name="connsiteY20" fmla="*/ 961629 h 1745551"/>
                <a:gd name="connsiteX21" fmla="*/ 0 w 1961391"/>
                <a:gd name="connsiteY21" fmla="*/ 872775 h 1745551"/>
                <a:gd name="connsiteX22" fmla="*/ 20411 w 1961391"/>
                <a:gd name="connsiteY22" fmla="*/ 783921 h 1745551"/>
                <a:gd name="connsiteX23" fmla="*/ 421473 w 1961391"/>
                <a:gd name="connsiteY23" fmla="*/ 88854 h 1745551"/>
                <a:gd name="connsiteX24" fmla="*/ 576168 w 1961391"/>
                <a:gd name="connsiteY24" fmla="*/ 0 h 1745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61391" h="1745551">
                  <a:moveTo>
                    <a:pt x="576168" y="0"/>
                  </a:moveTo>
                  <a:lnTo>
                    <a:pt x="863600" y="0"/>
                  </a:lnTo>
                  <a:lnTo>
                    <a:pt x="1097791" y="0"/>
                  </a:lnTo>
                  <a:lnTo>
                    <a:pt x="1385223" y="0"/>
                  </a:lnTo>
                  <a:cubicBezTo>
                    <a:pt x="1441086" y="0"/>
                    <a:pt x="1511271" y="40128"/>
                    <a:pt x="1539918" y="88854"/>
                  </a:cubicBezTo>
                  <a:cubicBezTo>
                    <a:pt x="1940980" y="783921"/>
                    <a:pt x="1940980" y="783921"/>
                    <a:pt x="1940980" y="783921"/>
                  </a:cubicBezTo>
                  <a:cubicBezTo>
                    <a:pt x="1954587" y="808285"/>
                    <a:pt x="1961391" y="840530"/>
                    <a:pt x="1961391" y="872775"/>
                  </a:cubicBezTo>
                  <a:cubicBezTo>
                    <a:pt x="1961391" y="905021"/>
                    <a:pt x="1954587" y="937267"/>
                    <a:pt x="1940980" y="961629"/>
                  </a:cubicBezTo>
                  <a:cubicBezTo>
                    <a:pt x="1539918" y="1656697"/>
                    <a:pt x="1539918" y="1656697"/>
                    <a:pt x="1539918" y="1656697"/>
                  </a:cubicBezTo>
                  <a:cubicBezTo>
                    <a:pt x="1511271" y="1705424"/>
                    <a:pt x="1441086" y="1745551"/>
                    <a:pt x="1385223" y="1745551"/>
                  </a:cubicBezTo>
                  <a:cubicBezTo>
                    <a:pt x="1284958" y="1745551"/>
                    <a:pt x="1197225" y="1745551"/>
                    <a:pt x="1120460" y="1745551"/>
                  </a:cubicBezTo>
                  <a:lnTo>
                    <a:pt x="1097791" y="1745551"/>
                  </a:lnTo>
                  <a:lnTo>
                    <a:pt x="1039896" y="1745551"/>
                  </a:lnTo>
                  <a:lnTo>
                    <a:pt x="1013340" y="1745551"/>
                  </a:lnTo>
                  <a:lnTo>
                    <a:pt x="948051" y="1745551"/>
                  </a:lnTo>
                  <a:lnTo>
                    <a:pt x="921495" y="1745551"/>
                  </a:lnTo>
                  <a:lnTo>
                    <a:pt x="863600" y="1745551"/>
                  </a:lnTo>
                  <a:lnTo>
                    <a:pt x="840931" y="1745551"/>
                  </a:lnTo>
                  <a:cubicBezTo>
                    <a:pt x="764166" y="1745551"/>
                    <a:pt x="676433" y="1745551"/>
                    <a:pt x="576168" y="1745551"/>
                  </a:cubicBezTo>
                  <a:cubicBezTo>
                    <a:pt x="520305" y="1745551"/>
                    <a:pt x="450120" y="1705424"/>
                    <a:pt x="421473" y="1656697"/>
                  </a:cubicBezTo>
                  <a:cubicBezTo>
                    <a:pt x="421473" y="1656697"/>
                    <a:pt x="421473" y="1656697"/>
                    <a:pt x="20411" y="961629"/>
                  </a:cubicBezTo>
                  <a:cubicBezTo>
                    <a:pt x="6804" y="937267"/>
                    <a:pt x="0" y="905021"/>
                    <a:pt x="0" y="872775"/>
                  </a:cubicBezTo>
                  <a:cubicBezTo>
                    <a:pt x="0" y="840530"/>
                    <a:pt x="6804" y="808285"/>
                    <a:pt x="20411" y="783921"/>
                  </a:cubicBezTo>
                  <a:cubicBezTo>
                    <a:pt x="20411" y="783921"/>
                    <a:pt x="20411" y="783921"/>
                    <a:pt x="421473" y="88854"/>
                  </a:cubicBezTo>
                  <a:cubicBezTo>
                    <a:pt x="450120" y="40128"/>
                    <a:pt x="520305" y="0"/>
                    <a:pt x="57616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2590" b="1">
                <a:latin typeface="Songti SC" panose="02010600040101010101" pitchFamily="2" charset="-122"/>
                <a:ea typeface="Songti SC" panose="02010600040101010101" pitchFamily="2" charset="-122"/>
              </a:endParaRPr>
            </a:p>
          </p:txBody>
        </p:sp>
        <p:sp>
          <p:nvSpPr>
            <p:cNvPr id="7" name="任意多边形 6"/>
            <p:cNvSpPr/>
            <p:nvPr/>
          </p:nvSpPr>
          <p:spPr>
            <a:xfrm>
              <a:off x="5257193" y="2633694"/>
              <a:ext cx="1677614" cy="1493004"/>
            </a:xfrm>
            <a:custGeom>
              <a:avLst/>
              <a:gdLst>
                <a:gd name="connsiteX0" fmla="*/ 576168 w 1961391"/>
                <a:gd name="connsiteY0" fmla="*/ 0 h 1745551"/>
                <a:gd name="connsiteX1" fmla="*/ 863600 w 1961391"/>
                <a:gd name="connsiteY1" fmla="*/ 0 h 1745551"/>
                <a:gd name="connsiteX2" fmla="*/ 1097791 w 1961391"/>
                <a:gd name="connsiteY2" fmla="*/ 0 h 1745551"/>
                <a:gd name="connsiteX3" fmla="*/ 1385223 w 1961391"/>
                <a:gd name="connsiteY3" fmla="*/ 0 h 1745551"/>
                <a:gd name="connsiteX4" fmla="*/ 1539918 w 1961391"/>
                <a:gd name="connsiteY4" fmla="*/ 88854 h 1745551"/>
                <a:gd name="connsiteX5" fmla="*/ 1940980 w 1961391"/>
                <a:gd name="connsiteY5" fmla="*/ 783921 h 1745551"/>
                <a:gd name="connsiteX6" fmla="*/ 1961391 w 1961391"/>
                <a:gd name="connsiteY6" fmla="*/ 872775 h 1745551"/>
                <a:gd name="connsiteX7" fmla="*/ 1940980 w 1961391"/>
                <a:gd name="connsiteY7" fmla="*/ 961629 h 1745551"/>
                <a:gd name="connsiteX8" fmla="*/ 1539918 w 1961391"/>
                <a:gd name="connsiteY8" fmla="*/ 1656697 h 1745551"/>
                <a:gd name="connsiteX9" fmla="*/ 1385223 w 1961391"/>
                <a:gd name="connsiteY9" fmla="*/ 1745551 h 1745551"/>
                <a:gd name="connsiteX10" fmla="*/ 1120460 w 1961391"/>
                <a:gd name="connsiteY10" fmla="*/ 1745551 h 1745551"/>
                <a:gd name="connsiteX11" fmla="*/ 1097791 w 1961391"/>
                <a:gd name="connsiteY11" fmla="*/ 1745551 h 1745551"/>
                <a:gd name="connsiteX12" fmla="*/ 1039896 w 1961391"/>
                <a:gd name="connsiteY12" fmla="*/ 1745551 h 1745551"/>
                <a:gd name="connsiteX13" fmla="*/ 1013340 w 1961391"/>
                <a:gd name="connsiteY13" fmla="*/ 1745551 h 1745551"/>
                <a:gd name="connsiteX14" fmla="*/ 948051 w 1961391"/>
                <a:gd name="connsiteY14" fmla="*/ 1745551 h 1745551"/>
                <a:gd name="connsiteX15" fmla="*/ 921495 w 1961391"/>
                <a:gd name="connsiteY15" fmla="*/ 1745551 h 1745551"/>
                <a:gd name="connsiteX16" fmla="*/ 863600 w 1961391"/>
                <a:gd name="connsiteY16" fmla="*/ 1745551 h 1745551"/>
                <a:gd name="connsiteX17" fmla="*/ 840931 w 1961391"/>
                <a:gd name="connsiteY17" fmla="*/ 1745551 h 1745551"/>
                <a:gd name="connsiteX18" fmla="*/ 576168 w 1961391"/>
                <a:gd name="connsiteY18" fmla="*/ 1745551 h 1745551"/>
                <a:gd name="connsiteX19" fmla="*/ 421473 w 1961391"/>
                <a:gd name="connsiteY19" fmla="*/ 1656697 h 1745551"/>
                <a:gd name="connsiteX20" fmla="*/ 20411 w 1961391"/>
                <a:gd name="connsiteY20" fmla="*/ 961629 h 1745551"/>
                <a:gd name="connsiteX21" fmla="*/ 0 w 1961391"/>
                <a:gd name="connsiteY21" fmla="*/ 872775 h 1745551"/>
                <a:gd name="connsiteX22" fmla="*/ 20411 w 1961391"/>
                <a:gd name="connsiteY22" fmla="*/ 783921 h 1745551"/>
                <a:gd name="connsiteX23" fmla="*/ 421473 w 1961391"/>
                <a:gd name="connsiteY23" fmla="*/ 88854 h 1745551"/>
                <a:gd name="connsiteX24" fmla="*/ 576168 w 1961391"/>
                <a:gd name="connsiteY24" fmla="*/ 0 h 1745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61391" h="1745551">
                  <a:moveTo>
                    <a:pt x="576168" y="0"/>
                  </a:moveTo>
                  <a:lnTo>
                    <a:pt x="863600" y="0"/>
                  </a:lnTo>
                  <a:lnTo>
                    <a:pt x="1097791" y="0"/>
                  </a:lnTo>
                  <a:lnTo>
                    <a:pt x="1385223" y="0"/>
                  </a:lnTo>
                  <a:cubicBezTo>
                    <a:pt x="1441086" y="0"/>
                    <a:pt x="1511271" y="40128"/>
                    <a:pt x="1539918" y="88854"/>
                  </a:cubicBezTo>
                  <a:cubicBezTo>
                    <a:pt x="1940980" y="783921"/>
                    <a:pt x="1940980" y="783921"/>
                    <a:pt x="1940980" y="783921"/>
                  </a:cubicBezTo>
                  <a:cubicBezTo>
                    <a:pt x="1954587" y="808285"/>
                    <a:pt x="1961391" y="840530"/>
                    <a:pt x="1961391" y="872775"/>
                  </a:cubicBezTo>
                  <a:cubicBezTo>
                    <a:pt x="1961391" y="905021"/>
                    <a:pt x="1954587" y="937267"/>
                    <a:pt x="1940980" y="961629"/>
                  </a:cubicBezTo>
                  <a:cubicBezTo>
                    <a:pt x="1539918" y="1656697"/>
                    <a:pt x="1539918" y="1656697"/>
                    <a:pt x="1539918" y="1656697"/>
                  </a:cubicBezTo>
                  <a:cubicBezTo>
                    <a:pt x="1511271" y="1705424"/>
                    <a:pt x="1441086" y="1745551"/>
                    <a:pt x="1385223" y="1745551"/>
                  </a:cubicBezTo>
                  <a:cubicBezTo>
                    <a:pt x="1284958" y="1745551"/>
                    <a:pt x="1197225" y="1745551"/>
                    <a:pt x="1120460" y="1745551"/>
                  </a:cubicBezTo>
                  <a:lnTo>
                    <a:pt x="1097791" y="1745551"/>
                  </a:lnTo>
                  <a:lnTo>
                    <a:pt x="1039896" y="1745551"/>
                  </a:lnTo>
                  <a:lnTo>
                    <a:pt x="1013340" y="1745551"/>
                  </a:lnTo>
                  <a:lnTo>
                    <a:pt x="948051" y="1745551"/>
                  </a:lnTo>
                  <a:lnTo>
                    <a:pt x="921495" y="1745551"/>
                  </a:lnTo>
                  <a:lnTo>
                    <a:pt x="863600" y="1745551"/>
                  </a:lnTo>
                  <a:lnTo>
                    <a:pt x="840931" y="1745551"/>
                  </a:lnTo>
                  <a:cubicBezTo>
                    <a:pt x="764166" y="1745551"/>
                    <a:pt x="676433" y="1745551"/>
                    <a:pt x="576168" y="1745551"/>
                  </a:cubicBezTo>
                  <a:cubicBezTo>
                    <a:pt x="520305" y="1745551"/>
                    <a:pt x="450120" y="1705424"/>
                    <a:pt x="421473" y="1656697"/>
                  </a:cubicBezTo>
                  <a:cubicBezTo>
                    <a:pt x="421473" y="1656697"/>
                    <a:pt x="421473" y="1656697"/>
                    <a:pt x="20411" y="961629"/>
                  </a:cubicBezTo>
                  <a:cubicBezTo>
                    <a:pt x="6804" y="937267"/>
                    <a:pt x="0" y="905021"/>
                    <a:pt x="0" y="872775"/>
                  </a:cubicBezTo>
                  <a:cubicBezTo>
                    <a:pt x="0" y="840530"/>
                    <a:pt x="6804" y="808285"/>
                    <a:pt x="20411" y="783921"/>
                  </a:cubicBezTo>
                  <a:cubicBezTo>
                    <a:pt x="20411" y="783921"/>
                    <a:pt x="20411" y="783921"/>
                    <a:pt x="421473" y="88854"/>
                  </a:cubicBezTo>
                  <a:cubicBezTo>
                    <a:pt x="450120" y="40128"/>
                    <a:pt x="520305" y="0"/>
                    <a:pt x="576168" y="0"/>
                  </a:cubicBezTo>
                  <a:close/>
                </a:path>
              </a:pathLst>
            </a:custGeom>
            <a:solidFill>
              <a:srgbClr val="9CC5F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2590" b="1">
                <a:latin typeface="Songti SC" panose="02010600040101010101" pitchFamily="2" charset="-122"/>
                <a:ea typeface="Songti SC" panose="02010600040101010101" pitchFamily="2" charset="-122"/>
              </a:endParaRPr>
            </a:p>
          </p:txBody>
        </p:sp>
      </p:grpSp>
      <p:sp>
        <p:nvSpPr>
          <p:cNvPr id="8" name="文本框 7"/>
          <p:cNvSpPr txBox="1"/>
          <p:nvPr/>
        </p:nvSpPr>
        <p:spPr>
          <a:xfrm>
            <a:off x="5321588" y="3413325"/>
            <a:ext cx="15488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6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Part.01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3327400" y="4946424"/>
            <a:ext cx="5537198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spc="600" dirty="0">
                <a:solidFill>
                  <a:schemeClr val="accent6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项目介绍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C7935A8A-38E6-B86E-9253-00DD8EE6A1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0390" y="1516741"/>
            <a:ext cx="3582844" cy="65767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decel="533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9" fill="hold">
                                <p:stCondLst>
                                  <p:cond delay="1000"/>
                                </p:stCondLst>
                                <p:childTnLst>
                                  <p:par>
                                    <p:cTn id="10" presetID="2" presetClass="entr" presetSubtype="4" fill="hold" nodeType="afterEffect" p14:presetBounceEnd="4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40000">
                                          <p:cBhvr additive="base">
                                            <p:cTn id="12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40000">
                                          <p:cBhvr additive="base">
                                            <p:cTn id="13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4" fill="hold">
                                <p:stCondLst>
                                  <p:cond delay="2000"/>
                                </p:stCondLst>
                                <p:childTnLst>
                                  <p:par>
                                    <p:cTn id="15" presetID="53" presetClass="entr" presetSubtype="16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7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8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20" fill="hold">
                                <p:stCondLst>
                                  <p:cond delay="2500"/>
                                </p:stCondLst>
                                <p:childTnLst>
                                  <p:par>
                                    <p:cTn id="21" presetID="50" presetClass="entr" presetSubtype="0" decel="100000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w+.3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5" dur="10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" grpId="0" animBg="1"/>
          <p:bldP spid="8" grpId="0"/>
          <p:bldP spid="9" grpId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decel="533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9" fill="hold">
                                <p:stCondLst>
                                  <p:cond delay="1000"/>
                                </p:stCondLst>
                                <p:childTnLst>
                                  <p:par>
                                    <p:cTn id="10" presetID="2" presetClass="entr" presetSubtype="4" fill="hold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4" fill="hold">
                                <p:stCondLst>
                                  <p:cond delay="2000"/>
                                </p:stCondLst>
                                <p:childTnLst>
                                  <p:par>
                                    <p:cTn id="15" presetID="53" presetClass="entr" presetSubtype="16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7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8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20" fill="hold">
                                <p:stCondLst>
                                  <p:cond delay="2500"/>
                                </p:stCondLst>
                                <p:childTnLst>
                                  <p:par>
                                    <p:cTn id="21" presetID="50" presetClass="entr" presetSubtype="0" decel="100000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w+.3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5" dur="10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" grpId="0" animBg="1"/>
          <p:bldP spid="8" grpId="0"/>
          <p:bldP spid="9" grpId="0"/>
        </p:bldLst>
      </p:timing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3" name="直接连接符 22"/>
          <p:cNvCxnSpPr/>
          <p:nvPr/>
        </p:nvCxnSpPr>
        <p:spPr>
          <a:xfrm>
            <a:off x="83014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/>
        </p:nvSpPr>
        <p:spPr>
          <a:xfrm>
            <a:off x="3231850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5" name="直接连接符 24"/>
          <p:cNvCxnSpPr/>
          <p:nvPr/>
        </p:nvCxnSpPr>
        <p:spPr>
          <a:xfrm>
            <a:off x="100032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6"/>
          <p:cNvSpPr txBox="1"/>
          <p:nvPr/>
        </p:nvSpPr>
        <p:spPr>
          <a:xfrm>
            <a:off x="3374949" y="215903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项目介绍</a:t>
            </a: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系统架构</a:t>
            </a:r>
          </a:p>
        </p:txBody>
      </p:sp>
      <p:sp>
        <p:nvSpPr>
          <p:cNvPr id="28" name="TextBox 9"/>
          <p:cNvSpPr txBox="1"/>
          <p:nvPr/>
        </p:nvSpPr>
        <p:spPr>
          <a:xfrm>
            <a:off x="67785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模块设计实现</a:t>
            </a: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项目测试</a:t>
            </a: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项目总结</a:t>
            </a:r>
          </a:p>
        </p:txBody>
      </p:sp>
      <p:cxnSp>
        <p:nvCxnSpPr>
          <p:cNvPr id="31" name="直接连接符 30"/>
          <p:cNvCxnSpPr/>
          <p:nvPr/>
        </p:nvCxnSpPr>
        <p:spPr>
          <a:xfrm>
            <a:off x="65996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学论网-矩形 1"/>
          <p:cNvSpPr/>
          <p:nvPr/>
        </p:nvSpPr>
        <p:spPr>
          <a:xfrm>
            <a:off x="574657" y="1575936"/>
            <a:ext cx="11176740" cy="680391"/>
          </a:xfrm>
          <a:prstGeom prst="rect">
            <a:avLst/>
          </a:prstGeom>
          <a:solidFill>
            <a:schemeClr val="accent6"/>
          </a:solidFill>
          <a:ln w="12700" cap="flat" cmpd="sng" algn="ctr">
            <a:solidFill>
              <a:srgbClr val="448AD7"/>
            </a:solidFill>
            <a:prstDash val="solid"/>
          </a:ln>
          <a:effectLst/>
        </p:spPr>
        <p:txBody>
          <a:bodyPr rtlCol="0" anchor="ctr"/>
          <a:lstStyle/>
          <a:p>
            <a:pPr lvl="0" algn="ctr"/>
            <a:r>
              <a:rPr lang="zh-CN" altLang="en-US" sz="2800" b="1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ongti SC Black" panose="02010600040101010101" pitchFamily="2" charset="-122"/>
                <a:ea typeface="Songti SC Black" panose="02010600040101010101" pitchFamily="2" charset="-122"/>
                <a:cs typeface="微软雅黑" panose="020B0503020204020204" pitchFamily="34" charset="-122"/>
                <a:sym typeface="+mn-ea"/>
              </a:rPr>
              <a:t>大语言模型推理面临严峻内存挑战</a:t>
            </a:r>
            <a:endParaRPr lang="zh-CN" altLang="en-US" sz="2800" b="1" kern="0" dirty="0">
              <a:gradFill>
                <a:gsLst>
                  <a:gs pos="100000">
                    <a:schemeClr val="bg1"/>
                  </a:gs>
                  <a:gs pos="0">
                    <a:schemeClr val="bg1">
                      <a:lumMod val="95000"/>
                    </a:schemeClr>
                  </a:gs>
                </a:gsLst>
                <a:path path="circle">
                  <a:fillToRect l="100000" b="100000"/>
                </a:path>
              </a:gradFill>
              <a:latin typeface="Songti SC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52" name="学论网-矩形 1"/>
          <p:cNvSpPr/>
          <p:nvPr/>
        </p:nvSpPr>
        <p:spPr>
          <a:xfrm>
            <a:off x="574656" y="2258232"/>
            <a:ext cx="11176741" cy="2027514"/>
          </a:xfrm>
          <a:prstGeom prst="rect">
            <a:avLst/>
          </a:prstGeom>
          <a:noFill/>
          <a:ln w="12700" cap="flat" cmpd="sng" algn="ctr">
            <a:solidFill>
              <a:srgbClr val="448AD7"/>
            </a:solidFill>
            <a:prstDash val="sysDot"/>
          </a:ln>
          <a:effectLst/>
        </p:spPr>
        <p:txBody>
          <a:bodyPr rtlCol="0" anchor="ctr"/>
          <a:lstStyle/>
          <a:p>
            <a:pPr lvl="0" algn="ctr"/>
            <a:endParaRPr lang="zh-CN" altLang="en-US" sz="2800" b="1" kern="0" dirty="0">
              <a:gradFill>
                <a:gsLst>
                  <a:gs pos="100000">
                    <a:schemeClr val="bg1"/>
                  </a:gs>
                  <a:gs pos="0">
                    <a:schemeClr val="bg1">
                      <a:lumMod val="95000"/>
                    </a:schemeClr>
                  </a:gs>
                </a:gsLst>
                <a:path path="circle">
                  <a:fillToRect l="100000" b="100000"/>
                </a:path>
              </a:gradFill>
              <a:latin typeface="Songti SC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54" name="学论网-矩形 1"/>
          <p:cNvSpPr/>
          <p:nvPr/>
        </p:nvSpPr>
        <p:spPr>
          <a:xfrm>
            <a:off x="575292" y="4307185"/>
            <a:ext cx="11176105" cy="2461697"/>
          </a:xfrm>
          <a:prstGeom prst="rect">
            <a:avLst/>
          </a:prstGeom>
          <a:noFill/>
          <a:ln w="12700" cap="flat" cmpd="sng" algn="ctr">
            <a:solidFill>
              <a:srgbClr val="448AD7"/>
            </a:solidFill>
            <a:prstDash val="sysDot"/>
          </a:ln>
          <a:effectLst/>
        </p:spPr>
        <p:txBody>
          <a:bodyPr rtlCol="0" anchor="ctr"/>
          <a:lstStyle/>
          <a:p>
            <a:pPr lvl="0" algn="ctr"/>
            <a:endParaRPr lang="zh-CN" altLang="en-US" sz="2800" b="1" kern="0" dirty="0">
              <a:gradFill>
                <a:gsLst>
                  <a:gs pos="100000">
                    <a:schemeClr val="bg1"/>
                  </a:gs>
                  <a:gs pos="0">
                    <a:schemeClr val="bg1">
                      <a:lumMod val="95000"/>
                    </a:schemeClr>
                  </a:gs>
                </a:gsLst>
                <a:path path="circle">
                  <a:fillToRect l="100000" b="100000"/>
                </a:path>
              </a:gradFill>
              <a:latin typeface="Songti SC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55" name="学论网-www.xuelun.me"/>
          <p:cNvSpPr txBox="1"/>
          <p:nvPr/>
        </p:nvSpPr>
        <p:spPr>
          <a:xfrm>
            <a:off x="1128647" y="2179659"/>
            <a:ext cx="9934706" cy="200232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LLM</a:t>
            </a: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推理面临严峻内存瓶颈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</a:rPr>
              <a:t>模型权重规模增长：低比特量化后仍需数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</a:rPr>
              <a:t>GB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</a:rPr>
              <a:t>至数十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</a:rPr>
              <a:t>GB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</a:rPr>
              <a:t>内存 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</a:rPr>
              <a:t>KV Cache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</a:rPr>
              <a:t>增长：随上下文长度、并发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</a:rPr>
              <a:t>Session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</a:rPr>
              <a:t>和表示宽度近似线性增长 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</a:rPr>
              <a:t>边缘设备资源受限：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</a:rPr>
              <a:t>DRAM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</a:rPr>
              <a:t>容量有限，存储带宽显著低于内存带宽 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</a:rPr>
              <a:t>mmap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</a:rPr>
              <a:t>依赖被动缺页：易产生同步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</a:rPr>
              <a:t>I/O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</a:rPr>
              <a:t>等待与不可控的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</a:rPr>
              <a:t>page cache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</a:rPr>
              <a:t>驻留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endParaRPr lang="en-US" altLang="zh-CN" sz="2400" b="1">
              <a:latin typeface="Songti SC" panose="02010600040101010101" pitchFamily="2" charset="-122"/>
              <a:ea typeface="Songti SC" panose="02010600040101010101" pitchFamily="2" charset="-122"/>
              <a:cs typeface="宋体" panose="02010600030101010101" pitchFamily="2" charset="-122"/>
            </a:endParaRPr>
          </a:p>
        </p:txBody>
      </p:sp>
      <p:sp>
        <p:nvSpPr>
          <p:cNvPr id="57" name="学论网-www.xuelun.me"/>
          <p:cNvSpPr txBox="1"/>
          <p:nvPr/>
        </p:nvSpPr>
        <p:spPr>
          <a:xfrm>
            <a:off x="791939" y="4307186"/>
            <a:ext cx="10742174" cy="244025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三类资源具有不同访存与生命周期特征</a:t>
            </a:r>
            <a:endParaRPr lang="en-US" altLang="zh-CN" sz="2400" b="1">
              <a:solidFill>
                <a:srgbClr val="FF0000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  <a:p>
            <a:pPr marL="457200" lvl="0" indent="-457200">
              <a:buFont typeface="Arial" panose="020B0604020202020204" pitchFamily="34" charset="0"/>
              <a:buAutoNum type="arabicPeriod"/>
            </a:pP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Dense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权重：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Layer 0→1→2→…→N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顺序访问，每个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Token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重复相同层级序列 </a:t>
            </a:r>
          </a:p>
          <a:p>
            <a:pPr marL="457200" lvl="0" indent="-457200">
              <a:buFont typeface="Arial" panose="020B0604020202020204" pitchFamily="34" charset="0"/>
              <a:buAutoNum type="arabicPeriod"/>
            </a:pP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MoE Expert</a:t>
            </a:r>
            <a:r>
              <a:rPr lang="zh-CN" altLang="en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：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每个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Token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仅激活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Top-K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专家，呈现“全局稀疏、局部密集”的动态工作集 </a:t>
            </a:r>
          </a:p>
          <a:p>
            <a:pPr marL="457200" lvl="0" indent="-457200">
              <a:buFont typeface="Arial" panose="020B0604020202020204" pitchFamily="34" charset="0"/>
              <a:buAutoNum type="arabicPeriod"/>
            </a:pP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KV Cache</a:t>
            </a:r>
            <a:r>
              <a:rPr lang="zh-CN" altLang="en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：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随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Session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在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ACTIVE / IDLE / REVISIT / DEAD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间动态演化 </a:t>
            </a:r>
          </a:p>
          <a:p>
            <a:pPr marL="457200" lvl="0" indent="-457200">
              <a:buFont typeface="Arial" panose="020B0604020202020204" pitchFamily="34" charset="0"/>
              <a:buAutoNum type="arabicPeriod"/>
            </a:pP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三类对象共同竞争有限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DRAM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与存储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I/O</a:t>
            </a:r>
            <a:r>
              <a:rPr lang="zh-CN" altLang="en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，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宋体" panose="02010600030101010101" pitchFamily="2" charset="-122"/>
                <a:sym typeface="+mn-ea"/>
              </a:rPr>
              <a:t>需要运行时主动管理其驻留与迁移</a:t>
            </a:r>
          </a:p>
          <a:p>
            <a:pPr marL="457200" lvl="0" indent="-457200">
              <a:buFont typeface="Arial" panose="020B0604020202020204" pitchFamily="34" charset="0"/>
              <a:buAutoNum type="arabicPeriod"/>
            </a:pPr>
            <a:endParaRPr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2" name="直接连接符 1"/>
          <p:cNvCxnSpPr/>
          <p:nvPr/>
        </p:nvCxnSpPr>
        <p:spPr>
          <a:xfrm>
            <a:off x="428215" y="1442779"/>
            <a:ext cx="240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6"/>
          <p:cNvSpPr txBox="1"/>
          <p:nvPr/>
        </p:nvSpPr>
        <p:spPr>
          <a:xfrm>
            <a:off x="572618" y="891710"/>
            <a:ext cx="2012648" cy="52782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1.1 </a:t>
            </a:r>
            <a:r>
              <a:rPr lang="zh-CN" altLang="en-US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项目背景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814C0CE-041F-7EF5-BB09-760E6A6385F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decel="533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decel="533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75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51" grpId="0" bldLvl="0" animBg="1"/>
      <p:bldP spid="52" grpId="0" bldLvl="0" animBg="1"/>
      <p:bldP spid="54" grpId="0" bldLvl="0" animBg="1"/>
      <p:bldP spid="55" grpId="0"/>
      <p:bldP spid="57" grpId="0"/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3" name="直接连接符 22"/>
          <p:cNvCxnSpPr/>
          <p:nvPr/>
        </p:nvCxnSpPr>
        <p:spPr>
          <a:xfrm>
            <a:off x="83014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/>
        </p:nvSpPr>
        <p:spPr>
          <a:xfrm>
            <a:off x="3231850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5" name="直接连接符 24"/>
          <p:cNvCxnSpPr/>
          <p:nvPr/>
        </p:nvCxnSpPr>
        <p:spPr>
          <a:xfrm>
            <a:off x="100032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6"/>
          <p:cNvSpPr txBox="1"/>
          <p:nvPr/>
        </p:nvSpPr>
        <p:spPr>
          <a:xfrm>
            <a:off x="3374949" y="215903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项目介绍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/>
          <p:cNvSpPr txBox="1"/>
          <p:nvPr/>
        </p:nvSpPr>
        <p:spPr>
          <a:xfrm>
            <a:off x="67785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模块设计实现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1" name="直接连接符 30"/>
          <p:cNvCxnSpPr/>
          <p:nvPr/>
        </p:nvCxnSpPr>
        <p:spPr>
          <a:xfrm>
            <a:off x="65996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434844" y="1424332"/>
            <a:ext cx="240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/>
          <p:nvPr/>
        </p:nvSpPr>
        <p:spPr>
          <a:xfrm>
            <a:off x="572618" y="896507"/>
            <a:ext cx="2012648" cy="52782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>
            <a:defPPr>
              <a:defRPr lang="zh-CN"/>
            </a:defPPr>
            <a:lvl1pPr algn="ctr">
              <a:defRPr sz="2400" b="1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sz="2800" dirty="0">
                <a:latin typeface="SONGTI SC BLACK" panose="02010600040101010101" pitchFamily="2" charset="-122"/>
                <a:ea typeface="SONGTI SC BLACK" panose="02010600040101010101" pitchFamily="2" charset="-122"/>
              </a:rPr>
              <a:t>1.2 </a:t>
            </a:r>
            <a:r>
              <a:rPr lang="zh-CN" altLang="en-US" sz="2800" dirty="0">
                <a:latin typeface="SONGTI SC BLACK" panose="02010600040101010101" pitchFamily="2" charset="-122"/>
                <a:ea typeface="SONGTI SC BLACK" panose="02010600040101010101" pitchFamily="2" charset="-122"/>
              </a:rPr>
              <a:t>项目目标</a:t>
            </a:r>
          </a:p>
        </p:txBody>
      </p:sp>
      <p:graphicFrame>
        <p:nvGraphicFramePr>
          <p:cNvPr id="3" name="表格 2"/>
          <p:cNvGraphicFramePr/>
          <p:nvPr>
            <p:extLst>
              <p:ext uri="{D42A27DB-BD31-4B8C-83A1-F6EECF244321}">
                <p14:modId xmlns:p14="http://schemas.microsoft.com/office/powerpoint/2010/main" val="1608216172"/>
              </p:ext>
            </p:extLst>
          </p:nvPr>
        </p:nvGraphicFramePr>
        <p:xfrm>
          <a:off x="710438" y="1528839"/>
          <a:ext cx="11094052" cy="5208812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523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414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5128"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800" b="1" i="0">
                          <a:solidFill>
                            <a:schemeClr val="bg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目标</a:t>
                      </a:r>
                    </a:p>
                  </a:txBody>
                  <a:tcPr marL="0" marR="121920" marT="76200" marB="76200" anchor="ctr"/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800" b="1" i="0">
                          <a:solidFill>
                            <a:schemeClr val="bg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完成情况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800" b="1" i="0">
                          <a:solidFill>
                            <a:schemeClr val="bg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说明</a:t>
                      </a:r>
                    </a:p>
                  </a:txBody>
                  <a:tcPr marL="121920" marR="121920" marT="76200" marB="762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257"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18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</a:t>
                      </a:r>
                      <a:r>
                        <a:rPr lang="zh-CN" altLang="en-US" sz="18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、</a:t>
                      </a:r>
                      <a:r>
                        <a:rPr lang="zh-CN" altLang="en-US" sz="1800" b="1" i="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sym typeface="+mn-ea"/>
                        </a:rPr>
                        <a:t>分析 </a:t>
                      </a:r>
                      <a:r>
                        <a:rPr lang="en-US" altLang="zh-CN" sz="1800" b="1" i="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sym typeface="+mn-ea"/>
                        </a:rPr>
                        <a:t>LLM </a:t>
                      </a:r>
                      <a:r>
                        <a:rPr lang="zh-CN" altLang="en-US" sz="1800" b="1" i="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sym typeface="+mn-ea"/>
                        </a:rPr>
                        <a:t>推理过程的访存行为</a:t>
                      </a:r>
                      <a:endParaRPr lang="zh-CN" altLang="en-US" sz="1800" b="1" i="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  <a:cs typeface="+mn-cs"/>
                      </a:endParaRPr>
                    </a:p>
                  </a:txBody>
                  <a:tcPr marL="0" marR="121920" marT="76200" marB="76200" anchor="ctr"/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全部完成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marL="6858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完成 </a:t>
                      </a:r>
                      <a:r>
                        <a:rPr lang="en" altLang="zh-CN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Dense Layer </a:t>
                      </a:r>
                      <a:r>
                        <a:rPr lang="zh-CN" altLang="en-US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顺序访问、</a:t>
                      </a:r>
                      <a:r>
                        <a:rPr lang="en" altLang="zh-CN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MoE Expert </a:t>
                      </a:r>
                      <a:r>
                        <a:rPr lang="zh-CN" altLang="en-US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稀疏激活及 </a:t>
                      </a:r>
                      <a:r>
                        <a:rPr lang="en" altLang="zh-CN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KV Cache </a:t>
                      </a:r>
                      <a:r>
                        <a:rPr lang="zh-CN" altLang="en-US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物理驻留与 </a:t>
                      </a:r>
                      <a:r>
                        <a:rPr lang="en" altLang="zh-CN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Session </a:t>
                      </a:r>
                      <a:r>
                        <a:rPr lang="zh-CN" altLang="en-US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生命周期分析</a:t>
                      </a:r>
                      <a:r>
                        <a:rPr lang="zh-CN" altLang="en-US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，形成可观测、可调度的运行时资源视图。</a:t>
                      </a:r>
                      <a:endParaRPr lang="zh-CN" altLang="en-US" sz="1800" b="1" i="0">
                        <a:solidFill>
                          <a:srgbClr val="000000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  <a:cs typeface="+mn-cs"/>
                      </a:endParaRPr>
                    </a:p>
                  </a:txBody>
                  <a:tcPr marL="121920" marR="0" marT="76200" marB="762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257"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18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2</a:t>
                      </a:r>
                      <a:r>
                        <a:rPr lang="zh-CN" altLang="en-US" sz="18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、使用虚拟内存相关技术减少运行时物理内存量</a:t>
                      </a:r>
                      <a:endParaRPr lang="zh-CN" altLang="en-US" sz="1800" b="1" i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  <a:cs typeface="+mn-cs"/>
                      </a:endParaRPr>
                    </a:p>
                  </a:txBody>
                  <a:tcPr marL="0" marR="121920" marT="76200" marB="76200" anchor="ctr"/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全部完成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marL="6858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实现 </a:t>
                      </a:r>
                      <a:r>
                        <a:rPr lang="en" altLang="zh-CN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Dense Layer</a:t>
                      </a:r>
                      <a:r>
                        <a:rPr lang="zh-CN" altLang="en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、</a:t>
                      </a:r>
                      <a:r>
                        <a:rPr lang="en" altLang="zh-CN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MoE Expert </a:t>
                      </a:r>
                      <a:r>
                        <a:rPr lang="zh-CN" altLang="en-US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与 </a:t>
                      </a:r>
                      <a:r>
                        <a:rPr lang="en" altLang="zh-CN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KV Block </a:t>
                      </a:r>
                      <a:r>
                        <a:rPr lang="zh-CN" altLang="en-US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的显式驻留管理</a:t>
                      </a:r>
                      <a:r>
                        <a:rPr lang="zh-CN" altLang="en-US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，通过</a:t>
                      </a:r>
                      <a:r>
                        <a:rPr lang="zh-CN" altLang="en-US" sz="18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按需加载、动态驱逐、</a:t>
                      </a:r>
                      <a:r>
                        <a:rPr lang="en" altLang="zh-CN" sz="18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RELEASE / OFFLOAD </a:t>
                      </a:r>
                      <a:r>
                        <a:rPr lang="zh-CN" altLang="en-US" sz="18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等机制降低真实物</a:t>
                      </a:r>
                      <a:r>
                        <a:rPr lang="zh-CN" altLang="en-US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理内存占用。</a:t>
                      </a:r>
                      <a:endParaRPr lang="zh-CN" altLang="en-US" sz="1800" b="1" i="0">
                        <a:solidFill>
                          <a:srgbClr val="000000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  <a:cs typeface="+mn-cs"/>
                      </a:endParaRPr>
                    </a:p>
                  </a:txBody>
                  <a:tcPr marL="121920" marR="0" marT="76200" marB="762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257"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18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3</a:t>
                      </a:r>
                      <a:r>
                        <a:rPr lang="zh-CN" altLang="en-US" sz="18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、通过预取等技术掩盖 </a:t>
                      </a:r>
                      <a:r>
                        <a:rPr lang="en-US" altLang="zh-CN" sz="18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I/O </a:t>
                      </a:r>
                      <a:r>
                        <a:rPr lang="zh-CN" altLang="en-US" sz="18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延迟，提升推理性能</a:t>
                      </a:r>
                      <a:endParaRPr lang="en-US" altLang="zh-CN" sz="1800" b="1" i="0">
                        <a:solidFill>
                          <a:srgbClr val="000000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 marL="0" marR="121920" marT="76200" marB="76200" anchor="ctr"/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全部完成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marL="6858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实现 </a:t>
                      </a:r>
                      <a:r>
                        <a:rPr lang="en" altLang="zh-CN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Dense Ahead</a:t>
                      </a:r>
                      <a:r>
                        <a:rPr lang="zh-CN" altLang="en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、</a:t>
                      </a:r>
                      <a:r>
                        <a:rPr lang="en" altLang="zh-CN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MoE Expert </a:t>
                      </a:r>
                      <a:r>
                        <a:rPr lang="zh-CN" altLang="en-US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预测预取及 </a:t>
                      </a:r>
                      <a:r>
                        <a:rPr lang="en" altLang="zh-CN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KV Read/Restore </a:t>
                      </a:r>
                      <a:r>
                        <a:rPr lang="zh-CN" altLang="en-US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流水</a:t>
                      </a:r>
                      <a:r>
                        <a:rPr lang="zh-CN" altLang="en-US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，通过后台异步 </a:t>
                      </a:r>
                      <a:r>
                        <a:rPr lang="en" altLang="zh-CN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I/O </a:t>
                      </a:r>
                      <a:r>
                        <a:rPr lang="zh-CN" altLang="en-US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提升计算与数据迁移重叠。</a:t>
                      </a:r>
                      <a:endParaRPr lang="zh-CN" altLang="en-US" sz="1800" b="1" i="0">
                        <a:solidFill>
                          <a:srgbClr val="000000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  <a:cs typeface="+mn-cs"/>
                      </a:endParaRPr>
                    </a:p>
                  </a:txBody>
                  <a:tcPr marL="121920" marR="0" marT="76200" marB="762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257">
                <a:tc>
                  <a:txBody>
                    <a:bodyPr/>
                    <a:lstStyle/>
                    <a:p>
                      <a:pPr marL="6858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4</a:t>
                      </a:r>
                      <a:r>
                        <a:rPr lang="zh-CN" altLang="en-US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、构建 </a:t>
                      </a:r>
                      <a:r>
                        <a:rPr lang="en" altLang="zh-CN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Weight-KV-I/O </a:t>
                      </a:r>
                      <a:r>
                        <a:rPr lang="zh-CN" altLang="en-US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全局资源协调机制</a:t>
                      </a:r>
                      <a:endParaRPr lang="en-US" altLang="zh-CN" sz="1800" b="1" i="0">
                        <a:solidFill>
                          <a:srgbClr val="000000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 marL="0" marR="121920" marT="76200" marB="76200" anchor="ctr"/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altLang="en-US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完成核心框架</a:t>
                      </a:r>
                      <a:endParaRPr lang="zh-CN" sz="1800" b="1" i="0">
                        <a:solidFill>
                          <a:srgbClr val="000000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marL="6858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实现</a:t>
                      </a:r>
                      <a:r>
                        <a:rPr lang="zh-CN" altLang="en-US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 </a:t>
                      </a:r>
                      <a:r>
                        <a:rPr lang="en" altLang="zh-CN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Memory Planner </a:t>
                      </a:r>
                      <a:r>
                        <a:rPr lang="zh-CN" altLang="en-US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与 </a:t>
                      </a:r>
                      <a:r>
                        <a:rPr lang="en" altLang="zh-CN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Server Memory Governor</a:t>
                      </a:r>
                      <a:r>
                        <a:rPr lang="zh-CN" altLang="en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，</a:t>
                      </a:r>
                      <a:r>
                        <a:rPr lang="zh-CN" altLang="en-US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统一协调 </a:t>
                      </a:r>
                      <a:r>
                        <a:rPr lang="en" altLang="zh-CN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Dense</a:t>
                      </a:r>
                      <a:r>
                        <a:rPr lang="zh-CN" altLang="en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、</a:t>
                      </a:r>
                      <a:r>
                        <a:rPr lang="en" altLang="zh-CN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MoE</a:t>
                      </a:r>
                      <a:r>
                        <a:rPr lang="zh-CN" altLang="en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、</a:t>
                      </a:r>
                      <a:r>
                        <a:rPr lang="en" altLang="zh-CN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KV Cache </a:t>
                      </a:r>
                      <a:r>
                        <a:rPr lang="zh-CN" altLang="en-US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与 </a:t>
                      </a:r>
                      <a:r>
                        <a:rPr lang="en" altLang="zh-CN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Prefetch </a:t>
                      </a:r>
                      <a:r>
                        <a:rPr lang="zh-CN" altLang="en-US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的内存预算、回收和预取。</a:t>
                      </a:r>
                    </a:p>
                  </a:txBody>
                  <a:tcPr marL="121920" marR="0" marT="76200" marB="76200" anchor="ctr"/>
                </a:tc>
                <a:extLst>
                  <a:ext uri="{0D108BD9-81ED-4DB2-BD59-A6C34878D82A}">
                    <a16:rowId xmlns:a16="http://schemas.microsoft.com/office/drawing/2014/main" val="960615930"/>
                  </a:ext>
                </a:extLst>
              </a:tr>
              <a:tr h="708656"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总计</a:t>
                      </a:r>
                    </a:p>
                  </a:txBody>
                  <a:tcPr marL="0" marR="121920" marT="76200" marB="76200" anchor="ctr"/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8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全部完成</a:t>
                      </a:r>
                    </a:p>
                  </a:txBody>
                  <a:tcPr marL="121920" marR="121920" marT="76200" marB="76200" anchor="ctr"/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altLang="en-US" sz="18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初赛阶段</a:t>
                      </a:r>
                      <a:r>
                        <a:rPr lang="zh-CN" altLang="en-US" sz="18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完成 </a:t>
                      </a:r>
                      <a:r>
                        <a:rPr lang="en-US" altLang="zh-CN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LLM </a:t>
                      </a:r>
                      <a:r>
                        <a:rPr lang="zh-CN" altLang="en-US" sz="1800" b="1" i="0">
                          <a:solidFill>
                            <a:srgbClr val="FF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推理内存优化系统的核心逻辑设计与实现</a:t>
                      </a:r>
                      <a:r>
                        <a:rPr lang="zh-CN" altLang="en-US" sz="18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，并完成内节省和推理性能验证。</a:t>
                      </a:r>
                      <a:endParaRPr lang="zh-CN" altLang="en-US" sz="1800" b="1" i="0">
                        <a:latin typeface="Songti SC" panose="02010600040101010101" pitchFamily="2" charset="-122"/>
                        <a:ea typeface="Songti SC" panose="02010600040101010101" pitchFamily="2" charset="-122"/>
                        <a:cs typeface="+mn-cs"/>
                      </a:endParaRPr>
                    </a:p>
                  </a:txBody>
                  <a:tcPr marL="121920" marR="0" marT="76200" marB="762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图片 4">
            <a:extLst>
              <a:ext uri="{FF2B5EF4-FFF2-40B4-BE49-F238E27FC236}">
                <a16:creationId xmlns:a16="http://schemas.microsoft.com/office/drawing/2014/main" id="{9F1EBDBE-B2D2-70B6-0032-67226459D07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3" name="直接连接符 22"/>
          <p:cNvCxnSpPr/>
          <p:nvPr/>
        </p:nvCxnSpPr>
        <p:spPr>
          <a:xfrm>
            <a:off x="83014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/>
        </p:nvSpPr>
        <p:spPr>
          <a:xfrm>
            <a:off x="3231850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accent6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5" name="直接连接符 24"/>
          <p:cNvCxnSpPr/>
          <p:nvPr/>
        </p:nvCxnSpPr>
        <p:spPr>
          <a:xfrm>
            <a:off x="100032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6"/>
          <p:cNvSpPr txBox="1"/>
          <p:nvPr/>
        </p:nvSpPr>
        <p:spPr>
          <a:xfrm>
            <a:off x="3374949" y="215903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项目介绍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/>
          <p:cNvSpPr txBox="1"/>
          <p:nvPr/>
        </p:nvSpPr>
        <p:spPr>
          <a:xfrm>
            <a:off x="67785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模块设计实现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1" name="直接连接符 30"/>
          <p:cNvCxnSpPr/>
          <p:nvPr/>
        </p:nvCxnSpPr>
        <p:spPr>
          <a:xfrm>
            <a:off x="65996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425752" y="1528840"/>
            <a:ext cx="240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/>
          <p:nvPr/>
        </p:nvSpPr>
        <p:spPr>
          <a:xfrm>
            <a:off x="619428" y="1000140"/>
            <a:ext cx="2012648" cy="52782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1.3 </a:t>
            </a:r>
            <a:r>
              <a:rPr lang="zh-CN" altLang="en-US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研究现状</a:t>
            </a:r>
            <a:endParaRPr lang="zh-CN" altLang="en-US" sz="28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41628" y="1703349"/>
            <a:ext cx="6150705" cy="20467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ts val="900"/>
              </a:spcBef>
              <a:spcAft>
                <a:spcPts val="900"/>
              </a:spcAft>
            </a:pPr>
            <a:r>
              <a:rPr lang="en-US" altLang="zh-CN" sz="16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LLM</a:t>
            </a:r>
            <a:r>
              <a:rPr lang="zh-CN" altLang="en-US" sz="16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推理过程</a:t>
            </a:r>
            <a:r>
              <a:rPr lang="zh-CN" altLang="en-US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具有独特的访存行为特征，是内存优化的出发点。推理分为</a:t>
            </a:r>
            <a:r>
              <a:rPr lang="en-US" altLang="zh-CN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Prefill</a:t>
            </a:r>
            <a:r>
              <a:rPr lang="zh-CN" altLang="en-US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和</a:t>
            </a:r>
            <a:r>
              <a:rPr lang="en-US" altLang="zh-CN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Decode</a:t>
            </a:r>
            <a:r>
              <a:rPr lang="zh-CN" altLang="en-US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两个阶段：</a:t>
            </a: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en-US" altLang="zh-CN" sz="16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Prefill</a:t>
            </a:r>
            <a:r>
              <a:rPr lang="zh-CN" altLang="en-US" sz="16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阶段：</a:t>
            </a:r>
            <a:r>
              <a:rPr lang="zh-CN" altLang="en-US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并行处理全部输入</a:t>
            </a:r>
            <a:r>
              <a:rPr lang="en-US" altLang="zh-CN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Token</a:t>
            </a:r>
            <a:r>
              <a:rPr lang="zh-CN" altLang="en-US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，在每个注意力层为每个</a:t>
            </a:r>
            <a:r>
              <a:rPr lang="en-US" altLang="zh-CN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Token</a:t>
            </a:r>
            <a:r>
              <a:rPr lang="zh-CN" altLang="en-US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计算</a:t>
            </a:r>
            <a:r>
              <a:rPr lang="en-US" altLang="zh-CN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Key</a:t>
            </a:r>
            <a:r>
              <a:rPr lang="zh-CN" altLang="en-US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和</a:t>
            </a:r>
            <a:r>
              <a:rPr lang="en-US" altLang="zh-CN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Value</a:t>
            </a:r>
            <a:r>
              <a:rPr lang="zh-CN" altLang="en-US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向量，属于计算密集型</a:t>
            </a: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en-US" altLang="zh-CN" sz="16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Decode</a:t>
            </a:r>
            <a:r>
              <a:rPr lang="zh-CN" altLang="en-US" sz="16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阶段：</a:t>
            </a:r>
            <a:r>
              <a:rPr lang="zh-CN" altLang="en-US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以自回归方式逐</a:t>
            </a:r>
            <a:r>
              <a:rPr lang="en-US" altLang="zh-CN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Token</a:t>
            </a:r>
            <a:r>
              <a:rPr lang="zh-CN" altLang="en-US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生成，每个新</a:t>
            </a:r>
            <a:r>
              <a:rPr lang="en-US" altLang="zh-CN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Token</a:t>
            </a:r>
            <a:r>
              <a:rPr lang="zh-CN" altLang="en-US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需对所有先前</a:t>
            </a:r>
            <a:r>
              <a:rPr lang="en-US" altLang="zh-CN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Token</a:t>
            </a:r>
            <a:r>
              <a:rPr lang="zh-CN" altLang="en-US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的</a:t>
            </a:r>
            <a:r>
              <a:rPr lang="en-US" altLang="zh-CN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Key-Value</a:t>
            </a:r>
            <a:r>
              <a:rPr lang="zh-CN" altLang="en-US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对做注意力计算，属于内存带宽受限型</a:t>
            </a:r>
          </a:p>
          <a:p>
            <a:pPr marL="0" indent="0">
              <a:spcBef>
                <a:spcPts val="900"/>
              </a:spcBef>
              <a:spcAft>
                <a:spcPts val="900"/>
              </a:spcAft>
            </a:pPr>
            <a:r>
              <a:rPr lang="en-US" altLang="zh-CN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LLM</a:t>
            </a:r>
            <a:r>
              <a:rPr lang="zh-CN" altLang="en-US" sz="16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推理过程中的数据搬运可分为三类：</a:t>
            </a:r>
          </a:p>
        </p:txBody>
      </p:sp>
      <p:graphicFrame>
        <p:nvGraphicFramePr>
          <p:cNvPr id="5" name="表格 4"/>
          <p:cNvGraphicFramePr/>
          <p:nvPr>
            <p:extLst>
              <p:ext uri="{D42A27DB-BD31-4B8C-83A1-F6EECF244321}">
                <p14:modId xmlns:p14="http://schemas.microsoft.com/office/powerpoint/2010/main" val="4080327619"/>
              </p:ext>
            </p:extLst>
          </p:nvPr>
        </p:nvGraphicFramePr>
        <p:xfrm>
          <a:off x="425752" y="3750938"/>
          <a:ext cx="10997565" cy="2183265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121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397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56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1720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en-US" alt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I/O</a:t>
                      </a:r>
                      <a:r>
                        <a:rPr lang="zh-CN" altLang="en-US" sz="1600"/>
                        <a:t>流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特征</a:t>
                      </a:r>
                    </a:p>
                  </a:txBody>
                  <a:tcPr marL="122237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600"/>
                        <a:t>运行时特征</a:t>
                      </a:r>
                    </a:p>
                  </a:txBody>
                  <a:tcPr marL="122237" marR="122237" marT="76517" marB="76517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105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权重</a:t>
                      </a:r>
                      <a:r>
                        <a:rPr lang="en-US" altLang="zh-CN" sz="1600"/>
                        <a:t>I/O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ts val="1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Dense </a:t>
                      </a:r>
                      <a:r>
                        <a:rPr lang="zh-CN" altLang="en-US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模型逐层顺序访问全部权重；</a:t>
                      </a:r>
                      <a:r>
                        <a:rPr lang="en" alt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MoE </a:t>
                      </a:r>
                      <a:r>
                        <a:rPr lang="zh-CN" altLang="en-US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模型仅访问 </a:t>
                      </a:r>
                      <a:r>
                        <a:rPr lang="en" alt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Router </a:t>
                      </a:r>
                      <a:r>
                        <a:rPr lang="zh-CN" altLang="en-US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激活的 </a:t>
                      </a:r>
                      <a:r>
                        <a:rPr lang="en" alt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Top-K Expert</a:t>
                      </a:r>
                      <a:endParaRPr lang="zh-CN" altLang="en-US" sz="1600" b="1" i="0"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 marL="122237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权重未驻留时需要按需加载，缺页或同步换入直接阻塞计算</a:t>
                      </a:r>
                      <a:endParaRPr lang="en-US" altLang="zh-CN" sz="1600"/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0598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en-US" alt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KV Cache I/O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en" alt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Live KV </a:t>
                      </a:r>
                      <a:r>
                        <a:rPr lang="zh-CN" altLang="en-US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访问量随上下文长度和并发 </a:t>
                      </a:r>
                      <a:r>
                        <a:rPr lang="en" alt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Session </a:t>
                      </a:r>
                      <a:r>
                        <a:rPr lang="zh-CN" altLang="en-US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增长</a:t>
                      </a:r>
                    </a:p>
                  </a:txBody>
                  <a:tcPr marL="122237" marR="122237" marT="76517" marB="76517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600" b="1" i="0" kern="1200">
                          <a:solidFill>
                            <a:schemeClr val="dk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分层存储后还产生 </a:t>
                      </a:r>
                      <a:r>
                        <a:rPr lang="en-US" altLang="zh-CN" sz="1600" b="1" i="0" kern="1200">
                          <a:solidFill>
                            <a:schemeClr val="dk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OFFLOAD </a:t>
                      </a:r>
                      <a:r>
                        <a:rPr lang="zh-CN" altLang="en-US" sz="1600" b="1" i="0" kern="1200">
                          <a:solidFill>
                            <a:schemeClr val="dk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写、</a:t>
                      </a:r>
                      <a:r>
                        <a:rPr lang="en-US" altLang="zh-CN" sz="1600" b="1" i="0" kern="1200">
                          <a:solidFill>
                            <a:schemeClr val="dk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Resume </a:t>
                      </a:r>
                      <a:r>
                        <a:rPr lang="zh-CN" altLang="en-US" sz="1600" b="1" i="0" kern="1200">
                          <a:solidFill>
                            <a:schemeClr val="dk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读及 </a:t>
                      </a:r>
                      <a:r>
                        <a:rPr lang="en-US" altLang="zh-CN" sz="1600" b="1" i="0" kern="1200">
                          <a:solidFill>
                            <a:schemeClr val="dk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Restore </a:t>
                      </a:r>
                      <a:r>
                        <a:rPr lang="zh-CN" altLang="en-US" sz="1600" b="1" i="0" kern="1200">
                          <a:solidFill>
                            <a:schemeClr val="dk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数据搬运</a:t>
                      </a:r>
                      <a:endParaRPr lang="en-US" altLang="zh-CN" sz="1600" b="1" i="0" kern="1200">
                        <a:solidFill>
                          <a:schemeClr val="dk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  <a:cs typeface="+mn-cs"/>
                      </a:endParaRP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9842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激活</a:t>
                      </a:r>
                      <a:r>
                        <a:rPr lang="en-US" altLang="zh-CN" sz="1600"/>
                        <a:t>I/O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主要来自计算中间 </a:t>
                      </a:r>
                      <a:r>
                        <a:rPr lang="en-US" alt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Tensor </a:t>
                      </a:r>
                      <a:r>
                        <a:rPr lang="zh-CN" altLang="en-US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的读写，</a:t>
                      </a:r>
                      <a:r>
                        <a:rPr lang="en-US" alt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Decode </a:t>
                      </a:r>
                      <a:r>
                        <a:rPr lang="zh-CN" altLang="en-US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阶段通常小于前两者</a:t>
                      </a:r>
                      <a:endParaRPr lang="en-US" altLang="zh-CN" sz="1600"/>
                    </a:p>
                  </a:txBody>
                  <a:tcPr marL="122237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本项目主要聚焦权重与 </a:t>
                      </a:r>
                      <a:r>
                        <a:rPr lang="en-US" alt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KV Cache </a:t>
                      </a:r>
                      <a:r>
                        <a:rPr lang="zh-CN" altLang="en-US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的物理驻留和迁移</a:t>
                      </a:r>
                      <a:endParaRPr lang="zh-CN" altLang="en-US" sz="1600"/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文本框 5"/>
          <p:cNvSpPr txBox="1"/>
          <p:nvPr/>
        </p:nvSpPr>
        <p:spPr>
          <a:xfrm>
            <a:off x="1846013" y="6022104"/>
            <a:ext cx="896168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900"/>
              </a:spcBef>
              <a:spcAft>
                <a:spcPts val="900"/>
              </a:spcAft>
            </a:pPr>
            <a:r>
              <a:rPr lang="zh-CN" altLang="en-US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关键结论：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Decode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阶段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Dense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、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MoE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与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KV Cache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访问特征各异，却共同竞争有限内存与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I/O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，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需要差异化驻留管理与全局协调。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69E8899A-84C7-5F56-8D49-EB33C0125D9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B34C92A6-D919-8BE5-CA14-448E015710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209" y="1209693"/>
            <a:ext cx="5284209" cy="244394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3" name="直接连接符 22"/>
          <p:cNvCxnSpPr/>
          <p:nvPr/>
        </p:nvCxnSpPr>
        <p:spPr>
          <a:xfrm>
            <a:off x="83014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/>
        </p:nvSpPr>
        <p:spPr>
          <a:xfrm>
            <a:off x="3231850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5" name="直接连接符 24"/>
          <p:cNvCxnSpPr/>
          <p:nvPr/>
        </p:nvCxnSpPr>
        <p:spPr>
          <a:xfrm>
            <a:off x="100032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6"/>
          <p:cNvSpPr txBox="1"/>
          <p:nvPr/>
        </p:nvSpPr>
        <p:spPr>
          <a:xfrm>
            <a:off x="3374949" y="215903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项目介绍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/>
          <p:cNvSpPr txBox="1"/>
          <p:nvPr/>
        </p:nvSpPr>
        <p:spPr>
          <a:xfrm>
            <a:off x="67785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模块设计实现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1" name="直接连接符 30"/>
          <p:cNvCxnSpPr/>
          <p:nvPr/>
        </p:nvCxnSpPr>
        <p:spPr>
          <a:xfrm>
            <a:off x="65996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378942" y="1439722"/>
            <a:ext cx="240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/>
          <p:nvPr/>
        </p:nvSpPr>
        <p:spPr>
          <a:xfrm>
            <a:off x="450586" y="911897"/>
            <a:ext cx="2012648" cy="52782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1.3 </a:t>
            </a:r>
            <a:r>
              <a:rPr lang="zh-CN" altLang="en-US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研究现状</a:t>
            </a:r>
            <a:endParaRPr lang="zh-CN" altLang="en-US" sz="28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91359" y="1485611"/>
            <a:ext cx="7669694" cy="5156485"/>
          </a:xfrm>
          <a:prstGeom prst="rect">
            <a:avLst/>
          </a:prstGeom>
        </p:spPr>
        <p:txBody>
          <a:bodyPr anchor="t">
            <a:noAutofit/>
          </a:bodyPr>
          <a:lstStyle/>
          <a:p>
            <a:pPr marL="342900" indent="-342900">
              <a:lnSpc>
                <a:spcPct val="80000"/>
              </a:lnSpc>
              <a:spcBef>
                <a:spcPts val="900"/>
              </a:spcBef>
              <a:spcAft>
                <a:spcPts val="900"/>
              </a:spcAft>
              <a:buFont typeface="Wingdings" pitchFamily="2" charset="2"/>
              <a:buChar char="n"/>
            </a:pPr>
            <a:r>
              <a:rPr lang="en-US" altLang="zh-CN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llama.cpp</a:t>
            </a:r>
            <a:r>
              <a:rPr lang="zh-CN" altLang="en-US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推理框架</a:t>
            </a:r>
          </a:p>
          <a:p>
            <a:pPr marL="0" indent="0">
              <a:lnSpc>
                <a:spcPct val="80000"/>
              </a:lnSpc>
              <a:spcBef>
                <a:spcPts val="900"/>
              </a:spcBef>
              <a:spcAft>
                <a:spcPts val="900"/>
              </a:spcAft>
            </a:pPr>
            <a:r>
              <a:rPr lang="en-US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llama.cpp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是一个纯</a:t>
            </a:r>
            <a:r>
              <a:rPr lang="en-US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C/C++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实现的大语言模型推理引擎，具有三个特点：</a:t>
            </a:r>
            <a:endParaRPr lang="en-US" altLang="zh-CN" b="1"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  <a:p>
            <a:pPr marL="0" indent="0">
              <a:lnSpc>
                <a:spcPct val="80000"/>
              </a:lnSpc>
              <a:spcBef>
                <a:spcPts val="900"/>
              </a:spcBef>
              <a:spcAft>
                <a:spcPts val="900"/>
              </a:spcAft>
            </a:pPr>
            <a:r>
              <a:rPr lang="en-US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①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零依赖，无需引入</a:t>
            </a:r>
            <a:r>
              <a:rPr lang="en-US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PyTorch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等框架；</a:t>
            </a:r>
            <a:endParaRPr lang="en-US" altLang="zh-CN" b="1"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  <a:p>
            <a:pPr marL="0" indent="0">
              <a:lnSpc>
                <a:spcPct val="80000"/>
              </a:lnSpc>
              <a:spcBef>
                <a:spcPts val="900"/>
              </a:spcBef>
              <a:spcAft>
                <a:spcPts val="900"/>
              </a:spcAft>
            </a:pPr>
            <a:r>
              <a:rPr lang="en-US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②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原生内置多种量化格式；</a:t>
            </a:r>
            <a:endParaRPr lang="en-US" altLang="zh-CN" b="1"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  <a:p>
            <a:pPr>
              <a:lnSpc>
                <a:spcPct val="80000"/>
              </a:lnSpc>
              <a:spcBef>
                <a:spcPts val="900"/>
              </a:spcBef>
              <a:spcAft>
                <a:spcPts val="900"/>
              </a:spcAft>
            </a:pPr>
            <a:r>
              <a:rPr lang="en-US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③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支持 </a:t>
            </a:r>
            <a:r>
              <a:rPr lang="en-US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CPU / GPU 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等多种计算后端。其核心由 </a:t>
            </a:r>
            <a:r>
              <a:rPr lang="en-US" altLang="zh-CN" b="1">
                <a:solidFill>
                  <a:schemeClr val="accent6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GGML </a:t>
            </a:r>
            <a:r>
              <a:rPr lang="zh-CN" altLang="en-US" b="1">
                <a:solidFill>
                  <a:schemeClr val="accent6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张量计算与后端层 → </a:t>
            </a:r>
            <a:r>
              <a:rPr lang="en-US" altLang="zh-CN" b="1">
                <a:solidFill>
                  <a:schemeClr val="accent6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llama </a:t>
            </a:r>
            <a:r>
              <a:rPr lang="zh-CN" altLang="en-US" b="1">
                <a:solidFill>
                  <a:schemeClr val="accent6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模型与 </a:t>
            </a:r>
            <a:r>
              <a:rPr lang="en-US" altLang="zh-CN" b="1">
                <a:solidFill>
                  <a:schemeClr val="accent6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KV Cache </a:t>
            </a:r>
            <a:r>
              <a:rPr lang="zh-CN" altLang="en-US" b="1">
                <a:solidFill>
                  <a:schemeClr val="accent6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管理层 → </a:t>
            </a:r>
            <a:r>
              <a:rPr lang="en-US" altLang="zh-CN" b="1">
                <a:solidFill>
                  <a:schemeClr val="accent6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CLI / HTTP Server </a:t>
            </a:r>
            <a:r>
              <a:rPr lang="zh-CN" altLang="en-US" b="1">
                <a:solidFill>
                  <a:schemeClr val="accent6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工具层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构成。</a:t>
            </a:r>
            <a:endParaRPr lang="en-US" altLang="zh-CN" b="1"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  <a:p>
            <a:pPr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</a:pPr>
            <a:r>
              <a:rPr lang="en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llama.cpp 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原生主要依赖 </a:t>
            </a:r>
            <a:r>
              <a:rPr lang="en" altLang="zh-CN" b="1">
                <a:solidFill>
                  <a:schemeClr val="accent6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mmap + page cache 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管理权重，内存受限时应用层难以精确控制真实物理驻留，并可能产生同步缺页与缓存抖动。本项目不改变模型计算语义，而是在其运行时数据路径上增加模型结构感知的</a:t>
            </a:r>
            <a:r>
              <a:rPr lang="zh-CN" altLang="en-US" b="1">
                <a:solidFill>
                  <a:schemeClr val="accent6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显式驻留、按需迁移与资源调度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机制。</a:t>
            </a:r>
          </a:p>
          <a:p>
            <a:pPr marL="342900" indent="-342900">
              <a:lnSpc>
                <a:spcPct val="80000"/>
              </a:lnSpc>
              <a:spcBef>
                <a:spcPts val="900"/>
              </a:spcBef>
              <a:spcAft>
                <a:spcPts val="900"/>
              </a:spcAft>
              <a:buFont typeface="Wingdings" pitchFamily="2" charset="2"/>
              <a:buChar char="n"/>
            </a:pPr>
            <a:r>
              <a:rPr lang="en-US" altLang="zh-CN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vLLM</a:t>
            </a:r>
            <a:r>
              <a:rPr lang="zh-CN" altLang="en-US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推理框架</a:t>
            </a:r>
          </a:p>
          <a:p>
            <a:pPr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</a:pPr>
            <a:r>
              <a:rPr lang="en-US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vLLM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提出 </a:t>
            </a:r>
            <a:r>
              <a:rPr lang="en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PagedAttention</a:t>
            </a:r>
            <a:r>
              <a:rPr lang="zh-CN" altLang="e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，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将 </a:t>
            </a:r>
            <a:r>
              <a:rPr lang="en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KV Cache 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切分为固定大小的 </a:t>
            </a:r>
            <a:r>
              <a:rPr lang="en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Block</a:t>
            </a:r>
            <a:r>
              <a:rPr lang="zh-CN" altLang="e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，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并通过 </a:t>
            </a:r>
            <a:r>
              <a:rPr lang="en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Block Table 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解耦逻辑 </a:t>
            </a:r>
            <a:r>
              <a:rPr lang="en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KV 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与物理存储，使 </a:t>
            </a:r>
            <a:r>
              <a:rPr lang="en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KV 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可以非连续分配和按 </a:t>
            </a:r>
            <a:r>
              <a:rPr lang="en" altLang="zh-CN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Block 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管理。其</a:t>
            </a:r>
            <a:r>
              <a:rPr lang="zh-CN" altLang="en-US" b="1">
                <a:solidFill>
                  <a:schemeClr val="accent6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“逻辑身份与物理驻留解耦”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的思想为本项目 </a:t>
            </a:r>
            <a:r>
              <a:rPr lang="en" altLang="zh-CN" b="1">
                <a:solidFill>
                  <a:schemeClr val="accent6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KV Cache </a:t>
            </a:r>
            <a:r>
              <a:rPr lang="zh-CN" altLang="en-US" b="1">
                <a:solidFill>
                  <a:schemeClr val="accent6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的 </a:t>
            </a:r>
            <a:r>
              <a:rPr lang="en" altLang="zh-CN" b="1">
                <a:solidFill>
                  <a:schemeClr val="accent6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Block/Cell </a:t>
            </a:r>
            <a:r>
              <a:rPr lang="zh-CN" altLang="en-US" b="1">
                <a:solidFill>
                  <a:schemeClr val="accent6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生命周期管理</a:t>
            </a:r>
            <a:r>
              <a:rPr lang="zh-CN" altLang="en-US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提供参考。</a:t>
            </a:r>
          </a:p>
        </p:txBody>
      </p:sp>
      <p:pic>
        <p:nvPicPr>
          <p:cNvPr id="14" name="图片 4" descr="IMG_25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2549" y="992545"/>
            <a:ext cx="3618865" cy="191706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9" name="图片 9" descr="3bb13d0a-4f19-4fbb-a682-c83fd4118e9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5856" y="2909610"/>
            <a:ext cx="3994785" cy="1893570"/>
          </a:xfrm>
          <a:prstGeom prst="rect">
            <a:avLst/>
          </a:prstGeom>
        </p:spPr>
      </p:pic>
      <p:pic>
        <p:nvPicPr>
          <p:cNvPr id="10" name="图片 10" descr="d47be5fb-bdbf-4236-a504-8be9fb4607d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0038" y="4895437"/>
            <a:ext cx="3994785" cy="1900555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EAB3D77E-2563-C3DC-D44E-8F4779DF8987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3" name="直接连接符 22"/>
          <p:cNvCxnSpPr/>
          <p:nvPr/>
        </p:nvCxnSpPr>
        <p:spPr>
          <a:xfrm>
            <a:off x="83014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/>
        </p:nvSpPr>
        <p:spPr>
          <a:xfrm>
            <a:off x="3231850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5" name="直接连接符 24"/>
          <p:cNvCxnSpPr/>
          <p:nvPr/>
        </p:nvCxnSpPr>
        <p:spPr>
          <a:xfrm>
            <a:off x="100032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6"/>
          <p:cNvSpPr txBox="1"/>
          <p:nvPr/>
        </p:nvSpPr>
        <p:spPr>
          <a:xfrm>
            <a:off x="3374949" y="215903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项目介绍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/>
          <p:cNvSpPr txBox="1"/>
          <p:nvPr/>
        </p:nvSpPr>
        <p:spPr>
          <a:xfrm>
            <a:off x="67785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模块设计实现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1" name="直接连接符 30"/>
          <p:cNvCxnSpPr/>
          <p:nvPr/>
        </p:nvCxnSpPr>
        <p:spPr>
          <a:xfrm>
            <a:off x="65996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433241" y="1430218"/>
            <a:ext cx="240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/>
          <p:nvPr/>
        </p:nvSpPr>
        <p:spPr>
          <a:xfrm>
            <a:off x="572618" y="904448"/>
            <a:ext cx="2012648" cy="52782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1.3 </a:t>
            </a:r>
            <a:r>
              <a:rPr lang="zh-CN" altLang="en-US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研究现状</a:t>
            </a:r>
            <a:endParaRPr lang="zh-CN" altLang="en-US" sz="28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8402033" y="1077092"/>
            <a:ext cx="187366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spcBef>
                <a:spcPts val="900"/>
              </a:spcBef>
              <a:spcAft>
                <a:spcPts val="900"/>
              </a:spcAft>
              <a:buFont typeface="Wingdings" pitchFamily="2" charset="2"/>
              <a:buChar char="n"/>
            </a:pPr>
            <a:r>
              <a:rPr lang="zh-CN" altLang="en-US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权重</a:t>
            </a:r>
            <a:r>
              <a:rPr lang="en-US" altLang="zh-CN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I/O</a:t>
            </a:r>
            <a:r>
              <a:rPr lang="zh-CN" altLang="en-US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优化</a:t>
            </a:r>
          </a:p>
        </p:txBody>
      </p:sp>
      <p:graphicFrame>
        <p:nvGraphicFramePr>
          <p:cNvPr id="4" name="表格 3"/>
          <p:cNvGraphicFramePr/>
          <p:nvPr>
            <p:extLst>
              <p:ext uri="{D42A27DB-BD31-4B8C-83A1-F6EECF244321}">
                <p14:modId xmlns:p14="http://schemas.microsoft.com/office/powerpoint/2010/main" val="3062038773"/>
              </p:ext>
            </p:extLst>
          </p:nvPr>
        </p:nvGraphicFramePr>
        <p:xfrm>
          <a:off x="428526" y="1428165"/>
          <a:ext cx="10655306" cy="236453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1065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86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17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0847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方法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核心思路</a:t>
                      </a:r>
                    </a:p>
                  </a:txBody>
                  <a:tcPr marL="122237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局限性</a:t>
                      </a:r>
                    </a:p>
                  </a:txBody>
                  <a:tcPr marL="122237" marR="122237" marT="76517" marB="76517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2860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量化压缩（</a:t>
                      </a:r>
                      <a:r>
                        <a:rPr lang="en-US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GPTQ</a:t>
                      </a: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、</a:t>
                      </a:r>
                      <a:r>
                        <a:rPr lang="en-US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AWQ</a:t>
                      </a: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、</a:t>
                      </a:r>
                      <a:r>
                        <a:rPr lang="en-US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GGUF</a:t>
                      </a: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）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降低参数精度，减少存储与传输开销</a:t>
                      </a:r>
                    </a:p>
                  </a:txBody>
                  <a:tcPr marL="122237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压缩比例固定，无法适应实时资源变化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60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en-US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mmap</a:t>
                      </a: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按需加载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依赖操作系统缺页机制惰性调入</a:t>
                      </a:r>
                    </a:p>
                  </a:txBody>
                  <a:tcPr marL="122237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驻留行为不可控，同步缺页阻塞计算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101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en-US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FlexInfer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异步预取 </a:t>
                      </a:r>
                      <a:r>
                        <a:rPr lang="en-US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+ </a:t>
                      </a: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平衡内存锁定 </a:t>
                      </a:r>
                      <a:r>
                        <a:rPr lang="en-US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+ </a:t>
                      </a: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灵活张量保留</a:t>
                      </a:r>
                    </a:p>
                  </a:txBody>
                  <a:tcPr marL="122237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聚焦权重侧，缺少与 </a:t>
                      </a:r>
                      <a:r>
                        <a:rPr lang="en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KV Cache </a:t>
                      </a: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的</a:t>
                      </a:r>
                      <a:endParaRPr lang="en-US" altLang="zh-CN" sz="1400" b="1" i="0"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全局资源协调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60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en-US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LLM in a Flash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利用</a:t>
                      </a:r>
                      <a:r>
                        <a:rPr lang="en-US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FFN</a:t>
                      </a: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激活稀疏性减少闪存读取</a:t>
                      </a:r>
                    </a:p>
                  </a:txBody>
                  <a:tcPr marL="122237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仅适用于特定稀疏模式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文本框 4"/>
          <p:cNvSpPr txBox="1"/>
          <p:nvPr/>
        </p:nvSpPr>
        <p:spPr>
          <a:xfrm>
            <a:off x="7763101" y="3916302"/>
            <a:ext cx="241905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spcBef>
                <a:spcPts val="900"/>
              </a:spcBef>
              <a:spcAft>
                <a:spcPts val="900"/>
              </a:spcAft>
              <a:buFont typeface="Wingdings" pitchFamily="2" charset="2"/>
              <a:buChar char="n"/>
            </a:pPr>
            <a:r>
              <a:rPr lang="en-US" altLang="zh-CN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KV Cache I/O</a:t>
            </a:r>
            <a:r>
              <a:rPr lang="zh-CN" altLang="en-US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优化</a:t>
            </a:r>
          </a:p>
        </p:txBody>
      </p:sp>
      <p:graphicFrame>
        <p:nvGraphicFramePr>
          <p:cNvPr id="6" name="表格 5"/>
          <p:cNvGraphicFramePr/>
          <p:nvPr>
            <p:extLst>
              <p:ext uri="{D42A27DB-BD31-4B8C-83A1-F6EECF244321}">
                <p14:modId xmlns:p14="http://schemas.microsoft.com/office/powerpoint/2010/main" val="2327115889"/>
              </p:ext>
            </p:extLst>
          </p:nvPr>
        </p:nvGraphicFramePr>
        <p:xfrm>
          <a:off x="382816" y="3819150"/>
          <a:ext cx="7328265" cy="303885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82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9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07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4129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方法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核心思路</a:t>
                      </a:r>
                    </a:p>
                  </a:txBody>
                  <a:tcPr marL="122237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局限性</a:t>
                      </a:r>
                    </a:p>
                  </a:txBody>
                  <a:tcPr marL="122237" marR="122237" marT="76517" marB="76517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180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en-US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PagedAttention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en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Block </a:t>
                      </a: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分页管理，逻辑 </a:t>
                      </a:r>
                      <a:r>
                        <a:rPr lang="en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KV </a:t>
                      </a: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与物理存储解耦</a:t>
                      </a:r>
                    </a:p>
                  </a:txBody>
                  <a:tcPr marL="122237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主要解决块级分配与驻留管理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718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ts val="1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SolidAttention / KVSwap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en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DRAM–SSD </a:t>
                      </a: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分层迁移，按需换出</a:t>
                      </a:r>
                      <a:r>
                        <a:rPr lang="en-US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/</a:t>
                      </a: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恢复 </a:t>
                      </a:r>
                      <a:r>
                        <a:rPr lang="en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KV</a:t>
                      </a:r>
                      <a:endParaRPr lang="zh-CN" altLang="en-US" sz="1400" b="1" i="0"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 marL="122237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恢复 </a:t>
                      </a:r>
                      <a:r>
                        <a:rPr lang="en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I/O </a:t>
                      </a: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与数据搬运成本仍需优化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718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ts val="1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Bidaw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根据复用特征选择高价值 </a:t>
                      </a:r>
                      <a:r>
                        <a:rPr lang="en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KV</a:t>
                      </a:r>
                      <a:endParaRPr lang="zh-CN" altLang="en-US" sz="1400" b="1" i="0"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 marL="122237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仍需结合真实物理收益与迁移成本决策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718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ts val="1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KIVI / KVQuant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低比特表示减少 </a:t>
                      </a:r>
                      <a:r>
                        <a:rPr lang="en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KV </a:t>
                      </a: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容量与传输量</a:t>
                      </a:r>
                    </a:p>
                  </a:txBody>
                  <a:tcPr marL="122237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存在表示精度与计算路径权衡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718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ts val="15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Prefix Cache / SGLang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复用公共前缀，减少重复 </a:t>
                      </a:r>
                      <a:r>
                        <a:rPr lang="en" altLang="zh-CN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KV </a:t>
                      </a: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构建</a:t>
                      </a:r>
                    </a:p>
                  </a:txBody>
                  <a:tcPr marL="122237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sz="14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不直接解决全部驻留压力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7" name="图片 6" descr="dcb62928-5d98-4d0d-a33f-8b3ebf7796d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1081" y="4384174"/>
            <a:ext cx="4417228" cy="2188734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9FF87B0A-B453-FF17-AFCE-1E5CE14441C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3" name="直接连接符 22"/>
          <p:cNvCxnSpPr/>
          <p:nvPr/>
        </p:nvCxnSpPr>
        <p:spPr>
          <a:xfrm>
            <a:off x="83014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/>
        </p:nvSpPr>
        <p:spPr>
          <a:xfrm>
            <a:off x="3231850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5" name="直接连接符 24"/>
          <p:cNvCxnSpPr/>
          <p:nvPr/>
        </p:nvCxnSpPr>
        <p:spPr>
          <a:xfrm>
            <a:off x="100032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6"/>
          <p:cNvSpPr txBox="1"/>
          <p:nvPr/>
        </p:nvSpPr>
        <p:spPr>
          <a:xfrm>
            <a:off x="3374949" y="215903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项目介绍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/>
          <p:cNvSpPr txBox="1"/>
          <p:nvPr/>
        </p:nvSpPr>
        <p:spPr>
          <a:xfrm>
            <a:off x="67785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模块设计实现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1" name="直接连接符 30"/>
          <p:cNvCxnSpPr/>
          <p:nvPr/>
        </p:nvCxnSpPr>
        <p:spPr>
          <a:xfrm>
            <a:off x="65996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425752" y="1528840"/>
            <a:ext cx="240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/>
          <p:nvPr/>
        </p:nvSpPr>
        <p:spPr>
          <a:xfrm>
            <a:off x="619428" y="1004745"/>
            <a:ext cx="2012648" cy="52782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1.3 </a:t>
            </a:r>
            <a:r>
              <a:rPr lang="zh-CN" altLang="en-US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研究现状</a:t>
            </a:r>
            <a:endParaRPr lang="zh-CN" altLang="en-US" sz="28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14039" y="1822337"/>
            <a:ext cx="3632910" cy="3455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lnSpc>
                <a:spcPts val="1680"/>
              </a:lnSpc>
              <a:spcBef>
                <a:spcPts val="900"/>
              </a:spcBef>
              <a:spcAft>
                <a:spcPts val="900"/>
              </a:spcAft>
            </a:pP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边缘端部署的特殊挑战</a:t>
            </a:r>
          </a:p>
        </p:txBody>
      </p:sp>
      <p:graphicFrame>
        <p:nvGraphicFramePr>
          <p:cNvPr id="8" name="表格 7"/>
          <p:cNvGraphicFramePr/>
          <p:nvPr>
            <p:extLst>
              <p:ext uri="{D42A27DB-BD31-4B8C-83A1-F6EECF244321}">
                <p14:modId xmlns:p14="http://schemas.microsoft.com/office/powerpoint/2010/main" val="1922718991"/>
              </p:ext>
            </p:extLst>
          </p:nvPr>
        </p:nvGraphicFramePr>
        <p:xfrm>
          <a:off x="272041" y="2303710"/>
          <a:ext cx="7265670" cy="3095625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6647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008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挑战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具体约束</a:t>
                      </a:r>
                    </a:p>
                  </a:txBody>
                  <a:tcPr marL="122237" marR="122237" marT="76517" marB="76517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内存容量严格受限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en-US" alt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DRAM</a:t>
                      </a:r>
                      <a:r>
                        <a:rPr lang="zh-CN" altLang="en-US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通常</a:t>
                      </a:r>
                      <a:r>
                        <a:rPr lang="en-US" alt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4-12GB</a:t>
                      </a:r>
                      <a:r>
                        <a:rPr lang="zh-CN" altLang="en-US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，无法容纳</a:t>
                      </a:r>
                      <a:r>
                        <a:rPr lang="en-US" alt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70B</a:t>
                      </a:r>
                      <a:r>
                        <a:rPr lang="zh-CN" altLang="en-US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模型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存储带宽有限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en-US" alt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eMMC/UFS</a:t>
                      </a:r>
                      <a:r>
                        <a:rPr lang="zh-CN" altLang="en-US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闪存，顺序读</a:t>
                      </a:r>
                      <a:r>
                        <a:rPr lang="en-US" alt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500MB/s-2GB/s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计算能力异构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部分设备仅依赖</a:t>
                      </a:r>
                      <a:r>
                        <a:rPr lang="en-US" alt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CPU</a:t>
                      </a:r>
                      <a:r>
                        <a:rPr lang="zh-CN" altLang="en-US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推理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功耗与散热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0"/>
                        </a:lnSpc>
                      </a:pPr>
                      <a:r>
                        <a:rPr lang="zh-CN" altLang="en-US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电池与散热限制高功耗运行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文本框 8"/>
          <p:cNvSpPr txBox="1"/>
          <p:nvPr/>
        </p:nvSpPr>
        <p:spPr>
          <a:xfrm>
            <a:off x="1431998" y="5749032"/>
            <a:ext cx="5788474" cy="9387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>
              <a:spcBef>
                <a:spcPts val="900"/>
              </a:spcBef>
              <a:spcAft>
                <a:spcPts val="900"/>
              </a:spcAft>
            </a:pP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面向数据中心的优化方案无法直接迁移，</a:t>
            </a:r>
            <a:endParaRPr lang="en-US" altLang="zh-CN" sz="2000" b="1">
              <a:latin typeface="Songti SC" panose="02010600040101010101" pitchFamily="2" charset="-122"/>
              <a:ea typeface="Songti SC" panose="02010600040101010101" pitchFamily="2" charset="-122"/>
            </a:endParaRPr>
          </a:p>
          <a:p>
            <a:pPr marL="0" indent="0" algn="ctr">
              <a:spcBef>
                <a:spcPts val="900"/>
              </a:spcBef>
              <a:spcAft>
                <a:spcPts val="900"/>
              </a:spcAft>
            </a:pP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需针对</a:t>
            </a:r>
            <a:r>
              <a:rPr lang="zh-CN" altLang="en-US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边缘端存储层次和计算资源设计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专门优化。</a:t>
            </a:r>
          </a:p>
        </p:txBody>
      </p:sp>
      <p:pic>
        <p:nvPicPr>
          <p:cNvPr id="10" name="图片 7" descr="e81be488-d328-4fec-8d70-adf3f862f8d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7711" y="2303710"/>
            <a:ext cx="4654289" cy="3103083"/>
          </a:xfrm>
          <a:prstGeom prst="rect">
            <a:avLst/>
          </a:prstGeom>
        </p:spPr>
      </p:pic>
      <p:cxnSp>
        <p:nvCxnSpPr>
          <p:cNvPr id="5" name="曲线连接符 13">
            <a:extLst>
              <a:ext uri="{FF2B5EF4-FFF2-40B4-BE49-F238E27FC236}">
                <a16:creationId xmlns:a16="http://schemas.microsoft.com/office/drawing/2014/main" id="{176278AC-2837-8755-17F9-8A2380B3DB9A}"/>
              </a:ext>
            </a:extLst>
          </p:cNvPr>
          <p:cNvCxnSpPr>
            <a:cxnSpLocks/>
          </p:cNvCxnSpPr>
          <p:nvPr/>
        </p:nvCxnSpPr>
        <p:spPr>
          <a:xfrm rot="5400000">
            <a:off x="7535410" y="5514075"/>
            <a:ext cx="626400" cy="720000"/>
          </a:xfrm>
          <a:prstGeom prst="curvedConnector2">
            <a:avLst/>
          </a:prstGeom>
          <a:ln w="12700" cmpd="sng">
            <a:solidFill>
              <a:schemeClr val="accent6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图片 5">
            <a:extLst>
              <a:ext uri="{FF2B5EF4-FFF2-40B4-BE49-F238E27FC236}">
                <a16:creationId xmlns:a16="http://schemas.microsoft.com/office/drawing/2014/main" id="{BD721B0B-8430-F6E7-9653-B0C60AF7917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3" name="直接连接符 22"/>
          <p:cNvCxnSpPr/>
          <p:nvPr/>
        </p:nvCxnSpPr>
        <p:spPr>
          <a:xfrm>
            <a:off x="83014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/>
        </p:nvSpPr>
        <p:spPr>
          <a:xfrm>
            <a:off x="3231850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5" name="直接连接符 24"/>
          <p:cNvCxnSpPr/>
          <p:nvPr/>
        </p:nvCxnSpPr>
        <p:spPr>
          <a:xfrm>
            <a:off x="100032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6"/>
          <p:cNvSpPr txBox="1"/>
          <p:nvPr/>
        </p:nvSpPr>
        <p:spPr>
          <a:xfrm>
            <a:off x="3374949" y="215903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项目介绍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/>
          <p:cNvSpPr txBox="1"/>
          <p:nvPr/>
        </p:nvSpPr>
        <p:spPr>
          <a:xfrm>
            <a:off x="67785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模块设计实现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1" name="直接连接符 30"/>
          <p:cNvCxnSpPr/>
          <p:nvPr/>
        </p:nvCxnSpPr>
        <p:spPr>
          <a:xfrm>
            <a:off x="65996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>
            <a:cxnSpLocks/>
          </p:cNvCxnSpPr>
          <p:nvPr/>
        </p:nvCxnSpPr>
        <p:spPr>
          <a:xfrm>
            <a:off x="425752" y="1528840"/>
            <a:ext cx="280609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/>
          <p:nvPr/>
        </p:nvSpPr>
        <p:spPr>
          <a:xfrm>
            <a:off x="581623" y="1000671"/>
            <a:ext cx="2494355" cy="527825"/>
          </a:xfrm>
          <a:prstGeom prst="rect">
            <a:avLst/>
          </a:prstGeom>
          <a:noFill/>
        </p:spPr>
        <p:txBody>
          <a:bodyPr wrap="square" lIns="0" tIns="48000" rIns="0" bIns="48000" rtlCol="0" anchor="ctr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1.3 </a:t>
            </a:r>
            <a:r>
              <a:rPr lang="zh-CN" altLang="en-US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项目切入点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593090" y="1737512"/>
            <a:ext cx="10933061" cy="47936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spcBef>
                <a:spcPts val="900"/>
              </a:spcBef>
              <a:spcAft>
                <a:spcPts val="900"/>
              </a:spcAft>
              <a:buFont typeface="Wingdings" pitchFamily="2" charset="2"/>
              <a:buChar char="n"/>
            </a:pP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三个核心不足：</a:t>
            </a:r>
          </a:p>
          <a:p>
            <a:pPr marL="457200" indent="-457200">
              <a:spcBef>
                <a:spcPct val="0"/>
              </a:spcBef>
              <a:spcAft>
                <a:spcPct val="0"/>
              </a:spcAft>
              <a:buFont typeface="+mj-ea"/>
              <a:buAutoNum type="circleNumDbPlain"/>
            </a:pP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权重、</a:t>
            </a:r>
            <a:r>
              <a:rPr lang="en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KV Cache 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与预取独立管理： </a:t>
            </a:r>
            <a:r>
              <a:rPr lang="en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Dense</a:t>
            </a:r>
            <a:r>
              <a:rPr lang="zh-CN" altLang="e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、</a:t>
            </a:r>
            <a:r>
              <a:rPr lang="en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MoE</a:t>
            </a:r>
            <a:r>
              <a:rPr lang="zh-CN" altLang="e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、</a:t>
            </a:r>
            <a:r>
              <a:rPr lang="en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KV 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与 </a:t>
            </a:r>
            <a:r>
              <a:rPr lang="en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Prefetch 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共同竞争有限物理内存和存储带宽，各模块独立扩张容易产生内存与 </a:t>
            </a:r>
            <a:r>
              <a:rPr lang="en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I/O 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冲突。</a:t>
            </a:r>
          </a:p>
          <a:p>
            <a:pPr marL="457200" indent="-457200">
              <a:spcBef>
                <a:spcPct val="0"/>
              </a:spcBef>
              <a:spcAft>
                <a:spcPct val="0"/>
              </a:spcAft>
              <a:buFont typeface="+mj-ea"/>
              <a:buAutoNum type="circleNumDbPlain"/>
            </a:pPr>
            <a:r>
              <a:rPr lang="zh-CN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权重管理缺乏访存模式感知： mmap 依赖被动缺页，无法利用 Dense Layer 顺序访问与 MoE Expert 稀疏工作集主动控制权重驻留。</a:t>
            </a:r>
            <a:endParaRPr lang="en-US" altLang="zh-CN" sz="2000" b="1">
              <a:solidFill>
                <a:srgbClr val="0F1115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  <a:p>
            <a:pPr marL="457200" indent="-457200">
              <a:spcBef>
                <a:spcPct val="0"/>
              </a:spcBef>
              <a:spcAft>
                <a:spcPct val="0"/>
              </a:spcAft>
              <a:buFont typeface="+mj-ea"/>
              <a:buAutoNum type="circleNumDbPlain"/>
            </a:pPr>
            <a:r>
              <a:rPr lang="en-US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KV Cache 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缺少物理收益</a:t>
            </a:r>
            <a:r>
              <a:rPr lang="en-US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—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恢复代价权衡： 仅按逻辑容量或 </a:t>
            </a:r>
            <a:r>
              <a:rPr lang="en-US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LRU 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驱逐，难以判断真实 </a:t>
            </a:r>
            <a:r>
              <a:rPr lang="en-US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DRAM 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释放量，也无法同时考虑 </a:t>
            </a:r>
            <a:r>
              <a:rPr lang="en-US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OFFLOAD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、</a:t>
            </a:r>
            <a:r>
              <a:rPr lang="en-US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Restore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、</a:t>
            </a:r>
            <a:r>
              <a:rPr lang="en-US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Reuse 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与频繁换入换出的代价。</a:t>
            </a:r>
          </a:p>
          <a:p>
            <a:pPr marL="342900" indent="-342900">
              <a:spcBef>
                <a:spcPts val="900"/>
              </a:spcBef>
              <a:spcAft>
                <a:spcPts val="900"/>
              </a:spcAft>
              <a:buFont typeface="Wingdings" pitchFamily="2" charset="2"/>
              <a:buChar char="n"/>
            </a:pP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本项目切入点：</a:t>
            </a:r>
          </a:p>
          <a:p>
            <a:pPr>
              <a:spcBef>
                <a:spcPts val="900"/>
              </a:spcBef>
              <a:spcAft>
                <a:spcPts val="900"/>
              </a:spcAft>
            </a:pP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构建统一的运行时内存治理框架，将 </a:t>
            </a:r>
            <a:r>
              <a:rPr lang="en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Dense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权重、</a:t>
            </a:r>
            <a:r>
              <a:rPr lang="en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MoE Expert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与</a:t>
            </a:r>
            <a:r>
              <a:rPr lang="en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KV Cache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纳入同一资源管理体系：</a:t>
            </a: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• 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以 </a:t>
            </a:r>
            <a:r>
              <a:rPr lang="en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Layer</a:t>
            </a:r>
            <a:r>
              <a:rPr lang="zh-CN" altLang="e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、</a:t>
            </a:r>
            <a:r>
              <a:rPr lang="en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ExpertGroup</a:t>
            </a:r>
            <a:r>
              <a:rPr lang="zh-CN" altLang="e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、</a:t>
            </a:r>
            <a:r>
              <a:rPr lang="en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KV Block/Cell 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为基本管理粒度，实现结构感知的显式驻留管理</a:t>
            </a:r>
            <a:b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</a:br>
            <a:r>
              <a:rPr lang="en-US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• 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根据物理内存压力动态执行加载、回收、</a:t>
            </a:r>
            <a:r>
              <a:rPr lang="en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RELEASE / OFFLOAD 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与 </a:t>
            </a:r>
            <a:r>
              <a:rPr lang="en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Exact Restore</a:t>
            </a:r>
            <a:br>
              <a:rPr lang="en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</a:br>
            <a:r>
              <a:rPr lang="en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• 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利用 </a:t>
            </a:r>
            <a:r>
              <a:rPr lang="en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Dense 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顺序访问、</a:t>
            </a:r>
            <a:r>
              <a:rPr lang="en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MoE 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路由预测和 </a:t>
            </a:r>
            <a:r>
              <a:rPr lang="en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Session 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生命周期进行异步预取与恢复</a:t>
            </a:r>
            <a:b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</a:br>
            <a:r>
              <a:rPr lang="en-US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• 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通过 </a:t>
            </a:r>
            <a:r>
              <a:rPr lang="en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Memory Planner + Server Memory Governor 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统一协调内存预算、</a:t>
            </a:r>
            <a:r>
              <a:rPr lang="en" altLang="zh-CN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I/O </a:t>
            </a:r>
            <a:r>
              <a:rPr lang="zh-CN" altLang="en-US" sz="2000" b="1">
                <a:solidFill>
                  <a:srgbClr val="0F1115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与资源再分配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B2335994-57BD-5AA5-0328-DD4039150E1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9EF4AF3-A949-AA13-103E-6EECCC93E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AA07CCFF-1D79-C1D7-7DA9-4BE55E713544}"/>
              </a:ext>
            </a:extLst>
          </p:cNvPr>
          <p:cNvSpPr/>
          <p:nvPr/>
        </p:nvSpPr>
        <p:spPr>
          <a:xfrm rot="5400000">
            <a:off x="4227759" y="-4227756"/>
            <a:ext cx="3736490" cy="1219200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D4F33949-2545-967E-CA93-A82AB0B3F144}"/>
              </a:ext>
            </a:extLst>
          </p:cNvPr>
          <p:cNvGrpSpPr/>
          <p:nvPr/>
        </p:nvGrpSpPr>
        <p:grpSpPr>
          <a:xfrm>
            <a:off x="4919877" y="2920080"/>
            <a:ext cx="2352246" cy="1642832"/>
            <a:chOff x="5127859" y="2518592"/>
            <a:chExt cx="1936282" cy="1723208"/>
          </a:xfrm>
        </p:grpSpPr>
        <p:sp>
          <p:nvSpPr>
            <p:cNvPr id="6" name="任意多边形 5">
              <a:extLst>
                <a:ext uri="{FF2B5EF4-FFF2-40B4-BE49-F238E27FC236}">
                  <a16:creationId xmlns:a16="http://schemas.microsoft.com/office/drawing/2014/main" id="{79CF96B9-03FF-9F4D-BB72-E518262C9B82}"/>
                </a:ext>
              </a:extLst>
            </p:cNvPr>
            <p:cNvSpPr/>
            <p:nvPr/>
          </p:nvSpPr>
          <p:spPr>
            <a:xfrm>
              <a:off x="5127859" y="2518592"/>
              <a:ext cx="1936282" cy="1723208"/>
            </a:xfrm>
            <a:custGeom>
              <a:avLst/>
              <a:gdLst>
                <a:gd name="connsiteX0" fmla="*/ 576168 w 1961391"/>
                <a:gd name="connsiteY0" fmla="*/ 0 h 1745551"/>
                <a:gd name="connsiteX1" fmla="*/ 863600 w 1961391"/>
                <a:gd name="connsiteY1" fmla="*/ 0 h 1745551"/>
                <a:gd name="connsiteX2" fmla="*/ 1097791 w 1961391"/>
                <a:gd name="connsiteY2" fmla="*/ 0 h 1745551"/>
                <a:gd name="connsiteX3" fmla="*/ 1385223 w 1961391"/>
                <a:gd name="connsiteY3" fmla="*/ 0 h 1745551"/>
                <a:gd name="connsiteX4" fmla="*/ 1539918 w 1961391"/>
                <a:gd name="connsiteY4" fmla="*/ 88854 h 1745551"/>
                <a:gd name="connsiteX5" fmla="*/ 1940980 w 1961391"/>
                <a:gd name="connsiteY5" fmla="*/ 783921 h 1745551"/>
                <a:gd name="connsiteX6" fmla="*/ 1961391 w 1961391"/>
                <a:gd name="connsiteY6" fmla="*/ 872775 h 1745551"/>
                <a:gd name="connsiteX7" fmla="*/ 1940980 w 1961391"/>
                <a:gd name="connsiteY7" fmla="*/ 961629 h 1745551"/>
                <a:gd name="connsiteX8" fmla="*/ 1539918 w 1961391"/>
                <a:gd name="connsiteY8" fmla="*/ 1656697 h 1745551"/>
                <a:gd name="connsiteX9" fmla="*/ 1385223 w 1961391"/>
                <a:gd name="connsiteY9" fmla="*/ 1745551 h 1745551"/>
                <a:gd name="connsiteX10" fmla="*/ 1120460 w 1961391"/>
                <a:gd name="connsiteY10" fmla="*/ 1745551 h 1745551"/>
                <a:gd name="connsiteX11" fmla="*/ 1097791 w 1961391"/>
                <a:gd name="connsiteY11" fmla="*/ 1745551 h 1745551"/>
                <a:gd name="connsiteX12" fmla="*/ 1039896 w 1961391"/>
                <a:gd name="connsiteY12" fmla="*/ 1745551 h 1745551"/>
                <a:gd name="connsiteX13" fmla="*/ 1013340 w 1961391"/>
                <a:gd name="connsiteY13" fmla="*/ 1745551 h 1745551"/>
                <a:gd name="connsiteX14" fmla="*/ 948051 w 1961391"/>
                <a:gd name="connsiteY14" fmla="*/ 1745551 h 1745551"/>
                <a:gd name="connsiteX15" fmla="*/ 921495 w 1961391"/>
                <a:gd name="connsiteY15" fmla="*/ 1745551 h 1745551"/>
                <a:gd name="connsiteX16" fmla="*/ 863600 w 1961391"/>
                <a:gd name="connsiteY16" fmla="*/ 1745551 h 1745551"/>
                <a:gd name="connsiteX17" fmla="*/ 840931 w 1961391"/>
                <a:gd name="connsiteY17" fmla="*/ 1745551 h 1745551"/>
                <a:gd name="connsiteX18" fmla="*/ 576168 w 1961391"/>
                <a:gd name="connsiteY18" fmla="*/ 1745551 h 1745551"/>
                <a:gd name="connsiteX19" fmla="*/ 421473 w 1961391"/>
                <a:gd name="connsiteY19" fmla="*/ 1656697 h 1745551"/>
                <a:gd name="connsiteX20" fmla="*/ 20411 w 1961391"/>
                <a:gd name="connsiteY20" fmla="*/ 961629 h 1745551"/>
                <a:gd name="connsiteX21" fmla="*/ 0 w 1961391"/>
                <a:gd name="connsiteY21" fmla="*/ 872775 h 1745551"/>
                <a:gd name="connsiteX22" fmla="*/ 20411 w 1961391"/>
                <a:gd name="connsiteY22" fmla="*/ 783921 h 1745551"/>
                <a:gd name="connsiteX23" fmla="*/ 421473 w 1961391"/>
                <a:gd name="connsiteY23" fmla="*/ 88854 h 1745551"/>
                <a:gd name="connsiteX24" fmla="*/ 576168 w 1961391"/>
                <a:gd name="connsiteY24" fmla="*/ 0 h 1745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61391" h="1745551">
                  <a:moveTo>
                    <a:pt x="576168" y="0"/>
                  </a:moveTo>
                  <a:lnTo>
                    <a:pt x="863600" y="0"/>
                  </a:lnTo>
                  <a:lnTo>
                    <a:pt x="1097791" y="0"/>
                  </a:lnTo>
                  <a:lnTo>
                    <a:pt x="1385223" y="0"/>
                  </a:lnTo>
                  <a:cubicBezTo>
                    <a:pt x="1441086" y="0"/>
                    <a:pt x="1511271" y="40128"/>
                    <a:pt x="1539918" y="88854"/>
                  </a:cubicBezTo>
                  <a:cubicBezTo>
                    <a:pt x="1940980" y="783921"/>
                    <a:pt x="1940980" y="783921"/>
                    <a:pt x="1940980" y="783921"/>
                  </a:cubicBezTo>
                  <a:cubicBezTo>
                    <a:pt x="1954587" y="808285"/>
                    <a:pt x="1961391" y="840530"/>
                    <a:pt x="1961391" y="872775"/>
                  </a:cubicBezTo>
                  <a:cubicBezTo>
                    <a:pt x="1961391" y="905021"/>
                    <a:pt x="1954587" y="937267"/>
                    <a:pt x="1940980" y="961629"/>
                  </a:cubicBezTo>
                  <a:cubicBezTo>
                    <a:pt x="1539918" y="1656697"/>
                    <a:pt x="1539918" y="1656697"/>
                    <a:pt x="1539918" y="1656697"/>
                  </a:cubicBezTo>
                  <a:cubicBezTo>
                    <a:pt x="1511271" y="1705424"/>
                    <a:pt x="1441086" y="1745551"/>
                    <a:pt x="1385223" y="1745551"/>
                  </a:cubicBezTo>
                  <a:cubicBezTo>
                    <a:pt x="1284958" y="1745551"/>
                    <a:pt x="1197225" y="1745551"/>
                    <a:pt x="1120460" y="1745551"/>
                  </a:cubicBezTo>
                  <a:lnTo>
                    <a:pt x="1097791" y="1745551"/>
                  </a:lnTo>
                  <a:lnTo>
                    <a:pt x="1039896" y="1745551"/>
                  </a:lnTo>
                  <a:lnTo>
                    <a:pt x="1013340" y="1745551"/>
                  </a:lnTo>
                  <a:lnTo>
                    <a:pt x="948051" y="1745551"/>
                  </a:lnTo>
                  <a:lnTo>
                    <a:pt x="921495" y="1745551"/>
                  </a:lnTo>
                  <a:lnTo>
                    <a:pt x="863600" y="1745551"/>
                  </a:lnTo>
                  <a:lnTo>
                    <a:pt x="840931" y="1745551"/>
                  </a:lnTo>
                  <a:cubicBezTo>
                    <a:pt x="764166" y="1745551"/>
                    <a:pt x="676433" y="1745551"/>
                    <a:pt x="576168" y="1745551"/>
                  </a:cubicBezTo>
                  <a:cubicBezTo>
                    <a:pt x="520305" y="1745551"/>
                    <a:pt x="450120" y="1705424"/>
                    <a:pt x="421473" y="1656697"/>
                  </a:cubicBezTo>
                  <a:cubicBezTo>
                    <a:pt x="421473" y="1656697"/>
                    <a:pt x="421473" y="1656697"/>
                    <a:pt x="20411" y="961629"/>
                  </a:cubicBezTo>
                  <a:cubicBezTo>
                    <a:pt x="6804" y="937267"/>
                    <a:pt x="0" y="905021"/>
                    <a:pt x="0" y="872775"/>
                  </a:cubicBezTo>
                  <a:cubicBezTo>
                    <a:pt x="0" y="840530"/>
                    <a:pt x="6804" y="808285"/>
                    <a:pt x="20411" y="783921"/>
                  </a:cubicBezTo>
                  <a:cubicBezTo>
                    <a:pt x="20411" y="783921"/>
                    <a:pt x="20411" y="783921"/>
                    <a:pt x="421473" y="88854"/>
                  </a:cubicBezTo>
                  <a:cubicBezTo>
                    <a:pt x="450120" y="40128"/>
                    <a:pt x="520305" y="0"/>
                    <a:pt x="57616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2590" b="1">
                <a:latin typeface="Songti SC" panose="02010600040101010101" pitchFamily="2" charset="-122"/>
                <a:ea typeface="Songti SC" panose="02010600040101010101" pitchFamily="2" charset="-122"/>
              </a:endParaRPr>
            </a:p>
          </p:txBody>
        </p:sp>
        <p:sp>
          <p:nvSpPr>
            <p:cNvPr id="7" name="任意多边形 6">
              <a:extLst>
                <a:ext uri="{FF2B5EF4-FFF2-40B4-BE49-F238E27FC236}">
                  <a16:creationId xmlns:a16="http://schemas.microsoft.com/office/drawing/2014/main" id="{32B8B8D0-4823-2724-D7F9-EA285CFB3409}"/>
                </a:ext>
              </a:extLst>
            </p:cNvPr>
            <p:cNvSpPr/>
            <p:nvPr/>
          </p:nvSpPr>
          <p:spPr>
            <a:xfrm>
              <a:off x="5257193" y="2633694"/>
              <a:ext cx="1677614" cy="1493004"/>
            </a:xfrm>
            <a:custGeom>
              <a:avLst/>
              <a:gdLst>
                <a:gd name="connsiteX0" fmla="*/ 576168 w 1961391"/>
                <a:gd name="connsiteY0" fmla="*/ 0 h 1745551"/>
                <a:gd name="connsiteX1" fmla="*/ 863600 w 1961391"/>
                <a:gd name="connsiteY1" fmla="*/ 0 h 1745551"/>
                <a:gd name="connsiteX2" fmla="*/ 1097791 w 1961391"/>
                <a:gd name="connsiteY2" fmla="*/ 0 h 1745551"/>
                <a:gd name="connsiteX3" fmla="*/ 1385223 w 1961391"/>
                <a:gd name="connsiteY3" fmla="*/ 0 h 1745551"/>
                <a:gd name="connsiteX4" fmla="*/ 1539918 w 1961391"/>
                <a:gd name="connsiteY4" fmla="*/ 88854 h 1745551"/>
                <a:gd name="connsiteX5" fmla="*/ 1940980 w 1961391"/>
                <a:gd name="connsiteY5" fmla="*/ 783921 h 1745551"/>
                <a:gd name="connsiteX6" fmla="*/ 1961391 w 1961391"/>
                <a:gd name="connsiteY6" fmla="*/ 872775 h 1745551"/>
                <a:gd name="connsiteX7" fmla="*/ 1940980 w 1961391"/>
                <a:gd name="connsiteY7" fmla="*/ 961629 h 1745551"/>
                <a:gd name="connsiteX8" fmla="*/ 1539918 w 1961391"/>
                <a:gd name="connsiteY8" fmla="*/ 1656697 h 1745551"/>
                <a:gd name="connsiteX9" fmla="*/ 1385223 w 1961391"/>
                <a:gd name="connsiteY9" fmla="*/ 1745551 h 1745551"/>
                <a:gd name="connsiteX10" fmla="*/ 1120460 w 1961391"/>
                <a:gd name="connsiteY10" fmla="*/ 1745551 h 1745551"/>
                <a:gd name="connsiteX11" fmla="*/ 1097791 w 1961391"/>
                <a:gd name="connsiteY11" fmla="*/ 1745551 h 1745551"/>
                <a:gd name="connsiteX12" fmla="*/ 1039896 w 1961391"/>
                <a:gd name="connsiteY12" fmla="*/ 1745551 h 1745551"/>
                <a:gd name="connsiteX13" fmla="*/ 1013340 w 1961391"/>
                <a:gd name="connsiteY13" fmla="*/ 1745551 h 1745551"/>
                <a:gd name="connsiteX14" fmla="*/ 948051 w 1961391"/>
                <a:gd name="connsiteY14" fmla="*/ 1745551 h 1745551"/>
                <a:gd name="connsiteX15" fmla="*/ 921495 w 1961391"/>
                <a:gd name="connsiteY15" fmla="*/ 1745551 h 1745551"/>
                <a:gd name="connsiteX16" fmla="*/ 863600 w 1961391"/>
                <a:gd name="connsiteY16" fmla="*/ 1745551 h 1745551"/>
                <a:gd name="connsiteX17" fmla="*/ 840931 w 1961391"/>
                <a:gd name="connsiteY17" fmla="*/ 1745551 h 1745551"/>
                <a:gd name="connsiteX18" fmla="*/ 576168 w 1961391"/>
                <a:gd name="connsiteY18" fmla="*/ 1745551 h 1745551"/>
                <a:gd name="connsiteX19" fmla="*/ 421473 w 1961391"/>
                <a:gd name="connsiteY19" fmla="*/ 1656697 h 1745551"/>
                <a:gd name="connsiteX20" fmla="*/ 20411 w 1961391"/>
                <a:gd name="connsiteY20" fmla="*/ 961629 h 1745551"/>
                <a:gd name="connsiteX21" fmla="*/ 0 w 1961391"/>
                <a:gd name="connsiteY21" fmla="*/ 872775 h 1745551"/>
                <a:gd name="connsiteX22" fmla="*/ 20411 w 1961391"/>
                <a:gd name="connsiteY22" fmla="*/ 783921 h 1745551"/>
                <a:gd name="connsiteX23" fmla="*/ 421473 w 1961391"/>
                <a:gd name="connsiteY23" fmla="*/ 88854 h 1745551"/>
                <a:gd name="connsiteX24" fmla="*/ 576168 w 1961391"/>
                <a:gd name="connsiteY24" fmla="*/ 0 h 1745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61391" h="1745551">
                  <a:moveTo>
                    <a:pt x="576168" y="0"/>
                  </a:moveTo>
                  <a:lnTo>
                    <a:pt x="863600" y="0"/>
                  </a:lnTo>
                  <a:lnTo>
                    <a:pt x="1097791" y="0"/>
                  </a:lnTo>
                  <a:lnTo>
                    <a:pt x="1385223" y="0"/>
                  </a:lnTo>
                  <a:cubicBezTo>
                    <a:pt x="1441086" y="0"/>
                    <a:pt x="1511271" y="40128"/>
                    <a:pt x="1539918" y="88854"/>
                  </a:cubicBezTo>
                  <a:cubicBezTo>
                    <a:pt x="1940980" y="783921"/>
                    <a:pt x="1940980" y="783921"/>
                    <a:pt x="1940980" y="783921"/>
                  </a:cubicBezTo>
                  <a:cubicBezTo>
                    <a:pt x="1954587" y="808285"/>
                    <a:pt x="1961391" y="840530"/>
                    <a:pt x="1961391" y="872775"/>
                  </a:cubicBezTo>
                  <a:cubicBezTo>
                    <a:pt x="1961391" y="905021"/>
                    <a:pt x="1954587" y="937267"/>
                    <a:pt x="1940980" y="961629"/>
                  </a:cubicBezTo>
                  <a:cubicBezTo>
                    <a:pt x="1539918" y="1656697"/>
                    <a:pt x="1539918" y="1656697"/>
                    <a:pt x="1539918" y="1656697"/>
                  </a:cubicBezTo>
                  <a:cubicBezTo>
                    <a:pt x="1511271" y="1705424"/>
                    <a:pt x="1441086" y="1745551"/>
                    <a:pt x="1385223" y="1745551"/>
                  </a:cubicBezTo>
                  <a:cubicBezTo>
                    <a:pt x="1284958" y="1745551"/>
                    <a:pt x="1197225" y="1745551"/>
                    <a:pt x="1120460" y="1745551"/>
                  </a:cubicBezTo>
                  <a:lnTo>
                    <a:pt x="1097791" y="1745551"/>
                  </a:lnTo>
                  <a:lnTo>
                    <a:pt x="1039896" y="1745551"/>
                  </a:lnTo>
                  <a:lnTo>
                    <a:pt x="1013340" y="1745551"/>
                  </a:lnTo>
                  <a:lnTo>
                    <a:pt x="948051" y="1745551"/>
                  </a:lnTo>
                  <a:lnTo>
                    <a:pt x="921495" y="1745551"/>
                  </a:lnTo>
                  <a:lnTo>
                    <a:pt x="863600" y="1745551"/>
                  </a:lnTo>
                  <a:lnTo>
                    <a:pt x="840931" y="1745551"/>
                  </a:lnTo>
                  <a:cubicBezTo>
                    <a:pt x="764166" y="1745551"/>
                    <a:pt x="676433" y="1745551"/>
                    <a:pt x="576168" y="1745551"/>
                  </a:cubicBezTo>
                  <a:cubicBezTo>
                    <a:pt x="520305" y="1745551"/>
                    <a:pt x="450120" y="1705424"/>
                    <a:pt x="421473" y="1656697"/>
                  </a:cubicBezTo>
                  <a:cubicBezTo>
                    <a:pt x="421473" y="1656697"/>
                    <a:pt x="421473" y="1656697"/>
                    <a:pt x="20411" y="961629"/>
                  </a:cubicBezTo>
                  <a:cubicBezTo>
                    <a:pt x="6804" y="937267"/>
                    <a:pt x="0" y="905021"/>
                    <a:pt x="0" y="872775"/>
                  </a:cubicBezTo>
                  <a:cubicBezTo>
                    <a:pt x="0" y="840530"/>
                    <a:pt x="6804" y="808285"/>
                    <a:pt x="20411" y="783921"/>
                  </a:cubicBezTo>
                  <a:cubicBezTo>
                    <a:pt x="20411" y="783921"/>
                    <a:pt x="20411" y="783921"/>
                    <a:pt x="421473" y="88854"/>
                  </a:cubicBezTo>
                  <a:cubicBezTo>
                    <a:pt x="450120" y="40128"/>
                    <a:pt x="520305" y="0"/>
                    <a:pt x="576168" y="0"/>
                  </a:cubicBezTo>
                  <a:close/>
                </a:path>
              </a:pathLst>
            </a:custGeom>
            <a:solidFill>
              <a:srgbClr val="9CC5F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2590" b="1">
                <a:latin typeface="Songti SC" panose="02010600040101010101" pitchFamily="2" charset="-122"/>
                <a:ea typeface="Songti SC" panose="02010600040101010101" pitchFamily="2" charset="-122"/>
              </a:endParaRPr>
            </a:p>
          </p:txBody>
        </p:sp>
      </p:grpSp>
      <p:sp>
        <p:nvSpPr>
          <p:cNvPr id="8" name="文本框 7">
            <a:extLst>
              <a:ext uri="{FF2B5EF4-FFF2-40B4-BE49-F238E27FC236}">
                <a16:creationId xmlns:a16="http://schemas.microsoft.com/office/drawing/2014/main" id="{136AA12A-C7E4-F592-39C1-65EF5974D296}"/>
              </a:ext>
            </a:extLst>
          </p:cNvPr>
          <p:cNvSpPr txBox="1"/>
          <p:nvPr/>
        </p:nvSpPr>
        <p:spPr>
          <a:xfrm>
            <a:off x="5321588" y="3413325"/>
            <a:ext cx="15488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6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Part.02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9D70CBF-02FC-689A-475A-3137E761EE40}"/>
              </a:ext>
            </a:extLst>
          </p:cNvPr>
          <p:cNvSpPr txBox="1"/>
          <p:nvPr/>
        </p:nvSpPr>
        <p:spPr>
          <a:xfrm>
            <a:off x="3327400" y="4946424"/>
            <a:ext cx="5537198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spc="600" dirty="0">
                <a:solidFill>
                  <a:schemeClr val="accent6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系统架构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36142000-0554-DAE3-CDBE-EDE65A5EC9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0390" y="1516741"/>
            <a:ext cx="3582844" cy="657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74445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decel="533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9" fill="hold">
                                <p:stCondLst>
                                  <p:cond delay="1000"/>
                                </p:stCondLst>
                                <p:childTnLst>
                                  <p:par>
                                    <p:cTn id="10" presetID="2" presetClass="entr" presetSubtype="4" fill="hold" nodeType="afterEffect" p14:presetBounceEnd="4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40000">
                                          <p:cBhvr additive="base">
                                            <p:cTn id="12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40000">
                                          <p:cBhvr additive="base">
                                            <p:cTn id="13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4" fill="hold">
                                <p:stCondLst>
                                  <p:cond delay="2000"/>
                                </p:stCondLst>
                                <p:childTnLst>
                                  <p:par>
                                    <p:cTn id="15" presetID="53" presetClass="entr" presetSubtype="16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7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8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20" fill="hold">
                                <p:stCondLst>
                                  <p:cond delay="2500"/>
                                </p:stCondLst>
                                <p:childTnLst>
                                  <p:par>
                                    <p:cTn id="21" presetID="50" presetClass="entr" presetSubtype="0" decel="100000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w+.3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5" dur="10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" grpId="0" animBg="1"/>
          <p:bldP spid="8" grpId="0"/>
          <p:bldP spid="9" grpId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decel="533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9" fill="hold">
                                <p:stCondLst>
                                  <p:cond delay="1000"/>
                                </p:stCondLst>
                                <p:childTnLst>
                                  <p:par>
                                    <p:cTn id="10" presetID="2" presetClass="entr" presetSubtype="4" fill="hold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4" fill="hold">
                                <p:stCondLst>
                                  <p:cond delay="2000"/>
                                </p:stCondLst>
                                <p:childTnLst>
                                  <p:par>
                                    <p:cTn id="15" presetID="53" presetClass="entr" presetSubtype="16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7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8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20" fill="hold">
                                <p:stCondLst>
                                  <p:cond delay="2500"/>
                                </p:stCondLst>
                                <p:childTnLst>
                                  <p:par>
                                    <p:cTn id="21" presetID="50" presetClass="entr" presetSubtype="0" decel="100000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w+.3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5" dur="10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" grpId="0" animBg="1"/>
          <p:bldP spid="8" grpId="0"/>
          <p:bldP spid="9" grpId="0"/>
        </p:bldLst>
      </p:timing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3" name="直接连接符 22"/>
          <p:cNvCxnSpPr/>
          <p:nvPr/>
        </p:nvCxnSpPr>
        <p:spPr>
          <a:xfrm>
            <a:off x="83014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/>
        </p:nvSpPr>
        <p:spPr>
          <a:xfrm>
            <a:off x="4933648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5" name="直接连接符 24"/>
          <p:cNvCxnSpPr/>
          <p:nvPr/>
        </p:nvCxnSpPr>
        <p:spPr>
          <a:xfrm>
            <a:off x="100032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6"/>
          <p:cNvSpPr txBox="1"/>
          <p:nvPr/>
        </p:nvSpPr>
        <p:spPr>
          <a:xfrm>
            <a:off x="33749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项目介绍</a:t>
            </a: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系统架构</a:t>
            </a:r>
          </a:p>
        </p:txBody>
      </p:sp>
      <p:sp>
        <p:nvSpPr>
          <p:cNvPr id="28" name="TextBox 9"/>
          <p:cNvSpPr txBox="1"/>
          <p:nvPr/>
        </p:nvSpPr>
        <p:spPr>
          <a:xfrm>
            <a:off x="67785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模块设计实现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1" name="直接连接符 30"/>
          <p:cNvCxnSpPr/>
          <p:nvPr/>
        </p:nvCxnSpPr>
        <p:spPr>
          <a:xfrm>
            <a:off x="65996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>
            <a:cxnSpLocks/>
          </p:cNvCxnSpPr>
          <p:nvPr/>
        </p:nvCxnSpPr>
        <p:spPr>
          <a:xfrm>
            <a:off x="547969" y="1524529"/>
            <a:ext cx="2949197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/>
          <p:nvPr/>
        </p:nvSpPr>
        <p:spPr>
          <a:xfrm>
            <a:off x="687774" y="987974"/>
            <a:ext cx="2669585" cy="52782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2.1 </a:t>
            </a:r>
            <a:r>
              <a:rPr lang="zh-CN" altLang="en-US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系统整体架构</a:t>
            </a:r>
          </a:p>
        </p:txBody>
      </p:sp>
      <p:cxnSp>
        <p:nvCxnSpPr>
          <p:cNvPr id="15" name="直接连接符 14"/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表格 2"/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76646357"/>
              </p:ext>
            </p:extLst>
          </p:nvPr>
        </p:nvGraphicFramePr>
        <p:xfrm>
          <a:off x="7076185" y="1460151"/>
          <a:ext cx="4925653" cy="3937696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288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36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7297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800" b="1" i="0">
                          <a:solidFill>
                            <a:schemeClr val="bg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层级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800" b="1" i="0">
                          <a:solidFill>
                            <a:schemeClr val="bg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功能</a:t>
                      </a:r>
                    </a:p>
                  </a:txBody>
                  <a:tcPr marL="122237" marR="122237" marT="76517" marB="76517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854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6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推理执行层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16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LLM </a:t>
                      </a:r>
                      <a:r>
                        <a:rPr lang="zh-CN" altLang="en-US" sz="16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前向计算，暴露 </a:t>
                      </a:r>
                      <a:r>
                        <a:rPr lang="en-US" altLang="zh-CN" sz="16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Layer /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16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 Expert / Session </a:t>
                      </a:r>
                      <a:r>
                        <a:rPr lang="zh-CN" altLang="en-US" sz="16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运行状态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854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6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全局控制与调度层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" altLang="zh-CN" sz="16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Memory Planner + Memory Governor</a:t>
                      </a:r>
                      <a:r>
                        <a:rPr lang="zh-CN" altLang="en" sz="16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：</a:t>
                      </a:r>
                      <a:r>
                        <a:rPr lang="zh-CN" altLang="en-US" sz="16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预算规划、压力感知与资源仲裁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854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6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专用内存管理层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16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Dense Flex / MoE Buffer / KV Controller</a:t>
                      </a:r>
                      <a:r>
                        <a:rPr lang="zh-CN" altLang="en-US" sz="16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：差异化驻留、回收与恢复</a:t>
                      </a:r>
                      <a:endParaRPr lang="en-US" altLang="zh-CN" sz="1600" b="1" i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1854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6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虚拟内存与存储层</a:t>
                      </a:r>
                    </a:p>
                  </a:txBody>
                  <a:tcPr marL="0" marR="122237" marT="76517" marB="76517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DRAM / SSD + mmap / madvise /</a:t>
                      </a: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1" i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 pread / O_DIRECT</a:t>
                      </a:r>
                    </a:p>
                  </a:txBody>
                  <a:tcPr marL="122237" marR="0" marT="76517" marB="76517" anchor="ctr"/>
                </a:tc>
                <a:extLst>
                  <a:ext uri="{0D108BD9-81ED-4DB2-BD59-A6C34878D82A}">
                    <a16:rowId xmlns:a16="http://schemas.microsoft.com/office/drawing/2014/main" val="1593729482"/>
                  </a:ext>
                </a:extLst>
              </a:tr>
            </a:tbl>
          </a:graphicData>
        </a:graphic>
      </p:graphicFrame>
      <p:sp>
        <p:nvSpPr>
          <p:cNvPr id="4" name="文本框 3"/>
          <p:cNvSpPr txBox="1"/>
          <p:nvPr/>
        </p:nvSpPr>
        <p:spPr>
          <a:xfrm>
            <a:off x="1134033" y="5752871"/>
            <a:ext cx="10453728" cy="11064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</a:pPr>
            <a:r>
              <a:rPr lang="en" altLang="zh-CN" sz="2800" b="1">
                <a:latin typeface="Songti SC" panose="02010600040101010101" pitchFamily="2" charset="-122"/>
                <a:ea typeface="Songti SC" panose="02010600040101010101" pitchFamily="2" charset="-122"/>
              </a:rPr>
              <a:t>Dense Layer</a:t>
            </a:r>
            <a:r>
              <a:rPr lang="zh-CN" altLang="en" sz="2800" b="1">
                <a:latin typeface="Songti SC" panose="02010600040101010101" pitchFamily="2" charset="-122"/>
                <a:ea typeface="Songti SC" panose="02010600040101010101" pitchFamily="2" charset="-122"/>
              </a:rPr>
              <a:t>、</a:t>
            </a:r>
            <a:r>
              <a:rPr lang="en" altLang="zh-CN" sz="2800" b="1">
                <a:latin typeface="Songti SC" panose="02010600040101010101" pitchFamily="2" charset="-122"/>
                <a:ea typeface="Songti SC" panose="02010600040101010101" pitchFamily="2" charset="-122"/>
              </a:rPr>
              <a:t>MoE ExpertGroup</a:t>
            </a:r>
            <a:r>
              <a:rPr lang="zh-CN" altLang="en" sz="2800" b="1">
                <a:latin typeface="Songti SC" panose="02010600040101010101" pitchFamily="2" charset="-122"/>
                <a:ea typeface="Songti SC" panose="02010600040101010101" pitchFamily="2" charset="-122"/>
              </a:rPr>
              <a:t>、</a:t>
            </a:r>
            <a:r>
              <a:rPr lang="en" altLang="zh-CN" sz="2800" b="1">
                <a:latin typeface="Songti SC" panose="02010600040101010101" pitchFamily="2" charset="-122"/>
                <a:ea typeface="Songti SC" panose="02010600040101010101" pitchFamily="2" charset="-122"/>
              </a:rPr>
              <a:t>KV Block / Cell </a:t>
            </a:r>
            <a:r>
              <a:rPr lang="zh-CN" altLang="en-US" sz="2800" b="1">
                <a:latin typeface="Songti SC" panose="02010600040101010101" pitchFamily="2" charset="-122"/>
                <a:ea typeface="Songti SC" panose="02010600040101010101" pitchFamily="2" charset="-122"/>
              </a:rPr>
              <a:t>差异化驻留管理</a:t>
            </a:r>
            <a:endParaRPr lang="en-US" altLang="zh-CN" sz="2800" b="1">
              <a:latin typeface="Songti SC" panose="02010600040101010101" pitchFamily="2" charset="-122"/>
              <a:ea typeface="Songti SC" panose="02010600040101010101" pitchFamily="2" charset="-122"/>
            </a:endParaRPr>
          </a:p>
          <a:p>
            <a:pPr algn="ctr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</a:pPr>
            <a:r>
              <a:rPr lang="en" altLang="zh-CN" sz="28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Global Memory Governor </a:t>
            </a:r>
            <a:r>
              <a:rPr lang="zh-CN" altLang="en-US" sz="28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统一协调物理内存与 </a:t>
            </a:r>
            <a:r>
              <a:rPr lang="en" altLang="zh-CN" sz="28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I/O </a:t>
            </a:r>
            <a:r>
              <a:rPr lang="zh-CN" altLang="en-US" sz="28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资源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7104D1B-BE23-3CAB-51A3-4F5736E6B57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CED1B950-16C3-BBB1-EB24-4F44C9376A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371" r="-709"/>
          <a:stretch>
            <a:fillRect/>
          </a:stretch>
        </p:blipFill>
        <p:spPr>
          <a:xfrm>
            <a:off x="-81853" y="1616385"/>
            <a:ext cx="7158038" cy="40271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3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8DB765C-F48C-4DCD-8535-D5C5B11F05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69" t="2124"/>
          <a:stretch>
            <a:fillRect/>
          </a:stretch>
        </p:blipFill>
        <p:spPr>
          <a:xfrm>
            <a:off x="5591820" y="1422004"/>
            <a:ext cx="6489608" cy="3188221"/>
          </a:xfrm>
          <a:prstGeom prst="rect">
            <a:avLst/>
          </a:prstGeom>
        </p:spPr>
      </p:pic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3" name="直接连接符 22"/>
          <p:cNvCxnSpPr/>
          <p:nvPr/>
        </p:nvCxnSpPr>
        <p:spPr>
          <a:xfrm>
            <a:off x="83014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/>
        </p:nvSpPr>
        <p:spPr>
          <a:xfrm>
            <a:off x="4933648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5" name="直接连接符 24"/>
          <p:cNvCxnSpPr/>
          <p:nvPr/>
        </p:nvCxnSpPr>
        <p:spPr>
          <a:xfrm>
            <a:off x="100032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6"/>
          <p:cNvSpPr txBox="1"/>
          <p:nvPr/>
        </p:nvSpPr>
        <p:spPr>
          <a:xfrm>
            <a:off x="33749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项目介绍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/>
          <p:cNvSpPr txBox="1"/>
          <p:nvPr/>
        </p:nvSpPr>
        <p:spPr>
          <a:xfrm>
            <a:off x="67785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模块设计实现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1" name="直接连接符 30"/>
          <p:cNvCxnSpPr/>
          <p:nvPr/>
        </p:nvCxnSpPr>
        <p:spPr>
          <a:xfrm>
            <a:off x="65996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>
            <a:cxnSpLocks/>
          </p:cNvCxnSpPr>
          <p:nvPr/>
        </p:nvCxnSpPr>
        <p:spPr>
          <a:xfrm>
            <a:off x="425751" y="1593386"/>
            <a:ext cx="2929627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/>
          <p:nvPr/>
        </p:nvSpPr>
        <p:spPr>
          <a:xfrm>
            <a:off x="425750" y="985709"/>
            <a:ext cx="2929627" cy="52782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2.2 </a:t>
            </a:r>
            <a:r>
              <a:rPr lang="zh-CN" altLang="en-US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系统核心组成</a:t>
            </a:r>
          </a:p>
        </p:txBody>
      </p:sp>
      <p:cxnSp>
        <p:nvCxnSpPr>
          <p:cNvPr id="15" name="直接连接符 14"/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/>
          <p:cNvSpPr txBox="1"/>
          <p:nvPr/>
        </p:nvSpPr>
        <p:spPr>
          <a:xfrm>
            <a:off x="195620" y="1787096"/>
            <a:ext cx="9958434" cy="4767374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342900" indent="-342900">
              <a:spcBef>
                <a:spcPts val="900"/>
              </a:spcBef>
              <a:spcAft>
                <a:spcPts val="900"/>
              </a:spcAft>
              <a:buFont typeface="Wingdings" pitchFamily="2" charset="2"/>
              <a:buChar char="n"/>
            </a:pPr>
            <a:r>
              <a:rPr lang="en" altLang="zh-CN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Dense Flex</a:t>
            </a:r>
            <a:r>
              <a:rPr lang="zh-CN" altLang="en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：</a:t>
            </a:r>
            <a:r>
              <a:rPr lang="en" altLang="zh-CN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Layer </a:t>
            </a:r>
            <a:r>
              <a:rPr lang="zh-CN" altLang="en-US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级权重驻留：</a:t>
            </a:r>
            <a:endParaRPr lang="en-US" altLang="zh-CN" sz="2000" b="1">
              <a:solidFill>
                <a:srgbClr val="FF0000"/>
              </a:solidFill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  <a:p>
            <a:pPr marL="0" indent="0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</a:pP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Layer Working Set + Ring / Pin + Prefetch + Reclaim</a:t>
            </a:r>
          </a:p>
          <a:p>
            <a:pPr marL="342900" indent="-342900">
              <a:spcBef>
                <a:spcPts val="900"/>
              </a:spcBef>
              <a:spcAft>
                <a:spcPts val="900"/>
              </a:spcAft>
              <a:buFont typeface="Wingdings" pitchFamily="2" charset="2"/>
              <a:buChar char="n"/>
            </a:pPr>
            <a:r>
              <a:rPr lang="en-US" altLang="zh-CN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MoE Buffer</a:t>
            </a:r>
            <a:r>
              <a:rPr lang="zh-CN" altLang="en-US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：</a:t>
            </a:r>
            <a:r>
              <a:rPr lang="en-US" altLang="zh-CN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ExpertGroup </a:t>
            </a:r>
            <a:r>
              <a:rPr lang="zh-CN" altLang="en-US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动态工作集：</a:t>
            </a:r>
            <a:endParaRPr lang="en-US" altLang="zh-CN" sz="2000" b="1">
              <a:solidFill>
                <a:srgbClr val="FF0000"/>
              </a:solidFill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  <a:p>
            <a:pPr>
              <a:spcBef>
                <a:spcPts val="900"/>
              </a:spcBef>
              <a:spcAft>
                <a:spcPts val="900"/>
              </a:spcAft>
            </a:pP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ExpertGroup + Admission / Prefetch + Eviction + Dynamic Budget</a:t>
            </a:r>
          </a:p>
          <a:p>
            <a:pPr marL="342900" indent="-342900">
              <a:spcBef>
                <a:spcPts val="900"/>
              </a:spcBef>
              <a:spcAft>
                <a:spcPts val="900"/>
              </a:spcAft>
              <a:buFont typeface="Wingdings" pitchFamily="2" charset="2"/>
              <a:buChar char="n"/>
            </a:pPr>
            <a:r>
              <a:rPr lang="en" altLang="zh-CN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KV Cache</a:t>
            </a:r>
            <a:r>
              <a:rPr lang="zh-CN" altLang="en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：</a:t>
            </a:r>
            <a:r>
              <a:rPr lang="en" altLang="zh-CN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Block / Session </a:t>
            </a:r>
            <a:r>
              <a:rPr lang="zh-CN" altLang="en-US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生命周期管理：</a:t>
            </a:r>
            <a:endParaRPr lang="en-US" altLang="zh-CN" sz="2000" b="1">
              <a:solidFill>
                <a:srgbClr val="FF0000"/>
              </a:solidFill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  <a:p>
            <a:pPr>
              <a:spcBef>
                <a:spcPts val="900"/>
              </a:spcBef>
              <a:spcAft>
                <a:spcPts val="900"/>
              </a:spcAft>
            </a:pP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Physical Budget + RELEASE / OFFLOAD + Exact Restore + Hot/Cold</a:t>
            </a:r>
          </a:p>
          <a:p>
            <a:pPr marL="342900" indent="-342900">
              <a:spcBef>
                <a:spcPts val="900"/>
              </a:spcBef>
              <a:spcAft>
                <a:spcPts val="900"/>
              </a:spcAft>
              <a:buFont typeface="Wingdings" pitchFamily="2" charset="2"/>
              <a:buChar char="n"/>
            </a:pPr>
            <a:r>
              <a:rPr lang="zh-CN" altLang="en-US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全局资源管理：</a:t>
            </a:r>
            <a:endParaRPr lang="en-US" altLang="zh-CN" sz="2000" b="1">
              <a:solidFill>
                <a:srgbClr val="FF0000"/>
              </a:solidFill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  <a:p>
            <a:pPr>
              <a:spcBef>
                <a:spcPts val="900"/>
              </a:spcBef>
              <a:spcAft>
                <a:spcPts val="900"/>
              </a:spcAft>
            </a:pP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Memory Planner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（加载期规划）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+ Server Memory Governor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（运行期治理）</a:t>
            </a:r>
            <a:endParaRPr lang="en-US" altLang="zh-CN" sz="2000" b="1"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  <a:p>
            <a:pPr>
              <a:spcBef>
                <a:spcPts val="900"/>
              </a:spcBef>
              <a:spcAft>
                <a:spcPts val="900"/>
              </a:spcAft>
            </a:pP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Pressure Gate + ROI Auction + Unified Prefetch + Reallocation Credit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D314EDF2-877B-FA16-942B-ED73988601A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3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62E06-24EE-C2C2-7932-0BFAB7A7B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BE2E5D6E-2381-CE29-8CF3-29FD0B5534D6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270793C9-FB03-EE18-939F-81D98852C70A}"/>
              </a:ext>
            </a:extLst>
          </p:cNvPr>
          <p:cNvCxnSpPr/>
          <p:nvPr/>
        </p:nvCxnSpPr>
        <p:spPr>
          <a:xfrm>
            <a:off x="83014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806E6903-74EA-1303-A33A-8E901F15139E}"/>
              </a:ext>
            </a:extLst>
          </p:cNvPr>
          <p:cNvSpPr/>
          <p:nvPr/>
        </p:nvSpPr>
        <p:spPr>
          <a:xfrm>
            <a:off x="4933648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2218E938-0946-C8DA-608D-1C21DD231000}"/>
              </a:ext>
            </a:extLst>
          </p:cNvPr>
          <p:cNvCxnSpPr/>
          <p:nvPr/>
        </p:nvCxnSpPr>
        <p:spPr>
          <a:xfrm>
            <a:off x="100032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6">
            <a:extLst>
              <a:ext uri="{FF2B5EF4-FFF2-40B4-BE49-F238E27FC236}">
                <a16:creationId xmlns:a16="http://schemas.microsoft.com/office/drawing/2014/main" id="{A414CFE5-58B6-BA11-E738-434698EDA2F8}"/>
              </a:ext>
            </a:extLst>
          </p:cNvPr>
          <p:cNvSpPr txBox="1"/>
          <p:nvPr/>
        </p:nvSpPr>
        <p:spPr>
          <a:xfrm>
            <a:off x="33749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项目介绍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7" name="TextBox 7">
            <a:extLst>
              <a:ext uri="{FF2B5EF4-FFF2-40B4-BE49-F238E27FC236}">
                <a16:creationId xmlns:a16="http://schemas.microsoft.com/office/drawing/2014/main" id="{6610289A-6D03-F3AB-E40D-75FD6B95542D}"/>
              </a:ext>
            </a:extLst>
          </p:cNvPr>
          <p:cNvSpPr txBox="1"/>
          <p:nvPr/>
        </p:nvSpPr>
        <p:spPr>
          <a:xfrm>
            <a:off x="5076749" y="215904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>
            <a:extLst>
              <a:ext uri="{FF2B5EF4-FFF2-40B4-BE49-F238E27FC236}">
                <a16:creationId xmlns:a16="http://schemas.microsoft.com/office/drawing/2014/main" id="{AE051192-015E-726A-F596-3868D439C4BA}"/>
              </a:ext>
            </a:extLst>
          </p:cNvPr>
          <p:cNvSpPr txBox="1"/>
          <p:nvPr/>
        </p:nvSpPr>
        <p:spPr>
          <a:xfrm>
            <a:off x="67785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模块设计实现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9" name="TextBox 10">
            <a:extLst>
              <a:ext uri="{FF2B5EF4-FFF2-40B4-BE49-F238E27FC236}">
                <a16:creationId xmlns:a16="http://schemas.microsoft.com/office/drawing/2014/main" id="{DC043115-21BF-3C5D-C1C7-B6A838B670B7}"/>
              </a:ext>
            </a:extLst>
          </p:cNvPr>
          <p:cNvSpPr txBox="1"/>
          <p:nvPr/>
        </p:nvSpPr>
        <p:spPr>
          <a:xfrm>
            <a:off x="84803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>
            <a:extLst>
              <a:ext uri="{FF2B5EF4-FFF2-40B4-BE49-F238E27FC236}">
                <a16:creationId xmlns:a16="http://schemas.microsoft.com/office/drawing/2014/main" id="{98704E5C-B479-9A74-55C9-080B0BE87944}"/>
              </a:ext>
            </a:extLst>
          </p:cNvPr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B0A0F16C-5E7A-AA8E-7190-13DCDC1B9131}"/>
              </a:ext>
            </a:extLst>
          </p:cNvPr>
          <p:cNvCxnSpPr/>
          <p:nvPr/>
        </p:nvCxnSpPr>
        <p:spPr>
          <a:xfrm>
            <a:off x="65996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28D3DEE7-3FA9-E863-40C9-A7BC78C80285}"/>
              </a:ext>
            </a:extLst>
          </p:cNvPr>
          <p:cNvCxnSpPr>
            <a:cxnSpLocks/>
          </p:cNvCxnSpPr>
          <p:nvPr/>
        </p:nvCxnSpPr>
        <p:spPr>
          <a:xfrm>
            <a:off x="425751" y="1593386"/>
            <a:ext cx="429319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>
            <a:extLst>
              <a:ext uri="{FF2B5EF4-FFF2-40B4-BE49-F238E27FC236}">
                <a16:creationId xmlns:a16="http://schemas.microsoft.com/office/drawing/2014/main" id="{0774B36B-5A71-6AF7-887B-AE42A5DC11BE}"/>
              </a:ext>
            </a:extLst>
          </p:cNvPr>
          <p:cNvSpPr txBox="1"/>
          <p:nvPr/>
        </p:nvSpPr>
        <p:spPr>
          <a:xfrm>
            <a:off x="425750" y="1007903"/>
            <a:ext cx="4160538" cy="52782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2.3 </a:t>
            </a:r>
            <a:r>
              <a:rPr lang="zh-CN" altLang="en-US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资源回收与再分配闭环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F927BC7-E274-9A07-D39E-2BB05F0FF5EC}"/>
              </a:ext>
            </a:extLst>
          </p:cNvPr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>
            <a:extLst>
              <a:ext uri="{FF2B5EF4-FFF2-40B4-BE49-F238E27FC236}">
                <a16:creationId xmlns:a16="http://schemas.microsoft.com/office/drawing/2014/main" id="{67AFFB7B-F936-3650-7066-01BCED965721}"/>
              </a:ext>
            </a:extLst>
          </p:cNvPr>
          <p:cNvSpPr txBox="1"/>
          <p:nvPr/>
        </p:nvSpPr>
        <p:spPr>
          <a:xfrm>
            <a:off x="94767" y="1827877"/>
            <a:ext cx="4491521" cy="4102987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Font typeface="Wingdings" pitchFamily="2" charset="2"/>
              <a:buChar char="n"/>
            </a:pP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资源回收：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Dense Reclaim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 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+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 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MoE Shrink + KV RELEASE / OFFLOAD</a:t>
            </a:r>
          </a:p>
          <a:p>
            <a:pPr marL="342900" indent="-342900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Font typeface="Wingdings" pitchFamily="2" charset="2"/>
              <a:buChar char="n"/>
            </a:pP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真实收益反馈：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根据实际物理内存释放量生成 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Reallocation Credit</a:t>
            </a:r>
          </a:p>
          <a:p>
            <a:pPr marL="342900" indent="-342900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Font typeface="Wingdings" pitchFamily="2" charset="2"/>
              <a:buChar char="n"/>
            </a:pP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资源再分配：</a:t>
            </a:r>
            <a:r>
              <a:rPr lang="zh-CN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安全内存范围内，将额度分配给高收益驻留、工作集与关键预取</a:t>
            </a:r>
            <a:endParaRPr lang="en-US" altLang="zh-CN" sz="2400" b="1">
              <a:solidFill>
                <a:srgbClr val="FF0000"/>
              </a:solidFill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A988E4CE-0486-FF74-7978-CC6A8F5D1D5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B8944BD-B427-9B56-38C9-7798157BBC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7638" y="1942177"/>
            <a:ext cx="7612398" cy="3536092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E94A668A-2552-BE41-048D-89814E13044F}"/>
              </a:ext>
            </a:extLst>
          </p:cNvPr>
          <p:cNvSpPr txBox="1"/>
          <p:nvPr/>
        </p:nvSpPr>
        <p:spPr>
          <a:xfrm>
            <a:off x="109354" y="5930864"/>
            <a:ext cx="92191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itchFamily="2" charset="2"/>
              <a:buChar char="n"/>
            </a:pP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闭环治理：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Observe → Reclaim → Credit → Reallocate → Feedback</a:t>
            </a:r>
          </a:p>
        </p:txBody>
      </p:sp>
    </p:spTree>
    <p:extLst>
      <p:ext uri="{BB962C8B-B14F-4D97-AF65-F5344CB8AC3E}">
        <p14:creationId xmlns:p14="http://schemas.microsoft.com/office/powerpoint/2010/main" val="192107224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3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0B46250-D73E-7563-DC2B-494C71D6C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D28525A7-67A2-C125-0280-17E85DC1E920}"/>
              </a:ext>
            </a:extLst>
          </p:cNvPr>
          <p:cNvSpPr/>
          <p:nvPr/>
        </p:nvSpPr>
        <p:spPr>
          <a:xfrm rot="5400000">
            <a:off x="4227759" y="-4227756"/>
            <a:ext cx="3736490" cy="1219200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7EDB37E9-B780-B8B5-EE6F-4E4C0F5AA91E}"/>
              </a:ext>
            </a:extLst>
          </p:cNvPr>
          <p:cNvGrpSpPr/>
          <p:nvPr/>
        </p:nvGrpSpPr>
        <p:grpSpPr>
          <a:xfrm>
            <a:off x="4919877" y="2920080"/>
            <a:ext cx="2352246" cy="1642832"/>
            <a:chOff x="5127859" y="2518592"/>
            <a:chExt cx="1936282" cy="1723208"/>
          </a:xfrm>
        </p:grpSpPr>
        <p:sp>
          <p:nvSpPr>
            <p:cNvPr id="6" name="任意多边形 5">
              <a:extLst>
                <a:ext uri="{FF2B5EF4-FFF2-40B4-BE49-F238E27FC236}">
                  <a16:creationId xmlns:a16="http://schemas.microsoft.com/office/drawing/2014/main" id="{62FDDD10-F402-E7BD-73E9-7D297D2BDB8E}"/>
                </a:ext>
              </a:extLst>
            </p:cNvPr>
            <p:cNvSpPr/>
            <p:nvPr/>
          </p:nvSpPr>
          <p:spPr>
            <a:xfrm>
              <a:off x="5127859" y="2518592"/>
              <a:ext cx="1936282" cy="1723208"/>
            </a:xfrm>
            <a:custGeom>
              <a:avLst/>
              <a:gdLst>
                <a:gd name="connsiteX0" fmla="*/ 576168 w 1961391"/>
                <a:gd name="connsiteY0" fmla="*/ 0 h 1745551"/>
                <a:gd name="connsiteX1" fmla="*/ 863600 w 1961391"/>
                <a:gd name="connsiteY1" fmla="*/ 0 h 1745551"/>
                <a:gd name="connsiteX2" fmla="*/ 1097791 w 1961391"/>
                <a:gd name="connsiteY2" fmla="*/ 0 h 1745551"/>
                <a:gd name="connsiteX3" fmla="*/ 1385223 w 1961391"/>
                <a:gd name="connsiteY3" fmla="*/ 0 h 1745551"/>
                <a:gd name="connsiteX4" fmla="*/ 1539918 w 1961391"/>
                <a:gd name="connsiteY4" fmla="*/ 88854 h 1745551"/>
                <a:gd name="connsiteX5" fmla="*/ 1940980 w 1961391"/>
                <a:gd name="connsiteY5" fmla="*/ 783921 h 1745551"/>
                <a:gd name="connsiteX6" fmla="*/ 1961391 w 1961391"/>
                <a:gd name="connsiteY6" fmla="*/ 872775 h 1745551"/>
                <a:gd name="connsiteX7" fmla="*/ 1940980 w 1961391"/>
                <a:gd name="connsiteY7" fmla="*/ 961629 h 1745551"/>
                <a:gd name="connsiteX8" fmla="*/ 1539918 w 1961391"/>
                <a:gd name="connsiteY8" fmla="*/ 1656697 h 1745551"/>
                <a:gd name="connsiteX9" fmla="*/ 1385223 w 1961391"/>
                <a:gd name="connsiteY9" fmla="*/ 1745551 h 1745551"/>
                <a:gd name="connsiteX10" fmla="*/ 1120460 w 1961391"/>
                <a:gd name="connsiteY10" fmla="*/ 1745551 h 1745551"/>
                <a:gd name="connsiteX11" fmla="*/ 1097791 w 1961391"/>
                <a:gd name="connsiteY11" fmla="*/ 1745551 h 1745551"/>
                <a:gd name="connsiteX12" fmla="*/ 1039896 w 1961391"/>
                <a:gd name="connsiteY12" fmla="*/ 1745551 h 1745551"/>
                <a:gd name="connsiteX13" fmla="*/ 1013340 w 1961391"/>
                <a:gd name="connsiteY13" fmla="*/ 1745551 h 1745551"/>
                <a:gd name="connsiteX14" fmla="*/ 948051 w 1961391"/>
                <a:gd name="connsiteY14" fmla="*/ 1745551 h 1745551"/>
                <a:gd name="connsiteX15" fmla="*/ 921495 w 1961391"/>
                <a:gd name="connsiteY15" fmla="*/ 1745551 h 1745551"/>
                <a:gd name="connsiteX16" fmla="*/ 863600 w 1961391"/>
                <a:gd name="connsiteY16" fmla="*/ 1745551 h 1745551"/>
                <a:gd name="connsiteX17" fmla="*/ 840931 w 1961391"/>
                <a:gd name="connsiteY17" fmla="*/ 1745551 h 1745551"/>
                <a:gd name="connsiteX18" fmla="*/ 576168 w 1961391"/>
                <a:gd name="connsiteY18" fmla="*/ 1745551 h 1745551"/>
                <a:gd name="connsiteX19" fmla="*/ 421473 w 1961391"/>
                <a:gd name="connsiteY19" fmla="*/ 1656697 h 1745551"/>
                <a:gd name="connsiteX20" fmla="*/ 20411 w 1961391"/>
                <a:gd name="connsiteY20" fmla="*/ 961629 h 1745551"/>
                <a:gd name="connsiteX21" fmla="*/ 0 w 1961391"/>
                <a:gd name="connsiteY21" fmla="*/ 872775 h 1745551"/>
                <a:gd name="connsiteX22" fmla="*/ 20411 w 1961391"/>
                <a:gd name="connsiteY22" fmla="*/ 783921 h 1745551"/>
                <a:gd name="connsiteX23" fmla="*/ 421473 w 1961391"/>
                <a:gd name="connsiteY23" fmla="*/ 88854 h 1745551"/>
                <a:gd name="connsiteX24" fmla="*/ 576168 w 1961391"/>
                <a:gd name="connsiteY24" fmla="*/ 0 h 1745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61391" h="1745551">
                  <a:moveTo>
                    <a:pt x="576168" y="0"/>
                  </a:moveTo>
                  <a:lnTo>
                    <a:pt x="863600" y="0"/>
                  </a:lnTo>
                  <a:lnTo>
                    <a:pt x="1097791" y="0"/>
                  </a:lnTo>
                  <a:lnTo>
                    <a:pt x="1385223" y="0"/>
                  </a:lnTo>
                  <a:cubicBezTo>
                    <a:pt x="1441086" y="0"/>
                    <a:pt x="1511271" y="40128"/>
                    <a:pt x="1539918" y="88854"/>
                  </a:cubicBezTo>
                  <a:cubicBezTo>
                    <a:pt x="1940980" y="783921"/>
                    <a:pt x="1940980" y="783921"/>
                    <a:pt x="1940980" y="783921"/>
                  </a:cubicBezTo>
                  <a:cubicBezTo>
                    <a:pt x="1954587" y="808285"/>
                    <a:pt x="1961391" y="840530"/>
                    <a:pt x="1961391" y="872775"/>
                  </a:cubicBezTo>
                  <a:cubicBezTo>
                    <a:pt x="1961391" y="905021"/>
                    <a:pt x="1954587" y="937267"/>
                    <a:pt x="1940980" y="961629"/>
                  </a:cubicBezTo>
                  <a:cubicBezTo>
                    <a:pt x="1539918" y="1656697"/>
                    <a:pt x="1539918" y="1656697"/>
                    <a:pt x="1539918" y="1656697"/>
                  </a:cubicBezTo>
                  <a:cubicBezTo>
                    <a:pt x="1511271" y="1705424"/>
                    <a:pt x="1441086" y="1745551"/>
                    <a:pt x="1385223" y="1745551"/>
                  </a:cubicBezTo>
                  <a:cubicBezTo>
                    <a:pt x="1284958" y="1745551"/>
                    <a:pt x="1197225" y="1745551"/>
                    <a:pt x="1120460" y="1745551"/>
                  </a:cubicBezTo>
                  <a:lnTo>
                    <a:pt x="1097791" y="1745551"/>
                  </a:lnTo>
                  <a:lnTo>
                    <a:pt x="1039896" y="1745551"/>
                  </a:lnTo>
                  <a:lnTo>
                    <a:pt x="1013340" y="1745551"/>
                  </a:lnTo>
                  <a:lnTo>
                    <a:pt x="948051" y="1745551"/>
                  </a:lnTo>
                  <a:lnTo>
                    <a:pt x="921495" y="1745551"/>
                  </a:lnTo>
                  <a:lnTo>
                    <a:pt x="863600" y="1745551"/>
                  </a:lnTo>
                  <a:lnTo>
                    <a:pt x="840931" y="1745551"/>
                  </a:lnTo>
                  <a:cubicBezTo>
                    <a:pt x="764166" y="1745551"/>
                    <a:pt x="676433" y="1745551"/>
                    <a:pt x="576168" y="1745551"/>
                  </a:cubicBezTo>
                  <a:cubicBezTo>
                    <a:pt x="520305" y="1745551"/>
                    <a:pt x="450120" y="1705424"/>
                    <a:pt x="421473" y="1656697"/>
                  </a:cubicBezTo>
                  <a:cubicBezTo>
                    <a:pt x="421473" y="1656697"/>
                    <a:pt x="421473" y="1656697"/>
                    <a:pt x="20411" y="961629"/>
                  </a:cubicBezTo>
                  <a:cubicBezTo>
                    <a:pt x="6804" y="937267"/>
                    <a:pt x="0" y="905021"/>
                    <a:pt x="0" y="872775"/>
                  </a:cubicBezTo>
                  <a:cubicBezTo>
                    <a:pt x="0" y="840530"/>
                    <a:pt x="6804" y="808285"/>
                    <a:pt x="20411" y="783921"/>
                  </a:cubicBezTo>
                  <a:cubicBezTo>
                    <a:pt x="20411" y="783921"/>
                    <a:pt x="20411" y="783921"/>
                    <a:pt x="421473" y="88854"/>
                  </a:cubicBezTo>
                  <a:cubicBezTo>
                    <a:pt x="450120" y="40128"/>
                    <a:pt x="520305" y="0"/>
                    <a:pt x="57616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2590" b="1">
                <a:latin typeface="Songti SC" panose="02010600040101010101" pitchFamily="2" charset="-122"/>
                <a:ea typeface="Songti SC" panose="02010600040101010101" pitchFamily="2" charset="-122"/>
              </a:endParaRPr>
            </a:p>
          </p:txBody>
        </p:sp>
        <p:sp>
          <p:nvSpPr>
            <p:cNvPr id="7" name="任意多边形 6">
              <a:extLst>
                <a:ext uri="{FF2B5EF4-FFF2-40B4-BE49-F238E27FC236}">
                  <a16:creationId xmlns:a16="http://schemas.microsoft.com/office/drawing/2014/main" id="{977F97CB-C591-62A7-5DE1-E18C22C01045}"/>
                </a:ext>
              </a:extLst>
            </p:cNvPr>
            <p:cNvSpPr/>
            <p:nvPr/>
          </p:nvSpPr>
          <p:spPr>
            <a:xfrm>
              <a:off x="5257193" y="2633694"/>
              <a:ext cx="1677614" cy="1493004"/>
            </a:xfrm>
            <a:custGeom>
              <a:avLst/>
              <a:gdLst>
                <a:gd name="connsiteX0" fmla="*/ 576168 w 1961391"/>
                <a:gd name="connsiteY0" fmla="*/ 0 h 1745551"/>
                <a:gd name="connsiteX1" fmla="*/ 863600 w 1961391"/>
                <a:gd name="connsiteY1" fmla="*/ 0 h 1745551"/>
                <a:gd name="connsiteX2" fmla="*/ 1097791 w 1961391"/>
                <a:gd name="connsiteY2" fmla="*/ 0 h 1745551"/>
                <a:gd name="connsiteX3" fmla="*/ 1385223 w 1961391"/>
                <a:gd name="connsiteY3" fmla="*/ 0 h 1745551"/>
                <a:gd name="connsiteX4" fmla="*/ 1539918 w 1961391"/>
                <a:gd name="connsiteY4" fmla="*/ 88854 h 1745551"/>
                <a:gd name="connsiteX5" fmla="*/ 1940980 w 1961391"/>
                <a:gd name="connsiteY5" fmla="*/ 783921 h 1745551"/>
                <a:gd name="connsiteX6" fmla="*/ 1961391 w 1961391"/>
                <a:gd name="connsiteY6" fmla="*/ 872775 h 1745551"/>
                <a:gd name="connsiteX7" fmla="*/ 1940980 w 1961391"/>
                <a:gd name="connsiteY7" fmla="*/ 961629 h 1745551"/>
                <a:gd name="connsiteX8" fmla="*/ 1539918 w 1961391"/>
                <a:gd name="connsiteY8" fmla="*/ 1656697 h 1745551"/>
                <a:gd name="connsiteX9" fmla="*/ 1385223 w 1961391"/>
                <a:gd name="connsiteY9" fmla="*/ 1745551 h 1745551"/>
                <a:gd name="connsiteX10" fmla="*/ 1120460 w 1961391"/>
                <a:gd name="connsiteY10" fmla="*/ 1745551 h 1745551"/>
                <a:gd name="connsiteX11" fmla="*/ 1097791 w 1961391"/>
                <a:gd name="connsiteY11" fmla="*/ 1745551 h 1745551"/>
                <a:gd name="connsiteX12" fmla="*/ 1039896 w 1961391"/>
                <a:gd name="connsiteY12" fmla="*/ 1745551 h 1745551"/>
                <a:gd name="connsiteX13" fmla="*/ 1013340 w 1961391"/>
                <a:gd name="connsiteY13" fmla="*/ 1745551 h 1745551"/>
                <a:gd name="connsiteX14" fmla="*/ 948051 w 1961391"/>
                <a:gd name="connsiteY14" fmla="*/ 1745551 h 1745551"/>
                <a:gd name="connsiteX15" fmla="*/ 921495 w 1961391"/>
                <a:gd name="connsiteY15" fmla="*/ 1745551 h 1745551"/>
                <a:gd name="connsiteX16" fmla="*/ 863600 w 1961391"/>
                <a:gd name="connsiteY16" fmla="*/ 1745551 h 1745551"/>
                <a:gd name="connsiteX17" fmla="*/ 840931 w 1961391"/>
                <a:gd name="connsiteY17" fmla="*/ 1745551 h 1745551"/>
                <a:gd name="connsiteX18" fmla="*/ 576168 w 1961391"/>
                <a:gd name="connsiteY18" fmla="*/ 1745551 h 1745551"/>
                <a:gd name="connsiteX19" fmla="*/ 421473 w 1961391"/>
                <a:gd name="connsiteY19" fmla="*/ 1656697 h 1745551"/>
                <a:gd name="connsiteX20" fmla="*/ 20411 w 1961391"/>
                <a:gd name="connsiteY20" fmla="*/ 961629 h 1745551"/>
                <a:gd name="connsiteX21" fmla="*/ 0 w 1961391"/>
                <a:gd name="connsiteY21" fmla="*/ 872775 h 1745551"/>
                <a:gd name="connsiteX22" fmla="*/ 20411 w 1961391"/>
                <a:gd name="connsiteY22" fmla="*/ 783921 h 1745551"/>
                <a:gd name="connsiteX23" fmla="*/ 421473 w 1961391"/>
                <a:gd name="connsiteY23" fmla="*/ 88854 h 1745551"/>
                <a:gd name="connsiteX24" fmla="*/ 576168 w 1961391"/>
                <a:gd name="connsiteY24" fmla="*/ 0 h 1745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61391" h="1745551">
                  <a:moveTo>
                    <a:pt x="576168" y="0"/>
                  </a:moveTo>
                  <a:lnTo>
                    <a:pt x="863600" y="0"/>
                  </a:lnTo>
                  <a:lnTo>
                    <a:pt x="1097791" y="0"/>
                  </a:lnTo>
                  <a:lnTo>
                    <a:pt x="1385223" y="0"/>
                  </a:lnTo>
                  <a:cubicBezTo>
                    <a:pt x="1441086" y="0"/>
                    <a:pt x="1511271" y="40128"/>
                    <a:pt x="1539918" y="88854"/>
                  </a:cubicBezTo>
                  <a:cubicBezTo>
                    <a:pt x="1940980" y="783921"/>
                    <a:pt x="1940980" y="783921"/>
                    <a:pt x="1940980" y="783921"/>
                  </a:cubicBezTo>
                  <a:cubicBezTo>
                    <a:pt x="1954587" y="808285"/>
                    <a:pt x="1961391" y="840530"/>
                    <a:pt x="1961391" y="872775"/>
                  </a:cubicBezTo>
                  <a:cubicBezTo>
                    <a:pt x="1961391" y="905021"/>
                    <a:pt x="1954587" y="937267"/>
                    <a:pt x="1940980" y="961629"/>
                  </a:cubicBezTo>
                  <a:cubicBezTo>
                    <a:pt x="1539918" y="1656697"/>
                    <a:pt x="1539918" y="1656697"/>
                    <a:pt x="1539918" y="1656697"/>
                  </a:cubicBezTo>
                  <a:cubicBezTo>
                    <a:pt x="1511271" y="1705424"/>
                    <a:pt x="1441086" y="1745551"/>
                    <a:pt x="1385223" y="1745551"/>
                  </a:cubicBezTo>
                  <a:cubicBezTo>
                    <a:pt x="1284958" y="1745551"/>
                    <a:pt x="1197225" y="1745551"/>
                    <a:pt x="1120460" y="1745551"/>
                  </a:cubicBezTo>
                  <a:lnTo>
                    <a:pt x="1097791" y="1745551"/>
                  </a:lnTo>
                  <a:lnTo>
                    <a:pt x="1039896" y="1745551"/>
                  </a:lnTo>
                  <a:lnTo>
                    <a:pt x="1013340" y="1745551"/>
                  </a:lnTo>
                  <a:lnTo>
                    <a:pt x="948051" y="1745551"/>
                  </a:lnTo>
                  <a:lnTo>
                    <a:pt x="921495" y="1745551"/>
                  </a:lnTo>
                  <a:lnTo>
                    <a:pt x="863600" y="1745551"/>
                  </a:lnTo>
                  <a:lnTo>
                    <a:pt x="840931" y="1745551"/>
                  </a:lnTo>
                  <a:cubicBezTo>
                    <a:pt x="764166" y="1745551"/>
                    <a:pt x="676433" y="1745551"/>
                    <a:pt x="576168" y="1745551"/>
                  </a:cubicBezTo>
                  <a:cubicBezTo>
                    <a:pt x="520305" y="1745551"/>
                    <a:pt x="450120" y="1705424"/>
                    <a:pt x="421473" y="1656697"/>
                  </a:cubicBezTo>
                  <a:cubicBezTo>
                    <a:pt x="421473" y="1656697"/>
                    <a:pt x="421473" y="1656697"/>
                    <a:pt x="20411" y="961629"/>
                  </a:cubicBezTo>
                  <a:cubicBezTo>
                    <a:pt x="6804" y="937267"/>
                    <a:pt x="0" y="905021"/>
                    <a:pt x="0" y="872775"/>
                  </a:cubicBezTo>
                  <a:cubicBezTo>
                    <a:pt x="0" y="840530"/>
                    <a:pt x="6804" y="808285"/>
                    <a:pt x="20411" y="783921"/>
                  </a:cubicBezTo>
                  <a:cubicBezTo>
                    <a:pt x="20411" y="783921"/>
                    <a:pt x="20411" y="783921"/>
                    <a:pt x="421473" y="88854"/>
                  </a:cubicBezTo>
                  <a:cubicBezTo>
                    <a:pt x="450120" y="40128"/>
                    <a:pt x="520305" y="0"/>
                    <a:pt x="576168" y="0"/>
                  </a:cubicBezTo>
                  <a:close/>
                </a:path>
              </a:pathLst>
            </a:custGeom>
            <a:solidFill>
              <a:srgbClr val="9CC5F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2590" b="1">
                <a:latin typeface="Songti SC" panose="02010600040101010101" pitchFamily="2" charset="-122"/>
                <a:ea typeface="Songti SC" panose="02010600040101010101" pitchFamily="2" charset="-122"/>
              </a:endParaRPr>
            </a:p>
          </p:txBody>
        </p:sp>
      </p:grpSp>
      <p:sp>
        <p:nvSpPr>
          <p:cNvPr id="8" name="文本框 7">
            <a:extLst>
              <a:ext uri="{FF2B5EF4-FFF2-40B4-BE49-F238E27FC236}">
                <a16:creationId xmlns:a16="http://schemas.microsoft.com/office/drawing/2014/main" id="{4BE05DF6-8D2D-F10D-00DC-782A77C10120}"/>
              </a:ext>
            </a:extLst>
          </p:cNvPr>
          <p:cNvSpPr txBox="1"/>
          <p:nvPr/>
        </p:nvSpPr>
        <p:spPr>
          <a:xfrm>
            <a:off x="5321588" y="3413325"/>
            <a:ext cx="15488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6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Part.03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941B951-244B-4C3B-78A7-06862D45BE72}"/>
              </a:ext>
            </a:extLst>
          </p:cNvPr>
          <p:cNvSpPr txBox="1"/>
          <p:nvPr/>
        </p:nvSpPr>
        <p:spPr>
          <a:xfrm>
            <a:off x="3327401" y="4789616"/>
            <a:ext cx="5537198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spc="600" dirty="0">
                <a:solidFill>
                  <a:schemeClr val="accent6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模块设计实现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8D9AB51-B0FA-05B5-4885-2CF827CDA2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0390" y="1516741"/>
            <a:ext cx="3582844" cy="657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29642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decel="533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9" fill="hold">
                                <p:stCondLst>
                                  <p:cond delay="1000"/>
                                </p:stCondLst>
                                <p:childTnLst>
                                  <p:par>
                                    <p:cTn id="10" presetID="2" presetClass="entr" presetSubtype="4" fill="hold" nodeType="afterEffect" p14:presetBounceEnd="4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40000">
                                          <p:cBhvr additive="base">
                                            <p:cTn id="12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40000">
                                          <p:cBhvr additive="base">
                                            <p:cTn id="13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4" fill="hold">
                                <p:stCondLst>
                                  <p:cond delay="2000"/>
                                </p:stCondLst>
                                <p:childTnLst>
                                  <p:par>
                                    <p:cTn id="15" presetID="53" presetClass="entr" presetSubtype="16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7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8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20" fill="hold">
                                <p:stCondLst>
                                  <p:cond delay="2500"/>
                                </p:stCondLst>
                                <p:childTnLst>
                                  <p:par>
                                    <p:cTn id="21" presetID="50" presetClass="entr" presetSubtype="0" decel="100000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w+.3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5" dur="10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" grpId="0" animBg="1"/>
          <p:bldP spid="8" grpId="0"/>
          <p:bldP spid="9" grpId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decel="533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9" fill="hold">
                                <p:stCondLst>
                                  <p:cond delay="1000"/>
                                </p:stCondLst>
                                <p:childTnLst>
                                  <p:par>
                                    <p:cTn id="10" presetID="2" presetClass="entr" presetSubtype="4" fill="hold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4" fill="hold">
                                <p:stCondLst>
                                  <p:cond delay="2000"/>
                                </p:stCondLst>
                                <p:childTnLst>
                                  <p:par>
                                    <p:cTn id="15" presetID="53" presetClass="entr" presetSubtype="16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7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8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20" fill="hold">
                                <p:stCondLst>
                                  <p:cond delay="2500"/>
                                </p:stCondLst>
                                <p:childTnLst>
                                  <p:par>
                                    <p:cTn id="21" presetID="50" presetClass="entr" presetSubtype="0" decel="100000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w+.3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5" dur="10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" grpId="0" animBg="1"/>
          <p:bldP spid="8" grpId="0"/>
          <p:bldP spid="9" grpId="0"/>
        </p:bldLst>
      </p:timing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1D9C4994-048C-E9E6-6114-299AF8C63A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1160" y="1679986"/>
            <a:ext cx="7700840" cy="3238862"/>
          </a:xfrm>
          <a:prstGeom prst="rect">
            <a:avLst/>
          </a:prstGeom>
        </p:spPr>
      </p:pic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6563849" y="0"/>
            <a:ext cx="18449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5" name="直接连接符 24"/>
          <p:cNvCxnSpPr/>
          <p:nvPr/>
        </p:nvCxnSpPr>
        <p:spPr>
          <a:xfrm>
            <a:off x="100032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6"/>
          <p:cNvSpPr txBox="1"/>
          <p:nvPr/>
        </p:nvSpPr>
        <p:spPr>
          <a:xfrm>
            <a:off x="33749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项目介绍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/>
          <p:cNvSpPr txBox="1"/>
          <p:nvPr/>
        </p:nvSpPr>
        <p:spPr>
          <a:xfrm>
            <a:off x="6679507" y="193642"/>
            <a:ext cx="1613584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模块设计实现</a:t>
            </a: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4" name="直接连接符 33"/>
          <p:cNvCxnSpPr>
            <a:cxnSpLocks/>
          </p:cNvCxnSpPr>
          <p:nvPr/>
        </p:nvCxnSpPr>
        <p:spPr>
          <a:xfrm>
            <a:off x="425752" y="1528840"/>
            <a:ext cx="313866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/>
          <p:nvPr/>
        </p:nvSpPr>
        <p:spPr>
          <a:xfrm>
            <a:off x="370769" y="1007903"/>
            <a:ext cx="3248626" cy="52782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3.1.1 Dense</a:t>
            </a:r>
            <a:r>
              <a:rPr lang="zh-CN" altLang="en-US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 </a:t>
            </a:r>
            <a:r>
              <a:rPr lang="en-US" altLang="zh-CN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Flex</a:t>
            </a:r>
            <a:r>
              <a:rPr lang="zh-CN" altLang="en-US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 机制</a:t>
            </a:r>
          </a:p>
        </p:txBody>
      </p:sp>
      <p:cxnSp>
        <p:nvCxnSpPr>
          <p:cNvPr id="15" name="直接连接符 14"/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126124" y="1873630"/>
            <a:ext cx="5076748" cy="3751981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</a:pP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应用层显式控制的 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Layer Working Set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：</a:t>
            </a:r>
          </a:p>
          <a:p>
            <a:pPr marL="342900" indent="-34290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Wingdings" pitchFamily="2" charset="2"/>
              <a:buChar char="n"/>
            </a:pPr>
            <a:r>
              <a:rPr lang="en-US" altLang="zh-CN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Layer Ring</a:t>
            </a: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：有限驻留窗口</a:t>
            </a:r>
            <a:endParaRPr lang="en-US" altLang="zh-CN" sz="2400" b="1">
              <a:solidFill>
                <a:srgbClr val="FF0000"/>
              </a:solidFill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  <a:p>
            <a:pPr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</a:pPr>
            <a:r>
              <a:rPr lang="zh-CN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固定匿名 Slot 循环复用，仅保持当前计算附近的 Layer 驻留</a:t>
            </a:r>
            <a:endParaRPr lang="en-US" altLang="zh-CN" sz="2400" b="1">
              <a:latin typeface="Songti SC" panose="02010600040101010101" pitchFamily="2" charset="-122"/>
              <a:ea typeface="Songti SC" panose="02010600040101010101" pitchFamily="2" charset="-122"/>
            </a:endParaRPr>
          </a:p>
          <a:p>
            <a:pPr marL="342900" indent="-34290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Wingdings" pitchFamily="2" charset="2"/>
              <a:buChar char="n"/>
            </a:pPr>
            <a:r>
              <a:rPr lang="en-US" altLang="zh-CN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Prefetch</a:t>
            </a: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：计算与 </a:t>
            </a:r>
            <a:r>
              <a:rPr lang="en-US" altLang="zh-CN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I/O </a:t>
            </a: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重叠</a:t>
            </a:r>
            <a:endParaRPr lang="en-US" altLang="zh-CN" sz="2400" b="1">
              <a:solidFill>
                <a:srgbClr val="FF0000"/>
              </a:solidFill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  <a:p>
            <a:pPr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</a:pPr>
            <a:r>
              <a:rPr lang="zh-CN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根据当前 Layer 预取后续权重，后台 I/O 提前完成数据准备</a:t>
            </a:r>
            <a:endParaRPr lang="en-US" altLang="zh-CN" sz="240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D7BA799C-5EE1-3CF5-FE89-391BB2EC275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9B3B7398-AF88-DDF0-358E-B44236A5856F}"/>
              </a:ext>
            </a:extLst>
          </p:cNvPr>
          <p:cNvSpPr txBox="1"/>
          <p:nvPr/>
        </p:nvSpPr>
        <p:spPr>
          <a:xfrm>
            <a:off x="126124" y="5383072"/>
            <a:ext cx="7772399" cy="9945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Font typeface="Wingdings" pitchFamily="2" charset="2"/>
              <a:buChar char="n"/>
            </a:pPr>
            <a:r>
              <a:rPr lang="en" altLang="zh-CN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Reclaim / Pin</a:t>
            </a:r>
            <a:r>
              <a:rPr lang="zh-CN" altLang="en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：</a:t>
            </a: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动态调整 </a:t>
            </a:r>
            <a:r>
              <a:rPr lang="en" altLang="zh-CN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Working Set</a:t>
            </a:r>
            <a:endParaRPr lang="en-US" altLang="zh-CN" sz="2400" b="1">
              <a:solidFill>
                <a:srgbClr val="FF0000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  <a:p>
            <a:pPr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</a:pP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</a:rPr>
              <a:t>低收益 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Layer 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</a:rPr>
              <a:t>清理回收，高价值 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Tensor 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</a:rPr>
              <a:t>按预算保持驻留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3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5" name="直接连接符 24"/>
          <p:cNvCxnSpPr/>
          <p:nvPr/>
        </p:nvCxnSpPr>
        <p:spPr>
          <a:xfrm>
            <a:off x="100032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6"/>
          <p:cNvSpPr txBox="1"/>
          <p:nvPr/>
        </p:nvSpPr>
        <p:spPr>
          <a:xfrm>
            <a:off x="33749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项目介绍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/>
          <p:cNvSpPr txBox="1"/>
          <p:nvPr/>
        </p:nvSpPr>
        <p:spPr>
          <a:xfrm>
            <a:off x="67785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模块设计实现</a:t>
            </a:r>
            <a:endParaRPr lang="zh-CN" altLang="en-US" sz="16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4" name="直接连接符 33"/>
          <p:cNvCxnSpPr/>
          <p:nvPr/>
        </p:nvCxnSpPr>
        <p:spPr>
          <a:xfrm>
            <a:off x="425752" y="1528840"/>
            <a:ext cx="240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/>
          <p:nvPr/>
        </p:nvSpPr>
        <p:spPr>
          <a:xfrm>
            <a:off x="425752" y="1001015"/>
            <a:ext cx="3752353" cy="52782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" altLang="zh-CN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3.1.2 Dense </a:t>
            </a:r>
            <a:r>
              <a:rPr lang="zh-CN" altLang="en-US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的关键决策</a:t>
            </a:r>
          </a:p>
        </p:txBody>
      </p:sp>
      <p:cxnSp>
        <p:nvCxnSpPr>
          <p:cNvPr id="15" name="直接连接符 14"/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/>
          <p:cNvSpPr txBox="1"/>
          <p:nvPr/>
        </p:nvSpPr>
        <p:spPr>
          <a:xfrm>
            <a:off x="391633" y="1749448"/>
            <a:ext cx="11134518" cy="42585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</a:pP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有限内存下，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Dense Flex 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需要持续回答三个问题：</a:t>
            </a:r>
          </a:p>
          <a:p>
            <a:pPr marL="342900" indent="-34290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驻留多少？</a:t>
            </a:r>
            <a:r>
              <a:rPr lang="en-US" altLang="zh-CN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—— </a:t>
            </a:r>
            <a:r>
              <a:rPr lang="en" altLang="zh-CN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Risk-Aware Budget + Balanced Locking</a:t>
            </a:r>
            <a:endParaRPr lang="en-US" altLang="zh-CN" sz="2400" b="1">
              <a:solidFill>
                <a:srgbClr val="FF0000"/>
              </a:solidFill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  <a:p>
            <a:pPr>
              <a:lnSpc>
                <a:spcPct val="11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根据内存上限与安全余量确定 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Lock Budget</a:t>
            </a:r>
            <a:r>
              <a:rPr lang="zh-CN" altLang="e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，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并在各 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Layer 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间均衡分配，避免过度驻留触发 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OOM</a:t>
            </a:r>
            <a:endParaRPr lang="zh-CN" altLang="en-US" sz="2400" b="1"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  <a:p>
            <a:pPr marL="342900" indent="-34290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驻留谁？</a:t>
            </a:r>
            <a:r>
              <a:rPr lang="en-US" altLang="zh-CN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—— </a:t>
            </a:r>
            <a:r>
              <a:rPr lang="en" altLang="zh-CN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Cost-aware Pin + Delta Pin</a:t>
            </a:r>
          </a:p>
          <a:p>
            <a:pPr>
              <a:lnSpc>
                <a:spcPct val="11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固定预算内按收益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/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成本选择高价值 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Tensor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；回收得到新额度后，再异步增量锁定高 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ROI 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对象。</a:t>
            </a:r>
            <a:endParaRPr lang="en-US" altLang="zh-CN" sz="2400" b="1"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  <a:p>
            <a:pPr marL="342900" indent="-34290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提前多少？</a:t>
            </a:r>
            <a:r>
              <a:rPr lang="en-US" altLang="zh-CN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—— </a:t>
            </a:r>
            <a:r>
              <a:rPr lang="en" altLang="zh-CN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Adaptive Ahead</a:t>
            </a:r>
          </a:p>
          <a:p>
            <a:pPr>
              <a:lnSpc>
                <a:spcPct val="11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根据 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I/O</a:t>
            </a:r>
            <a:r>
              <a:rPr lang="zh-CN" altLang="e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、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计算与等待时间动态调整预取深度，在隐藏 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I/O 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与避免过度预取之间取平衡。</a:t>
            </a:r>
            <a:endParaRPr lang="en-US" altLang="zh-CN" sz="2400" b="1"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87FF28B3-86E7-85E9-309C-178803CC70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8A414342-4981-DDFF-CEDD-695C11617E38}"/>
              </a:ext>
            </a:extLst>
          </p:cNvPr>
          <p:cNvSpPr/>
          <p:nvPr/>
        </p:nvSpPr>
        <p:spPr>
          <a:xfrm>
            <a:off x="6563849" y="0"/>
            <a:ext cx="18449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364002E4-724A-F818-A16F-2AB2387B20E4}"/>
              </a:ext>
            </a:extLst>
          </p:cNvPr>
          <p:cNvSpPr txBox="1"/>
          <p:nvPr/>
        </p:nvSpPr>
        <p:spPr>
          <a:xfrm>
            <a:off x="6679507" y="193642"/>
            <a:ext cx="1613584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模块设计实现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C49BEA4-5D99-1FCA-D8A2-DAD2A8EF91DD}"/>
              </a:ext>
            </a:extLst>
          </p:cNvPr>
          <p:cNvSpPr txBox="1"/>
          <p:nvPr/>
        </p:nvSpPr>
        <p:spPr>
          <a:xfrm>
            <a:off x="1859051" y="6007986"/>
            <a:ext cx="81996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28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固定窗口 → 预算驱动、自适应的 Layer Working Set</a:t>
            </a:r>
            <a:endParaRPr lang="zh-CN" altLang="en-US" sz="2800" b="1">
              <a:solidFill>
                <a:srgbClr val="FF0000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35" grpId="0"/>
      <p:bldP spid="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3165F98E-6D8C-B929-9055-89F61CBCEA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99411"/>
            <a:ext cx="7160449" cy="3786421"/>
          </a:xfrm>
          <a:prstGeom prst="rect">
            <a:avLst/>
          </a:prstGeom>
        </p:spPr>
      </p:pic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5" name="直接连接符 24"/>
          <p:cNvCxnSpPr/>
          <p:nvPr/>
        </p:nvCxnSpPr>
        <p:spPr>
          <a:xfrm>
            <a:off x="100032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6"/>
          <p:cNvSpPr txBox="1"/>
          <p:nvPr/>
        </p:nvSpPr>
        <p:spPr>
          <a:xfrm>
            <a:off x="33749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项目介绍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4" name="直接连接符 33"/>
          <p:cNvCxnSpPr>
            <a:cxnSpLocks/>
          </p:cNvCxnSpPr>
          <p:nvPr/>
        </p:nvCxnSpPr>
        <p:spPr>
          <a:xfrm>
            <a:off x="425752" y="1528840"/>
            <a:ext cx="3737457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/>
          <p:nvPr/>
        </p:nvSpPr>
        <p:spPr>
          <a:xfrm>
            <a:off x="345272" y="1062571"/>
            <a:ext cx="3817937" cy="46626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3.2.1 MoE Buffer 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机制</a:t>
            </a:r>
          </a:p>
        </p:txBody>
      </p:sp>
      <p:cxnSp>
        <p:nvCxnSpPr>
          <p:cNvPr id="15" name="直接连接符 14"/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/>
          <p:cNvSpPr txBox="1"/>
          <p:nvPr/>
        </p:nvSpPr>
        <p:spPr>
          <a:xfrm>
            <a:off x="7270961" y="1528840"/>
            <a:ext cx="4826174" cy="4056991"/>
          </a:xfrm>
          <a:prstGeom prst="rect">
            <a:avLst/>
          </a:prstGeom>
        </p:spPr>
        <p:txBody>
          <a:bodyPr>
            <a:noAutofit/>
          </a:bodyPr>
          <a:lstStyle/>
          <a:p>
            <a:pPr>
              <a:spcBef>
                <a:spcPts val="900"/>
              </a:spcBef>
              <a:spcAft>
                <a:spcPts val="900"/>
              </a:spcAft>
            </a:pP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稀疏专家的动态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Working Set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：</a:t>
            </a:r>
          </a:p>
          <a:p>
            <a:pPr marL="342900" indent="-342900"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en-US" altLang="zh-CN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ExpertGroup</a:t>
            </a:r>
            <a:r>
              <a:rPr lang="zh-CN" altLang="en-US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：专家级显式驻留</a:t>
            </a:r>
            <a:endParaRPr lang="en-US" altLang="zh-CN" sz="2000" b="1">
              <a:solidFill>
                <a:srgbClr val="FF0000"/>
              </a:solidFill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以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(Layer, Expert)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为管理粒度，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Expert Slice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独立加载、命中与驱逐</a:t>
            </a:r>
            <a:endParaRPr lang="en-US" altLang="zh-CN" sz="2000" b="1"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  <a:p>
            <a:pPr marL="342900" indent="-342900"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en" altLang="zh-CN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Working Set</a:t>
            </a:r>
            <a:r>
              <a:rPr lang="zh-CN" altLang="en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：</a:t>
            </a:r>
            <a:r>
              <a:rPr lang="zh-CN" altLang="en-US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热点专家动态保留</a:t>
            </a:r>
            <a:endParaRPr lang="en-US" altLang="zh-CN" sz="2000" b="1">
              <a:solidFill>
                <a:srgbClr val="FF0000"/>
              </a:solidFill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当前激活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+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预测候选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+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历史高频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Expert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共同构成有限工作集</a:t>
            </a:r>
            <a:endParaRPr lang="en-US" altLang="zh-CN" sz="2000" b="1">
              <a:latin typeface="Songti SC" panose="02010600040101010101" pitchFamily="2" charset="-122"/>
              <a:ea typeface="Songti SC" panose="02010600040101010101" pitchFamily="2" charset="-122"/>
            </a:endParaRPr>
          </a:p>
          <a:p>
            <a:pPr marL="342900" indent="-342900"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en-US" altLang="zh-CN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Admission / Prefetch</a:t>
            </a:r>
            <a:r>
              <a:rPr lang="zh-CN" altLang="en-US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：按收益加载</a:t>
            </a:r>
            <a:endParaRPr lang="en-US" altLang="zh-CN" sz="2000" b="1">
              <a:solidFill>
                <a:srgbClr val="FF0000"/>
              </a:solidFill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CLG / EAM / CCT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生成候选，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Ranked Prefetch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优先加载高概率、高价值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Expert</a:t>
            </a:r>
          </a:p>
          <a:p>
            <a:pPr marL="342900" indent="-342900"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en" altLang="zh-CN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Eviction / Budget</a:t>
            </a:r>
            <a:r>
              <a:rPr lang="zh-CN" altLang="en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：</a:t>
            </a:r>
            <a:r>
              <a:rPr lang="zh-CN" altLang="en-US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压力感知淘汰</a:t>
            </a:r>
            <a:endParaRPr lang="en-US" altLang="zh-CN" sz="2000" b="1">
              <a:solidFill>
                <a:srgbClr val="FF0000"/>
              </a:solidFill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低收益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ExpertGroup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优先驱逐，动态调整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Budget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，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抑制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Thrashing</a:t>
            </a:r>
            <a:endParaRPr lang="en-US" altLang="zh-CN" sz="2000" b="1"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842E1DE-2012-4F01-F202-65FDEEEA4B7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330D07EB-D5AC-C7DC-882D-1FF6F05A581F}"/>
              </a:ext>
            </a:extLst>
          </p:cNvPr>
          <p:cNvSpPr/>
          <p:nvPr/>
        </p:nvSpPr>
        <p:spPr>
          <a:xfrm>
            <a:off x="6563849" y="0"/>
            <a:ext cx="18449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9BDA0612-66C8-412A-091A-8347FBD6C7D8}"/>
              </a:ext>
            </a:extLst>
          </p:cNvPr>
          <p:cNvSpPr txBox="1"/>
          <p:nvPr/>
        </p:nvSpPr>
        <p:spPr>
          <a:xfrm>
            <a:off x="6679507" y="193642"/>
            <a:ext cx="1613584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模块设计实现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AA71A75-0CD3-881A-0846-069F34AA31E7}"/>
              </a:ext>
            </a:extLst>
          </p:cNvPr>
          <p:cNvSpPr txBox="1"/>
          <p:nvPr/>
        </p:nvSpPr>
        <p:spPr>
          <a:xfrm>
            <a:off x="1080527" y="5907172"/>
            <a:ext cx="89227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核心思想：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</a:rPr>
              <a:t>只让当前最有价值的 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Expert 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</a:rPr>
              <a:t>驻留，避免低预算下反复 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Evict / Reload 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</a:rPr>
              <a:t>形成 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I/O Thrashing</a:t>
            </a:r>
            <a:endParaRPr lang="en-US" altLang="zh-CN" sz="240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8BC64-CE1C-8DB5-BCEC-BCFC4AD74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1709981F-24B4-D82F-F77C-C0957590F085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E94DADD9-67DE-3DFC-1BBC-44C67B67D9AD}"/>
              </a:ext>
            </a:extLst>
          </p:cNvPr>
          <p:cNvCxnSpPr/>
          <p:nvPr/>
        </p:nvCxnSpPr>
        <p:spPr>
          <a:xfrm>
            <a:off x="100032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6">
            <a:extLst>
              <a:ext uri="{FF2B5EF4-FFF2-40B4-BE49-F238E27FC236}">
                <a16:creationId xmlns:a16="http://schemas.microsoft.com/office/drawing/2014/main" id="{AAF71809-AF27-86FB-9EFA-49BA714BAA3F}"/>
              </a:ext>
            </a:extLst>
          </p:cNvPr>
          <p:cNvSpPr txBox="1"/>
          <p:nvPr/>
        </p:nvSpPr>
        <p:spPr>
          <a:xfrm>
            <a:off x="33749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项目介绍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7" name="TextBox 7">
            <a:extLst>
              <a:ext uri="{FF2B5EF4-FFF2-40B4-BE49-F238E27FC236}">
                <a16:creationId xmlns:a16="http://schemas.microsoft.com/office/drawing/2014/main" id="{2E855B19-38B5-C359-100C-77B70F60035E}"/>
              </a:ext>
            </a:extLst>
          </p:cNvPr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>
            <a:extLst>
              <a:ext uri="{FF2B5EF4-FFF2-40B4-BE49-F238E27FC236}">
                <a16:creationId xmlns:a16="http://schemas.microsoft.com/office/drawing/2014/main" id="{DC96B680-7007-76CA-05CD-96610DB98593}"/>
              </a:ext>
            </a:extLst>
          </p:cNvPr>
          <p:cNvSpPr txBox="1"/>
          <p:nvPr/>
        </p:nvSpPr>
        <p:spPr>
          <a:xfrm>
            <a:off x="67785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模块设计实现</a:t>
            </a:r>
            <a:endParaRPr lang="zh-CN" altLang="en-US" sz="16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9" name="TextBox 10">
            <a:extLst>
              <a:ext uri="{FF2B5EF4-FFF2-40B4-BE49-F238E27FC236}">
                <a16:creationId xmlns:a16="http://schemas.microsoft.com/office/drawing/2014/main" id="{40653F4B-22EC-1D43-D949-EF82C8322185}"/>
              </a:ext>
            </a:extLst>
          </p:cNvPr>
          <p:cNvSpPr txBox="1"/>
          <p:nvPr/>
        </p:nvSpPr>
        <p:spPr>
          <a:xfrm>
            <a:off x="84803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>
            <a:extLst>
              <a:ext uri="{FF2B5EF4-FFF2-40B4-BE49-F238E27FC236}">
                <a16:creationId xmlns:a16="http://schemas.microsoft.com/office/drawing/2014/main" id="{2F6640C8-4C07-C64B-07D3-96F215AAC817}"/>
              </a:ext>
            </a:extLst>
          </p:cNvPr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D421B289-D38E-C0A8-AB7B-58FE2E720625}"/>
              </a:ext>
            </a:extLst>
          </p:cNvPr>
          <p:cNvCxnSpPr>
            <a:cxnSpLocks/>
          </p:cNvCxnSpPr>
          <p:nvPr/>
        </p:nvCxnSpPr>
        <p:spPr>
          <a:xfrm>
            <a:off x="425752" y="1528840"/>
            <a:ext cx="371823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>
            <a:extLst>
              <a:ext uri="{FF2B5EF4-FFF2-40B4-BE49-F238E27FC236}">
                <a16:creationId xmlns:a16="http://schemas.microsoft.com/office/drawing/2014/main" id="{C9066BD4-550D-4A54-86F4-E4EE7C6F361F}"/>
              </a:ext>
            </a:extLst>
          </p:cNvPr>
          <p:cNvSpPr txBox="1"/>
          <p:nvPr/>
        </p:nvSpPr>
        <p:spPr>
          <a:xfrm>
            <a:off x="391633" y="1001015"/>
            <a:ext cx="3752353" cy="52782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" altLang="zh-CN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3.</a:t>
            </a:r>
            <a:r>
              <a:rPr lang="en-US" altLang="zh-CN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2</a:t>
            </a:r>
            <a:r>
              <a:rPr lang="en" altLang="zh-CN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.2 MoE </a:t>
            </a:r>
            <a:r>
              <a:rPr lang="zh-CN" altLang="en-US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的关键决策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56802A82-0F20-D4F0-EE92-731B03360CE5}"/>
              </a:ext>
            </a:extLst>
          </p:cNvPr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E762D1E-6119-2BB0-CA8B-5871539E6848}"/>
              </a:ext>
            </a:extLst>
          </p:cNvPr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8545BE77-EC67-BE3E-911D-9E23D7C7AADC}"/>
              </a:ext>
            </a:extLst>
          </p:cNvPr>
          <p:cNvSpPr txBox="1"/>
          <p:nvPr/>
        </p:nvSpPr>
        <p:spPr>
          <a:xfrm>
            <a:off x="391633" y="1703356"/>
            <a:ext cx="11134518" cy="42585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</a:pP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有限内存下，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MoE Buffer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 需要持续回答三个问题：</a:t>
            </a:r>
          </a:p>
          <a:p>
            <a:pPr marL="342900" indent="-34290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预算多大？ </a:t>
            </a:r>
            <a:r>
              <a:rPr lang="en-US" altLang="zh-CN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—— </a:t>
            </a:r>
            <a:r>
              <a:rPr lang="en" altLang="zh-CN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Warm Working Set Estimator + Dynamic Budget</a:t>
            </a:r>
          </a:p>
          <a:p>
            <a:pPr>
              <a:lnSpc>
                <a:spcPct val="11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根据 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Expert 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访问频率、复用距离、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Hot Score 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与 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Group 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大小估计活跃工作集，并结合 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memory.max 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动态调整 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MoE Budget</a:t>
            </a:r>
            <a:r>
              <a:rPr lang="zh-CN" altLang="e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，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避免预算过小导致频繁 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Evict / Reload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。</a:t>
            </a:r>
            <a:endParaRPr lang="en" altLang="zh-CN" sz="2400" b="1"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  <a:p>
            <a:pPr marL="342900" indent="-34290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保留谁？ </a:t>
            </a:r>
            <a:r>
              <a:rPr lang="en-US" altLang="zh-CN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—— </a:t>
            </a:r>
            <a:r>
              <a:rPr lang="en" altLang="zh-CN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Demand Admission + Group-level Eviction</a:t>
            </a:r>
          </a:p>
          <a:p>
            <a:pPr>
              <a:lnSpc>
                <a:spcPct val="11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真实访问先经过 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Admission</a:t>
            </a:r>
            <a:r>
              <a:rPr lang="zh-CN" altLang="e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；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达到预算上限后，综合未来使用距离、近期频率、预测置信度与系统压力，优先驱逐低收益 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ExpertGroup</a:t>
            </a:r>
            <a:r>
              <a:rPr lang="zh-CN" altLang="e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。</a:t>
            </a:r>
            <a:endParaRPr lang="en-US" altLang="zh-CN" sz="2400" b="1"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  <a:p>
            <a:pPr marL="342900" indent="-34290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预取谁？ </a:t>
            </a:r>
            <a:r>
              <a:rPr lang="en-US" altLang="zh-CN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—— </a:t>
            </a:r>
            <a:r>
              <a:rPr lang="en" altLang="zh-CN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CLG / EAM / CCT + Ranked Prefetch</a:t>
            </a:r>
          </a:p>
          <a:p>
            <a:pPr>
              <a:lnSpc>
                <a:spcPct val="110000"/>
              </a:lnSpc>
              <a:spcBef>
                <a:spcPct val="0"/>
              </a:spcBef>
              <a:spcAft>
                <a:spcPct val="0"/>
              </a:spcAft>
            </a:pP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CLG / EAM 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预测后续可能激活的 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Expert</a:t>
            </a:r>
            <a:r>
              <a:rPr lang="zh-CN" altLang="e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，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按预测分数与收益排序进入异步预取队列；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CCT 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辅助 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Retention 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与 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Eviction Protection</a:t>
            </a:r>
            <a:r>
              <a:rPr lang="zh-CN" altLang="en" sz="24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。</a:t>
            </a:r>
            <a:endParaRPr lang="en-US" altLang="zh-CN" sz="2400" b="1"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AA914F68-1852-B970-C5F4-32DF46481E3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E59E193D-ABFE-A5E0-B9C1-44FC97A97626}"/>
              </a:ext>
            </a:extLst>
          </p:cNvPr>
          <p:cNvSpPr/>
          <p:nvPr/>
        </p:nvSpPr>
        <p:spPr>
          <a:xfrm>
            <a:off x="6563849" y="0"/>
            <a:ext cx="18449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90AD7197-052C-E2EF-97B0-CC0C225D0303}"/>
              </a:ext>
            </a:extLst>
          </p:cNvPr>
          <p:cNvSpPr txBox="1"/>
          <p:nvPr/>
        </p:nvSpPr>
        <p:spPr>
          <a:xfrm>
            <a:off x="6679507" y="193642"/>
            <a:ext cx="1613584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模块设计实现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6409714-2F1B-4F8A-E181-FACD505CE399}"/>
              </a:ext>
            </a:extLst>
          </p:cNvPr>
          <p:cNvSpPr txBox="1"/>
          <p:nvPr/>
        </p:nvSpPr>
        <p:spPr>
          <a:xfrm>
            <a:off x="881220" y="6051012"/>
            <a:ext cx="101553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完整专家集合 → 预算驱动、收益感知的动态 </a:t>
            </a:r>
            <a:r>
              <a:rPr lang="en" altLang="zh-CN" sz="28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Expert Working Set</a:t>
            </a:r>
            <a:endParaRPr lang="zh-CN" altLang="en-US" sz="2800" b="1">
              <a:solidFill>
                <a:srgbClr val="FF0000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8993485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35" grpId="0"/>
      <p:bldP spid="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47BBF222-B418-0DE7-CA6D-A28C1C9FE0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11658"/>
            <a:ext cx="7283117" cy="3371846"/>
          </a:xfrm>
          <a:prstGeom prst="rect">
            <a:avLst/>
          </a:prstGeom>
        </p:spPr>
      </p:pic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cxnSp>
        <p:nvCxnSpPr>
          <p:cNvPr id="25" name="直接连接符 24"/>
          <p:cNvCxnSpPr/>
          <p:nvPr/>
        </p:nvCxnSpPr>
        <p:spPr>
          <a:xfrm>
            <a:off x="10003249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6"/>
          <p:cNvSpPr txBox="1"/>
          <p:nvPr/>
        </p:nvSpPr>
        <p:spPr>
          <a:xfrm>
            <a:off x="3374949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项目介绍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4" name="直接连接符 33"/>
          <p:cNvCxnSpPr>
            <a:cxnSpLocks/>
          </p:cNvCxnSpPr>
          <p:nvPr/>
        </p:nvCxnSpPr>
        <p:spPr>
          <a:xfrm>
            <a:off x="300449" y="1520211"/>
            <a:ext cx="4946669" cy="37462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/>
          <p:nvPr/>
        </p:nvSpPr>
        <p:spPr>
          <a:xfrm>
            <a:off x="300448" y="1072673"/>
            <a:ext cx="4946669" cy="46626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3.3 KV 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物理驻留与 </a:t>
            </a:r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Session 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生命周期</a:t>
            </a:r>
          </a:p>
        </p:txBody>
      </p:sp>
      <p:cxnSp>
        <p:nvCxnSpPr>
          <p:cNvPr id="15" name="直接连接符 14"/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/>
          <p:cNvSpPr txBox="1"/>
          <p:nvPr/>
        </p:nvSpPr>
        <p:spPr>
          <a:xfrm>
            <a:off x="7210192" y="1639270"/>
            <a:ext cx="4981808" cy="45166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ts val="900"/>
              </a:spcBef>
              <a:spcAft>
                <a:spcPts val="900"/>
              </a:spcAft>
            </a:pP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核心设计：</a:t>
            </a:r>
          </a:p>
          <a:p>
            <a:pPr marL="342900" indent="-342900"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zh-CN" altLang="en-US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生命周期解耦：逻辑历史 ≠ 物理驻留</a:t>
            </a:r>
            <a:endParaRPr lang="en-US" altLang="zh-CN" sz="2000" b="1">
              <a:solidFill>
                <a:srgbClr val="FF0000"/>
              </a:solidFill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以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Block / Cell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为物理管理粒度，将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Session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生命周期与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KV Physical State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分离。</a:t>
            </a:r>
            <a:endParaRPr lang="en-US" altLang="zh-CN" sz="2000" b="1"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  <a:p>
            <a:pPr marL="342900" indent="-342900"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en-US" altLang="zh-CN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RELEASE</a:t>
            </a:r>
            <a:r>
              <a:rPr lang="zh-CN" altLang="en-US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：无价值数据直接回收</a:t>
            </a:r>
            <a:endParaRPr lang="en-US" altLang="zh-CN" sz="2000" b="1">
              <a:solidFill>
                <a:srgbClr val="FF0000"/>
              </a:solidFill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dead / unowned KV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直接释放物理页，无需写入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Backing Store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。</a:t>
            </a:r>
            <a:endParaRPr lang="en-US" altLang="zh-CN" sz="2000" b="1"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  <a:p>
            <a:pPr marL="342900" indent="-342900"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en-US" altLang="zh-CN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OFFLOAD</a:t>
            </a:r>
            <a:r>
              <a:rPr lang="zh-CN" altLang="en-US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：有价值数据按需换出</a:t>
            </a:r>
            <a:endParaRPr lang="en-US" altLang="zh-CN" sz="2000" b="1">
              <a:solidFill>
                <a:srgbClr val="FF0000"/>
              </a:solidFill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idle-live KV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先完整写入固定槽位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Backing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，再释放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DRAM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；后续仍可恢复。</a:t>
            </a:r>
            <a:endParaRPr lang="en-US" altLang="zh-CN" sz="2000" b="1"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  <a:p>
            <a:pPr marL="342900" indent="-342900">
              <a:spcBef>
                <a:spcPct val="0"/>
              </a:spcBef>
              <a:spcAft>
                <a:spcPct val="0"/>
              </a:spcAft>
              <a:buFont typeface="Wingdings" pitchFamily="2" charset="2"/>
              <a:buChar char="n"/>
            </a:pPr>
            <a:r>
              <a:rPr lang="zh-CN" altLang="zh-CN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Exact Restore：重访前完整恢</a:t>
            </a:r>
            <a:r>
              <a:rPr lang="zh-CN" altLang="en-US" sz="20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复</a:t>
            </a:r>
            <a:endParaRPr lang="en-US" altLang="zh-CN" sz="2000" b="1">
              <a:solidFill>
                <a:srgbClr val="FF0000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  <a:p>
            <a:pPr>
              <a:spcBef>
                <a:spcPct val="0"/>
              </a:spcBef>
              <a:spcAft>
                <a:spcPct val="0"/>
              </a:spcAft>
            </a:pP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Session REVISIT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时执行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PREFETCH / RESTORE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，完整恢复所需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KV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  <a:cs typeface="黑体" panose="02010609060101010101" charset="-122"/>
              </a:rPr>
              <a:t>后才允许计算继续。</a:t>
            </a:r>
            <a:endParaRPr lang="en-US" altLang="zh-CN" sz="2000" b="1">
              <a:latin typeface="Songti SC" panose="02010600040101010101" pitchFamily="2" charset="-122"/>
              <a:ea typeface="Songti SC" panose="02010600040101010101" pitchFamily="2" charset="-122"/>
              <a:cs typeface="黑体" panose="02010609060101010101" charset="-122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8769A784-ECE8-6D67-8191-0EBCA07C294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6EB8D8B4-4757-FC1C-FF98-4A5BCCA6D4E4}"/>
              </a:ext>
            </a:extLst>
          </p:cNvPr>
          <p:cNvSpPr/>
          <p:nvPr/>
        </p:nvSpPr>
        <p:spPr>
          <a:xfrm>
            <a:off x="6563849" y="0"/>
            <a:ext cx="18449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C4AEAE8A-424B-46AA-9117-6A2C0D9EBC07}"/>
              </a:ext>
            </a:extLst>
          </p:cNvPr>
          <p:cNvSpPr txBox="1"/>
          <p:nvPr/>
        </p:nvSpPr>
        <p:spPr>
          <a:xfrm>
            <a:off x="6679507" y="193642"/>
            <a:ext cx="1613584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模块设计实现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9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BBCDF5E-33A6-DA79-D833-9E634254F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D6771E00-06F3-2D9D-00E1-7D2A8CB8E3E0}"/>
              </a:ext>
            </a:extLst>
          </p:cNvPr>
          <p:cNvSpPr/>
          <p:nvPr/>
        </p:nvSpPr>
        <p:spPr>
          <a:xfrm rot="5400000">
            <a:off x="4227759" y="-4227756"/>
            <a:ext cx="3736490" cy="1219200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2E321145-F1C2-20E2-8AB7-D422E964E230}"/>
              </a:ext>
            </a:extLst>
          </p:cNvPr>
          <p:cNvGrpSpPr/>
          <p:nvPr/>
        </p:nvGrpSpPr>
        <p:grpSpPr>
          <a:xfrm>
            <a:off x="4919877" y="2920080"/>
            <a:ext cx="2352246" cy="1642832"/>
            <a:chOff x="5127859" y="2518592"/>
            <a:chExt cx="1936282" cy="1723208"/>
          </a:xfrm>
        </p:grpSpPr>
        <p:sp>
          <p:nvSpPr>
            <p:cNvPr id="6" name="任意多边形 5">
              <a:extLst>
                <a:ext uri="{FF2B5EF4-FFF2-40B4-BE49-F238E27FC236}">
                  <a16:creationId xmlns:a16="http://schemas.microsoft.com/office/drawing/2014/main" id="{E6CF3004-08C9-96BC-53BE-9B511397A200}"/>
                </a:ext>
              </a:extLst>
            </p:cNvPr>
            <p:cNvSpPr/>
            <p:nvPr/>
          </p:nvSpPr>
          <p:spPr>
            <a:xfrm>
              <a:off x="5127859" y="2518592"/>
              <a:ext cx="1936282" cy="1723208"/>
            </a:xfrm>
            <a:custGeom>
              <a:avLst/>
              <a:gdLst>
                <a:gd name="connsiteX0" fmla="*/ 576168 w 1961391"/>
                <a:gd name="connsiteY0" fmla="*/ 0 h 1745551"/>
                <a:gd name="connsiteX1" fmla="*/ 863600 w 1961391"/>
                <a:gd name="connsiteY1" fmla="*/ 0 h 1745551"/>
                <a:gd name="connsiteX2" fmla="*/ 1097791 w 1961391"/>
                <a:gd name="connsiteY2" fmla="*/ 0 h 1745551"/>
                <a:gd name="connsiteX3" fmla="*/ 1385223 w 1961391"/>
                <a:gd name="connsiteY3" fmla="*/ 0 h 1745551"/>
                <a:gd name="connsiteX4" fmla="*/ 1539918 w 1961391"/>
                <a:gd name="connsiteY4" fmla="*/ 88854 h 1745551"/>
                <a:gd name="connsiteX5" fmla="*/ 1940980 w 1961391"/>
                <a:gd name="connsiteY5" fmla="*/ 783921 h 1745551"/>
                <a:gd name="connsiteX6" fmla="*/ 1961391 w 1961391"/>
                <a:gd name="connsiteY6" fmla="*/ 872775 h 1745551"/>
                <a:gd name="connsiteX7" fmla="*/ 1940980 w 1961391"/>
                <a:gd name="connsiteY7" fmla="*/ 961629 h 1745551"/>
                <a:gd name="connsiteX8" fmla="*/ 1539918 w 1961391"/>
                <a:gd name="connsiteY8" fmla="*/ 1656697 h 1745551"/>
                <a:gd name="connsiteX9" fmla="*/ 1385223 w 1961391"/>
                <a:gd name="connsiteY9" fmla="*/ 1745551 h 1745551"/>
                <a:gd name="connsiteX10" fmla="*/ 1120460 w 1961391"/>
                <a:gd name="connsiteY10" fmla="*/ 1745551 h 1745551"/>
                <a:gd name="connsiteX11" fmla="*/ 1097791 w 1961391"/>
                <a:gd name="connsiteY11" fmla="*/ 1745551 h 1745551"/>
                <a:gd name="connsiteX12" fmla="*/ 1039896 w 1961391"/>
                <a:gd name="connsiteY12" fmla="*/ 1745551 h 1745551"/>
                <a:gd name="connsiteX13" fmla="*/ 1013340 w 1961391"/>
                <a:gd name="connsiteY13" fmla="*/ 1745551 h 1745551"/>
                <a:gd name="connsiteX14" fmla="*/ 948051 w 1961391"/>
                <a:gd name="connsiteY14" fmla="*/ 1745551 h 1745551"/>
                <a:gd name="connsiteX15" fmla="*/ 921495 w 1961391"/>
                <a:gd name="connsiteY15" fmla="*/ 1745551 h 1745551"/>
                <a:gd name="connsiteX16" fmla="*/ 863600 w 1961391"/>
                <a:gd name="connsiteY16" fmla="*/ 1745551 h 1745551"/>
                <a:gd name="connsiteX17" fmla="*/ 840931 w 1961391"/>
                <a:gd name="connsiteY17" fmla="*/ 1745551 h 1745551"/>
                <a:gd name="connsiteX18" fmla="*/ 576168 w 1961391"/>
                <a:gd name="connsiteY18" fmla="*/ 1745551 h 1745551"/>
                <a:gd name="connsiteX19" fmla="*/ 421473 w 1961391"/>
                <a:gd name="connsiteY19" fmla="*/ 1656697 h 1745551"/>
                <a:gd name="connsiteX20" fmla="*/ 20411 w 1961391"/>
                <a:gd name="connsiteY20" fmla="*/ 961629 h 1745551"/>
                <a:gd name="connsiteX21" fmla="*/ 0 w 1961391"/>
                <a:gd name="connsiteY21" fmla="*/ 872775 h 1745551"/>
                <a:gd name="connsiteX22" fmla="*/ 20411 w 1961391"/>
                <a:gd name="connsiteY22" fmla="*/ 783921 h 1745551"/>
                <a:gd name="connsiteX23" fmla="*/ 421473 w 1961391"/>
                <a:gd name="connsiteY23" fmla="*/ 88854 h 1745551"/>
                <a:gd name="connsiteX24" fmla="*/ 576168 w 1961391"/>
                <a:gd name="connsiteY24" fmla="*/ 0 h 1745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61391" h="1745551">
                  <a:moveTo>
                    <a:pt x="576168" y="0"/>
                  </a:moveTo>
                  <a:lnTo>
                    <a:pt x="863600" y="0"/>
                  </a:lnTo>
                  <a:lnTo>
                    <a:pt x="1097791" y="0"/>
                  </a:lnTo>
                  <a:lnTo>
                    <a:pt x="1385223" y="0"/>
                  </a:lnTo>
                  <a:cubicBezTo>
                    <a:pt x="1441086" y="0"/>
                    <a:pt x="1511271" y="40128"/>
                    <a:pt x="1539918" y="88854"/>
                  </a:cubicBezTo>
                  <a:cubicBezTo>
                    <a:pt x="1940980" y="783921"/>
                    <a:pt x="1940980" y="783921"/>
                    <a:pt x="1940980" y="783921"/>
                  </a:cubicBezTo>
                  <a:cubicBezTo>
                    <a:pt x="1954587" y="808285"/>
                    <a:pt x="1961391" y="840530"/>
                    <a:pt x="1961391" y="872775"/>
                  </a:cubicBezTo>
                  <a:cubicBezTo>
                    <a:pt x="1961391" y="905021"/>
                    <a:pt x="1954587" y="937267"/>
                    <a:pt x="1940980" y="961629"/>
                  </a:cubicBezTo>
                  <a:cubicBezTo>
                    <a:pt x="1539918" y="1656697"/>
                    <a:pt x="1539918" y="1656697"/>
                    <a:pt x="1539918" y="1656697"/>
                  </a:cubicBezTo>
                  <a:cubicBezTo>
                    <a:pt x="1511271" y="1705424"/>
                    <a:pt x="1441086" y="1745551"/>
                    <a:pt x="1385223" y="1745551"/>
                  </a:cubicBezTo>
                  <a:cubicBezTo>
                    <a:pt x="1284958" y="1745551"/>
                    <a:pt x="1197225" y="1745551"/>
                    <a:pt x="1120460" y="1745551"/>
                  </a:cubicBezTo>
                  <a:lnTo>
                    <a:pt x="1097791" y="1745551"/>
                  </a:lnTo>
                  <a:lnTo>
                    <a:pt x="1039896" y="1745551"/>
                  </a:lnTo>
                  <a:lnTo>
                    <a:pt x="1013340" y="1745551"/>
                  </a:lnTo>
                  <a:lnTo>
                    <a:pt x="948051" y="1745551"/>
                  </a:lnTo>
                  <a:lnTo>
                    <a:pt x="921495" y="1745551"/>
                  </a:lnTo>
                  <a:lnTo>
                    <a:pt x="863600" y="1745551"/>
                  </a:lnTo>
                  <a:lnTo>
                    <a:pt x="840931" y="1745551"/>
                  </a:lnTo>
                  <a:cubicBezTo>
                    <a:pt x="764166" y="1745551"/>
                    <a:pt x="676433" y="1745551"/>
                    <a:pt x="576168" y="1745551"/>
                  </a:cubicBezTo>
                  <a:cubicBezTo>
                    <a:pt x="520305" y="1745551"/>
                    <a:pt x="450120" y="1705424"/>
                    <a:pt x="421473" y="1656697"/>
                  </a:cubicBezTo>
                  <a:cubicBezTo>
                    <a:pt x="421473" y="1656697"/>
                    <a:pt x="421473" y="1656697"/>
                    <a:pt x="20411" y="961629"/>
                  </a:cubicBezTo>
                  <a:cubicBezTo>
                    <a:pt x="6804" y="937267"/>
                    <a:pt x="0" y="905021"/>
                    <a:pt x="0" y="872775"/>
                  </a:cubicBezTo>
                  <a:cubicBezTo>
                    <a:pt x="0" y="840530"/>
                    <a:pt x="6804" y="808285"/>
                    <a:pt x="20411" y="783921"/>
                  </a:cubicBezTo>
                  <a:cubicBezTo>
                    <a:pt x="20411" y="783921"/>
                    <a:pt x="20411" y="783921"/>
                    <a:pt x="421473" y="88854"/>
                  </a:cubicBezTo>
                  <a:cubicBezTo>
                    <a:pt x="450120" y="40128"/>
                    <a:pt x="520305" y="0"/>
                    <a:pt x="57616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2590" b="1">
                <a:latin typeface="Songti SC" panose="02010600040101010101" pitchFamily="2" charset="-122"/>
                <a:ea typeface="Songti SC" panose="02010600040101010101" pitchFamily="2" charset="-122"/>
              </a:endParaRPr>
            </a:p>
          </p:txBody>
        </p:sp>
        <p:sp>
          <p:nvSpPr>
            <p:cNvPr id="7" name="任意多边形 6">
              <a:extLst>
                <a:ext uri="{FF2B5EF4-FFF2-40B4-BE49-F238E27FC236}">
                  <a16:creationId xmlns:a16="http://schemas.microsoft.com/office/drawing/2014/main" id="{3DBD3C45-BF90-1790-CCAA-3C0FC22856B2}"/>
                </a:ext>
              </a:extLst>
            </p:cNvPr>
            <p:cNvSpPr/>
            <p:nvPr/>
          </p:nvSpPr>
          <p:spPr>
            <a:xfrm>
              <a:off x="5257193" y="2633694"/>
              <a:ext cx="1677614" cy="1493004"/>
            </a:xfrm>
            <a:custGeom>
              <a:avLst/>
              <a:gdLst>
                <a:gd name="connsiteX0" fmla="*/ 576168 w 1961391"/>
                <a:gd name="connsiteY0" fmla="*/ 0 h 1745551"/>
                <a:gd name="connsiteX1" fmla="*/ 863600 w 1961391"/>
                <a:gd name="connsiteY1" fmla="*/ 0 h 1745551"/>
                <a:gd name="connsiteX2" fmla="*/ 1097791 w 1961391"/>
                <a:gd name="connsiteY2" fmla="*/ 0 h 1745551"/>
                <a:gd name="connsiteX3" fmla="*/ 1385223 w 1961391"/>
                <a:gd name="connsiteY3" fmla="*/ 0 h 1745551"/>
                <a:gd name="connsiteX4" fmla="*/ 1539918 w 1961391"/>
                <a:gd name="connsiteY4" fmla="*/ 88854 h 1745551"/>
                <a:gd name="connsiteX5" fmla="*/ 1940980 w 1961391"/>
                <a:gd name="connsiteY5" fmla="*/ 783921 h 1745551"/>
                <a:gd name="connsiteX6" fmla="*/ 1961391 w 1961391"/>
                <a:gd name="connsiteY6" fmla="*/ 872775 h 1745551"/>
                <a:gd name="connsiteX7" fmla="*/ 1940980 w 1961391"/>
                <a:gd name="connsiteY7" fmla="*/ 961629 h 1745551"/>
                <a:gd name="connsiteX8" fmla="*/ 1539918 w 1961391"/>
                <a:gd name="connsiteY8" fmla="*/ 1656697 h 1745551"/>
                <a:gd name="connsiteX9" fmla="*/ 1385223 w 1961391"/>
                <a:gd name="connsiteY9" fmla="*/ 1745551 h 1745551"/>
                <a:gd name="connsiteX10" fmla="*/ 1120460 w 1961391"/>
                <a:gd name="connsiteY10" fmla="*/ 1745551 h 1745551"/>
                <a:gd name="connsiteX11" fmla="*/ 1097791 w 1961391"/>
                <a:gd name="connsiteY11" fmla="*/ 1745551 h 1745551"/>
                <a:gd name="connsiteX12" fmla="*/ 1039896 w 1961391"/>
                <a:gd name="connsiteY12" fmla="*/ 1745551 h 1745551"/>
                <a:gd name="connsiteX13" fmla="*/ 1013340 w 1961391"/>
                <a:gd name="connsiteY13" fmla="*/ 1745551 h 1745551"/>
                <a:gd name="connsiteX14" fmla="*/ 948051 w 1961391"/>
                <a:gd name="connsiteY14" fmla="*/ 1745551 h 1745551"/>
                <a:gd name="connsiteX15" fmla="*/ 921495 w 1961391"/>
                <a:gd name="connsiteY15" fmla="*/ 1745551 h 1745551"/>
                <a:gd name="connsiteX16" fmla="*/ 863600 w 1961391"/>
                <a:gd name="connsiteY16" fmla="*/ 1745551 h 1745551"/>
                <a:gd name="connsiteX17" fmla="*/ 840931 w 1961391"/>
                <a:gd name="connsiteY17" fmla="*/ 1745551 h 1745551"/>
                <a:gd name="connsiteX18" fmla="*/ 576168 w 1961391"/>
                <a:gd name="connsiteY18" fmla="*/ 1745551 h 1745551"/>
                <a:gd name="connsiteX19" fmla="*/ 421473 w 1961391"/>
                <a:gd name="connsiteY19" fmla="*/ 1656697 h 1745551"/>
                <a:gd name="connsiteX20" fmla="*/ 20411 w 1961391"/>
                <a:gd name="connsiteY20" fmla="*/ 961629 h 1745551"/>
                <a:gd name="connsiteX21" fmla="*/ 0 w 1961391"/>
                <a:gd name="connsiteY21" fmla="*/ 872775 h 1745551"/>
                <a:gd name="connsiteX22" fmla="*/ 20411 w 1961391"/>
                <a:gd name="connsiteY22" fmla="*/ 783921 h 1745551"/>
                <a:gd name="connsiteX23" fmla="*/ 421473 w 1961391"/>
                <a:gd name="connsiteY23" fmla="*/ 88854 h 1745551"/>
                <a:gd name="connsiteX24" fmla="*/ 576168 w 1961391"/>
                <a:gd name="connsiteY24" fmla="*/ 0 h 1745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61391" h="1745551">
                  <a:moveTo>
                    <a:pt x="576168" y="0"/>
                  </a:moveTo>
                  <a:lnTo>
                    <a:pt x="863600" y="0"/>
                  </a:lnTo>
                  <a:lnTo>
                    <a:pt x="1097791" y="0"/>
                  </a:lnTo>
                  <a:lnTo>
                    <a:pt x="1385223" y="0"/>
                  </a:lnTo>
                  <a:cubicBezTo>
                    <a:pt x="1441086" y="0"/>
                    <a:pt x="1511271" y="40128"/>
                    <a:pt x="1539918" y="88854"/>
                  </a:cubicBezTo>
                  <a:cubicBezTo>
                    <a:pt x="1940980" y="783921"/>
                    <a:pt x="1940980" y="783921"/>
                    <a:pt x="1940980" y="783921"/>
                  </a:cubicBezTo>
                  <a:cubicBezTo>
                    <a:pt x="1954587" y="808285"/>
                    <a:pt x="1961391" y="840530"/>
                    <a:pt x="1961391" y="872775"/>
                  </a:cubicBezTo>
                  <a:cubicBezTo>
                    <a:pt x="1961391" y="905021"/>
                    <a:pt x="1954587" y="937267"/>
                    <a:pt x="1940980" y="961629"/>
                  </a:cubicBezTo>
                  <a:cubicBezTo>
                    <a:pt x="1539918" y="1656697"/>
                    <a:pt x="1539918" y="1656697"/>
                    <a:pt x="1539918" y="1656697"/>
                  </a:cubicBezTo>
                  <a:cubicBezTo>
                    <a:pt x="1511271" y="1705424"/>
                    <a:pt x="1441086" y="1745551"/>
                    <a:pt x="1385223" y="1745551"/>
                  </a:cubicBezTo>
                  <a:cubicBezTo>
                    <a:pt x="1284958" y="1745551"/>
                    <a:pt x="1197225" y="1745551"/>
                    <a:pt x="1120460" y="1745551"/>
                  </a:cubicBezTo>
                  <a:lnTo>
                    <a:pt x="1097791" y="1745551"/>
                  </a:lnTo>
                  <a:lnTo>
                    <a:pt x="1039896" y="1745551"/>
                  </a:lnTo>
                  <a:lnTo>
                    <a:pt x="1013340" y="1745551"/>
                  </a:lnTo>
                  <a:lnTo>
                    <a:pt x="948051" y="1745551"/>
                  </a:lnTo>
                  <a:lnTo>
                    <a:pt x="921495" y="1745551"/>
                  </a:lnTo>
                  <a:lnTo>
                    <a:pt x="863600" y="1745551"/>
                  </a:lnTo>
                  <a:lnTo>
                    <a:pt x="840931" y="1745551"/>
                  </a:lnTo>
                  <a:cubicBezTo>
                    <a:pt x="764166" y="1745551"/>
                    <a:pt x="676433" y="1745551"/>
                    <a:pt x="576168" y="1745551"/>
                  </a:cubicBezTo>
                  <a:cubicBezTo>
                    <a:pt x="520305" y="1745551"/>
                    <a:pt x="450120" y="1705424"/>
                    <a:pt x="421473" y="1656697"/>
                  </a:cubicBezTo>
                  <a:cubicBezTo>
                    <a:pt x="421473" y="1656697"/>
                    <a:pt x="421473" y="1656697"/>
                    <a:pt x="20411" y="961629"/>
                  </a:cubicBezTo>
                  <a:cubicBezTo>
                    <a:pt x="6804" y="937267"/>
                    <a:pt x="0" y="905021"/>
                    <a:pt x="0" y="872775"/>
                  </a:cubicBezTo>
                  <a:cubicBezTo>
                    <a:pt x="0" y="840530"/>
                    <a:pt x="6804" y="808285"/>
                    <a:pt x="20411" y="783921"/>
                  </a:cubicBezTo>
                  <a:cubicBezTo>
                    <a:pt x="20411" y="783921"/>
                    <a:pt x="20411" y="783921"/>
                    <a:pt x="421473" y="88854"/>
                  </a:cubicBezTo>
                  <a:cubicBezTo>
                    <a:pt x="450120" y="40128"/>
                    <a:pt x="520305" y="0"/>
                    <a:pt x="576168" y="0"/>
                  </a:cubicBezTo>
                  <a:close/>
                </a:path>
              </a:pathLst>
            </a:custGeom>
            <a:solidFill>
              <a:srgbClr val="9CC5F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2590" b="1">
                <a:latin typeface="Songti SC" panose="02010600040101010101" pitchFamily="2" charset="-122"/>
                <a:ea typeface="Songti SC" panose="02010600040101010101" pitchFamily="2" charset="-122"/>
              </a:endParaRPr>
            </a:p>
          </p:txBody>
        </p:sp>
      </p:grpSp>
      <p:sp>
        <p:nvSpPr>
          <p:cNvPr id="8" name="文本框 7">
            <a:extLst>
              <a:ext uri="{FF2B5EF4-FFF2-40B4-BE49-F238E27FC236}">
                <a16:creationId xmlns:a16="http://schemas.microsoft.com/office/drawing/2014/main" id="{67F50891-7A19-96D5-C58B-3404400535C9}"/>
              </a:ext>
            </a:extLst>
          </p:cNvPr>
          <p:cNvSpPr txBox="1"/>
          <p:nvPr/>
        </p:nvSpPr>
        <p:spPr>
          <a:xfrm>
            <a:off x="5321588" y="3413325"/>
            <a:ext cx="15488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6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Part.04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FFB82FF-5DE6-F441-9344-DE72D926227E}"/>
              </a:ext>
            </a:extLst>
          </p:cNvPr>
          <p:cNvSpPr txBox="1"/>
          <p:nvPr/>
        </p:nvSpPr>
        <p:spPr>
          <a:xfrm>
            <a:off x="3327400" y="4946424"/>
            <a:ext cx="5537198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spc="600" dirty="0">
                <a:solidFill>
                  <a:schemeClr val="accent6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项目测试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A6F49D9-91D0-8398-E0CE-729E1FB9F0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0390" y="1516741"/>
            <a:ext cx="3582844" cy="657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875427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decel="533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9" fill="hold">
                                <p:stCondLst>
                                  <p:cond delay="1000"/>
                                </p:stCondLst>
                                <p:childTnLst>
                                  <p:par>
                                    <p:cTn id="10" presetID="2" presetClass="entr" presetSubtype="4" fill="hold" nodeType="afterEffect" p14:presetBounceEnd="4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40000">
                                          <p:cBhvr additive="base">
                                            <p:cTn id="12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40000">
                                          <p:cBhvr additive="base">
                                            <p:cTn id="13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4" fill="hold">
                                <p:stCondLst>
                                  <p:cond delay="2000"/>
                                </p:stCondLst>
                                <p:childTnLst>
                                  <p:par>
                                    <p:cTn id="15" presetID="53" presetClass="entr" presetSubtype="16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7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8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20" fill="hold">
                                <p:stCondLst>
                                  <p:cond delay="2500"/>
                                </p:stCondLst>
                                <p:childTnLst>
                                  <p:par>
                                    <p:cTn id="21" presetID="50" presetClass="entr" presetSubtype="0" decel="100000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w+.3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5" dur="10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" grpId="0" animBg="1"/>
          <p:bldP spid="8" grpId="0"/>
          <p:bldP spid="9" grpId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decel="533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9" fill="hold">
                                <p:stCondLst>
                                  <p:cond delay="1000"/>
                                </p:stCondLst>
                                <p:childTnLst>
                                  <p:par>
                                    <p:cTn id="10" presetID="2" presetClass="entr" presetSubtype="4" fill="hold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4" fill="hold">
                                <p:stCondLst>
                                  <p:cond delay="2000"/>
                                </p:stCondLst>
                                <p:childTnLst>
                                  <p:par>
                                    <p:cTn id="15" presetID="53" presetClass="entr" presetSubtype="16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7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8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20" fill="hold">
                                <p:stCondLst>
                                  <p:cond delay="2500"/>
                                </p:stCondLst>
                                <p:childTnLst>
                                  <p:par>
                                    <p:cTn id="21" presetID="50" presetClass="entr" presetSubtype="0" decel="100000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w+.3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5" dur="10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" grpId="0" animBg="1"/>
          <p:bldP spid="8" grpId="0"/>
          <p:bldP spid="9" grpId="0"/>
        </p:bldLst>
      </p:timing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8337248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6" name="TextBox 6"/>
          <p:cNvSpPr txBox="1"/>
          <p:nvPr/>
        </p:nvSpPr>
        <p:spPr>
          <a:xfrm>
            <a:off x="33749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项目介绍</a:t>
            </a: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/>
          <p:cNvSpPr txBox="1"/>
          <p:nvPr/>
        </p:nvSpPr>
        <p:spPr>
          <a:xfrm>
            <a:off x="67785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模块设计实现</a:t>
            </a: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项目测试</a:t>
            </a: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4" name="直接连接符 33"/>
          <p:cNvCxnSpPr/>
          <p:nvPr/>
        </p:nvCxnSpPr>
        <p:spPr>
          <a:xfrm>
            <a:off x="425752" y="1528840"/>
            <a:ext cx="240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/>
          <p:nvPr/>
        </p:nvSpPr>
        <p:spPr>
          <a:xfrm>
            <a:off x="438589" y="1001015"/>
            <a:ext cx="2280705" cy="52782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4.1 </a:t>
            </a:r>
            <a:r>
              <a:rPr lang="zh-CN" altLang="en-US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测试环境</a:t>
            </a:r>
          </a:p>
        </p:txBody>
      </p:sp>
      <p:cxnSp>
        <p:nvCxnSpPr>
          <p:cNvPr id="15" name="直接连接符 14"/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/>
          <p:cNvCxnSpPr/>
          <p:nvPr/>
        </p:nvCxnSpPr>
        <p:spPr>
          <a:xfrm>
            <a:off x="66354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表格 1"/>
          <p:cNvGraphicFramePr/>
          <p:nvPr>
            <p:extLst>
              <p:ext uri="{D42A27DB-BD31-4B8C-83A1-F6EECF244321}">
                <p14:modId xmlns:p14="http://schemas.microsoft.com/office/powerpoint/2010/main" val="2617287908"/>
              </p:ext>
            </p:extLst>
          </p:nvPr>
        </p:nvGraphicFramePr>
        <p:xfrm>
          <a:off x="6096000" y="936092"/>
          <a:ext cx="5819977" cy="5831592"/>
        </p:xfrm>
        <a:graphic>
          <a:graphicData uri="http://schemas.openxmlformats.org/drawingml/2006/table">
            <a:tbl>
              <a:tblPr firstRow="1"/>
              <a:tblGrid>
                <a:gridCol w="14478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721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2302"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环境指标</a:t>
                      </a:r>
                    </a:p>
                  </a:txBody>
                  <a:tcPr marL="0" marR="121920" marT="76200" marB="76200" anchor="ctr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环境参数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2302"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Linux</a:t>
                      </a:r>
                      <a:r>
                        <a:rPr lang="zh-CN" altLang="en-US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发行版</a:t>
                      </a:r>
                    </a:p>
                  </a:txBody>
                  <a:tcPr marL="0" marR="121920" marT="76200" marB="76200" anchor="ctr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Ubuntu 22.04</a:t>
                      </a:r>
                    </a:p>
                  </a:txBody>
                  <a:tcPr marL="121920" marR="0" marT="76200" marB="76200" anchor="ctr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2302"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Linux</a:t>
                      </a:r>
                      <a:r>
                        <a:rPr lang="zh-CN" altLang="en-US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内核</a:t>
                      </a:r>
                    </a:p>
                  </a:txBody>
                  <a:tcPr marL="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5.15.0+</a:t>
                      </a:r>
                    </a:p>
                  </a:txBody>
                  <a:tcPr marL="121920" marR="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2302"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机器模式</a:t>
                      </a:r>
                    </a:p>
                  </a:txBody>
                  <a:tcPr marL="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物理机</a:t>
                      </a:r>
                    </a:p>
                  </a:txBody>
                  <a:tcPr marL="121920" marR="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2302"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内存大小</a:t>
                      </a:r>
                    </a:p>
                  </a:txBody>
                  <a:tcPr marL="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23GB</a:t>
                      </a:r>
                    </a:p>
                  </a:txBody>
                  <a:tcPr marL="121920" marR="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2302"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处理器</a:t>
                      </a:r>
                    </a:p>
                  </a:txBody>
                  <a:tcPr marL="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x86-64</a:t>
                      </a:r>
                      <a:r>
                        <a:rPr lang="zh-CN" altLang="en-US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，</a:t>
                      </a:r>
                      <a:r>
                        <a:rPr lang="en-US" alt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8</a:t>
                      </a:r>
                      <a:r>
                        <a:rPr lang="zh-CN" altLang="en-US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核</a:t>
                      </a:r>
                    </a:p>
                  </a:txBody>
                  <a:tcPr marL="121920" marR="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2302"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存储</a:t>
                      </a:r>
                    </a:p>
                  </a:txBody>
                  <a:tcPr marL="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SSD</a:t>
                      </a:r>
                      <a:r>
                        <a:rPr lang="zh-CN" altLang="en-US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，读速</a:t>
                      </a:r>
                      <a:r>
                        <a:rPr lang="en-US" alt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279MB/s</a:t>
                      </a:r>
                    </a:p>
                  </a:txBody>
                  <a:tcPr marL="121920" marR="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2302"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模型</a:t>
                      </a:r>
                    </a:p>
                  </a:txBody>
                  <a:tcPr marL="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Llama-3-8B-Instruct-Q4_K_M.gguf</a:t>
                      </a:r>
                    </a:p>
                  </a:txBody>
                  <a:tcPr marL="121920" marR="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2302"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模型大小</a:t>
                      </a:r>
                    </a:p>
                  </a:txBody>
                  <a:tcPr marL="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4.58GB</a:t>
                      </a:r>
                    </a:p>
                  </a:txBody>
                  <a:tcPr marL="121920" marR="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62302"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环境类型</a:t>
                      </a:r>
                    </a:p>
                  </a:txBody>
                  <a:tcPr marL="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native</a:t>
                      </a:r>
                      <a:r>
                        <a:rPr lang="zh-CN" altLang="en-US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环境 </a:t>
                      </a:r>
                      <a:r>
                        <a:rPr lang="en-US" altLang="zh-CN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/ window</a:t>
                      </a:r>
                      <a:r>
                        <a:rPr lang="zh-CN" altLang="en-US" sz="1600" b="1" i="0">
                          <a:solidFill>
                            <a:srgbClr val="000000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环境</a:t>
                      </a:r>
                    </a:p>
                  </a:txBody>
                  <a:tcPr marL="121920" marR="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62302"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内存限制方式</a:t>
                      </a:r>
                    </a:p>
                  </a:txBody>
                  <a:tcPr marL="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cgroup v2</a:t>
                      </a:r>
                      <a:r>
                        <a:rPr lang="zh-CN" altLang="en-US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（</a:t>
                      </a:r>
                      <a:r>
                        <a:rPr lang="en-US" alt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memory.max</a:t>
                      </a:r>
                      <a:r>
                        <a:rPr lang="zh-CN" altLang="en-US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）</a:t>
                      </a:r>
                    </a:p>
                  </a:txBody>
                  <a:tcPr marL="121920" marR="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62302"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测试工具</a:t>
                      </a:r>
                    </a:p>
                  </a:txBody>
                  <a:tcPr marL="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8580" indent="0"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ts val="100"/>
                        </a:spcAft>
                      </a:pPr>
                      <a:r>
                        <a:rPr lang="en-US" alt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llama-bench</a:t>
                      </a:r>
                      <a:r>
                        <a:rPr lang="zh-CN" altLang="en-US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、</a:t>
                      </a:r>
                      <a:r>
                        <a:rPr lang="en-US" altLang="zh-CN" sz="1600" b="1" i="0">
                          <a:latin typeface="Songti SC" panose="02010600040101010101" pitchFamily="2" charset="-122"/>
                          <a:ea typeface="Songti SC" panose="02010600040101010101" pitchFamily="2" charset="-122"/>
                          <a:cs typeface="黑体" panose="02010609060101010101" charset="-122"/>
                        </a:rPr>
                        <a:t>llama-perplexity</a:t>
                      </a:r>
                    </a:p>
                  </a:txBody>
                  <a:tcPr marL="121920" marR="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pic>
        <p:nvPicPr>
          <p:cNvPr id="3" name="图片 2">
            <a:extLst>
              <a:ext uri="{FF2B5EF4-FFF2-40B4-BE49-F238E27FC236}">
                <a16:creationId xmlns:a16="http://schemas.microsoft.com/office/drawing/2014/main" id="{6E31DF09-41C0-E05F-88D8-FE43285C577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EF51E8B3-C307-C736-CB67-281C07C4D37E}"/>
              </a:ext>
            </a:extLst>
          </p:cNvPr>
          <p:cNvSpPr txBox="1"/>
          <p:nvPr/>
        </p:nvSpPr>
        <p:spPr>
          <a:xfrm>
            <a:off x="276023" y="1737855"/>
            <a:ext cx="5568186" cy="45067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实验均在同一物理机、操作系统与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SSD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环境下进行，通过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cgroup v2 memory.max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构造不同内存压力，保证各方案对比条件一致。分别针对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Dense Layer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、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MoE Expert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与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KV Cache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建立受控实验，并结合运行时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Trace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分析真实资源行为。</a:t>
            </a:r>
          </a:p>
          <a:p>
            <a:pPr>
              <a:lnSpc>
                <a:spcPct val="120000"/>
              </a:lnSpc>
            </a:pP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测试关注四点：</a:t>
            </a:r>
          </a:p>
          <a:p>
            <a:pPr marL="457200" indent="-457200">
              <a:lnSpc>
                <a:spcPct val="120000"/>
              </a:lnSpc>
              <a:buFont typeface="+mj-lt"/>
              <a:buAutoNum type="arabicPeriod"/>
            </a:pP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物理驻留：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RSS / mincore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是否真实下降 </a:t>
            </a:r>
          </a:p>
          <a:p>
            <a:pPr marL="457200" indent="-457200">
              <a:lnSpc>
                <a:spcPct val="120000"/>
              </a:lnSpc>
              <a:buFont typeface="+mj-lt"/>
              <a:buAutoNum type="arabicPeriod"/>
            </a:pP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运行性能：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TPS / TPOT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、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I/O Wait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与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Resume Gate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代价 </a:t>
            </a:r>
          </a:p>
          <a:p>
            <a:pPr marL="457200" indent="-457200">
              <a:lnSpc>
                <a:spcPct val="120000"/>
              </a:lnSpc>
              <a:buFont typeface="+mj-lt"/>
              <a:buAutoNum type="arabicPeriod"/>
            </a:pP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运行稳定性： 严格内存限制下是否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OOM / Thrashing </a:t>
            </a:r>
          </a:p>
          <a:p>
            <a:pPr marL="457200" indent="-457200">
              <a:lnSpc>
                <a:spcPct val="120000"/>
              </a:lnSpc>
              <a:buFont typeface="+mj-lt"/>
              <a:buAutoNum type="arabicPeriod"/>
            </a:pP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正确性： 优化前后模型计算语义是否一致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8337248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6" name="TextBox 6"/>
          <p:cNvSpPr txBox="1"/>
          <p:nvPr/>
        </p:nvSpPr>
        <p:spPr>
          <a:xfrm>
            <a:off x="33749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项目介绍</a:t>
            </a: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/>
          <p:cNvSpPr txBox="1"/>
          <p:nvPr/>
        </p:nvSpPr>
        <p:spPr>
          <a:xfrm>
            <a:off x="67785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模块设计实现</a:t>
            </a: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4" name="直接连接符 33"/>
          <p:cNvCxnSpPr>
            <a:cxnSpLocks/>
          </p:cNvCxnSpPr>
          <p:nvPr/>
        </p:nvCxnSpPr>
        <p:spPr>
          <a:xfrm>
            <a:off x="337116" y="1584824"/>
            <a:ext cx="438183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/>
          <p:nvPr/>
        </p:nvSpPr>
        <p:spPr>
          <a:xfrm>
            <a:off x="302321" y="1077092"/>
            <a:ext cx="4433403" cy="46626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4.2.1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 消除 </a:t>
            </a:r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Repack 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冗余权重驻留</a:t>
            </a:r>
          </a:p>
        </p:txBody>
      </p:sp>
      <p:cxnSp>
        <p:nvCxnSpPr>
          <p:cNvPr id="15" name="直接连接符 14"/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/>
          <p:cNvCxnSpPr/>
          <p:nvPr/>
        </p:nvCxnSpPr>
        <p:spPr>
          <a:xfrm>
            <a:off x="66354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>
            <a:extLst>
              <a:ext uri="{FF2B5EF4-FFF2-40B4-BE49-F238E27FC236}">
                <a16:creationId xmlns:a16="http://schemas.microsoft.com/office/drawing/2014/main" id="{6642B047-C424-1097-FF2E-8E30314D9D5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C78C21EA-8015-22C5-A85A-86E0F31E61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2561606"/>
              </p:ext>
            </p:extLst>
          </p:nvPr>
        </p:nvGraphicFramePr>
        <p:xfrm>
          <a:off x="337116" y="4872875"/>
          <a:ext cx="9007062" cy="18288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251766">
                  <a:extLst>
                    <a:ext uri="{9D8B030D-6E8A-4147-A177-3AD203B41FA5}">
                      <a16:colId xmlns:a16="http://schemas.microsoft.com/office/drawing/2014/main" val="1275630233"/>
                    </a:ext>
                  </a:extLst>
                </a:gridCol>
                <a:gridCol w="1766081">
                  <a:extLst>
                    <a:ext uri="{9D8B030D-6E8A-4147-A177-3AD203B41FA5}">
                      <a16:colId xmlns:a16="http://schemas.microsoft.com/office/drawing/2014/main" val="3592885808"/>
                    </a:ext>
                  </a:extLst>
                </a:gridCol>
                <a:gridCol w="2073261">
                  <a:extLst>
                    <a:ext uri="{9D8B030D-6E8A-4147-A177-3AD203B41FA5}">
                      <a16:colId xmlns:a16="http://schemas.microsoft.com/office/drawing/2014/main" val="4166160254"/>
                    </a:ext>
                  </a:extLst>
                </a:gridCol>
                <a:gridCol w="2915954">
                  <a:extLst>
                    <a:ext uri="{9D8B030D-6E8A-4147-A177-3AD203B41FA5}">
                      <a16:colId xmlns:a16="http://schemas.microsoft.com/office/drawing/2014/main" val="123147539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配置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RSS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吞吐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说明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4398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Dense native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7.77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8.15 tok/s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mmap + repack 匿名副本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314178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Dense no repack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4.56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8.60 tok/s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消除额外权重复制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87901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MoE native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5.73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19.26 tok/s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expert 全量驻留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6503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MoE no repack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3.60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19.58 tok/s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Buffer 直接管理 expert 权重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86338798"/>
                  </a:ext>
                </a:extLst>
              </a:tr>
            </a:tbl>
          </a:graphicData>
        </a:graphic>
      </p:graphicFrame>
      <p:sp>
        <p:nvSpPr>
          <p:cNvPr id="10" name="文本框 9">
            <a:extLst>
              <a:ext uri="{FF2B5EF4-FFF2-40B4-BE49-F238E27FC236}">
                <a16:creationId xmlns:a16="http://schemas.microsoft.com/office/drawing/2014/main" id="{D49EF2A0-A030-793A-278B-6ED44FBBFC07}"/>
              </a:ext>
            </a:extLst>
          </p:cNvPr>
          <p:cNvSpPr txBox="1"/>
          <p:nvPr/>
        </p:nvSpPr>
        <p:spPr>
          <a:xfrm>
            <a:off x="302321" y="1776957"/>
            <a:ext cx="4856464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关闭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repack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后，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Dense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与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MoE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模型的基础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RSS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均明显下降。</a:t>
            </a:r>
            <a:b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</a:b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Dense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模型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RSS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从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7.77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GB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降至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4.56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GB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，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减少约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3.21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GB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（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41.3%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）；</a:t>
            </a:r>
            <a:b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</a:b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MoE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模型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RSS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从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5.73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GB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降至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3.60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GB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，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减少约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2.13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GB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（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37.2%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）。</a:t>
            </a:r>
          </a:p>
          <a:p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同时吞吐未下降，说明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repack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形成的匿名权重副本属于可消除的冗余驻留，为后续显式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Residency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管理释放更多物理内存。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230FB57-7EE8-FAB3-F160-6869761799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06873" y="1077092"/>
            <a:ext cx="6823264" cy="36713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DEB26-0719-61BB-A656-89E56FD75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861400A9-DE11-3BB5-B37D-5C60214D06AB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7A93145-6C35-1EF9-30DB-AB3CD0A71B23}"/>
              </a:ext>
            </a:extLst>
          </p:cNvPr>
          <p:cNvSpPr/>
          <p:nvPr/>
        </p:nvSpPr>
        <p:spPr>
          <a:xfrm>
            <a:off x="8337248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6" name="TextBox 6">
            <a:extLst>
              <a:ext uri="{FF2B5EF4-FFF2-40B4-BE49-F238E27FC236}">
                <a16:creationId xmlns:a16="http://schemas.microsoft.com/office/drawing/2014/main" id="{F1CDF498-8713-73FE-ED8F-AE5C2E8AF080}"/>
              </a:ext>
            </a:extLst>
          </p:cNvPr>
          <p:cNvSpPr txBox="1"/>
          <p:nvPr/>
        </p:nvSpPr>
        <p:spPr>
          <a:xfrm>
            <a:off x="33749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项目介绍</a:t>
            </a:r>
          </a:p>
        </p:txBody>
      </p:sp>
      <p:sp>
        <p:nvSpPr>
          <p:cNvPr id="27" name="TextBox 7">
            <a:extLst>
              <a:ext uri="{FF2B5EF4-FFF2-40B4-BE49-F238E27FC236}">
                <a16:creationId xmlns:a16="http://schemas.microsoft.com/office/drawing/2014/main" id="{C6DC90ED-A5BE-9945-388F-91517FD99204}"/>
              </a:ext>
            </a:extLst>
          </p:cNvPr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>
            <a:extLst>
              <a:ext uri="{FF2B5EF4-FFF2-40B4-BE49-F238E27FC236}">
                <a16:creationId xmlns:a16="http://schemas.microsoft.com/office/drawing/2014/main" id="{DD727FAA-6573-16D5-4FE3-A08D06E72A85}"/>
              </a:ext>
            </a:extLst>
          </p:cNvPr>
          <p:cNvSpPr txBox="1"/>
          <p:nvPr/>
        </p:nvSpPr>
        <p:spPr>
          <a:xfrm>
            <a:off x="67785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模块设计实现</a:t>
            </a:r>
          </a:p>
        </p:txBody>
      </p:sp>
      <p:sp>
        <p:nvSpPr>
          <p:cNvPr id="29" name="TextBox 10">
            <a:extLst>
              <a:ext uri="{FF2B5EF4-FFF2-40B4-BE49-F238E27FC236}">
                <a16:creationId xmlns:a16="http://schemas.microsoft.com/office/drawing/2014/main" id="{AEBAAABA-3F5D-EC08-C9B0-560F333968BC}"/>
              </a:ext>
            </a:extLst>
          </p:cNvPr>
          <p:cNvSpPr txBox="1"/>
          <p:nvPr/>
        </p:nvSpPr>
        <p:spPr>
          <a:xfrm>
            <a:off x="8480349" y="215904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>
            <a:extLst>
              <a:ext uri="{FF2B5EF4-FFF2-40B4-BE49-F238E27FC236}">
                <a16:creationId xmlns:a16="http://schemas.microsoft.com/office/drawing/2014/main" id="{FC3404E6-3226-CFB1-D388-AE60366F169B}"/>
              </a:ext>
            </a:extLst>
          </p:cNvPr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26E43EC0-2F58-6B61-58F9-57FA46F87D8E}"/>
              </a:ext>
            </a:extLst>
          </p:cNvPr>
          <p:cNvCxnSpPr>
            <a:cxnSpLocks/>
          </p:cNvCxnSpPr>
          <p:nvPr/>
        </p:nvCxnSpPr>
        <p:spPr>
          <a:xfrm>
            <a:off x="404868" y="1992485"/>
            <a:ext cx="364208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>
            <a:extLst>
              <a:ext uri="{FF2B5EF4-FFF2-40B4-BE49-F238E27FC236}">
                <a16:creationId xmlns:a16="http://schemas.microsoft.com/office/drawing/2014/main" id="{36CB7374-61D7-E7D6-4B0E-BEF406BE438D}"/>
              </a:ext>
            </a:extLst>
          </p:cNvPr>
          <p:cNvSpPr txBox="1"/>
          <p:nvPr/>
        </p:nvSpPr>
        <p:spPr>
          <a:xfrm>
            <a:off x="284334" y="1094416"/>
            <a:ext cx="3883147" cy="835601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4.2.2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 </a:t>
            </a:r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Dense 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显式驻留降低 </a:t>
            </a:r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Weight Streaming</a:t>
            </a:r>
            <a:endParaRPr lang="zh-CN" alt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39F94141-F412-D2AF-525E-FBE789D70BD5}"/>
              </a:ext>
            </a:extLst>
          </p:cNvPr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0AB3CD2-9F83-80D2-C3D8-92A3B67C6D0C}"/>
              </a:ext>
            </a:extLst>
          </p:cNvPr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C8069D5-A6C8-0E55-9ABA-7A825CB5740B}"/>
              </a:ext>
            </a:extLst>
          </p:cNvPr>
          <p:cNvCxnSpPr/>
          <p:nvPr/>
        </p:nvCxnSpPr>
        <p:spPr>
          <a:xfrm>
            <a:off x="66354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>
            <a:extLst>
              <a:ext uri="{FF2B5EF4-FFF2-40B4-BE49-F238E27FC236}">
                <a16:creationId xmlns:a16="http://schemas.microsoft.com/office/drawing/2014/main" id="{3235190C-EEAB-E010-9453-1C27B391DD2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2A256BB5-A076-84B5-DA98-9E5477989C61}"/>
              </a:ext>
            </a:extLst>
          </p:cNvPr>
          <p:cNvSpPr txBox="1"/>
          <p:nvPr/>
        </p:nvSpPr>
        <p:spPr>
          <a:xfrm>
            <a:off x="404868" y="2618746"/>
            <a:ext cx="511102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Dense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模型每个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Token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均需重复访问完整权重，若有效权重不能保持驻留，将产生大量重复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Weight Streaming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。</a:t>
            </a:r>
          </a:p>
          <a:p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引入显式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Residency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后：</a:t>
            </a:r>
            <a:b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</a:b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Stream/token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：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2684 → 612 MiB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，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下降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77.2%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；</a:t>
            </a:r>
            <a:b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</a:b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Flex Wait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：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25.69 → 6.63 s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，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下降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74.2%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；</a:t>
            </a:r>
            <a:b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</a:b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吞吐：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1.77 → 5.18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tok/s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，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提升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2.93×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。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274F2FF-F31F-B663-488B-3B395E728A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41323" y="1177173"/>
            <a:ext cx="6166343" cy="4226025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4D1454CD-8BEE-EBA1-C3A0-3D13844546FC}"/>
              </a:ext>
            </a:extLst>
          </p:cNvPr>
          <p:cNvSpPr txBox="1"/>
          <p:nvPr/>
        </p:nvSpPr>
        <p:spPr>
          <a:xfrm>
            <a:off x="567721" y="5638300"/>
            <a:ext cx="1034720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结论：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</a:rPr>
              <a:t>显式维护 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Layer Working Set</a:t>
            </a:r>
            <a:r>
              <a:rPr lang="zh-CN" altLang="en" sz="2400" b="1">
                <a:latin typeface="Songti SC" panose="02010600040101010101" pitchFamily="2" charset="-122"/>
                <a:ea typeface="Songti SC" panose="02010600040101010101" pitchFamily="2" charset="-122"/>
              </a:rPr>
              <a:t>，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</a:rPr>
              <a:t>可显著减少重复权重读取</a:t>
            </a:r>
            <a:endParaRPr lang="en-US" altLang="zh-CN" sz="2400" b="1">
              <a:latin typeface="Songti SC" panose="02010600040101010101" pitchFamily="2" charset="-122"/>
              <a:ea typeface="Songti SC" panose="02010600040101010101" pitchFamily="2" charset="-122"/>
            </a:endParaRPr>
          </a:p>
          <a:p>
            <a:pPr algn="ctr"/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</a:rPr>
              <a:t>与同步 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I/O 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</a:rPr>
              <a:t>等待，提高受限内存下的 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Dense 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</a:rPr>
              <a:t>推理吞吐。</a:t>
            </a:r>
          </a:p>
        </p:txBody>
      </p:sp>
    </p:spTree>
    <p:extLst>
      <p:ext uri="{BB962C8B-B14F-4D97-AF65-F5344CB8AC3E}">
        <p14:creationId xmlns:p14="http://schemas.microsoft.com/office/powerpoint/2010/main" val="276827807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EE2DC-0887-834D-795E-36F00D8A8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A1F642D1-4A97-831A-3E1D-8D6FF65FDF61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DE7914C-6B98-26D1-EFC7-643514739B10}"/>
              </a:ext>
            </a:extLst>
          </p:cNvPr>
          <p:cNvSpPr/>
          <p:nvPr/>
        </p:nvSpPr>
        <p:spPr>
          <a:xfrm>
            <a:off x="8337248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6" name="TextBox 6">
            <a:extLst>
              <a:ext uri="{FF2B5EF4-FFF2-40B4-BE49-F238E27FC236}">
                <a16:creationId xmlns:a16="http://schemas.microsoft.com/office/drawing/2014/main" id="{A8816B15-EC1C-EEA1-F000-578699D70299}"/>
              </a:ext>
            </a:extLst>
          </p:cNvPr>
          <p:cNvSpPr txBox="1"/>
          <p:nvPr/>
        </p:nvSpPr>
        <p:spPr>
          <a:xfrm>
            <a:off x="33749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项目介绍</a:t>
            </a:r>
          </a:p>
        </p:txBody>
      </p:sp>
      <p:sp>
        <p:nvSpPr>
          <p:cNvPr id="27" name="TextBox 7">
            <a:extLst>
              <a:ext uri="{FF2B5EF4-FFF2-40B4-BE49-F238E27FC236}">
                <a16:creationId xmlns:a16="http://schemas.microsoft.com/office/drawing/2014/main" id="{12E5A037-9682-8016-4EE7-24419BA24FDE}"/>
              </a:ext>
            </a:extLst>
          </p:cNvPr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>
            <a:extLst>
              <a:ext uri="{FF2B5EF4-FFF2-40B4-BE49-F238E27FC236}">
                <a16:creationId xmlns:a16="http://schemas.microsoft.com/office/drawing/2014/main" id="{A3017025-1698-4083-3498-FD27AD66967A}"/>
              </a:ext>
            </a:extLst>
          </p:cNvPr>
          <p:cNvSpPr txBox="1"/>
          <p:nvPr/>
        </p:nvSpPr>
        <p:spPr>
          <a:xfrm>
            <a:off x="67785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模块设计实现</a:t>
            </a:r>
          </a:p>
        </p:txBody>
      </p:sp>
      <p:sp>
        <p:nvSpPr>
          <p:cNvPr id="29" name="TextBox 10">
            <a:extLst>
              <a:ext uri="{FF2B5EF4-FFF2-40B4-BE49-F238E27FC236}">
                <a16:creationId xmlns:a16="http://schemas.microsoft.com/office/drawing/2014/main" id="{D65F23BD-2D11-4501-42FF-7F089762A098}"/>
              </a:ext>
            </a:extLst>
          </p:cNvPr>
          <p:cNvSpPr txBox="1"/>
          <p:nvPr/>
        </p:nvSpPr>
        <p:spPr>
          <a:xfrm>
            <a:off x="8480349" y="215904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>
            <a:extLst>
              <a:ext uri="{FF2B5EF4-FFF2-40B4-BE49-F238E27FC236}">
                <a16:creationId xmlns:a16="http://schemas.microsoft.com/office/drawing/2014/main" id="{91EAC145-7B1A-CE28-4D12-1A3CF55351A8}"/>
              </a:ext>
            </a:extLst>
          </p:cNvPr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1EC798C8-BADC-F98D-A598-918634C722C4}"/>
              </a:ext>
            </a:extLst>
          </p:cNvPr>
          <p:cNvCxnSpPr>
            <a:cxnSpLocks/>
          </p:cNvCxnSpPr>
          <p:nvPr/>
        </p:nvCxnSpPr>
        <p:spPr>
          <a:xfrm>
            <a:off x="404868" y="1992485"/>
            <a:ext cx="364208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>
            <a:extLst>
              <a:ext uri="{FF2B5EF4-FFF2-40B4-BE49-F238E27FC236}">
                <a16:creationId xmlns:a16="http://schemas.microsoft.com/office/drawing/2014/main" id="{051223FC-A1DD-F5F9-03B5-855BB1AC710A}"/>
              </a:ext>
            </a:extLst>
          </p:cNvPr>
          <p:cNvSpPr txBox="1"/>
          <p:nvPr/>
        </p:nvSpPr>
        <p:spPr>
          <a:xfrm>
            <a:off x="284334" y="1094416"/>
            <a:ext cx="3883147" cy="835601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4.2.3 </a:t>
            </a:r>
            <a:r>
              <a:rPr lang="en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Risk-Aware Lock </a:t>
            </a:r>
          </a:p>
          <a:p>
            <a:pPr algn="ctr"/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避免 </a:t>
            </a:r>
            <a:r>
              <a:rPr lang="en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OOM 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边界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B1B0C0A-F7DA-CA9C-3F28-D6562D70AB7C}"/>
              </a:ext>
            </a:extLst>
          </p:cNvPr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406EE94-DDFB-0268-6154-FC3D104316E7}"/>
              </a:ext>
            </a:extLst>
          </p:cNvPr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F4CACBC-F3C1-BD66-6C80-7A7A41F1F0B0}"/>
              </a:ext>
            </a:extLst>
          </p:cNvPr>
          <p:cNvCxnSpPr/>
          <p:nvPr/>
        </p:nvCxnSpPr>
        <p:spPr>
          <a:xfrm>
            <a:off x="66354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>
            <a:extLst>
              <a:ext uri="{FF2B5EF4-FFF2-40B4-BE49-F238E27FC236}">
                <a16:creationId xmlns:a16="http://schemas.microsoft.com/office/drawing/2014/main" id="{5F7E27A1-9D18-A2B0-606F-C4E38802B9A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086B2CA0-16F4-BFDD-872E-133A1916AD24}"/>
              </a:ext>
            </a:extLst>
          </p:cNvPr>
          <p:cNvSpPr txBox="1"/>
          <p:nvPr/>
        </p:nvSpPr>
        <p:spPr>
          <a:xfrm>
            <a:off x="319132" y="2167874"/>
            <a:ext cx="4671881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权重锁定并非越多越好：过度扩大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Residency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会挤占运行时内存，并直接触发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OOM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。</a:t>
            </a:r>
          </a:p>
          <a:p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Legacy Auto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：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1682 MiB/token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，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37.54 s Wait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，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2.31 tok/s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；</a:t>
            </a:r>
            <a:b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</a:b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Greedy Max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：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3/3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运行均触发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OOM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；</a:t>
            </a:r>
            <a:b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</a:b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Risk-Aware Auto v2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：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1382 MiB/token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，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34.19 s Wait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，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2.53 tok/s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。</a:t>
            </a:r>
          </a:p>
          <a:p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在安全运行前提下，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Risk-Aware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相比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Legacy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减少约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300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MiB/token Streaming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。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7E639C2-4893-A1C9-2D2A-790BE56A4B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08122" y="1230038"/>
            <a:ext cx="6458252" cy="417316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B3992E8B-5DB8-A226-B1D9-ADCF3984A389}"/>
              </a:ext>
            </a:extLst>
          </p:cNvPr>
          <p:cNvSpPr txBox="1"/>
          <p:nvPr/>
        </p:nvSpPr>
        <p:spPr>
          <a:xfrm>
            <a:off x="1291621" y="5641055"/>
            <a:ext cx="82460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结论：</a:t>
            </a:r>
            <a:r>
              <a:rPr lang="zh-CN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Lock Budget 需要同时权衡驻留收益与 OOM 风险，</a:t>
            </a:r>
            <a:endParaRPr lang="en-US" altLang="zh-CN" sz="2400" b="1">
              <a:latin typeface="Songti SC" panose="02010600040101010101" pitchFamily="2" charset="-122"/>
              <a:ea typeface="Songti SC" panose="02010600040101010101" pitchFamily="2" charset="-122"/>
            </a:endParaRPr>
          </a:p>
          <a:p>
            <a:pPr algn="ctr"/>
            <a:r>
              <a:rPr lang="zh-CN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而不是简单最大化权重驻留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206400144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16B8F-3323-88F6-3BC3-D8D76A605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4E45FB83-5D5A-26A4-CF21-3350A87919BD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13901FE-0C04-4258-DCFF-9D53BA9DC306}"/>
              </a:ext>
            </a:extLst>
          </p:cNvPr>
          <p:cNvSpPr/>
          <p:nvPr/>
        </p:nvSpPr>
        <p:spPr>
          <a:xfrm>
            <a:off x="8337248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6" name="TextBox 6">
            <a:extLst>
              <a:ext uri="{FF2B5EF4-FFF2-40B4-BE49-F238E27FC236}">
                <a16:creationId xmlns:a16="http://schemas.microsoft.com/office/drawing/2014/main" id="{00DAC821-2518-4AF0-34DA-94D7A8C8F698}"/>
              </a:ext>
            </a:extLst>
          </p:cNvPr>
          <p:cNvSpPr txBox="1"/>
          <p:nvPr/>
        </p:nvSpPr>
        <p:spPr>
          <a:xfrm>
            <a:off x="33749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项目介绍</a:t>
            </a:r>
          </a:p>
        </p:txBody>
      </p:sp>
      <p:sp>
        <p:nvSpPr>
          <p:cNvPr id="27" name="TextBox 7">
            <a:extLst>
              <a:ext uri="{FF2B5EF4-FFF2-40B4-BE49-F238E27FC236}">
                <a16:creationId xmlns:a16="http://schemas.microsoft.com/office/drawing/2014/main" id="{0FDCC723-AEB2-137A-B72D-56B62ECDECB2}"/>
              </a:ext>
            </a:extLst>
          </p:cNvPr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>
            <a:extLst>
              <a:ext uri="{FF2B5EF4-FFF2-40B4-BE49-F238E27FC236}">
                <a16:creationId xmlns:a16="http://schemas.microsoft.com/office/drawing/2014/main" id="{6A00DC59-2450-B3E9-FA9B-19783AD0F866}"/>
              </a:ext>
            </a:extLst>
          </p:cNvPr>
          <p:cNvSpPr txBox="1"/>
          <p:nvPr/>
        </p:nvSpPr>
        <p:spPr>
          <a:xfrm>
            <a:off x="67785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模块设计实现</a:t>
            </a:r>
          </a:p>
        </p:txBody>
      </p:sp>
      <p:sp>
        <p:nvSpPr>
          <p:cNvPr id="29" name="TextBox 10">
            <a:extLst>
              <a:ext uri="{FF2B5EF4-FFF2-40B4-BE49-F238E27FC236}">
                <a16:creationId xmlns:a16="http://schemas.microsoft.com/office/drawing/2014/main" id="{44E038CD-BFDC-9307-660B-7406E146D822}"/>
              </a:ext>
            </a:extLst>
          </p:cNvPr>
          <p:cNvSpPr txBox="1"/>
          <p:nvPr/>
        </p:nvSpPr>
        <p:spPr>
          <a:xfrm>
            <a:off x="8480349" y="215904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>
            <a:extLst>
              <a:ext uri="{FF2B5EF4-FFF2-40B4-BE49-F238E27FC236}">
                <a16:creationId xmlns:a16="http://schemas.microsoft.com/office/drawing/2014/main" id="{DC118686-5D79-5B5B-7269-494CFBF043E9}"/>
              </a:ext>
            </a:extLst>
          </p:cNvPr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BB0AA0F1-17B5-1CC7-D1FD-4997E38D4649}"/>
              </a:ext>
            </a:extLst>
          </p:cNvPr>
          <p:cNvCxnSpPr>
            <a:cxnSpLocks/>
          </p:cNvCxnSpPr>
          <p:nvPr/>
        </p:nvCxnSpPr>
        <p:spPr>
          <a:xfrm>
            <a:off x="284334" y="1699432"/>
            <a:ext cx="464931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>
            <a:extLst>
              <a:ext uri="{FF2B5EF4-FFF2-40B4-BE49-F238E27FC236}">
                <a16:creationId xmlns:a16="http://schemas.microsoft.com/office/drawing/2014/main" id="{2E91923F-6F55-CEE6-2331-1691FEBF222C}"/>
              </a:ext>
            </a:extLst>
          </p:cNvPr>
          <p:cNvSpPr txBox="1"/>
          <p:nvPr/>
        </p:nvSpPr>
        <p:spPr>
          <a:xfrm>
            <a:off x="284334" y="1109208"/>
            <a:ext cx="4649314" cy="46626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4.2.4 </a:t>
            </a:r>
            <a:r>
              <a:rPr lang="en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Adaptive Ahead 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权重预取调度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3FC309C-9314-3202-58E8-4CBF61D56538}"/>
              </a:ext>
            </a:extLst>
          </p:cNvPr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539F6FD-71D3-CE75-477C-8322710BBD23}"/>
              </a:ext>
            </a:extLst>
          </p:cNvPr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F04197C-1CB9-A191-3610-9B8EF63A4841}"/>
              </a:ext>
            </a:extLst>
          </p:cNvPr>
          <p:cNvCxnSpPr/>
          <p:nvPr/>
        </p:nvCxnSpPr>
        <p:spPr>
          <a:xfrm>
            <a:off x="66354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>
            <a:extLst>
              <a:ext uri="{FF2B5EF4-FFF2-40B4-BE49-F238E27FC236}">
                <a16:creationId xmlns:a16="http://schemas.microsoft.com/office/drawing/2014/main" id="{441EE7A9-B803-D407-A1A1-503DE7E2959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C035E92E-1D4B-6C33-A40C-107A39435F7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6669" y="2042918"/>
            <a:ext cx="7590720" cy="3556292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77D6F8F6-5033-978E-AAD9-BF926B765132}"/>
              </a:ext>
            </a:extLst>
          </p:cNvPr>
          <p:cNvSpPr txBox="1"/>
          <p:nvPr/>
        </p:nvSpPr>
        <p:spPr>
          <a:xfrm>
            <a:off x="922397" y="5774580"/>
            <a:ext cx="1034720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结论：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Adaptive Ahead 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</a:rPr>
              <a:t>将 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Stream/token 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</a:rPr>
              <a:t>降低 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38.4%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</a:rPr>
              <a:t>，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Flex Wait 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</a:rPr>
              <a:t>由 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36.51 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s 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</a:rPr>
              <a:t>降至 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23.13 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s</a:t>
            </a:r>
            <a:r>
              <a:rPr lang="zh-CN" altLang="en" sz="2400" b="1">
                <a:latin typeface="Songti SC" panose="02010600040101010101" pitchFamily="2" charset="-122"/>
                <a:ea typeface="Songti SC" panose="02010600040101010101" pitchFamily="2" charset="-122"/>
              </a:rPr>
              <a:t>，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TPS 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</a:rPr>
              <a:t>提升至 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3.32 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tok/s</a:t>
            </a:r>
            <a:r>
              <a:rPr lang="zh-CN" altLang="en" sz="2400" b="1">
                <a:latin typeface="Songti SC" panose="02010600040101010101" pitchFamily="2" charset="-122"/>
                <a:ea typeface="Songti SC" panose="02010600040101010101" pitchFamily="2" charset="-122"/>
              </a:rPr>
              <a:t>；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</a:rPr>
              <a:t>能够有效避免固定低 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Ahead 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</a:rPr>
              <a:t>的 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I/O Stall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</a:rPr>
              <a:t>。</a:t>
            </a:r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DE8224D2-6AD1-DD96-773A-286A66569B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2456367"/>
              </p:ext>
            </p:extLst>
          </p:nvPr>
        </p:nvGraphicFramePr>
        <p:xfrm>
          <a:off x="7786340" y="1892686"/>
          <a:ext cx="4210040" cy="371856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842008">
                  <a:extLst>
                    <a:ext uri="{9D8B030D-6E8A-4147-A177-3AD203B41FA5}">
                      <a16:colId xmlns:a16="http://schemas.microsoft.com/office/drawing/2014/main" val="2088818981"/>
                    </a:ext>
                  </a:extLst>
                </a:gridCol>
                <a:gridCol w="842008">
                  <a:extLst>
                    <a:ext uri="{9D8B030D-6E8A-4147-A177-3AD203B41FA5}">
                      <a16:colId xmlns:a16="http://schemas.microsoft.com/office/drawing/2014/main" val="3123614019"/>
                    </a:ext>
                  </a:extLst>
                </a:gridCol>
                <a:gridCol w="842008">
                  <a:extLst>
                    <a:ext uri="{9D8B030D-6E8A-4147-A177-3AD203B41FA5}">
                      <a16:colId xmlns:a16="http://schemas.microsoft.com/office/drawing/2014/main" val="3147139377"/>
                    </a:ext>
                  </a:extLst>
                </a:gridCol>
                <a:gridCol w="842008">
                  <a:extLst>
                    <a:ext uri="{9D8B030D-6E8A-4147-A177-3AD203B41FA5}">
                      <a16:colId xmlns:a16="http://schemas.microsoft.com/office/drawing/2014/main" val="21687070"/>
                    </a:ext>
                  </a:extLst>
                </a:gridCol>
                <a:gridCol w="842008">
                  <a:extLst>
                    <a:ext uri="{9D8B030D-6E8A-4147-A177-3AD203B41FA5}">
                      <a16:colId xmlns:a16="http://schemas.microsoft.com/office/drawing/2014/main" val="1085911851"/>
                    </a:ext>
                  </a:extLst>
                </a:gridCol>
              </a:tblGrid>
              <a:tr h="333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Ahead 策略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6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Stream/token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6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Flex Wait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6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吞吐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Ahead 策略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3929412"/>
                  </a:ext>
                </a:extLst>
              </a:tr>
              <a:tr h="333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ahead0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6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1682 MiB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6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36.51 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6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2.36 tok/s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ahead0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7880348"/>
                  </a:ext>
                </a:extLst>
              </a:tr>
              <a:tr h="333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ahead1 fixed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6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1682 MiB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6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36.40 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6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2.38 tok/s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ahead1 fixed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4934739"/>
                  </a:ext>
                </a:extLst>
              </a:tr>
              <a:tr h="333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ahead2 fixed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6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1682 MiB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6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38.50 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6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2.33 tok/s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ahead2 fixed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38011519"/>
                  </a:ext>
                </a:extLst>
              </a:tr>
              <a:tr h="333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Adaptive Ahead</a:t>
                      </a:r>
                      <a:endParaRPr lang="zh-CN" sz="1600"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600" b="1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1036 MiB</a:t>
                      </a:r>
                      <a:endParaRPr lang="zh-CN" sz="1600"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600" b="1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23.13 s</a:t>
                      </a:r>
                      <a:endParaRPr lang="zh-CN" sz="1600"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600" b="1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3.32 tok/s</a:t>
                      </a:r>
                      <a:endParaRPr lang="zh-CN" sz="1600"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Adaptive Ahead</a:t>
                      </a:r>
                      <a:endParaRPr lang="zh-CN" sz="1600"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83242470"/>
                  </a:ext>
                </a:extLst>
              </a:tr>
              <a:tr h="333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ahead4 fixed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6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1682 MiB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600" b="1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0.377 s</a:t>
                      </a:r>
                      <a:endParaRPr lang="zh-CN" sz="1600"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600" b="1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4.94 tok/s</a:t>
                      </a:r>
                      <a:endParaRPr lang="zh-CN" sz="1600"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ahead4 fixed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552848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8730640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8337248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6" name="TextBox 6"/>
          <p:cNvSpPr txBox="1"/>
          <p:nvPr/>
        </p:nvSpPr>
        <p:spPr>
          <a:xfrm>
            <a:off x="33749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项目介绍</a:t>
            </a: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/>
          <p:cNvSpPr txBox="1"/>
          <p:nvPr/>
        </p:nvSpPr>
        <p:spPr>
          <a:xfrm>
            <a:off x="67785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模块设计实现</a:t>
            </a: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4" name="直接连接符 33"/>
          <p:cNvCxnSpPr>
            <a:cxnSpLocks/>
          </p:cNvCxnSpPr>
          <p:nvPr/>
        </p:nvCxnSpPr>
        <p:spPr>
          <a:xfrm>
            <a:off x="458369" y="1648838"/>
            <a:ext cx="4293197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/>
          <p:nvPr/>
        </p:nvSpPr>
        <p:spPr>
          <a:xfrm>
            <a:off x="186656" y="1130784"/>
            <a:ext cx="4890093" cy="46626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4.3.1 MoE-Buffer 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工作集边界</a:t>
            </a:r>
          </a:p>
        </p:txBody>
      </p:sp>
      <p:cxnSp>
        <p:nvCxnSpPr>
          <p:cNvPr id="15" name="直接连接符 14"/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/>
          <p:cNvCxnSpPr/>
          <p:nvPr/>
        </p:nvCxnSpPr>
        <p:spPr>
          <a:xfrm>
            <a:off x="66354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>
            <a:extLst>
              <a:ext uri="{FF2B5EF4-FFF2-40B4-BE49-F238E27FC236}">
                <a16:creationId xmlns:a16="http://schemas.microsoft.com/office/drawing/2014/main" id="{4C9E60DA-9FBA-35F6-CFFD-C0CD2422D3F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37DD2430-770C-D0F0-7927-800680B025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14465" y="1192446"/>
            <a:ext cx="5711566" cy="3945031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C3BE69A9-E8D6-AA4E-6B1A-C74CC7FAD0AE}"/>
              </a:ext>
            </a:extLst>
          </p:cNvPr>
          <p:cNvSpPr txBox="1"/>
          <p:nvPr/>
        </p:nvSpPr>
        <p:spPr>
          <a:xfrm>
            <a:off x="253389" y="1981022"/>
            <a:ext cx="6022825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MoE Buffer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存在明显的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Expert Working Set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边界。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Budget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低于工作集时，活跃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Expert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无法稳定驻留，产生大量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Eviction / Reload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，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系统进入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I/O Thrashing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。</a:t>
            </a:r>
          </a:p>
          <a:p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当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Budget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增至约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2432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MB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后，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Evictions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降至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0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、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Read/token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接近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0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，说明主要活跃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Expert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已被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Buffer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覆盖。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A593E928-9328-C262-2E56-E54864C059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623113"/>
              </p:ext>
            </p:extLst>
          </p:nvPr>
        </p:nvGraphicFramePr>
        <p:xfrm>
          <a:off x="195620" y="4020588"/>
          <a:ext cx="6525160" cy="246888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305032">
                  <a:extLst>
                    <a:ext uri="{9D8B030D-6E8A-4147-A177-3AD203B41FA5}">
                      <a16:colId xmlns:a16="http://schemas.microsoft.com/office/drawing/2014/main" val="2088818981"/>
                    </a:ext>
                  </a:extLst>
                </a:gridCol>
                <a:gridCol w="1152702">
                  <a:extLst>
                    <a:ext uri="{9D8B030D-6E8A-4147-A177-3AD203B41FA5}">
                      <a16:colId xmlns:a16="http://schemas.microsoft.com/office/drawing/2014/main" val="3123614019"/>
                    </a:ext>
                  </a:extLst>
                </a:gridCol>
                <a:gridCol w="1312237">
                  <a:extLst>
                    <a:ext uri="{9D8B030D-6E8A-4147-A177-3AD203B41FA5}">
                      <a16:colId xmlns:a16="http://schemas.microsoft.com/office/drawing/2014/main" val="3147139377"/>
                    </a:ext>
                  </a:extLst>
                </a:gridCol>
                <a:gridCol w="1310640">
                  <a:extLst>
                    <a:ext uri="{9D8B030D-6E8A-4147-A177-3AD203B41FA5}">
                      <a16:colId xmlns:a16="http://schemas.microsoft.com/office/drawing/2014/main" val="21687070"/>
                    </a:ext>
                  </a:extLst>
                </a:gridCol>
                <a:gridCol w="1444549">
                  <a:extLst>
                    <a:ext uri="{9D8B030D-6E8A-4147-A177-3AD203B41FA5}">
                      <a16:colId xmlns:a16="http://schemas.microsoft.com/office/drawing/2014/main" val="1085911851"/>
                    </a:ext>
                  </a:extLst>
                </a:gridCol>
              </a:tblGrid>
              <a:tr h="333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Budget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Evictions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Read/token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吞吐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状态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3929412"/>
                  </a:ext>
                </a:extLst>
              </a:tr>
              <a:tr h="333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768 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7392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598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1.97 tok/s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严重抖动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7880348"/>
                  </a:ext>
                </a:extLst>
              </a:tr>
              <a:tr h="333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1536 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2710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272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2.23 tok/s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过渡状态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4934739"/>
                  </a:ext>
                </a:extLst>
              </a:tr>
              <a:tr h="333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2048 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618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6.22 tok/s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开始收敛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38011519"/>
                  </a:ext>
                </a:extLst>
              </a:tr>
              <a:tr h="333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 b="1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2432 MB</a:t>
                      </a:r>
                      <a:endParaRPr lang="zh-CN" sz="1800"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 b="1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0</a:t>
                      </a:r>
                      <a:endParaRPr lang="zh-CN" sz="1800"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 b="1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≈0</a:t>
                      </a:r>
                      <a:endParaRPr lang="zh-CN" sz="1800"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 b="1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11.57 tok/s</a:t>
                      </a:r>
                      <a:endParaRPr lang="zh-CN" sz="1800"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 b="1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工作集边界</a:t>
                      </a:r>
                      <a:endParaRPr lang="zh-CN" sz="1800"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83242470"/>
                  </a:ext>
                </a:extLst>
              </a:tr>
              <a:tr h="333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2560 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≈0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9.43 tok/s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超出有效工作集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55284885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B3CA5B74-0D2D-4D39-13A5-E83338F773AE}"/>
              </a:ext>
            </a:extLst>
          </p:cNvPr>
          <p:cNvSpPr txBox="1"/>
          <p:nvPr/>
        </p:nvSpPr>
        <p:spPr>
          <a:xfrm>
            <a:off x="6720780" y="5362795"/>
            <a:ext cx="524993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结论：</a:t>
            </a:r>
            <a:r>
              <a:rPr lang="zh-CN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MoE 优化的关键不是缓存全部 Expert，而是用有限 Budget 准确覆盖活跃 Expert Working Set。</a:t>
            </a:r>
            <a:endParaRPr lang="zh-CN" altLang="en-US" sz="240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C7E5E-7542-63D1-90F9-0A29DD2B6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32D15A0A-48B1-2E60-9907-D39917289E4C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C953AF5-8F49-6249-53D3-E57950B90268}"/>
              </a:ext>
            </a:extLst>
          </p:cNvPr>
          <p:cNvSpPr/>
          <p:nvPr/>
        </p:nvSpPr>
        <p:spPr>
          <a:xfrm>
            <a:off x="8337248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6" name="TextBox 6">
            <a:extLst>
              <a:ext uri="{FF2B5EF4-FFF2-40B4-BE49-F238E27FC236}">
                <a16:creationId xmlns:a16="http://schemas.microsoft.com/office/drawing/2014/main" id="{6042DFE4-0AC5-F037-419F-3899FA1056ED}"/>
              </a:ext>
            </a:extLst>
          </p:cNvPr>
          <p:cNvSpPr txBox="1"/>
          <p:nvPr/>
        </p:nvSpPr>
        <p:spPr>
          <a:xfrm>
            <a:off x="33749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项目介绍</a:t>
            </a:r>
          </a:p>
        </p:txBody>
      </p:sp>
      <p:sp>
        <p:nvSpPr>
          <p:cNvPr id="27" name="TextBox 7">
            <a:extLst>
              <a:ext uri="{FF2B5EF4-FFF2-40B4-BE49-F238E27FC236}">
                <a16:creationId xmlns:a16="http://schemas.microsoft.com/office/drawing/2014/main" id="{E6DCCD5A-C9F5-C905-288F-362E26FEA6F0}"/>
              </a:ext>
            </a:extLst>
          </p:cNvPr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>
            <a:extLst>
              <a:ext uri="{FF2B5EF4-FFF2-40B4-BE49-F238E27FC236}">
                <a16:creationId xmlns:a16="http://schemas.microsoft.com/office/drawing/2014/main" id="{909E3C1A-5050-6FD5-C7B4-3B90942809C5}"/>
              </a:ext>
            </a:extLst>
          </p:cNvPr>
          <p:cNvSpPr txBox="1"/>
          <p:nvPr/>
        </p:nvSpPr>
        <p:spPr>
          <a:xfrm>
            <a:off x="67785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模块设计实现</a:t>
            </a:r>
          </a:p>
        </p:txBody>
      </p:sp>
      <p:sp>
        <p:nvSpPr>
          <p:cNvPr id="29" name="TextBox 10">
            <a:extLst>
              <a:ext uri="{FF2B5EF4-FFF2-40B4-BE49-F238E27FC236}">
                <a16:creationId xmlns:a16="http://schemas.microsoft.com/office/drawing/2014/main" id="{B072BB23-C58E-072B-A2AA-32D0516FE3A3}"/>
              </a:ext>
            </a:extLst>
          </p:cNvPr>
          <p:cNvSpPr txBox="1"/>
          <p:nvPr/>
        </p:nvSpPr>
        <p:spPr>
          <a:xfrm>
            <a:off x="8480349" y="215904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>
            <a:extLst>
              <a:ext uri="{FF2B5EF4-FFF2-40B4-BE49-F238E27FC236}">
                <a16:creationId xmlns:a16="http://schemas.microsoft.com/office/drawing/2014/main" id="{81C73CBF-B596-EDC1-79B1-76569FF72DBF}"/>
              </a:ext>
            </a:extLst>
          </p:cNvPr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479F986C-E94B-10B8-FBD0-3ADBEDEB5DB2}"/>
              </a:ext>
            </a:extLst>
          </p:cNvPr>
          <p:cNvCxnSpPr>
            <a:cxnSpLocks/>
          </p:cNvCxnSpPr>
          <p:nvPr/>
        </p:nvCxnSpPr>
        <p:spPr>
          <a:xfrm>
            <a:off x="871423" y="1928278"/>
            <a:ext cx="31755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>
            <a:extLst>
              <a:ext uri="{FF2B5EF4-FFF2-40B4-BE49-F238E27FC236}">
                <a16:creationId xmlns:a16="http://schemas.microsoft.com/office/drawing/2014/main" id="{F8E084C8-3647-4D45-8146-BB10691DC4A1}"/>
              </a:ext>
            </a:extLst>
          </p:cNvPr>
          <p:cNvSpPr txBox="1"/>
          <p:nvPr/>
        </p:nvSpPr>
        <p:spPr>
          <a:xfrm>
            <a:off x="978107" y="1059822"/>
            <a:ext cx="3068842" cy="835601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4.3.2 MoE Budget Planner 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自动预算选择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3A140A6-EBA2-9E4B-D9E5-544C417F4DE5}"/>
              </a:ext>
            </a:extLst>
          </p:cNvPr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B2B56758-6483-2DF3-4FEA-64311F1570BA}"/>
              </a:ext>
            </a:extLst>
          </p:cNvPr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5158069-2737-DE44-F110-F9ACD42B3073}"/>
              </a:ext>
            </a:extLst>
          </p:cNvPr>
          <p:cNvCxnSpPr/>
          <p:nvPr/>
        </p:nvCxnSpPr>
        <p:spPr>
          <a:xfrm>
            <a:off x="66354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>
            <a:extLst>
              <a:ext uri="{FF2B5EF4-FFF2-40B4-BE49-F238E27FC236}">
                <a16:creationId xmlns:a16="http://schemas.microsoft.com/office/drawing/2014/main" id="{4EF93CD4-6260-B548-3A61-58DAEE2F01B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6D95C31-D25F-2C24-5648-E4997E422A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03502" y="1007903"/>
            <a:ext cx="6112269" cy="381812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AA43519E-66AE-C71F-848C-F0406A8F268C}"/>
              </a:ext>
            </a:extLst>
          </p:cNvPr>
          <p:cNvSpPr txBox="1"/>
          <p:nvPr/>
        </p:nvSpPr>
        <p:spPr>
          <a:xfrm>
            <a:off x="195620" y="2010254"/>
            <a:ext cx="5376147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固定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Expert Budget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难以同时适应工作集需求与严格内存上限。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MoE Planner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根据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Warm Working Set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、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memory.max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、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安全余量与运行时固定内存自动计算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Expert Budget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。</a:t>
            </a:r>
          </a:p>
          <a:p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在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1500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MB memory.max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下，固定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128–1024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MB Budget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均无法稳定运行；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Auto Planner v2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自动选择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836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MB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，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3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次测试全部成功。</a:t>
            </a: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142A7DD-E1DE-3207-925A-E97530E9C9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9145413"/>
              </p:ext>
            </p:extLst>
          </p:nvPr>
        </p:nvGraphicFramePr>
        <p:xfrm>
          <a:off x="195620" y="4355187"/>
          <a:ext cx="6112269" cy="2413696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754874">
                  <a:extLst>
                    <a:ext uri="{9D8B030D-6E8A-4147-A177-3AD203B41FA5}">
                      <a16:colId xmlns:a16="http://schemas.microsoft.com/office/drawing/2014/main" val="3120175711"/>
                    </a:ext>
                  </a:extLst>
                </a:gridCol>
                <a:gridCol w="1565626">
                  <a:extLst>
                    <a:ext uri="{9D8B030D-6E8A-4147-A177-3AD203B41FA5}">
                      <a16:colId xmlns:a16="http://schemas.microsoft.com/office/drawing/2014/main" val="3397727412"/>
                    </a:ext>
                  </a:extLst>
                </a:gridCol>
                <a:gridCol w="1601275">
                  <a:extLst>
                    <a:ext uri="{9D8B030D-6E8A-4147-A177-3AD203B41FA5}">
                      <a16:colId xmlns:a16="http://schemas.microsoft.com/office/drawing/2014/main" val="1736549791"/>
                    </a:ext>
                  </a:extLst>
                </a:gridCol>
                <a:gridCol w="1190494">
                  <a:extLst>
                    <a:ext uri="{9D8B030D-6E8A-4147-A177-3AD203B41FA5}">
                      <a16:colId xmlns:a16="http://schemas.microsoft.com/office/drawing/2014/main" val="3264679779"/>
                    </a:ext>
                  </a:extLst>
                </a:gridCol>
              </a:tblGrid>
              <a:tr h="3342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策略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Expert Budget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运行结果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状态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9706653"/>
                  </a:ext>
                </a:extLst>
              </a:tr>
              <a:tr h="3342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Fixed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128 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3/3 OOM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无法运行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321944"/>
                  </a:ext>
                </a:extLst>
              </a:tr>
              <a:tr h="3342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Fixed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512 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3/3 OOM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无法运行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55265915"/>
                  </a:ext>
                </a:extLst>
              </a:tr>
              <a:tr h="3342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Fixed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768 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3/3 OOM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无法运行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2747805"/>
                  </a:ext>
                </a:extLst>
              </a:tr>
              <a:tr h="3342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Fixed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1024 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3/3 OOM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无法运行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94604035"/>
                  </a:ext>
                </a:extLst>
              </a:tr>
              <a:tr h="5848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Auto Planner v2</a:t>
                      </a:r>
                      <a:endParaRPr lang="zh-CN"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836 MB</a:t>
                      </a:r>
                      <a:endParaRPr lang="zh-CN"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3/3 Success</a:t>
                      </a:r>
                      <a:endParaRPr lang="zh-CN"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稳定运行</a:t>
                      </a:r>
                      <a:endParaRPr lang="zh-CN"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5253015"/>
                  </a:ext>
                </a:extLst>
              </a:tr>
            </a:tbl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5E0E22D8-8BCA-3AED-17B1-216BBEA2B9AC}"/>
              </a:ext>
            </a:extLst>
          </p:cNvPr>
          <p:cNvSpPr txBox="1"/>
          <p:nvPr/>
        </p:nvSpPr>
        <p:spPr>
          <a:xfrm>
            <a:off x="6420749" y="5372579"/>
            <a:ext cx="524993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结论：</a:t>
            </a:r>
            <a:r>
              <a:rPr lang="zh-CN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MoE Budget 不是“越大越好”，而要根据 Expert Working Set 与真实内存边界自动规划可行预算。</a:t>
            </a:r>
            <a:endParaRPr lang="zh-CN" altLang="en-US" sz="240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1619048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4DE37-BC12-9275-95BD-5639BEC84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4B518E0E-E84A-324E-CB9D-1B99346C7F7C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8358105-CE88-84C8-C332-A0E43D119FF7}"/>
              </a:ext>
            </a:extLst>
          </p:cNvPr>
          <p:cNvSpPr/>
          <p:nvPr/>
        </p:nvSpPr>
        <p:spPr>
          <a:xfrm>
            <a:off x="8337248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6" name="TextBox 6">
            <a:extLst>
              <a:ext uri="{FF2B5EF4-FFF2-40B4-BE49-F238E27FC236}">
                <a16:creationId xmlns:a16="http://schemas.microsoft.com/office/drawing/2014/main" id="{FB52E2A9-8542-54FB-D70C-141803F1A5AC}"/>
              </a:ext>
            </a:extLst>
          </p:cNvPr>
          <p:cNvSpPr txBox="1"/>
          <p:nvPr/>
        </p:nvSpPr>
        <p:spPr>
          <a:xfrm>
            <a:off x="33749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项目介绍</a:t>
            </a:r>
          </a:p>
        </p:txBody>
      </p:sp>
      <p:sp>
        <p:nvSpPr>
          <p:cNvPr id="27" name="TextBox 7">
            <a:extLst>
              <a:ext uri="{FF2B5EF4-FFF2-40B4-BE49-F238E27FC236}">
                <a16:creationId xmlns:a16="http://schemas.microsoft.com/office/drawing/2014/main" id="{08F1320B-1F6D-7FF9-5AA7-BFD929166E1C}"/>
              </a:ext>
            </a:extLst>
          </p:cNvPr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>
            <a:extLst>
              <a:ext uri="{FF2B5EF4-FFF2-40B4-BE49-F238E27FC236}">
                <a16:creationId xmlns:a16="http://schemas.microsoft.com/office/drawing/2014/main" id="{4FC23803-3094-F6D9-F516-2187175EEF07}"/>
              </a:ext>
            </a:extLst>
          </p:cNvPr>
          <p:cNvSpPr txBox="1"/>
          <p:nvPr/>
        </p:nvSpPr>
        <p:spPr>
          <a:xfrm>
            <a:off x="67785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模块设计实现</a:t>
            </a:r>
          </a:p>
        </p:txBody>
      </p:sp>
      <p:sp>
        <p:nvSpPr>
          <p:cNvPr id="29" name="TextBox 10">
            <a:extLst>
              <a:ext uri="{FF2B5EF4-FFF2-40B4-BE49-F238E27FC236}">
                <a16:creationId xmlns:a16="http://schemas.microsoft.com/office/drawing/2014/main" id="{14E1A02B-D7C7-D2F1-3DA7-C591FEA96448}"/>
              </a:ext>
            </a:extLst>
          </p:cNvPr>
          <p:cNvSpPr txBox="1"/>
          <p:nvPr/>
        </p:nvSpPr>
        <p:spPr>
          <a:xfrm>
            <a:off x="8480349" y="215904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>
            <a:extLst>
              <a:ext uri="{FF2B5EF4-FFF2-40B4-BE49-F238E27FC236}">
                <a16:creationId xmlns:a16="http://schemas.microsoft.com/office/drawing/2014/main" id="{1F56047B-C800-BB0D-4D45-410A1CE01AE9}"/>
              </a:ext>
            </a:extLst>
          </p:cNvPr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5C23111D-D887-4DCB-33F2-DA4B70215BAB}"/>
              </a:ext>
            </a:extLst>
          </p:cNvPr>
          <p:cNvCxnSpPr>
            <a:cxnSpLocks/>
          </p:cNvCxnSpPr>
          <p:nvPr/>
        </p:nvCxnSpPr>
        <p:spPr>
          <a:xfrm>
            <a:off x="633174" y="2102277"/>
            <a:ext cx="3621197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>
            <a:extLst>
              <a:ext uri="{FF2B5EF4-FFF2-40B4-BE49-F238E27FC236}">
                <a16:creationId xmlns:a16="http://schemas.microsoft.com/office/drawing/2014/main" id="{C53DFA76-D147-ED97-36C6-100A3F345EB7}"/>
              </a:ext>
            </a:extLst>
          </p:cNvPr>
          <p:cNvSpPr txBox="1"/>
          <p:nvPr/>
        </p:nvSpPr>
        <p:spPr>
          <a:xfrm>
            <a:off x="595220" y="1183975"/>
            <a:ext cx="3659151" cy="835601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4.3.3 </a:t>
            </a:r>
            <a:r>
              <a:rPr lang="en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Pressure-Aware Full Adaptive 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跨内存预算测试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C26EC6AA-E5BE-B7B9-F1BC-A53FD8D717AF}"/>
              </a:ext>
            </a:extLst>
          </p:cNvPr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4110FD7-FD99-2879-2708-C03B06C3EE81}"/>
              </a:ext>
            </a:extLst>
          </p:cNvPr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2A817DF-7632-F986-9086-36235371AFAB}"/>
              </a:ext>
            </a:extLst>
          </p:cNvPr>
          <p:cNvCxnSpPr/>
          <p:nvPr/>
        </p:nvCxnSpPr>
        <p:spPr>
          <a:xfrm>
            <a:off x="66354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>
            <a:extLst>
              <a:ext uri="{FF2B5EF4-FFF2-40B4-BE49-F238E27FC236}">
                <a16:creationId xmlns:a16="http://schemas.microsoft.com/office/drawing/2014/main" id="{3470F62D-4A6A-A4DC-BCA7-65B04685BD4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21B814C-96A6-8640-2A7F-D799972775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1007903"/>
            <a:ext cx="5892397" cy="3896724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083C5E80-A453-E7FD-1F93-73DAF89C6E33}"/>
              </a:ext>
            </a:extLst>
          </p:cNvPr>
          <p:cNvSpPr txBox="1"/>
          <p:nvPr/>
        </p:nvSpPr>
        <p:spPr>
          <a:xfrm>
            <a:off x="363800" y="2385923"/>
            <a:ext cx="556402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固定保护窗口难以适应不同内存压力：保护过强会挤占空间，保护过弱又容易误驱逐热点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Expert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。</a:t>
            </a:r>
          </a:p>
          <a:p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Pressure-Aware Full Adaptive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根据实时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Memory Pressure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动态调整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Expert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保护范围。</a:t>
            </a:r>
            <a:b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</a:b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在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1500–2400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MB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四档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memory cap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下均保持正向吞吐收益，且无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OOM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回归。</a:t>
            </a: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6D740EE7-29D6-DF69-FFDB-F14C43D9D0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8377735"/>
              </p:ext>
            </p:extLst>
          </p:nvPr>
        </p:nvGraphicFramePr>
        <p:xfrm>
          <a:off x="195620" y="4608560"/>
          <a:ext cx="6439829" cy="21031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496019">
                  <a:extLst>
                    <a:ext uri="{9D8B030D-6E8A-4147-A177-3AD203B41FA5}">
                      <a16:colId xmlns:a16="http://schemas.microsoft.com/office/drawing/2014/main" val="1316389095"/>
                    </a:ext>
                  </a:extLst>
                </a:gridCol>
                <a:gridCol w="2048169">
                  <a:extLst>
                    <a:ext uri="{9D8B030D-6E8A-4147-A177-3AD203B41FA5}">
                      <a16:colId xmlns:a16="http://schemas.microsoft.com/office/drawing/2014/main" val="2975715935"/>
                    </a:ext>
                  </a:extLst>
                </a:gridCol>
                <a:gridCol w="1160626">
                  <a:extLst>
                    <a:ext uri="{9D8B030D-6E8A-4147-A177-3AD203B41FA5}">
                      <a16:colId xmlns:a16="http://schemas.microsoft.com/office/drawing/2014/main" val="863242888"/>
                    </a:ext>
                  </a:extLst>
                </a:gridCol>
                <a:gridCol w="1735015">
                  <a:extLst>
                    <a:ext uri="{9D8B030D-6E8A-4147-A177-3AD203B41FA5}">
                      <a16:colId xmlns:a16="http://schemas.microsoft.com/office/drawing/2014/main" val="23384179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Memory Cap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相对 adaptive_off TPS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状态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说明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730716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1500 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+1.51%</a:t>
                      </a:r>
                      <a:endParaRPr lang="zh-CN"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提升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极低内存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5358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1800 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+1.64%</a:t>
                      </a:r>
                      <a:endParaRPr lang="zh-CN"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提升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最大跨档收益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0854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2000 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+0.99%</a:t>
                      </a:r>
                      <a:endParaRPr lang="zh-CN"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提升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中等压力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92953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2400 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+0.51%</a:t>
                      </a:r>
                      <a:endParaRPr lang="zh-CN"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提升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高预算场景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7039796"/>
                  </a:ext>
                </a:extLst>
              </a:tr>
            </a:tbl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6B359865-B955-7B40-63B7-B79E9DB16940}"/>
              </a:ext>
            </a:extLst>
          </p:cNvPr>
          <p:cNvSpPr txBox="1"/>
          <p:nvPr/>
        </p:nvSpPr>
        <p:spPr>
          <a:xfrm>
            <a:off x="6845814" y="5120530"/>
            <a:ext cx="493221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2400" b="1">
                <a:solidFill>
                  <a:srgbClr val="FF0000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结论：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Pressure-Aware 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</a:rPr>
              <a:t>的价值不在单一 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Budget 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</a:rPr>
              <a:t>下追求最高吞吐，而在不同内存压力下保持稳定、正向的自适应收益。</a:t>
            </a:r>
          </a:p>
        </p:txBody>
      </p:sp>
    </p:spTree>
    <p:extLst>
      <p:ext uri="{BB962C8B-B14F-4D97-AF65-F5344CB8AC3E}">
        <p14:creationId xmlns:p14="http://schemas.microsoft.com/office/powerpoint/2010/main" val="134829669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831B7-F696-3303-7313-34ECDF682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180CC45C-74FE-2B67-EDC7-3823E87F583C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37B3FF1-0D83-4661-1F07-A60A336BEFBE}"/>
              </a:ext>
            </a:extLst>
          </p:cNvPr>
          <p:cNvSpPr/>
          <p:nvPr/>
        </p:nvSpPr>
        <p:spPr>
          <a:xfrm>
            <a:off x="8337248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6" name="TextBox 6">
            <a:extLst>
              <a:ext uri="{FF2B5EF4-FFF2-40B4-BE49-F238E27FC236}">
                <a16:creationId xmlns:a16="http://schemas.microsoft.com/office/drawing/2014/main" id="{B6B2F57A-C092-F6B0-D9EC-127FFE9E49EC}"/>
              </a:ext>
            </a:extLst>
          </p:cNvPr>
          <p:cNvSpPr txBox="1"/>
          <p:nvPr/>
        </p:nvSpPr>
        <p:spPr>
          <a:xfrm>
            <a:off x="33749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项目介绍</a:t>
            </a:r>
          </a:p>
        </p:txBody>
      </p:sp>
      <p:sp>
        <p:nvSpPr>
          <p:cNvPr id="27" name="TextBox 7">
            <a:extLst>
              <a:ext uri="{FF2B5EF4-FFF2-40B4-BE49-F238E27FC236}">
                <a16:creationId xmlns:a16="http://schemas.microsoft.com/office/drawing/2014/main" id="{E7F69BB1-9217-42FE-2E77-6FEBC0ACEF3E}"/>
              </a:ext>
            </a:extLst>
          </p:cNvPr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>
            <a:extLst>
              <a:ext uri="{FF2B5EF4-FFF2-40B4-BE49-F238E27FC236}">
                <a16:creationId xmlns:a16="http://schemas.microsoft.com/office/drawing/2014/main" id="{38AD633F-51CC-1B0F-F4E9-36C331D0C222}"/>
              </a:ext>
            </a:extLst>
          </p:cNvPr>
          <p:cNvSpPr txBox="1"/>
          <p:nvPr/>
        </p:nvSpPr>
        <p:spPr>
          <a:xfrm>
            <a:off x="67785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模块设计实现</a:t>
            </a:r>
          </a:p>
        </p:txBody>
      </p:sp>
      <p:sp>
        <p:nvSpPr>
          <p:cNvPr id="29" name="TextBox 10">
            <a:extLst>
              <a:ext uri="{FF2B5EF4-FFF2-40B4-BE49-F238E27FC236}">
                <a16:creationId xmlns:a16="http://schemas.microsoft.com/office/drawing/2014/main" id="{192798BF-A99A-F8D0-4455-15D7CE4A23B4}"/>
              </a:ext>
            </a:extLst>
          </p:cNvPr>
          <p:cNvSpPr txBox="1"/>
          <p:nvPr/>
        </p:nvSpPr>
        <p:spPr>
          <a:xfrm>
            <a:off x="8480349" y="215904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>
            <a:extLst>
              <a:ext uri="{FF2B5EF4-FFF2-40B4-BE49-F238E27FC236}">
                <a16:creationId xmlns:a16="http://schemas.microsoft.com/office/drawing/2014/main" id="{183DE97C-E72B-90DA-A028-99FB51C9AB96}"/>
              </a:ext>
            </a:extLst>
          </p:cNvPr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A3DE47B4-3656-D8D4-A3D6-289D21BA8A24}"/>
              </a:ext>
            </a:extLst>
          </p:cNvPr>
          <p:cNvCxnSpPr>
            <a:cxnSpLocks/>
          </p:cNvCxnSpPr>
          <p:nvPr/>
        </p:nvCxnSpPr>
        <p:spPr>
          <a:xfrm>
            <a:off x="646133" y="1782962"/>
            <a:ext cx="451227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>
            <a:extLst>
              <a:ext uri="{FF2B5EF4-FFF2-40B4-BE49-F238E27FC236}">
                <a16:creationId xmlns:a16="http://schemas.microsoft.com/office/drawing/2014/main" id="{86778CA4-8BF0-AB5E-DBA1-65065838A084}"/>
              </a:ext>
            </a:extLst>
          </p:cNvPr>
          <p:cNvSpPr txBox="1"/>
          <p:nvPr/>
        </p:nvSpPr>
        <p:spPr>
          <a:xfrm>
            <a:off x="727979" y="1227575"/>
            <a:ext cx="4468570" cy="46626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4.3.4 </a:t>
            </a:r>
            <a:r>
              <a:rPr lang="en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MoE Buffer 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数值正确性验证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7111623-FA3E-5C6F-6D32-32951227F442}"/>
              </a:ext>
            </a:extLst>
          </p:cNvPr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8CB1A836-A9AD-2538-63C2-CD2636A2832D}"/>
              </a:ext>
            </a:extLst>
          </p:cNvPr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B5AA9A3-5F69-663A-A347-EB76D7B0E867}"/>
              </a:ext>
            </a:extLst>
          </p:cNvPr>
          <p:cNvCxnSpPr/>
          <p:nvPr/>
        </p:nvCxnSpPr>
        <p:spPr>
          <a:xfrm>
            <a:off x="66354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>
            <a:extLst>
              <a:ext uri="{FF2B5EF4-FFF2-40B4-BE49-F238E27FC236}">
                <a16:creationId xmlns:a16="http://schemas.microsoft.com/office/drawing/2014/main" id="{973CA60F-B6A8-1E8A-D2B7-A8ED388AF04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1EB0587B-40C9-8137-E41A-B5444AEA1F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948597" y="1227575"/>
            <a:ext cx="4773768" cy="5381749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949CB681-A84F-B5A7-C380-045A3CA9354E}"/>
              </a:ext>
            </a:extLst>
          </p:cNvPr>
          <p:cNvSpPr txBox="1"/>
          <p:nvPr/>
        </p:nvSpPr>
        <p:spPr>
          <a:xfrm>
            <a:off x="465078" y="2080024"/>
            <a:ext cx="617037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MoE Buffer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将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Expert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权重从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mmap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被动访问改为显式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Slice Streaming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，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并通过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Pointer Repoint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接入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GEMM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计算路径。在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WikiText-2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上使用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llama-perplexity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，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对比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mmap Baseline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与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MoE Buffer + CLG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路径。</a:t>
            </a:r>
            <a:b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</a:b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4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个测试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Chunk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的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PPL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均完全一致，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max |</a:t>
            </a:r>
            <a:r>
              <a:rPr lang="el-GR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Δ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PPL| = 0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。</a:t>
            </a:r>
          </a:p>
          <a:p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说明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Expert Slice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加载、状态切换与指针重定向未改变已测试模型的数值语义。</a:t>
            </a: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324D6B1B-0C9F-D0F4-F7B5-A00820AEFA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076919"/>
              </p:ext>
            </p:extLst>
          </p:nvPr>
        </p:nvGraphicFramePr>
        <p:xfrm>
          <a:off x="465079" y="4538976"/>
          <a:ext cx="6170369" cy="21031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233968">
                  <a:extLst>
                    <a:ext uri="{9D8B030D-6E8A-4147-A177-3AD203B41FA5}">
                      <a16:colId xmlns:a16="http://schemas.microsoft.com/office/drawing/2014/main" val="1316389095"/>
                    </a:ext>
                  </a:extLst>
                </a:gridCol>
                <a:gridCol w="1851217">
                  <a:extLst>
                    <a:ext uri="{9D8B030D-6E8A-4147-A177-3AD203B41FA5}">
                      <a16:colId xmlns:a16="http://schemas.microsoft.com/office/drawing/2014/main" val="2975715935"/>
                    </a:ext>
                  </a:extLst>
                </a:gridCol>
                <a:gridCol w="2036636">
                  <a:extLst>
                    <a:ext uri="{9D8B030D-6E8A-4147-A177-3AD203B41FA5}">
                      <a16:colId xmlns:a16="http://schemas.microsoft.com/office/drawing/2014/main" val="863242888"/>
                    </a:ext>
                  </a:extLst>
                </a:gridCol>
                <a:gridCol w="1048548">
                  <a:extLst>
                    <a:ext uri="{9D8B030D-6E8A-4147-A177-3AD203B41FA5}">
                      <a16:colId xmlns:a16="http://schemas.microsoft.com/office/drawing/2014/main" val="23384179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Chunk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Baseline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MoE Buffer + CLG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37678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47948.2078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47948.2078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0</a:t>
                      </a:r>
                      <a:endParaRPr lang="zh-CN"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7039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80646.3078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80646.3078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0</a:t>
                      </a:r>
                      <a:endParaRPr lang="zh-CN"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260671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95059.6850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95059.6850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0</a:t>
                      </a:r>
                      <a:endParaRPr lang="zh-CN"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63544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104976.4199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104976.4199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0</a:t>
                      </a:r>
                      <a:endParaRPr lang="zh-CN"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92809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293155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8337248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6" name="TextBox 6"/>
          <p:cNvSpPr txBox="1"/>
          <p:nvPr/>
        </p:nvSpPr>
        <p:spPr>
          <a:xfrm>
            <a:off x="33749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项目介绍</a:t>
            </a: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/>
          <p:cNvSpPr txBox="1"/>
          <p:nvPr/>
        </p:nvSpPr>
        <p:spPr>
          <a:xfrm>
            <a:off x="67785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模块设计实现</a:t>
            </a: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4" name="直接连接符 33"/>
          <p:cNvCxnSpPr>
            <a:cxnSpLocks/>
          </p:cNvCxnSpPr>
          <p:nvPr/>
        </p:nvCxnSpPr>
        <p:spPr>
          <a:xfrm>
            <a:off x="425752" y="1528840"/>
            <a:ext cx="3967769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/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/>
          <p:cNvCxnSpPr/>
          <p:nvPr/>
        </p:nvCxnSpPr>
        <p:spPr>
          <a:xfrm>
            <a:off x="66354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>
            <a:extLst>
              <a:ext uri="{FF2B5EF4-FFF2-40B4-BE49-F238E27FC236}">
                <a16:creationId xmlns:a16="http://schemas.microsoft.com/office/drawing/2014/main" id="{EF2C3E99-4D98-61BA-42A2-6DDBFB12574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9841E828-BE9A-B1C7-9ACC-AB6B1F0198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60412" y="1295705"/>
            <a:ext cx="7013547" cy="5076101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3FE7573F-ACCF-9F76-34E2-B9EBF416938A}"/>
              </a:ext>
            </a:extLst>
          </p:cNvPr>
          <p:cNvSpPr txBox="1"/>
          <p:nvPr/>
        </p:nvSpPr>
        <p:spPr>
          <a:xfrm>
            <a:off x="195620" y="1995109"/>
            <a:ext cx="4864792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2400" b="1">
                <a:solidFill>
                  <a:schemeClr val="accent6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■ Resident</a:t>
            </a:r>
            <a:r>
              <a:rPr lang="zh-CN" altLang="en-US" sz="2400" b="1">
                <a:solidFill>
                  <a:schemeClr val="accent6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基线：</a:t>
            </a:r>
            <a:endParaRPr lang="en-US" altLang="zh-CN" sz="2400" b="1">
              <a:solidFill>
                <a:schemeClr val="accent6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  <a:p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KV physical resident ≈ 3.00 GiB</a:t>
            </a:r>
            <a:b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</a:br>
            <a:r>
              <a:rPr lang="en" altLang="zh-CN" sz="2400" b="1">
                <a:solidFill>
                  <a:schemeClr val="accent6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■ RELEASE-only</a:t>
            </a:r>
            <a:r>
              <a:rPr lang="zh-CN" altLang="en" sz="2400" b="1">
                <a:solidFill>
                  <a:schemeClr val="accent6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：</a:t>
            </a:r>
            <a:endParaRPr lang="en-US" altLang="zh-CN" sz="2400" b="1">
              <a:solidFill>
                <a:schemeClr val="accent6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  <a:p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target 2.5 / 2.0 / 1.5 GiB</a:t>
            </a:r>
            <a:r>
              <a:rPr lang="zh-CN" altLang="en" sz="2400" b="1">
                <a:latin typeface="Songti SC" panose="02010600040101010101" pitchFamily="2" charset="-122"/>
                <a:ea typeface="Songti SC" panose="02010600040101010101" pitchFamily="2" charset="-122"/>
              </a:rPr>
              <a:t>，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</a:rPr>
              <a:t>实际驻留 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2.495 / 1.995 / 1.496 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GiB</a:t>
            </a:r>
            <a:b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</a:br>
            <a:r>
              <a:rPr lang="en" altLang="zh-CN" sz="2400" b="1">
                <a:solidFill>
                  <a:schemeClr val="accent6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■ V2 controlled offload</a:t>
            </a:r>
            <a:r>
              <a:rPr lang="zh-CN" altLang="en" sz="2400" b="1">
                <a:solidFill>
                  <a:schemeClr val="accent6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：</a:t>
            </a:r>
            <a:endParaRPr lang="en-US" altLang="zh-CN" sz="2400" b="1">
              <a:solidFill>
                <a:schemeClr val="accent6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  <a:p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</a:rPr>
              <a:t>最低压至 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0.247 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GiB</a:t>
            </a:r>
            <a:r>
              <a:rPr lang="zh-CN" altLang="en" sz="2400" b="1">
                <a:latin typeface="Songti SC" panose="02010600040101010101" pitchFamily="2" charset="-122"/>
                <a:ea typeface="Songti SC" panose="02010600040101010101" pitchFamily="2" charset="-122"/>
              </a:rPr>
              <a:t>，</a:t>
            </a:r>
            <a:r>
              <a:rPr lang="en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KV</a:t>
            </a:r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</a:rPr>
              <a:t>物理驻留最大减少 </a:t>
            </a:r>
            <a:r>
              <a:rPr lang="en-US" altLang="zh-CN" sz="2400" b="1">
                <a:latin typeface="Songti SC" panose="02010600040101010101" pitchFamily="2" charset="-122"/>
                <a:ea typeface="Songti SC" panose="02010600040101010101" pitchFamily="2" charset="-122"/>
              </a:rPr>
              <a:t>91.8%</a:t>
            </a:r>
          </a:p>
          <a:p>
            <a:r>
              <a:rPr lang="zh-CN" altLang="en-US" sz="2400" b="1">
                <a:solidFill>
                  <a:schemeClr val="accent6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■ </a:t>
            </a:r>
            <a:r>
              <a:rPr lang="en-US" altLang="zh-CN" sz="2400" b="1">
                <a:solidFill>
                  <a:schemeClr val="accent6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8</a:t>
            </a:r>
            <a:r>
              <a:rPr lang="zh-CN" altLang="en-US" sz="2400" b="1">
                <a:solidFill>
                  <a:schemeClr val="accent6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组预算、</a:t>
            </a:r>
            <a:r>
              <a:rPr lang="en-US" altLang="zh-CN" sz="2400" b="1">
                <a:solidFill>
                  <a:schemeClr val="accent6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16</a:t>
            </a:r>
            <a:r>
              <a:rPr lang="zh-CN" altLang="en-US" sz="2400" b="1">
                <a:solidFill>
                  <a:schemeClr val="accent6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次运行均达</a:t>
            </a:r>
            <a:r>
              <a:rPr lang="en" altLang="zh-CN" sz="2400" b="1">
                <a:solidFill>
                  <a:schemeClr val="accent6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target</a:t>
            </a:r>
            <a:r>
              <a:rPr lang="zh-CN" altLang="en-US" sz="2400" b="1">
                <a:solidFill>
                  <a:schemeClr val="accent6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：</a:t>
            </a:r>
            <a:endParaRPr lang="en-US" altLang="zh-CN" sz="2400" b="1">
              <a:solidFill>
                <a:schemeClr val="accent6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  <a:p>
            <a:r>
              <a:rPr lang="zh-CN" altLang="en-US" sz="2400" b="1">
                <a:latin typeface="Songti SC" panose="02010600040101010101" pitchFamily="2" charset="-122"/>
                <a:ea typeface="Songti SC" panose="02010600040101010101" pitchFamily="2" charset="-122"/>
              </a:rPr>
              <a:t>实际驻留与目标预算基本重合</a:t>
            </a:r>
          </a:p>
        </p:txBody>
      </p:sp>
      <p:sp>
        <p:nvSpPr>
          <p:cNvPr id="19" name="TextBox 6">
            <a:extLst>
              <a:ext uri="{FF2B5EF4-FFF2-40B4-BE49-F238E27FC236}">
                <a16:creationId xmlns:a16="http://schemas.microsoft.com/office/drawing/2014/main" id="{3BBFE682-7D3A-CA2E-D172-83C66ACAA3FA}"/>
              </a:ext>
            </a:extLst>
          </p:cNvPr>
          <p:cNvSpPr txBox="1"/>
          <p:nvPr/>
        </p:nvSpPr>
        <p:spPr>
          <a:xfrm>
            <a:off x="444256" y="1062571"/>
            <a:ext cx="3949265" cy="46626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4.4.1 KV Cache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 物理驻留控制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1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3AC84-EC06-DC23-4ADB-4D51EFA14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DF3B7907-ED83-1F14-4252-28DEFE92A611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A6C51A8-F18D-FBF3-B1E7-CB1B9F7FF208}"/>
              </a:ext>
            </a:extLst>
          </p:cNvPr>
          <p:cNvSpPr/>
          <p:nvPr/>
        </p:nvSpPr>
        <p:spPr>
          <a:xfrm>
            <a:off x="8337248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6" name="TextBox 6">
            <a:extLst>
              <a:ext uri="{FF2B5EF4-FFF2-40B4-BE49-F238E27FC236}">
                <a16:creationId xmlns:a16="http://schemas.microsoft.com/office/drawing/2014/main" id="{FAFEBB55-A474-6BDF-917A-B9E19B3AB33D}"/>
              </a:ext>
            </a:extLst>
          </p:cNvPr>
          <p:cNvSpPr txBox="1"/>
          <p:nvPr/>
        </p:nvSpPr>
        <p:spPr>
          <a:xfrm>
            <a:off x="33749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项目介绍</a:t>
            </a:r>
          </a:p>
        </p:txBody>
      </p:sp>
      <p:sp>
        <p:nvSpPr>
          <p:cNvPr id="27" name="TextBox 7">
            <a:extLst>
              <a:ext uri="{FF2B5EF4-FFF2-40B4-BE49-F238E27FC236}">
                <a16:creationId xmlns:a16="http://schemas.microsoft.com/office/drawing/2014/main" id="{F129402D-78E8-E2C7-2E3E-D5D283BD7BDA}"/>
              </a:ext>
            </a:extLst>
          </p:cNvPr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>
            <a:extLst>
              <a:ext uri="{FF2B5EF4-FFF2-40B4-BE49-F238E27FC236}">
                <a16:creationId xmlns:a16="http://schemas.microsoft.com/office/drawing/2014/main" id="{65E296CE-4294-E0D5-7FDA-805CC60B5E45}"/>
              </a:ext>
            </a:extLst>
          </p:cNvPr>
          <p:cNvSpPr txBox="1"/>
          <p:nvPr/>
        </p:nvSpPr>
        <p:spPr>
          <a:xfrm>
            <a:off x="67785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模块设计实现</a:t>
            </a:r>
          </a:p>
        </p:txBody>
      </p:sp>
      <p:sp>
        <p:nvSpPr>
          <p:cNvPr id="29" name="TextBox 10">
            <a:extLst>
              <a:ext uri="{FF2B5EF4-FFF2-40B4-BE49-F238E27FC236}">
                <a16:creationId xmlns:a16="http://schemas.microsoft.com/office/drawing/2014/main" id="{256BC449-08C2-1CA4-3995-24C71BA01F58}"/>
              </a:ext>
            </a:extLst>
          </p:cNvPr>
          <p:cNvSpPr txBox="1"/>
          <p:nvPr/>
        </p:nvSpPr>
        <p:spPr>
          <a:xfrm>
            <a:off x="8480349" y="215904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>
            <a:extLst>
              <a:ext uri="{FF2B5EF4-FFF2-40B4-BE49-F238E27FC236}">
                <a16:creationId xmlns:a16="http://schemas.microsoft.com/office/drawing/2014/main" id="{9AC99240-5443-5081-FFD8-D729003A5841}"/>
              </a:ext>
            </a:extLst>
          </p:cNvPr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3DDCD904-91CF-6088-73C0-DB94B422A061}"/>
              </a:ext>
            </a:extLst>
          </p:cNvPr>
          <p:cNvCxnSpPr>
            <a:cxnSpLocks/>
          </p:cNvCxnSpPr>
          <p:nvPr/>
        </p:nvCxnSpPr>
        <p:spPr>
          <a:xfrm>
            <a:off x="430325" y="1714034"/>
            <a:ext cx="404192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E28A6285-FB0D-9F69-2F26-9CE446135CC2}"/>
              </a:ext>
            </a:extLst>
          </p:cNvPr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4087758-C56C-D3EB-7288-CE7DCF5167C2}"/>
              </a:ext>
            </a:extLst>
          </p:cNvPr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C803ED9-F1F6-D36C-AFE7-870852C04FB1}"/>
              </a:ext>
            </a:extLst>
          </p:cNvPr>
          <p:cNvCxnSpPr/>
          <p:nvPr/>
        </p:nvCxnSpPr>
        <p:spPr>
          <a:xfrm>
            <a:off x="66354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>
            <a:extLst>
              <a:ext uri="{FF2B5EF4-FFF2-40B4-BE49-F238E27FC236}">
                <a16:creationId xmlns:a16="http://schemas.microsoft.com/office/drawing/2014/main" id="{859BF6B5-DB23-1E71-2409-CB81B40DAFC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9F4A383E-8960-F1F1-FC54-DDD395108F57}"/>
              </a:ext>
            </a:extLst>
          </p:cNvPr>
          <p:cNvSpPr txBox="1"/>
          <p:nvPr/>
        </p:nvSpPr>
        <p:spPr>
          <a:xfrm>
            <a:off x="7142038" y="2083503"/>
            <a:ext cx="4848556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RELEASE-only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阶段无需迁移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live KV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，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即可分别释放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0.505 / 1.005 / 1.504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GiB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物理内存；当目标继续收紧时，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V2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进一步通过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OFFLOAD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释放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idle-live KV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。</a:t>
            </a:r>
            <a:b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</a:b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在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0.25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GiB target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下，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RELEASE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贡献约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1.709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GiB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，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OFFLOAD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继续贡献约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1.044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GiB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，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KV physical resident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最大减少 </a:t>
            </a:r>
            <a:r>
              <a:rPr lang="en-US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91.8%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。</a:t>
            </a:r>
          </a:p>
          <a:p>
            <a:endParaRPr lang="en-US" altLang="zh-CN" sz="2000" b="1">
              <a:latin typeface="Songti SC" panose="02010600040101010101" pitchFamily="2" charset="-122"/>
              <a:ea typeface="Songti SC" panose="02010600040101010101" pitchFamily="2" charset="-122"/>
            </a:endParaRPr>
          </a:p>
          <a:p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说明系统采用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RELEASE-first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、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OFFLOAD-on-demand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的两级回收策略：优先回收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dead/unowned KV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，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避免不必要的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backing I/O</a:t>
            </a:r>
            <a:r>
              <a:rPr lang="zh-CN" altLang="en" sz="2000" b="1">
                <a:latin typeface="Songti SC" panose="02010600040101010101" pitchFamily="2" charset="-122"/>
                <a:ea typeface="Songti SC" panose="02010600040101010101" pitchFamily="2" charset="-122"/>
              </a:rPr>
              <a:t>；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仅当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RELEASE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不足时，才将仍有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Session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语义的 </a:t>
            </a:r>
            <a:r>
              <a:rPr lang="e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idle-live KV </a:t>
            </a:r>
            <a:r>
              <a:rPr lang="zh-CN" altLang="en-US" sz="2000" b="1">
                <a:latin typeface="Songti SC" panose="02010600040101010101" pitchFamily="2" charset="-122"/>
                <a:ea typeface="Songti SC" panose="02010600040101010101" pitchFamily="2" charset="-122"/>
              </a:rPr>
              <a:t>换出。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CDA3748-2816-D0C1-E721-F6BB872EF7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681" y="1911842"/>
            <a:ext cx="7042357" cy="4265089"/>
          </a:xfrm>
          <a:prstGeom prst="rect">
            <a:avLst/>
          </a:prstGeom>
        </p:spPr>
      </p:pic>
      <p:sp>
        <p:nvSpPr>
          <p:cNvPr id="5" name="TextBox 6">
            <a:extLst>
              <a:ext uri="{FF2B5EF4-FFF2-40B4-BE49-F238E27FC236}">
                <a16:creationId xmlns:a16="http://schemas.microsoft.com/office/drawing/2014/main" id="{444D3BBB-6E16-5770-837A-CE48E6350F92}"/>
              </a:ext>
            </a:extLst>
          </p:cNvPr>
          <p:cNvSpPr txBox="1"/>
          <p:nvPr/>
        </p:nvSpPr>
        <p:spPr>
          <a:xfrm>
            <a:off x="511127" y="1199825"/>
            <a:ext cx="3961120" cy="46626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4.4.2 KV Cache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分层回收测试</a:t>
            </a:r>
          </a:p>
        </p:txBody>
      </p:sp>
    </p:spTree>
    <p:extLst>
      <p:ext uri="{BB962C8B-B14F-4D97-AF65-F5344CB8AC3E}">
        <p14:creationId xmlns:p14="http://schemas.microsoft.com/office/powerpoint/2010/main" val="22087746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D501D-6CCA-33C6-5721-7202B6F21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D01C4FA0-BF10-3270-55C9-8D34D629653B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E71EE86-51F5-5FD9-92AD-6D0A64782B76}"/>
              </a:ext>
            </a:extLst>
          </p:cNvPr>
          <p:cNvSpPr/>
          <p:nvPr/>
        </p:nvSpPr>
        <p:spPr>
          <a:xfrm>
            <a:off x="8337248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6" name="TextBox 6">
            <a:extLst>
              <a:ext uri="{FF2B5EF4-FFF2-40B4-BE49-F238E27FC236}">
                <a16:creationId xmlns:a16="http://schemas.microsoft.com/office/drawing/2014/main" id="{4C061820-511D-BAA1-94C6-EC2CD4A23ED7}"/>
              </a:ext>
            </a:extLst>
          </p:cNvPr>
          <p:cNvSpPr txBox="1"/>
          <p:nvPr/>
        </p:nvSpPr>
        <p:spPr>
          <a:xfrm>
            <a:off x="33749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项目介绍</a:t>
            </a:r>
          </a:p>
        </p:txBody>
      </p:sp>
      <p:sp>
        <p:nvSpPr>
          <p:cNvPr id="27" name="TextBox 7">
            <a:extLst>
              <a:ext uri="{FF2B5EF4-FFF2-40B4-BE49-F238E27FC236}">
                <a16:creationId xmlns:a16="http://schemas.microsoft.com/office/drawing/2014/main" id="{A23D7D6C-D445-4B20-F003-CFC737974B6B}"/>
              </a:ext>
            </a:extLst>
          </p:cNvPr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>
            <a:extLst>
              <a:ext uri="{FF2B5EF4-FFF2-40B4-BE49-F238E27FC236}">
                <a16:creationId xmlns:a16="http://schemas.microsoft.com/office/drawing/2014/main" id="{FC2062CE-7B98-2583-BB2F-AAEAEB7CC52D}"/>
              </a:ext>
            </a:extLst>
          </p:cNvPr>
          <p:cNvSpPr txBox="1"/>
          <p:nvPr/>
        </p:nvSpPr>
        <p:spPr>
          <a:xfrm>
            <a:off x="67785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模块设计实现</a:t>
            </a:r>
          </a:p>
        </p:txBody>
      </p:sp>
      <p:sp>
        <p:nvSpPr>
          <p:cNvPr id="29" name="TextBox 10">
            <a:extLst>
              <a:ext uri="{FF2B5EF4-FFF2-40B4-BE49-F238E27FC236}">
                <a16:creationId xmlns:a16="http://schemas.microsoft.com/office/drawing/2014/main" id="{D5C3B390-A477-182E-6F34-24B2BBB8ADB5}"/>
              </a:ext>
            </a:extLst>
          </p:cNvPr>
          <p:cNvSpPr txBox="1"/>
          <p:nvPr/>
        </p:nvSpPr>
        <p:spPr>
          <a:xfrm>
            <a:off x="8480349" y="215904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>
            <a:extLst>
              <a:ext uri="{FF2B5EF4-FFF2-40B4-BE49-F238E27FC236}">
                <a16:creationId xmlns:a16="http://schemas.microsoft.com/office/drawing/2014/main" id="{A5DAA572-6497-01CF-5761-40E93DA29C63}"/>
              </a:ext>
            </a:extLst>
          </p:cNvPr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5483826B-68E4-E7C2-41B2-B87176B98DC3}"/>
              </a:ext>
            </a:extLst>
          </p:cNvPr>
          <p:cNvCxnSpPr>
            <a:cxnSpLocks/>
          </p:cNvCxnSpPr>
          <p:nvPr/>
        </p:nvCxnSpPr>
        <p:spPr>
          <a:xfrm>
            <a:off x="430325" y="1714034"/>
            <a:ext cx="4826037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41385379-EA6F-DACB-EF11-816369EA1E2B}"/>
              </a:ext>
            </a:extLst>
          </p:cNvPr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EB1F247-BA59-3030-A5D3-CA9E491C203D}"/>
              </a:ext>
            </a:extLst>
          </p:cNvPr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F2B1F34-F4E5-3D7E-D451-1D9BAD521ECE}"/>
              </a:ext>
            </a:extLst>
          </p:cNvPr>
          <p:cNvCxnSpPr/>
          <p:nvPr/>
        </p:nvCxnSpPr>
        <p:spPr>
          <a:xfrm>
            <a:off x="66354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>
            <a:extLst>
              <a:ext uri="{FF2B5EF4-FFF2-40B4-BE49-F238E27FC236}">
                <a16:creationId xmlns:a16="http://schemas.microsoft.com/office/drawing/2014/main" id="{9577133C-9B0F-25C1-0579-199ED94033A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8B2FF40A-5FBC-04B8-8BC5-538BC084BF3A}"/>
              </a:ext>
            </a:extLst>
          </p:cNvPr>
          <p:cNvSpPr txBox="1"/>
          <p:nvPr/>
        </p:nvSpPr>
        <p:spPr>
          <a:xfrm>
            <a:off x="6448652" y="4223248"/>
            <a:ext cx="5665675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结果表明，KV resident 压得越低，被 OFFLOAD 的 live KV 越多，Session Resume 时的数据恢复量与 Gate 延迟越高。</a:t>
            </a:r>
          </a:p>
          <a:p>
            <a:r>
              <a:rPr lang="zh-C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因此 KV 内存优化需要在物理驻留量与恢复代价之间进行权衡。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E9C529C-090C-46CD-1193-43155F1B71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4400" y="2059631"/>
            <a:ext cx="6246349" cy="4327235"/>
          </a:xfrm>
          <a:prstGeom prst="rect">
            <a:avLst/>
          </a:prstGeom>
        </p:spPr>
      </p:pic>
      <p:sp>
        <p:nvSpPr>
          <p:cNvPr id="5" name="TextBox 6">
            <a:extLst>
              <a:ext uri="{FF2B5EF4-FFF2-40B4-BE49-F238E27FC236}">
                <a16:creationId xmlns:a16="http://schemas.microsoft.com/office/drawing/2014/main" id="{89F76CD5-ACB7-8CC8-0946-92A6DEC4C020}"/>
              </a:ext>
            </a:extLst>
          </p:cNvPr>
          <p:cNvSpPr txBox="1"/>
          <p:nvPr/>
        </p:nvSpPr>
        <p:spPr>
          <a:xfrm>
            <a:off x="430325" y="1199825"/>
            <a:ext cx="4876799" cy="46626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4.4.3 KV Cache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 内存</a:t>
            </a:r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—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恢复代价测试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C9108F59-E2DE-58AB-1FD0-F1A99AC292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2417395"/>
              </p:ext>
            </p:extLst>
          </p:nvPr>
        </p:nvGraphicFramePr>
        <p:xfrm>
          <a:off x="6448652" y="2133946"/>
          <a:ext cx="5568948" cy="18542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856316">
                  <a:extLst>
                    <a:ext uri="{9D8B030D-6E8A-4147-A177-3AD203B41FA5}">
                      <a16:colId xmlns:a16="http://schemas.microsoft.com/office/drawing/2014/main" val="575894538"/>
                    </a:ext>
                  </a:extLst>
                </a:gridCol>
                <a:gridCol w="1856316">
                  <a:extLst>
                    <a:ext uri="{9D8B030D-6E8A-4147-A177-3AD203B41FA5}">
                      <a16:colId xmlns:a16="http://schemas.microsoft.com/office/drawing/2014/main" val="3883523106"/>
                    </a:ext>
                  </a:extLst>
                </a:gridCol>
                <a:gridCol w="1856316">
                  <a:extLst>
                    <a:ext uri="{9D8B030D-6E8A-4147-A177-3AD203B41FA5}">
                      <a16:colId xmlns:a16="http://schemas.microsoft.com/office/drawing/2014/main" val="24048652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KV Resident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Restore 数据量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Resume Gate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67934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0.996 GiB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327 MiB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190.4 ms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9215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0.746 GiB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576 MiB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277.2 ms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2326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0.497 GiB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840 MiB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370.0 ms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24666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0.247 GiB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1104 MiB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478.0 ms</a:t>
                      </a:r>
                      <a:endParaRPr lang="zh-CN" b="1" i="0"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9255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522689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23B19-2DD5-0366-0D89-290681543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269D82CF-5456-E51D-34EE-EBDEF4C0265B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85AE9FB-CB34-BAC8-9957-C221FCFDAE72}"/>
              </a:ext>
            </a:extLst>
          </p:cNvPr>
          <p:cNvSpPr/>
          <p:nvPr/>
        </p:nvSpPr>
        <p:spPr>
          <a:xfrm>
            <a:off x="8337248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6" name="TextBox 6">
            <a:extLst>
              <a:ext uri="{FF2B5EF4-FFF2-40B4-BE49-F238E27FC236}">
                <a16:creationId xmlns:a16="http://schemas.microsoft.com/office/drawing/2014/main" id="{EA9FFB36-3B45-BE8A-CF66-E973E53DC5AE}"/>
              </a:ext>
            </a:extLst>
          </p:cNvPr>
          <p:cNvSpPr txBox="1"/>
          <p:nvPr/>
        </p:nvSpPr>
        <p:spPr>
          <a:xfrm>
            <a:off x="33749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项目介绍</a:t>
            </a:r>
          </a:p>
        </p:txBody>
      </p:sp>
      <p:sp>
        <p:nvSpPr>
          <p:cNvPr id="27" name="TextBox 7">
            <a:extLst>
              <a:ext uri="{FF2B5EF4-FFF2-40B4-BE49-F238E27FC236}">
                <a16:creationId xmlns:a16="http://schemas.microsoft.com/office/drawing/2014/main" id="{551C7E40-C6BF-EF42-8075-0EB885294094}"/>
              </a:ext>
            </a:extLst>
          </p:cNvPr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>
              <a:buClrTx/>
              <a:buSzTx/>
              <a:buFontTx/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>
            <a:extLst>
              <a:ext uri="{FF2B5EF4-FFF2-40B4-BE49-F238E27FC236}">
                <a16:creationId xmlns:a16="http://schemas.microsoft.com/office/drawing/2014/main" id="{F594A93E-E964-9F2D-D75A-629A5A51EB41}"/>
              </a:ext>
            </a:extLst>
          </p:cNvPr>
          <p:cNvSpPr txBox="1"/>
          <p:nvPr/>
        </p:nvSpPr>
        <p:spPr>
          <a:xfrm>
            <a:off x="67785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模块设计实现</a:t>
            </a:r>
          </a:p>
        </p:txBody>
      </p:sp>
      <p:sp>
        <p:nvSpPr>
          <p:cNvPr id="29" name="TextBox 10">
            <a:extLst>
              <a:ext uri="{FF2B5EF4-FFF2-40B4-BE49-F238E27FC236}">
                <a16:creationId xmlns:a16="http://schemas.microsoft.com/office/drawing/2014/main" id="{60A7FC60-A23B-77E8-7F04-120E277C554F}"/>
              </a:ext>
            </a:extLst>
          </p:cNvPr>
          <p:cNvSpPr txBox="1"/>
          <p:nvPr/>
        </p:nvSpPr>
        <p:spPr>
          <a:xfrm>
            <a:off x="8480349" y="215904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项目测试</a:t>
            </a:r>
            <a:endParaRPr lang="zh-CN" altLang="en-US" sz="2000" b="1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30" name="TextBox 11">
            <a:extLst>
              <a:ext uri="{FF2B5EF4-FFF2-40B4-BE49-F238E27FC236}">
                <a16:creationId xmlns:a16="http://schemas.microsoft.com/office/drawing/2014/main" id="{B52F8AD7-7537-4370-842A-20BF65D80FB6}"/>
              </a:ext>
            </a:extLst>
          </p:cNvPr>
          <p:cNvSpPr txBox="1"/>
          <p:nvPr/>
        </p:nvSpPr>
        <p:spPr>
          <a:xfrm>
            <a:off x="10182151" y="215903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项目总结</a:t>
            </a:r>
            <a:endParaRPr lang="zh-CN" altLang="en-US" sz="1600" b="1" dirty="0">
              <a:solidFill>
                <a:schemeClr val="bg1">
                  <a:lumMod val="50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396432DE-6C0A-E5D4-AF74-E3458F7249B6}"/>
              </a:ext>
            </a:extLst>
          </p:cNvPr>
          <p:cNvCxnSpPr>
            <a:cxnSpLocks/>
          </p:cNvCxnSpPr>
          <p:nvPr/>
        </p:nvCxnSpPr>
        <p:spPr>
          <a:xfrm>
            <a:off x="430325" y="1714034"/>
            <a:ext cx="398451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A44815BA-2C51-08AB-76D3-9A3953E870C6}"/>
              </a:ext>
            </a:extLst>
          </p:cNvPr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2A112F6A-10FE-3A8B-BD77-4EE36830BC87}"/>
              </a:ext>
            </a:extLst>
          </p:cNvPr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A9CC70C-B71D-E8D5-9B13-F755F92FD096}"/>
              </a:ext>
            </a:extLst>
          </p:cNvPr>
          <p:cNvCxnSpPr/>
          <p:nvPr/>
        </p:nvCxnSpPr>
        <p:spPr>
          <a:xfrm>
            <a:off x="66354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>
            <a:extLst>
              <a:ext uri="{FF2B5EF4-FFF2-40B4-BE49-F238E27FC236}">
                <a16:creationId xmlns:a16="http://schemas.microsoft.com/office/drawing/2014/main" id="{E6CA1BB7-B2CB-5178-75FE-43D30ADB60F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8788345A-4F5C-EF3D-824A-AD56D47E139A}"/>
              </a:ext>
            </a:extLst>
          </p:cNvPr>
          <p:cNvSpPr txBox="1"/>
          <p:nvPr/>
        </p:nvSpPr>
        <p:spPr>
          <a:xfrm>
            <a:off x="411275" y="5082892"/>
            <a:ext cx="533747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恢复延迟主要由 Backing Read + Restore 构成，其中 Restore 长期占 Gate 约 69%–73%。</a:t>
            </a:r>
            <a:endParaRPr lang="en-US" altLang="zh-CN" sz="2000" b="1">
              <a:latin typeface="Songti SC" panose="02010600040101010101" pitchFamily="2" charset="-122"/>
              <a:ea typeface="Songti SC" panose="02010600040101010101" pitchFamily="2" charset="-122"/>
            </a:endParaRPr>
          </a:p>
          <a:p>
            <a:r>
              <a:rPr lang="zh-CN" altLang="zh-CN" sz="2000" b="1">
                <a:latin typeface="Songti SC" panose="02010600040101010101" pitchFamily="2" charset="-122"/>
                <a:ea typeface="Songti SC" panose="02010600040101010101" pitchFamily="2" charset="-122"/>
              </a:rPr>
              <a:t>上下文越长，恢复数据量越大，Restore 逐渐成为 Session 重访的主要性能瓶颈。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4E7E650-7379-E8F1-E36A-D955052416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94378" y="1925712"/>
            <a:ext cx="6197622" cy="3921284"/>
          </a:xfrm>
          <a:prstGeom prst="rect">
            <a:avLst/>
          </a:prstGeom>
        </p:spPr>
      </p:pic>
      <p:sp>
        <p:nvSpPr>
          <p:cNvPr id="5" name="TextBox 6">
            <a:extLst>
              <a:ext uri="{FF2B5EF4-FFF2-40B4-BE49-F238E27FC236}">
                <a16:creationId xmlns:a16="http://schemas.microsoft.com/office/drawing/2014/main" id="{D5E8B45A-AEDB-0B0C-337C-5637944BC1A9}"/>
              </a:ext>
            </a:extLst>
          </p:cNvPr>
          <p:cNvSpPr txBox="1"/>
          <p:nvPr/>
        </p:nvSpPr>
        <p:spPr>
          <a:xfrm>
            <a:off x="511127" y="1199825"/>
            <a:ext cx="3903711" cy="46626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4.4.4 KV Cache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恢复延迟分解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6E8333-61F8-1B98-6B3E-B00B973814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1896475"/>
              </p:ext>
            </p:extLst>
          </p:nvPr>
        </p:nvGraphicFramePr>
        <p:xfrm>
          <a:off x="213007" y="1976254"/>
          <a:ext cx="5547895" cy="2973829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58568">
                  <a:extLst>
                    <a:ext uri="{9D8B030D-6E8A-4147-A177-3AD203B41FA5}">
                      <a16:colId xmlns:a16="http://schemas.microsoft.com/office/drawing/2014/main" val="3801746188"/>
                    </a:ext>
                  </a:extLst>
                </a:gridCol>
                <a:gridCol w="1260590">
                  <a:extLst>
                    <a:ext uri="{9D8B030D-6E8A-4147-A177-3AD203B41FA5}">
                      <a16:colId xmlns:a16="http://schemas.microsoft.com/office/drawing/2014/main" val="3411536102"/>
                    </a:ext>
                  </a:extLst>
                </a:gridCol>
                <a:gridCol w="1109579">
                  <a:extLst>
                    <a:ext uri="{9D8B030D-6E8A-4147-A177-3AD203B41FA5}">
                      <a16:colId xmlns:a16="http://schemas.microsoft.com/office/drawing/2014/main" val="4232601381"/>
                    </a:ext>
                  </a:extLst>
                </a:gridCol>
                <a:gridCol w="1109579">
                  <a:extLst>
                    <a:ext uri="{9D8B030D-6E8A-4147-A177-3AD203B41FA5}">
                      <a16:colId xmlns:a16="http://schemas.microsoft.com/office/drawing/2014/main" val="2071860565"/>
                    </a:ext>
                  </a:extLst>
                </a:gridCol>
                <a:gridCol w="1109579">
                  <a:extLst>
                    <a:ext uri="{9D8B030D-6E8A-4147-A177-3AD203B41FA5}">
                      <a16:colId xmlns:a16="http://schemas.microsoft.com/office/drawing/2014/main" val="1842213634"/>
                    </a:ext>
                  </a:extLst>
                </a:gridCol>
              </a:tblGrid>
              <a:tr h="8519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上下文长度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KV Resident Drop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Backing Read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Restore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Resume Gate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2521108"/>
                  </a:ext>
                </a:extLst>
              </a:tr>
              <a:tr h="3407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381 MiB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0.079 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0.177 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0.257 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92253692"/>
                  </a:ext>
                </a:extLst>
              </a:tr>
              <a:tr h="3407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2K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762 MiB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0.138 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0.333 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0.472 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2547270"/>
                  </a:ext>
                </a:extLst>
              </a:tr>
              <a:tr h="3407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4K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1524 MiB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0.273 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0.686 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0.961 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669297"/>
                  </a:ext>
                </a:extLst>
              </a:tr>
              <a:tr h="3407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6K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2286 MiB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0.404 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1.063 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1.469 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152285"/>
                  </a:ext>
                </a:extLst>
              </a:tr>
              <a:tr h="5963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7.5K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2857.5 MiB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0.477 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1.286 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CN" sz="1800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1.766 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458531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524860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2703276-BE52-10B1-565F-50306963B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AB3C1424-BC54-4A9B-36B4-355300AF2E1B}"/>
              </a:ext>
            </a:extLst>
          </p:cNvPr>
          <p:cNvSpPr/>
          <p:nvPr/>
        </p:nvSpPr>
        <p:spPr>
          <a:xfrm rot="5400000">
            <a:off x="4227759" y="-4227756"/>
            <a:ext cx="3736490" cy="1219200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F9C8BA51-BDA7-1B33-5C92-4DDC22AB9F12}"/>
              </a:ext>
            </a:extLst>
          </p:cNvPr>
          <p:cNvGrpSpPr/>
          <p:nvPr/>
        </p:nvGrpSpPr>
        <p:grpSpPr>
          <a:xfrm>
            <a:off x="4919877" y="2920080"/>
            <a:ext cx="2352246" cy="1642832"/>
            <a:chOff x="5127859" y="2518592"/>
            <a:chExt cx="1936282" cy="1723208"/>
          </a:xfrm>
        </p:grpSpPr>
        <p:sp>
          <p:nvSpPr>
            <p:cNvPr id="6" name="任意多边形 5">
              <a:extLst>
                <a:ext uri="{FF2B5EF4-FFF2-40B4-BE49-F238E27FC236}">
                  <a16:creationId xmlns:a16="http://schemas.microsoft.com/office/drawing/2014/main" id="{B3371BA3-7566-0AA1-38AB-7D37B5C11E6B}"/>
                </a:ext>
              </a:extLst>
            </p:cNvPr>
            <p:cNvSpPr/>
            <p:nvPr/>
          </p:nvSpPr>
          <p:spPr>
            <a:xfrm>
              <a:off x="5127859" y="2518592"/>
              <a:ext cx="1936282" cy="1723208"/>
            </a:xfrm>
            <a:custGeom>
              <a:avLst/>
              <a:gdLst>
                <a:gd name="connsiteX0" fmla="*/ 576168 w 1961391"/>
                <a:gd name="connsiteY0" fmla="*/ 0 h 1745551"/>
                <a:gd name="connsiteX1" fmla="*/ 863600 w 1961391"/>
                <a:gd name="connsiteY1" fmla="*/ 0 h 1745551"/>
                <a:gd name="connsiteX2" fmla="*/ 1097791 w 1961391"/>
                <a:gd name="connsiteY2" fmla="*/ 0 h 1745551"/>
                <a:gd name="connsiteX3" fmla="*/ 1385223 w 1961391"/>
                <a:gd name="connsiteY3" fmla="*/ 0 h 1745551"/>
                <a:gd name="connsiteX4" fmla="*/ 1539918 w 1961391"/>
                <a:gd name="connsiteY4" fmla="*/ 88854 h 1745551"/>
                <a:gd name="connsiteX5" fmla="*/ 1940980 w 1961391"/>
                <a:gd name="connsiteY5" fmla="*/ 783921 h 1745551"/>
                <a:gd name="connsiteX6" fmla="*/ 1961391 w 1961391"/>
                <a:gd name="connsiteY6" fmla="*/ 872775 h 1745551"/>
                <a:gd name="connsiteX7" fmla="*/ 1940980 w 1961391"/>
                <a:gd name="connsiteY7" fmla="*/ 961629 h 1745551"/>
                <a:gd name="connsiteX8" fmla="*/ 1539918 w 1961391"/>
                <a:gd name="connsiteY8" fmla="*/ 1656697 h 1745551"/>
                <a:gd name="connsiteX9" fmla="*/ 1385223 w 1961391"/>
                <a:gd name="connsiteY9" fmla="*/ 1745551 h 1745551"/>
                <a:gd name="connsiteX10" fmla="*/ 1120460 w 1961391"/>
                <a:gd name="connsiteY10" fmla="*/ 1745551 h 1745551"/>
                <a:gd name="connsiteX11" fmla="*/ 1097791 w 1961391"/>
                <a:gd name="connsiteY11" fmla="*/ 1745551 h 1745551"/>
                <a:gd name="connsiteX12" fmla="*/ 1039896 w 1961391"/>
                <a:gd name="connsiteY12" fmla="*/ 1745551 h 1745551"/>
                <a:gd name="connsiteX13" fmla="*/ 1013340 w 1961391"/>
                <a:gd name="connsiteY13" fmla="*/ 1745551 h 1745551"/>
                <a:gd name="connsiteX14" fmla="*/ 948051 w 1961391"/>
                <a:gd name="connsiteY14" fmla="*/ 1745551 h 1745551"/>
                <a:gd name="connsiteX15" fmla="*/ 921495 w 1961391"/>
                <a:gd name="connsiteY15" fmla="*/ 1745551 h 1745551"/>
                <a:gd name="connsiteX16" fmla="*/ 863600 w 1961391"/>
                <a:gd name="connsiteY16" fmla="*/ 1745551 h 1745551"/>
                <a:gd name="connsiteX17" fmla="*/ 840931 w 1961391"/>
                <a:gd name="connsiteY17" fmla="*/ 1745551 h 1745551"/>
                <a:gd name="connsiteX18" fmla="*/ 576168 w 1961391"/>
                <a:gd name="connsiteY18" fmla="*/ 1745551 h 1745551"/>
                <a:gd name="connsiteX19" fmla="*/ 421473 w 1961391"/>
                <a:gd name="connsiteY19" fmla="*/ 1656697 h 1745551"/>
                <a:gd name="connsiteX20" fmla="*/ 20411 w 1961391"/>
                <a:gd name="connsiteY20" fmla="*/ 961629 h 1745551"/>
                <a:gd name="connsiteX21" fmla="*/ 0 w 1961391"/>
                <a:gd name="connsiteY21" fmla="*/ 872775 h 1745551"/>
                <a:gd name="connsiteX22" fmla="*/ 20411 w 1961391"/>
                <a:gd name="connsiteY22" fmla="*/ 783921 h 1745551"/>
                <a:gd name="connsiteX23" fmla="*/ 421473 w 1961391"/>
                <a:gd name="connsiteY23" fmla="*/ 88854 h 1745551"/>
                <a:gd name="connsiteX24" fmla="*/ 576168 w 1961391"/>
                <a:gd name="connsiteY24" fmla="*/ 0 h 1745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61391" h="1745551">
                  <a:moveTo>
                    <a:pt x="576168" y="0"/>
                  </a:moveTo>
                  <a:lnTo>
                    <a:pt x="863600" y="0"/>
                  </a:lnTo>
                  <a:lnTo>
                    <a:pt x="1097791" y="0"/>
                  </a:lnTo>
                  <a:lnTo>
                    <a:pt x="1385223" y="0"/>
                  </a:lnTo>
                  <a:cubicBezTo>
                    <a:pt x="1441086" y="0"/>
                    <a:pt x="1511271" y="40128"/>
                    <a:pt x="1539918" y="88854"/>
                  </a:cubicBezTo>
                  <a:cubicBezTo>
                    <a:pt x="1940980" y="783921"/>
                    <a:pt x="1940980" y="783921"/>
                    <a:pt x="1940980" y="783921"/>
                  </a:cubicBezTo>
                  <a:cubicBezTo>
                    <a:pt x="1954587" y="808285"/>
                    <a:pt x="1961391" y="840530"/>
                    <a:pt x="1961391" y="872775"/>
                  </a:cubicBezTo>
                  <a:cubicBezTo>
                    <a:pt x="1961391" y="905021"/>
                    <a:pt x="1954587" y="937267"/>
                    <a:pt x="1940980" y="961629"/>
                  </a:cubicBezTo>
                  <a:cubicBezTo>
                    <a:pt x="1539918" y="1656697"/>
                    <a:pt x="1539918" y="1656697"/>
                    <a:pt x="1539918" y="1656697"/>
                  </a:cubicBezTo>
                  <a:cubicBezTo>
                    <a:pt x="1511271" y="1705424"/>
                    <a:pt x="1441086" y="1745551"/>
                    <a:pt x="1385223" y="1745551"/>
                  </a:cubicBezTo>
                  <a:cubicBezTo>
                    <a:pt x="1284958" y="1745551"/>
                    <a:pt x="1197225" y="1745551"/>
                    <a:pt x="1120460" y="1745551"/>
                  </a:cubicBezTo>
                  <a:lnTo>
                    <a:pt x="1097791" y="1745551"/>
                  </a:lnTo>
                  <a:lnTo>
                    <a:pt x="1039896" y="1745551"/>
                  </a:lnTo>
                  <a:lnTo>
                    <a:pt x="1013340" y="1745551"/>
                  </a:lnTo>
                  <a:lnTo>
                    <a:pt x="948051" y="1745551"/>
                  </a:lnTo>
                  <a:lnTo>
                    <a:pt x="921495" y="1745551"/>
                  </a:lnTo>
                  <a:lnTo>
                    <a:pt x="863600" y="1745551"/>
                  </a:lnTo>
                  <a:lnTo>
                    <a:pt x="840931" y="1745551"/>
                  </a:lnTo>
                  <a:cubicBezTo>
                    <a:pt x="764166" y="1745551"/>
                    <a:pt x="676433" y="1745551"/>
                    <a:pt x="576168" y="1745551"/>
                  </a:cubicBezTo>
                  <a:cubicBezTo>
                    <a:pt x="520305" y="1745551"/>
                    <a:pt x="450120" y="1705424"/>
                    <a:pt x="421473" y="1656697"/>
                  </a:cubicBezTo>
                  <a:cubicBezTo>
                    <a:pt x="421473" y="1656697"/>
                    <a:pt x="421473" y="1656697"/>
                    <a:pt x="20411" y="961629"/>
                  </a:cubicBezTo>
                  <a:cubicBezTo>
                    <a:pt x="6804" y="937267"/>
                    <a:pt x="0" y="905021"/>
                    <a:pt x="0" y="872775"/>
                  </a:cubicBezTo>
                  <a:cubicBezTo>
                    <a:pt x="0" y="840530"/>
                    <a:pt x="6804" y="808285"/>
                    <a:pt x="20411" y="783921"/>
                  </a:cubicBezTo>
                  <a:cubicBezTo>
                    <a:pt x="20411" y="783921"/>
                    <a:pt x="20411" y="783921"/>
                    <a:pt x="421473" y="88854"/>
                  </a:cubicBezTo>
                  <a:cubicBezTo>
                    <a:pt x="450120" y="40128"/>
                    <a:pt x="520305" y="0"/>
                    <a:pt x="57616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2590" b="1">
                <a:latin typeface="Songti SC" panose="02010600040101010101" pitchFamily="2" charset="-122"/>
                <a:ea typeface="Songti SC" panose="02010600040101010101" pitchFamily="2" charset="-122"/>
              </a:endParaRPr>
            </a:p>
          </p:txBody>
        </p:sp>
        <p:sp>
          <p:nvSpPr>
            <p:cNvPr id="7" name="任意多边形 6">
              <a:extLst>
                <a:ext uri="{FF2B5EF4-FFF2-40B4-BE49-F238E27FC236}">
                  <a16:creationId xmlns:a16="http://schemas.microsoft.com/office/drawing/2014/main" id="{EDCE6DE1-FE39-2D36-DE15-D2ADA66E398A}"/>
                </a:ext>
              </a:extLst>
            </p:cNvPr>
            <p:cNvSpPr/>
            <p:nvPr/>
          </p:nvSpPr>
          <p:spPr>
            <a:xfrm>
              <a:off x="5257193" y="2633694"/>
              <a:ext cx="1677614" cy="1493004"/>
            </a:xfrm>
            <a:custGeom>
              <a:avLst/>
              <a:gdLst>
                <a:gd name="connsiteX0" fmla="*/ 576168 w 1961391"/>
                <a:gd name="connsiteY0" fmla="*/ 0 h 1745551"/>
                <a:gd name="connsiteX1" fmla="*/ 863600 w 1961391"/>
                <a:gd name="connsiteY1" fmla="*/ 0 h 1745551"/>
                <a:gd name="connsiteX2" fmla="*/ 1097791 w 1961391"/>
                <a:gd name="connsiteY2" fmla="*/ 0 h 1745551"/>
                <a:gd name="connsiteX3" fmla="*/ 1385223 w 1961391"/>
                <a:gd name="connsiteY3" fmla="*/ 0 h 1745551"/>
                <a:gd name="connsiteX4" fmla="*/ 1539918 w 1961391"/>
                <a:gd name="connsiteY4" fmla="*/ 88854 h 1745551"/>
                <a:gd name="connsiteX5" fmla="*/ 1940980 w 1961391"/>
                <a:gd name="connsiteY5" fmla="*/ 783921 h 1745551"/>
                <a:gd name="connsiteX6" fmla="*/ 1961391 w 1961391"/>
                <a:gd name="connsiteY6" fmla="*/ 872775 h 1745551"/>
                <a:gd name="connsiteX7" fmla="*/ 1940980 w 1961391"/>
                <a:gd name="connsiteY7" fmla="*/ 961629 h 1745551"/>
                <a:gd name="connsiteX8" fmla="*/ 1539918 w 1961391"/>
                <a:gd name="connsiteY8" fmla="*/ 1656697 h 1745551"/>
                <a:gd name="connsiteX9" fmla="*/ 1385223 w 1961391"/>
                <a:gd name="connsiteY9" fmla="*/ 1745551 h 1745551"/>
                <a:gd name="connsiteX10" fmla="*/ 1120460 w 1961391"/>
                <a:gd name="connsiteY10" fmla="*/ 1745551 h 1745551"/>
                <a:gd name="connsiteX11" fmla="*/ 1097791 w 1961391"/>
                <a:gd name="connsiteY11" fmla="*/ 1745551 h 1745551"/>
                <a:gd name="connsiteX12" fmla="*/ 1039896 w 1961391"/>
                <a:gd name="connsiteY12" fmla="*/ 1745551 h 1745551"/>
                <a:gd name="connsiteX13" fmla="*/ 1013340 w 1961391"/>
                <a:gd name="connsiteY13" fmla="*/ 1745551 h 1745551"/>
                <a:gd name="connsiteX14" fmla="*/ 948051 w 1961391"/>
                <a:gd name="connsiteY14" fmla="*/ 1745551 h 1745551"/>
                <a:gd name="connsiteX15" fmla="*/ 921495 w 1961391"/>
                <a:gd name="connsiteY15" fmla="*/ 1745551 h 1745551"/>
                <a:gd name="connsiteX16" fmla="*/ 863600 w 1961391"/>
                <a:gd name="connsiteY16" fmla="*/ 1745551 h 1745551"/>
                <a:gd name="connsiteX17" fmla="*/ 840931 w 1961391"/>
                <a:gd name="connsiteY17" fmla="*/ 1745551 h 1745551"/>
                <a:gd name="connsiteX18" fmla="*/ 576168 w 1961391"/>
                <a:gd name="connsiteY18" fmla="*/ 1745551 h 1745551"/>
                <a:gd name="connsiteX19" fmla="*/ 421473 w 1961391"/>
                <a:gd name="connsiteY19" fmla="*/ 1656697 h 1745551"/>
                <a:gd name="connsiteX20" fmla="*/ 20411 w 1961391"/>
                <a:gd name="connsiteY20" fmla="*/ 961629 h 1745551"/>
                <a:gd name="connsiteX21" fmla="*/ 0 w 1961391"/>
                <a:gd name="connsiteY21" fmla="*/ 872775 h 1745551"/>
                <a:gd name="connsiteX22" fmla="*/ 20411 w 1961391"/>
                <a:gd name="connsiteY22" fmla="*/ 783921 h 1745551"/>
                <a:gd name="connsiteX23" fmla="*/ 421473 w 1961391"/>
                <a:gd name="connsiteY23" fmla="*/ 88854 h 1745551"/>
                <a:gd name="connsiteX24" fmla="*/ 576168 w 1961391"/>
                <a:gd name="connsiteY24" fmla="*/ 0 h 1745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61391" h="1745551">
                  <a:moveTo>
                    <a:pt x="576168" y="0"/>
                  </a:moveTo>
                  <a:lnTo>
                    <a:pt x="863600" y="0"/>
                  </a:lnTo>
                  <a:lnTo>
                    <a:pt x="1097791" y="0"/>
                  </a:lnTo>
                  <a:lnTo>
                    <a:pt x="1385223" y="0"/>
                  </a:lnTo>
                  <a:cubicBezTo>
                    <a:pt x="1441086" y="0"/>
                    <a:pt x="1511271" y="40128"/>
                    <a:pt x="1539918" y="88854"/>
                  </a:cubicBezTo>
                  <a:cubicBezTo>
                    <a:pt x="1940980" y="783921"/>
                    <a:pt x="1940980" y="783921"/>
                    <a:pt x="1940980" y="783921"/>
                  </a:cubicBezTo>
                  <a:cubicBezTo>
                    <a:pt x="1954587" y="808285"/>
                    <a:pt x="1961391" y="840530"/>
                    <a:pt x="1961391" y="872775"/>
                  </a:cubicBezTo>
                  <a:cubicBezTo>
                    <a:pt x="1961391" y="905021"/>
                    <a:pt x="1954587" y="937267"/>
                    <a:pt x="1940980" y="961629"/>
                  </a:cubicBezTo>
                  <a:cubicBezTo>
                    <a:pt x="1539918" y="1656697"/>
                    <a:pt x="1539918" y="1656697"/>
                    <a:pt x="1539918" y="1656697"/>
                  </a:cubicBezTo>
                  <a:cubicBezTo>
                    <a:pt x="1511271" y="1705424"/>
                    <a:pt x="1441086" y="1745551"/>
                    <a:pt x="1385223" y="1745551"/>
                  </a:cubicBezTo>
                  <a:cubicBezTo>
                    <a:pt x="1284958" y="1745551"/>
                    <a:pt x="1197225" y="1745551"/>
                    <a:pt x="1120460" y="1745551"/>
                  </a:cubicBezTo>
                  <a:lnTo>
                    <a:pt x="1097791" y="1745551"/>
                  </a:lnTo>
                  <a:lnTo>
                    <a:pt x="1039896" y="1745551"/>
                  </a:lnTo>
                  <a:lnTo>
                    <a:pt x="1013340" y="1745551"/>
                  </a:lnTo>
                  <a:lnTo>
                    <a:pt x="948051" y="1745551"/>
                  </a:lnTo>
                  <a:lnTo>
                    <a:pt x="921495" y="1745551"/>
                  </a:lnTo>
                  <a:lnTo>
                    <a:pt x="863600" y="1745551"/>
                  </a:lnTo>
                  <a:lnTo>
                    <a:pt x="840931" y="1745551"/>
                  </a:lnTo>
                  <a:cubicBezTo>
                    <a:pt x="764166" y="1745551"/>
                    <a:pt x="676433" y="1745551"/>
                    <a:pt x="576168" y="1745551"/>
                  </a:cubicBezTo>
                  <a:cubicBezTo>
                    <a:pt x="520305" y="1745551"/>
                    <a:pt x="450120" y="1705424"/>
                    <a:pt x="421473" y="1656697"/>
                  </a:cubicBezTo>
                  <a:cubicBezTo>
                    <a:pt x="421473" y="1656697"/>
                    <a:pt x="421473" y="1656697"/>
                    <a:pt x="20411" y="961629"/>
                  </a:cubicBezTo>
                  <a:cubicBezTo>
                    <a:pt x="6804" y="937267"/>
                    <a:pt x="0" y="905021"/>
                    <a:pt x="0" y="872775"/>
                  </a:cubicBezTo>
                  <a:cubicBezTo>
                    <a:pt x="0" y="840530"/>
                    <a:pt x="6804" y="808285"/>
                    <a:pt x="20411" y="783921"/>
                  </a:cubicBezTo>
                  <a:cubicBezTo>
                    <a:pt x="20411" y="783921"/>
                    <a:pt x="20411" y="783921"/>
                    <a:pt x="421473" y="88854"/>
                  </a:cubicBezTo>
                  <a:cubicBezTo>
                    <a:pt x="450120" y="40128"/>
                    <a:pt x="520305" y="0"/>
                    <a:pt x="576168" y="0"/>
                  </a:cubicBezTo>
                  <a:close/>
                </a:path>
              </a:pathLst>
            </a:custGeom>
            <a:solidFill>
              <a:srgbClr val="9CC5F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sz="2590" b="1">
                <a:latin typeface="Songti SC" panose="02010600040101010101" pitchFamily="2" charset="-122"/>
                <a:ea typeface="Songti SC" panose="02010600040101010101" pitchFamily="2" charset="-122"/>
              </a:endParaRPr>
            </a:p>
          </p:txBody>
        </p:sp>
      </p:grpSp>
      <p:sp>
        <p:nvSpPr>
          <p:cNvPr id="8" name="文本框 7">
            <a:extLst>
              <a:ext uri="{FF2B5EF4-FFF2-40B4-BE49-F238E27FC236}">
                <a16:creationId xmlns:a16="http://schemas.microsoft.com/office/drawing/2014/main" id="{07B6F792-A06E-72A5-E7D8-1E7E52F38DD9}"/>
              </a:ext>
            </a:extLst>
          </p:cNvPr>
          <p:cNvSpPr txBox="1"/>
          <p:nvPr/>
        </p:nvSpPr>
        <p:spPr>
          <a:xfrm>
            <a:off x="5321588" y="3416749"/>
            <a:ext cx="15488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6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Part.05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293D329-A760-96F0-831B-F71651584972}"/>
              </a:ext>
            </a:extLst>
          </p:cNvPr>
          <p:cNvSpPr txBox="1"/>
          <p:nvPr/>
        </p:nvSpPr>
        <p:spPr>
          <a:xfrm>
            <a:off x="3327400" y="4962099"/>
            <a:ext cx="5537198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spc="600" dirty="0">
                <a:solidFill>
                  <a:schemeClr val="accent6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项目总结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CE4D4B4-C102-44F0-F478-9F25F26F6E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0390" y="1516741"/>
            <a:ext cx="3582844" cy="657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530687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decel="533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9" fill="hold">
                                <p:stCondLst>
                                  <p:cond delay="1000"/>
                                </p:stCondLst>
                                <p:childTnLst>
                                  <p:par>
                                    <p:cTn id="10" presetID="2" presetClass="entr" presetSubtype="4" fill="hold" nodeType="afterEffect" p14:presetBounceEnd="4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40000">
                                          <p:cBhvr additive="base">
                                            <p:cTn id="12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40000">
                                          <p:cBhvr additive="base">
                                            <p:cTn id="13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4" fill="hold">
                                <p:stCondLst>
                                  <p:cond delay="2000"/>
                                </p:stCondLst>
                                <p:childTnLst>
                                  <p:par>
                                    <p:cTn id="15" presetID="53" presetClass="entr" presetSubtype="16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7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8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20" fill="hold">
                                <p:stCondLst>
                                  <p:cond delay="2500"/>
                                </p:stCondLst>
                                <p:childTnLst>
                                  <p:par>
                                    <p:cTn id="21" presetID="50" presetClass="entr" presetSubtype="0" decel="100000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w+.3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5" dur="10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" grpId="0" animBg="1"/>
          <p:bldP spid="8" grpId="0"/>
          <p:bldP spid="9" grpId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decel="533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75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9" fill="hold">
                                <p:stCondLst>
                                  <p:cond delay="1000"/>
                                </p:stCondLst>
                                <p:childTnLst>
                                  <p:par>
                                    <p:cTn id="10" presetID="2" presetClass="entr" presetSubtype="4" fill="hold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2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3" dur="75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14" fill="hold">
                                <p:stCondLst>
                                  <p:cond delay="2000"/>
                                </p:stCondLst>
                                <p:childTnLst>
                                  <p:par>
                                    <p:cTn id="15" presetID="53" presetClass="entr" presetSubtype="16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7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8" dur="5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20" fill="hold">
                                <p:stCondLst>
                                  <p:cond delay="2500"/>
                                </p:stCondLst>
                                <p:childTnLst>
                                  <p:par>
                                    <p:cTn id="21" presetID="50" presetClass="entr" presetSubtype="0" decel="100000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w+.3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5" dur="10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" grpId="0" animBg="1"/>
          <p:bldP spid="8" grpId="0"/>
          <p:bldP spid="9" grpId="0"/>
        </p:bldLst>
      </p:timing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4FDE3-13DE-58B9-5CC9-30AD605E8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9D4C0FBB-F1EB-EFFC-2EF0-9B6AF548EBA1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4198956-07CF-7915-E464-97593FEB1286}"/>
              </a:ext>
            </a:extLst>
          </p:cNvPr>
          <p:cNvSpPr/>
          <p:nvPr/>
        </p:nvSpPr>
        <p:spPr>
          <a:xfrm>
            <a:off x="10003249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6" name="TextBox 6">
            <a:extLst>
              <a:ext uri="{FF2B5EF4-FFF2-40B4-BE49-F238E27FC236}">
                <a16:creationId xmlns:a16="http://schemas.microsoft.com/office/drawing/2014/main" id="{FE8C6A7B-5AC8-C6B6-10D3-79C4A2C52C30}"/>
              </a:ext>
            </a:extLst>
          </p:cNvPr>
          <p:cNvSpPr txBox="1"/>
          <p:nvPr/>
        </p:nvSpPr>
        <p:spPr>
          <a:xfrm>
            <a:off x="33749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项目介绍</a:t>
            </a:r>
          </a:p>
        </p:txBody>
      </p:sp>
      <p:sp>
        <p:nvSpPr>
          <p:cNvPr id="27" name="TextBox 7">
            <a:extLst>
              <a:ext uri="{FF2B5EF4-FFF2-40B4-BE49-F238E27FC236}">
                <a16:creationId xmlns:a16="http://schemas.microsoft.com/office/drawing/2014/main" id="{44733A39-ABD6-5E51-31B2-3A558F49AFDA}"/>
              </a:ext>
            </a:extLst>
          </p:cNvPr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>
            <a:extLst>
              <a:ext uri="{FF2B5EF4-FFF2-40B4-BE49-F238E27FC236}">
                <a16:creationId xmlns:a16="http://schemas.microsoft.com/office/drawing/2014/main" id="{278F7EBB-7B01-76E4-7103-BCFEEF03092A}"/>
              </a:ext>
            </a:extLst>
          </p:cNvPr>
          <p:cNvSpPr txBox="1"/>
          <p:nvPr/>
        </p:nvSpPr>
        <p:spPr>
          <a:xfrm>
            <a:off x="67785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模块设计实现</a:t>
            </a:r>
          </a:p>
        </p:txBody>
      </p:sp>
      <p:sp>
        <p:nvSpPr>
          <p:cNvPr id="29" name="TextBox 10">
            <a:extLst>
              <a:ext uri="{FF2B5EF4-FFF2-40B4-BE49-F238E27FC236}">
                <a16:creationId xmlns:a16="http://schemas.microsoft.com/office/drawing/2014/main" id="{679B8EE6-F6CE-371E-BA9F-35F8BAD137FD}"/>
              </a:ext>
            </a:extLst>
          </p:cNvPr>
          <p:cNvSpPr txBox="1"/>
          <p:nvPr/>
        </p:nvSpPr>
        <p:spPr>
          <a:xfrm>
            <a:off x="8480349" y="215904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研究成果</a:t>
            </a:r>
          </a:p>
        </p:txBody>
      </p:sp>
      <p:sp>
        <p:nvSpPr>
          <p:cNvPr id="30" name="TextBox 11">
            <a:extLst>
              <a:ext uri="{FF2B5EF4-FFF2-40B4-BE49-F238E27FC236}">
                <a16:creationId xmlns:a16="http://schemas.microsoft.com/office/drawing/2014/main" id="{F1A977F2-C98A-4F41-9172-55E43830C4D5}"/>
              </a:ext>
            </a:extLst>
          </p:cNvPr>
          <p:cNvSpPr txBox="1"/>
          <p:nvPr/>
        </p:nvSpPr>
        <p:spPr>
          <a:xfrm>
            <a:off x="10182151" y="215903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论文总结</a:t>
            </a: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2F49DEBF-B3A4-3786-4D38-4D5A7DE4D0B4}"/>
              </a:ext>
            </a:extLst>
          </p:cNvPr>
          <p:cNvCxnSpPr>
            <a:cxnSpLocks/>
          </p:cNvCxnSpPr>
          <p:nvPr/>
        </p:nvCxnSpPr>
        <p:spPr>
          <a:xfrm>
            <a:off x="425752" y="1528840"/>
            <a:ext cx="270321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>
            <a:extLst>
              <a:ext uri="{FF2B5EF4-FFF2-40B4-BE49-F238E27FC236}">
                <a16:creationId xmlns:a16="http://schemas.microsoft.com/office/drawing/2014/main" id="{8C146649-6EBD-6C7F-43AF-85309FA57114}"/>
              </a:ext>
            </a:extLst>
          </p:cNvPr>
          <p:cNvSpPr txBox="1"/>
          <p:nvPr/>
        </p:nvSpPr>
        <p:spPr>
          <a:xfrm>
            <a:off x="425752" y="1034613"/>
            <a:ext cx="2703211" cy="46626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5.1 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项目工作总结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6BBA890-F101-C3C6-EE21-385E48FFFDC5}"/>
              </a:ext>
            </a:extLst>
          </p:cNvPr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8EEA5E04-A605-68B5-26C0-7D85B4D17A43}"/>
              </a:ext>
            </a:extLst>
          </p:cNvPr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9758A8B-8A92-DC51-F6DF-70EDD074ED6C}"/>
              </a:ext>
            </a:extLst>
          </p:cNvPr>
          <p:cNvCxnSpPr/>
          <p:nvPr/>
        </p:nvCxnSpPr>
        <p:spPr>
          <a:xfrm>
            <a:off x="66354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D669F50-C74C-40EF-F261-D88BC15E494E}"/>
              </a:ext>
            </a:extLst>
          </p:cNvPr>
          <p:cNvCxnSpPr/>
          <p:nvPr/>
        </p:nvCxnSpPr>
        <p:spPr>
          <a:xfrm>
            <a:off x="8337248" y="313246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图片 2">
            <a:extLst>
              <a:ext uri="{FF2B5EF4-FFF2-40B4-BE49-F238E27FC236}">
                <a16:creationId xmlns:a16="http://schemas.microsoft.com/office/drawing/2014/main" id="{BCC3D4D1-E2B6-7698-D2E8-E6356913BB2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75E40B83-BFF2-EDE7-7722-A0FE94887E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8303136"/>
              </p:ext>
            </p:extLst>
          </p:nvPr>
        </p:nvGraphicFramePr>
        <p:xfrm>
          <a:off x="571837" y="1597015"/>
          <a:ext cx="10297551" cy="5171868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410513">
                  <a:extLst>
                    <a:ext uri="{9D8B030D-6E8A-4147-A177-3AD203B41FA5}">
                      <a16:colId xmlns:a16="http://schemas.microsoft.com/office/drawing/2014/main" val="2694015343"/>
                    </a:ext>
                  </a:extLst>
                </a:gridCol>
                <a:gridCol w="1814732">
                  <a:extLst>
                    <a:ext uri="{9D8B030D-6E8A-4147-A177-3AD203B41FA5}">
                      <a16:colId xmlns:a16="http://schemas.microsoft.com/office/drawing/2014/main" val="526344773"/>
                    </a:ext>
                  </a:extLst>
                </a:gridCol>
                <a:gridCol w="6072306">
                  <a:extLst>
                    <a:ext uri="{9D8B030D-6E8A-4147-A177-3AD203B41FA5}">
                      <a16:colId xmlns:a16="http://schemas.microsoft.com/office/drawing/2014/main" val="2319609107"/>
                    </a:ext>
                  </a:extLst>
                </a:gridCol>
              </a:tblGrid>
              <a:tr h="599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目标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完成情况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说明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4286106"/>
                  </a:ext>
                </a:extLst>
              </a:tr>
              <a:tr h="8776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目标1：分析 LLM 推理访存行为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全部完成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完成 Dense Layer 顺序访问、MoE Expert 稀疏激活及 KV Cache 物理驻留与 Session 生命周期分析，为显式驻留和运行时调度提供依据。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3521389"/>
                  </a:ext>
                </a:extLst>
              </a:tr>
              <a:tr h="8776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目标2：构建显式运行时内存管理机制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全部完成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实现 Dense Flex、MoE Buffer 与 KV Cache Manager，分别以 Layer、ExpertGroup、Block/Cell 为粒度管理动态 Working Set 与物理驻留。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358529"/>
                  </a:ext>
                </a:extLst>
              </a:tr>
              <a:tr h="8776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目标3：实现预测预取与 I/O 重叠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全部完成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实现 Dense Adaptive Ahead、MoE CLG/EAM Prefetch，以及 KV Transfer Group、Read/Restore Pipeline 与 Prefault，降低同步 I/O 对推理关键路径的影响。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6921566"/>
                  </a:ext>
                </a:extLst>
              </a:tr>
              <a:tr h="8776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目标4：构建 Weight-KV-I/O 全局资源协调机制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完成核心框架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实现 Memory Planner、Server Memory Governor、Unified Prefetch Budget 与 Reallocation Credit，形成内存压力观测、资源决策、异步执行与反馈再分配闭环。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6235437"/>
                  </a:ext>
                </a:extLst>
              </a:tr>
              <a:tr h="8776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总体完成度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核心功能完成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b="1" i="0"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完成从访存分析、差异化驻留管理到全局运行时治理的系统集成，并建立 Dense、MoE、KV 的受控实验与正确性验证体系。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61654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9548433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38F8B-3E4E-F905-E24E-F66BCD325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>
            <a:extLst>
              <a:ext uri="{FF2B5EF4-FFF2-40B4-BE49-F238E27FC236}">
                <a16:creationId xmlns:a16="http://schemas.microsoft.com/office/drawing/2014/main" id="{B09CBA26-2573-B54D-436D-204C1DB537F6}"/>
              </a:ext>
            </a:extLst>
          </p:cNvPr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08DEB11-6E74-1AAC-4ED5-24D9A768AD29}"/>
              </a:ext>
            </a:extLst>
          </p:cNvPr>
          <p:cNvSpPr/>
          <p:nvPr/>
        </p:nvSpPr>
        <p:spPr>
          <a:xfrm>
            <a:off x="10003249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6" name="TextBox 6">
            <a:extLst>
              <a:ext uri="{FF2B5EF4-FFF2-40B4-BE49-F238E27FC236}">
                <a16:creationId xmlns:a16="http://schemas.microsoft.com/office/drawing/2014/main" id="{40AA795F-3710-0CFE-6790-DBA037E822D5}"/>
              </a:ext>
            </a:extLst>
          </p:cNvPr>
          <p:cNvSpPr txBox="1"/>
          <p:nvPr/>
        </p:nvSpPr>
        <p:spPr>
          <a:xfrm>
            <a:off x="33749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项目介绍</a:t>
            </a:r>
          </a:p>
        </p:txBody>
      </p:sp>
      <p:sp>
        <p:nvSpPr>
          <p:cNvPr id="27" name="TextBox 7">
            <a:extLst>
              <a:ext uri="{FF2B5EF4-FFF2-40B4-BE49-F238E27FC236}">
                <a16:creationId xmlns:a16="http://schemas.microsoft.com/office/drawing/2014/main" id="{8AD470F7-C35C-1659-6E31-3ADAFD98C148}"/>
              </a:ext>
            </a:extLst>
          </p:cNvPr>
          <p:cNvSpPr txBox="1"/>
          <p:nvPr/>
        </p:nvSpPr>
        <p:spPr>
          <a:xfrm>
            <a:off x="5076749" y="215904"/>
            <a:ext cx="1344000" cy="34099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bg1">
                    <a:lumMod val="50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系统架构</a:t>
            </a:r>
            <a:endParaRPr lang="zh-CN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8" name="TextBox 9">
            <a:extLst>
              <a:ext uri="{FF2B5EF4-FFF2-40B4-BE49-F238E27FC236}">
                <a16:creationId xmlns:a16="http://schemas.microsoft.com/office/drawing/2014/main" id="{01ED5F25-1C52-6D8F-711A-63D2248779BF}"/>
              </a:ext>
            </a:extLst>
          </p:cNvPr>
          <p:cNvSpPr txBox="1"/>
          <p:nvPr/>
        </p:nvSpPr>
        <p:spPr>
          <a:xfrm>
            <a:off x="67785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模块设计实现</a:t>
            </a:r>
          </a:p>
        </p:txBody>
      </p:sp>
      <p:sp>
        <p:nvSpPr>
          <p:cNvPr id="29" name="TextBox 10">
            <a:extLst>
              <a:ext uri="{FF2B5EF4-FFF2-40B4-BE49-F238E27FC236}">
                <a16:creationId xmlns:a16="http://schemas.microsoft.com/office/drawing/2014/main" id="{C95D587B-268B-E2F4-791E-93E5654C678A}"/>
              </a:ext>
            </a:extLst>
          </p:cNvPr>
          <p:cNvSpPr txBox="1"/>
          <p:nvPr/>
        </p:nvSpPr>
        <p:spPr>
          <a:xfrm>
            <a:off x="8480349" y="215904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研究成果</a:t>
            </a:r>
          </a:p>
        </p:txBody>
      </p:sp>
      <p:sp>
        <p:nvSpPr>
          <p:cNvPr id="30" name="TextBox 11">
            <a:extLst>
              <a:ext uri="{FF2B5EF4-FFF2-40B4-BE49-F238E27FC236}">
                <a16:creationId xmlns:a16="http://schemas.microsoft.com/office/drawing/2014/main" id="{88EED138-201D-7847-BC40-25FA8346F02A}"/>
              </a:ext>
            </a:extLst>
          </p:cNvPr>
          <p:cNvSpPr txBox="1"/>
          <p:nvPr/>
        </p:nvSpPr>
        <p:spPr>
          <a:xfrm>
            <a:off x="10182151" y="215903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论文总结</a:t>
            </a: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038C64C3-DAE8-758F-FB69-48FD68123A53}"/>
              </a:ext>
            </a:extLst>
          </p:cNvPr>
          <p:cNvCxnSpPr>
            <a:cxnSpLocks/>
          </p:cNvCxnSpPr>
          <p:nvPr/>
        </p:nvCxnSpPr>
        <p:spPr>
          <a:xfrm>
            <a:off x="425752" y="1528840"/>
            <a:ext cx="319139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>
            <a:extLst>
              <a:ext uri="{FF2B5EF4-FFF2-40B4-BE49-F238E27FC236}">
                <a16:creationId xmlns:a16="http://schemas.microsoft.com/office/drawing/2014/main" id="{A7C48538-CF4B-F6B7-3F9A-29D28EB51009}"/>
              </a:ext>
            </a:extLst>
          </p:cNvPr>
          <p:cNvSpPr txBox="1"/>
          <p:nvPr/>
        </p:nvSpPr>
        <p:spPr>
          <a:xfrm>
            <a:off x="425752" y="1067728"/>
            <a:ext cx="3191398" cy="46626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5.2 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现阶段存在的问题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E1464911-8D55-FB11-C328-493816902617}"/>
              </a:ext>
            </a:extLst>
          </p:cNvPr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99E9BF36-D7CF-42A0-21E2-E90626D1C0F5}"/>
              </a:ext>
            </a:extLst>
          </p:cNvPr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793F660-DA21-CC8A-BF94-8CC5158B8E96}"/>
              </a:ext>
            </a:extLst>
          </p:cNvPr>
          <p:cNvCxnSpPr/>
          <p:nvPr/>
        </p:nvCxnSpPr>
        <p:spPr>
          <a:xfrm>
            <a:off x="66354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1744F61-9EEE-FF6D-ED82-EEC1A60FB430}"/>
              </a:ext>
            </a:extLst>
          </p:cNvPr>
          <p:cNvCxnSpPr/>
          <p:nvPr/>
        </p:nvCxnSpPr>
        <p:spPr>
          <a:xfrm>
            <a:off x="8337248" y="313246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矩形 19">
            <a:extLst>
              <a:ext uri="{FF2B5EF4-FFF2-40B4-BE49-F238E27FC236}">
                <a16:creationId xmlns:a16="http://schemas.microsoft.com/office/drawing/2014/main" id="{64A7B29A-78CC-7C52-6155-A74E3C70D7EB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523334" y="1743495"/>
            <a:ext cx="10450830" cy="4445000"/>
          </a:xfrm>
          <a:prstGeom prst="rect">
            <a:avLst/>
          </a:prstGeom>
          <a:noFill/>
          <a:ln w="19050">
            <a:solidFill>
              <a:schemeClr val="accent6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BA060AE8-0471-8B0C-1DDF-02D847873B01}"/>
              </a:ext>
            </a:extLst>
          </p:cNvPr>
          <p:cNvGrpSpPr/>
          <p:nvPr>
            <p:custDataLst>
              <p:tags r:id="rId2"/>
            </p:custDataLst>
          </p:nvPr>
        </p:nvGrpSpPr>
        <p:grpSpPr>
          <a:xfrm>
            <a:off x="914450" y="2095946"/>
            <a:ext cx="9472930" cy="533024"/>
            <a:chOff x="4910249" y="2565642"/>
            <a:chExt cx="5855110" cy="372353"/>
          </a:xfrm>
        </p:grpSpPr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89B949D6-014C-7326-CE90-5CDAE42C73CF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5296455" y="2565642"/>
              <a:ext cx="5468904" cy="35757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zh-CN" sz="2000" b="1">
                  <a:latin typeface="Songti SC" panose="02010600040101010101" pitchFamily="2" charset="-122"/>
                  <a:ea typeface="Songti SC" panose="02010600040101010101" pitchFamily="2" charset="-122"/>
                </a:rPr>
                <a:t>极端内存受限下 Dense 仍受 I/O 下界限制</a:t>
              </a:r>
              <a:endParaRPr lang="zh-CN" altLang="en-US" sz="2000" b="1" dirty="0">
                <a:solidFill>
                  <a:schemeClr val="tx1"/>
                </a:solidFill>
                <a:latin typeface="Songti SC" panose="02010600040101010101" pitchFamily="2" charset="-122"/>
                <a:ea typeface="Songti SC" panose="02010600040101010101" pitchFamily="2" charset="-122"/>
              </a:endParaRPr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39286729-84A6-F0A8-5770-BC6A4D986BB5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4910249" y="2570667"/>
              <a:ext cx="349704" cy="367328"/>
            </a:xfrm>
            <a:prstGeom prst="rect">
              <a:avLst/>
            </a:prstGeom>
            <a:solidFill>
              <a:schemeClr val="accent6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3200" b="1" dirty="0">
                  <a:solidFill>
                    <a:schemeClr val="bg1"/>
                  </a:solidFill>
                  <a:latin typeface="Songti SC Black" panose="02010600040101010101" pitchFamily="2" charset="-122"/>
                  <a:ea typeface="Songti SC Black" panose="02010600040101010101" pitchFamily="2" charset="-122"/>
                </a:rPr>
                <a:t>1</a:t>
              </a:r>
              <a:endParaRPr lang="zh-CN" altLang="en-US" sz="32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endParaRPr>
            </a:p>
          </p:txBody>
        </p:sp>
      </p:grp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EC91B52C-4888-0D33-D995-627F841C1125}"/>
              </a:ext>
            </a:extLst>
          </p:cNvPr>
          <p:cNvGrpSpPr/>
          <p:nvPr>
            <p:custDataLst>
              <p:tags r:id="rId3"/>
            </p:custDataLst>
          </p:nvPr>
        </p:nvGrpSpPr>
        <p:grpSpPr>
          <a:xfrm>
            <a:off x="914452" y="3142294"/>
            <a:ext cx="8166257" cy="559098"/>
            <a:chOff x="4910249" y="3312144"/>
            <a:chExt cx="5704695" cy="390568"/>
          </a:xfrm>
        </p:grpSpPr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DBAF1219-6344-F382-CC5D-A1BDB40A8298}"/>
                </a:ext>
              </a:extLst>
            </p:cNvPr>
            <p:cNvSpPr txBox="1"/>
            <p:nvPr>
              <p:custDataLst>
                <p:tags r:id="rId10"/>
              </p:custDataLst>
            </p:nvPr>
          </p:nvSpPr>
          <p:spPr>
            <a:xfrm>
              <a:off x="5346848" y="3312144"/>
              <a:ext cx="5268096" cy="3575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zh-CN" sz="2000" b="1">
                  <a:latin typeface="Songti SC" panose="02010600040101010101" pitchFamily="2" charset="-122"/>
                  <a:ea typeface="Songti SC" panose="02010600040101010101" pitchFamily="2" charset="-122"/>
                </a:rPr>
                <a:t>跨层共享页仍采用保守保护</a:t>
              </a:r>
              <a:endParaRPr lang="zh-CN" altLang="en-US" sz="2000" b="1" dirty="0">
                <a:latin typeface="Songti SC" panose="02010600040101010101" pitchFamily="2" charset="-122"/>
                <a:ea typeface="Songti SC" panose="02010600040101010101" pitchFamily="2" charset="-122"/>
              </a:endParaRPr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E07B7FD6-CBDB-6CC2-F3A2-46CC711D87AB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4910249" y="3335384"/>
              <a:ext cx="349704" cy="367328"/>
            </a:xfrm>
            <a:prstGeom prst="rect">
              <a:avLst/>
            </a:prstGeom>
            <a:solidFill>
              <a:schemeClr val="accent6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3200" b="1" dirty="0">
                  <a:solidFill>
                    <a:schemeClr val="bg1"/>
                  </a:solidFill>
                  <a:latin typeface="Songti SC Black" panose="02010600040101010101" pitchFamily="2" charset="-122"/>
                  <a:ea typeface="Songti SC Black" panose="02010600040101010101" pitchFamily="2" charset="-122"/>
                </a:rPr>
                <a:t>2</a:t>
              </a:r>
              <a:endParaRPr lang="zh-CN" altLang="en-US" sz="32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endParaRPr>
            </a:p>
          </p:txBody>
        </p: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8A8F04B6-4D12-3210-5C12-28476AFBE014}"/>
              </a:ext>
            </a:extLst>
          </p:cNvPr>
          <p:cNvGrpSpPr/>
          <p:nvPr>
            <p:custDataLst>
              <p:tags r:id="rId4"/>
            </p:custDataLst>
          </p:nvPr>
        </p:nvGrpSpPr>
        <p:grpSpPr>
          <a:xfrm>
            <a:off x="914452" y="4191171"/>
            <a:ext cx="8166257" cy="579417"/>
            <a:chOff x="4910249" y="4048556"/>
            <a:chExt cx="5704695" cy="404762"/>
          </a:xfrm>
        </p:grpSpPr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EC0EC0FE-DFA4-6C50-7628-1A8BE014BA68}"/>
                </a:ext>
              </a:extLst>
            </p:cNvPr>
            <p:cNvSpPr txBox="1"/>
            <p:nvPr>
              <p:custDataLst>
                <p:tags r:id="rId8"/>
              </p:custDataLst>
            </p:nvPr>
          </p:nvSpPr>
          <p:spPr>
            <a:xfrm>
              <a:off x="5346848" y="4048556"/>
              <a:ext cx="5268096" cy="3575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zh-CN" sz="2000" b="1">
                  <a:latin typeface="Songti SC" panose="02010600040101010101" pitchFamily="2" charset="-122"/>
                  <a:ea typeface="Songti SC" panose="02010600040101010101" pitchFamily="2" charset="-122"/>
                </a:rPr>
                <a:t>KV Exact Restore 仍暴露同步恢复开销</a:t>
              </a:r>
              <a:endParaRPr lang="zh-CN" altLang="en-US" sz="2000" b="1" dirty="0">
                <a:latin typeface="Songti SC" panose="02010600040101010101" pitchFamily="2" charset="-122"/>
                <a:ea typeface="Songti SC" panose="02010600040101010101" pitchFamily="2" charset="-122"/>
              </a:endParaRPr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73F31D9B-E7F3-4DDE-16E9-09BC1F29A7C8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4910249" y="4085990"/>
              <a:ext cx="349704" cy="367328"/>
            </a:xfrm>
            <a:prstGeom prst="rect">
              <a:avLst/>
            </a:prstGeom>
            <a:solidFill>
              <a:schemeClr val="accent6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3200" b="1" dirty="0">
                  <a:solidFill>
                    <a:schemeClr val="bg1"/>
                  </a:solidFill>
                  <a:latin typeface="Songti SC Black" panose="02010600040101010101" pitchFamily="2" charset="-122"/>
                  <a:ea typeface="Songti SC Black" panose="02010600040101010101" pitchFamily="2" charset="-122"/>
                </a:rPr>
                <a:t>3</a:t>
              </a:r>
              <a:endParaRPr lang="zh-CN" altLang="en-US" sz="32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endParaRPr>
            </a:p>
          </p:txBody>
        </p:sp>
      </p:grp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436A716D-92B5-F93F-B584-ED7B073E1AF5}"/>
              </a:ext>
            </a:extLst>
          </p:cNvPr>
          <p:cNvGrpSpPr/>
          <p:nvPr>
            <p:custDataLst>
              <p:tags r:id="rId5"/>
            </p:custDataLst>
          </p:nvPr>
        </p:nvGrpSpPr>
        <p:grpSpPr>
          <a:xfrm>
            <a:off x="914452" y="5290844"/>
            <a:ext cx="8909050" cy="548939"/>
            <a:chOff x="4910249" y="4069847"/>
            <a:chExt cx="6223587" cy="383471"/>
          </a:xfrm>
        </p:grpSpPr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973BFB43-0ED7-76FD-3DAC-21510461639A}"/>
                </a:ext>
              </a:extLst>
            </p:cNvPr>
            <p:cNvSpPr txBox="1"/>
            <p:nvPr>
              <p:custDataLst>
                <p:tags r:id="rId6"/>
              </p:custDataLst>
            </p:nvPr>
          </p:nvSpPr>
          <p:spPr>
            <a:xfrm>
              <a:off x="5346743" y="4069847"/>
              <a:ext cx="5787093" cy="3575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zh-CN" sz="2000" b="1">
                  <a:latin typeface="Songti SC" panose="02010600040101010101" pitchFamily="2" charset="-122"/>
                  <a:ea typeface="Songti SC" panose="02010600040101010101" pitchFamily="2" charset="-122"/>
                </a:rPr>
                <a:t>全局协同收益仍需更强正式 Benchmark</a:t>
              </a:r>
              <a:endParaRPr lang="zh-CN" altLang="en-US" sz="2000" b="1" dirty="0">
                <a:latin typeface="Songti SC" panose="02010600040101010101" pitchFamily="2" charset="-122"/>
                <a:ea typeface="Songti SC" panose="02010600040101010101" pitchFamily="2" charset="-122"/>
              </a:endParaRP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FA09E859-9208-3E34-634A-60161082C237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4910249" y="4085990"/>
              <a:ext cx="349704" cy="367328"/>
            </a:xfrm>
            <a:prstGeom prst="rect">
              <a:avLst/>
            </a:prstGeom>
            <a:solidFill>
              <a:schemeClr val="accent6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3200" b="1" dirty="0">
                  <a:solidFill>
                    <a:schemeClr val="bg1"/>
                  </a:solidFill>
                  <a:latin typeface="Songti SC Black" panose="02010600040101010101" pitchFamily="2" charset="-122"/>
                  <a:ea typeface="Songti SC Black" panose="02010600040101010101" pitchFamily="2" charset="-122"/>
                </a:rPr>
                <a:t>4</a:t>
              </a:r>
              <a:endParaRPr lang="zh-CN" altLang="en-US" sz="32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endParaRPr>
            </a:p>
          </p:txBody>
        </p:sp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79E8B3CC-4125-E9A9-FB17-B95B52EC5AE9}"/>
              </a:ext>
            </a:extLst>
          </p:cNvPr>
          <p:cNvPicPr>
            <a:picLocks noChangeAspect="1"/>
          </p:cNvPicPr>
          <p:nvPr/>
        </p:nvPicPr>
        <p:blipFill rotWithShape="1">
          <a:blip r:embed="rId16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01782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500"/>
                            </p:stCondLst>
                            <p:childTnLst>
                              <p:par>
                                <p:cTn id="42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5" grpId="0"/>
      <p:bldP spid="20" grpId="0" bldLvl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4"/>
          <p:cNvSpPr/>
          <p:nvPr/>
        </p:nvSpPr>
        <p:spPr>
          <a:xfrm>
            <a:off x="0" y="0"/>
            <a:ext cx="12192000" cy="792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10003249" y="0"/>
            <a:ext cx="1666001" cy="79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>
              <a:solidFill>
                <a:schemeClr val="bg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6" name="TextBox 6"/>
          <p:cNvSpPr txBox="1"/>
          <p:nvPr/>
        </p:nvSpPr>
        <p:spPr>
          <a:xfrm>
            <a:off x="33749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项目介绍</a:t>
            </a:r>
          </a:p>
        </p:txBody>
      </p:sp>
      <p:sp>
        <p:nvSpPr>
          <p:cNvPr id="27" name="TextBox 7"/>
          <p:cNvSpPr txBox="1"/>
          <p:nvPr/>
        </p:nvSpPr>
        <p:spPr>
          <a:xfrm>
            <a:off x="5076749" y="215904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研究思路</a:t>
            </a:r>
          </a:p>
        </p:txBody>
      </p:sp>
      <p:sp>
        <p:nvSpPr>
          <p:cNvPr id="28" name="TextBox 9"/>
          <p:cNvSpPr txBox="1"/>
          <p:nvPr/>
        </p:nvSpPr>
        <p:spPr>
          <a:xfrm>
            <a:off x="6778549" y="215903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模块设计实现</a:t>
            </a:r>
          </a:p>
        </p:txBody>
      </p:sp>
      <p:sp>
        <p:nvSpPr>
          <p:cNvPr id="29" name="TextBox 10"/>
          <p:cNvSpPr txBox="1"/>
          <p:nvPr/>
        </p:nvSpPr>
        <p:spPr>
          <a:xfrm>
            <a:off x="8480349" y="215904"/>
            <a:ext cx="1344000" cy="34315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研究成果</a:t>
            </a:r>
          </a:p>
        </p:txBody>
      </p:sp>
      <p:sp>
        <p:nvSpPr>
          <p:cNvPr id="30" name="TextBox 11"/>
          <p:cNvSpPr txBox="1"/>
          <p:nvPr/>
        </p:nvSpPr>
        <p:spPr>
          <a:xfrm>
            <a:off x="10182151" y="215903"/>
            <a:ext cx="1344000" cy="404714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论文总结</a:t>
            </a:r>
          </a:p>
        </p:txBody>
      </p:sp>
      <p:cxnSp>
        <p:nvCxnSpPr>
          <p:cNvPr id="34" name="直接连接符 33"/>
          <p:cNvCxnSpPr>
            <a:cxnSpLocks/>
          </p:cNvCxnSpPr>
          <p:nvPr/>
        </p:nvCxnSpPr>
        <p:spPr>
          <a:xfrm>
            <a:off x="425752" y="1528840"/>
            <a:ext cx="266796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6"/>
          <p:cNvSpPr txBox="1"/>
          <p:nvPr/>
        </p:nvSpPr>
        <p:spPr>
          <a:xfrm>
            <a:off x="474509" y="1062571"/>
            <a:ext cx="2693390" cy="466269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5.3 </a:t>
            </a:r>
            <a:r>
              <a:rPr lang="zh-CN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未来发展方向</a:t>
            </a:r>
          </a:p>
        </p:txBody>
      </p:sp>
      <p:cxnSp>
        <p:nvCxnSpPr>
          <p:cNvPr id="15" name="直接连接符 14"/>
          <p:cNvCxnSpPr/>
          <p:nvPr/>
        </p:nvCxnSpPr>
        <p:spPr>
          <a:xfrm>
            <a:off x="3231850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49336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/>
          <p:cNvCxnSpPr/>
          <p:nvPr/>
        </p:nvCxnSpPr>
        <p:spPr>
          <a:xfrm>
            <a:off x="6635448" y="285092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/>
        </p:nvCxnSpPr>
        <p:spPr>
          <a:xfrm>
            <a:off x="8337248" y="313246"/>
            <a:ext cx="0" cy="24581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矩形 3"/>
          <p:cNvSpPr/>
          <p:nvPr/>
        </p:nvSpPr>
        <p:spPr>
          <a:xfrm>
            <a:off x="425752" y="3038659"/>
            <a:ext cx="3458785" cy="869659"/>
          </a:xfrm>
          <a:custGeom>
            <a:avLst/>
            <a:gdLst/>
            <a:ahLst/>
            <a:cxnLst/>
            <a:rect l="l" t="t" r="r" b="b"/>
            <a:pathLst>
              <a:path w="5192450" h="1305562">
                <a:moveTo>
                  <a:pt x="648072" y="0"/>
                </a:moveTo>
                <a:lnTo>
                  <a:pt x="4680520" y="0"/>
                </a:lnTo>
                <a:lnTo>
                  <a:pt x="4680520" y="534"/>
                </a:lnTo>
                <a:lnTo>
                  <a:pt x="4756983" y="534"/>
                </a:lnTo>
                <a:cubicBezTo>
                  <a:pt x="4781822" y="0"/>
                  <a:pt x="4807189" y="5871"/>
                  <a:pt x="4830442" y="19749"/>
                </a:cubicBezTo>
                <a:cubicBezTo>
                  <a:pt x="4852109" y="32025"/>
                  <a:pt x="4869549" y="49639"/>
                  <a:pt x="4881176" y="70456"/>
                </a:cubicBezTo>
                <a:lnTo>
                  <a:pt x="5172368" y="579657"/>
                </a:lnTo>
                <a:cubicBezTo>
                  <a:pt x="5185051" y="601007"/>
                  <a:pt x="5192450" y="626093"/>
                  <a:pt x="5192450" y="652781"/>
                </a:cubicBezTo>
                <a:cubicBezTo>
                  <a:pt x="5192450" y="680003"/>
                  <a:pt x="5185051" y="705089"/>
                  <a:pt x="5171839" y="726439"/>
                </a:cubicBezTo>
                <a:lnTo>
                  <a:pt x="4881176" y="1235640"/>
                </a:lnTo>
                <a:cubicBezTo>
                  <a:pt x="4869021" y="1255923"/>
                  <a:pt x="4852109" y="1273537"/>
                  <a:pt x="4830442" y="1286347"/>
                </a:cubicBezTo>
                <a:cubicBezTo>
                  <a:pt x="4807717" y="1299691"/>
                  <a:pt x="4782879" y="1305562"/>
                  <a:pt x="4758040" y="1305028"/>
                </a:cubicBezTo>
                <a:lnTo>
                  <a:pt x="4680520" y="1305028"/>
                </a:lnTo>
                <a:lnTo>
                  <a:pt x="4680520" y="1305562"/>
                </a:lnTo>
                <a:lnTo>
                  <a:pt x="648072" y="1305562"/>
                </a:lnTo>
                <a:lnTo>
                  <a:pt x="648072" y="1305028"/>
                </a:lnTo>
                <a:lnTo>
                  <a:pt x="431239" y="1305028"/>
                </a:lnTo>
                <a:cubicBezTo>
                  <a:pt x="407986" y="1305028"/>
                  <a:pt x="383676" y="1299157"/>
                  <a:pt x="362008" y="1286347"/>
                </a:cubicBezTo>
                <a:cubicBezTo>
                  <a:pt x="340341" y="1273537"/>
                  <a:pt x="322901" y="1255923"/>
                  <a:pt x="311274" y="1235107"/>
                </a:cubicBezTo>
                <a:lnTo>
                  <a:pt x="19025" y="723770"/>
                </a:lnTo>
                <a:cubicBezTo>
                  <a:pt x="6870" y="702954"/>
                  <a:pt x="0" y="678935"/>
                  <a:pt x="0" y="652781"/>
                </a:cubicBezTo>
                <a:cubicBezTo>
                  <a:pt x="0" y="626627"/>
                  <a:pt x="6870" y="602608"/>
                  <a:pt x="19025" y="581258"/>
                </a:cubicBezTo>
                <a:lnTo>
                  <a:pt x="310217" y="72057"/>
                </a:lnTo>
                <a:cubicBezTo>
                  <a:pt x="322372" y="51240"/>
                  <a:pt x="339812" y="32559"/>
                  <a:pt x="362008" y="19749"/>
                </a:cubicBezTo>
                <a:cubicBezTo>
                  <a:pt x="382619" y="7473"/>
                  <a:pt x="405344" y="1068"/>
                  <a:pt x="428068" y="534"/>
                </a:cubicBezTo>
                <a:lnTo>
                  <a:pt x="648072" y="534"/>
                </a:lnTo>
                <a:close/>
              </a:path>
            </a:pathLst>
          </a:custGeom>
          <a:solidFill>
            <a:schemeClr val="accent6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320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21" name="TextBox 75"/>
          <p:cNvSpPr txBox="1"/>
          <p:nvPr/>
        </p:nvSpPr>
        <p:spPr>
          <a:xfrm>
            <a:off x="4464895" y="1836452"/>
            <a:ext cx="6842413" cy="9962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ts val="2000"/>
              </a:lnSpc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在现有 </a:t>
            </a:r>
            <a:r>
              <a:rPr lang="en" altLang="zh-C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Layer / ExpertGroup / KV Block </a:t>
            </a: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管理基础上，进一步探索 </a:t>
            </a:r>
            <a:r>
              <a:rPr lang="en" altLang="zh-C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block-level weight streaming</a:t>
            </a:r>
            <a:r>
              <a:rPr lang="zh-CN" altLang="e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，</a:t>
            </a: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并结合实时 </a:t>
            </a:r>
            <a:r>
              <a:rPr lang="en" altLang="zh-C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Memory Pressure</a:t>
            </a:r>
            <a:r>
              <a:rPr lang="zh-CN" altLang="e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、</a:t>
            </a:r>
            <a:r>
              <a:rPr lang="en" altLang="zh-C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I/O </a:t>
            </a: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状态与运行阶段动态调整 </a:t>
            </a:r>
            <a:r>
              <a:rPr lang="en" altLang="zh-C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Working Set</a:t>
            </a:r>
            <a:r>
              <a:rPr lang="zh-CN" altLang="e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、</a:t>
            </a: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驻留预算和预取深度。目标是在不同模型与内存约束下自动寻找内存</a:t>
            </a:r>
            <a:r>
              <a:rPr lang="en-US" altLang="zh-C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—</a:t>
            </a: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性能平衡点。</a:t>
            </a:r>
            <a:endParaRPr lang="en-US" altLang="zh-CN" sz="1400" b="1" dirty="0">
              <a:solidFill>
                <a:schemeClr val="tx1">
                  <a:lumMod val="75000"/>
                  <a:lumOff val="2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3" name="TextBox 76"/>
          <p:cNvSpPr txBox="1"/>
          <p:nvPr/>
        </p:nvSpPr>
        <p:spPr>
          <a:xfrm>
            <a:off x="4464895" y="3123952"/>
            <a:ext cx="6842412" cy="73545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ts val="2000"/>
              </a:lnSpc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将当前 </a:t>
            </a:r>
            <a:r>
              <a:rPr lang="en" altLang="zh-C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KV Resume </a:t>
            </a: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中的协作式 </a:t>
            </a:r>
            <a:r>
              <a:rPr lang="en" altLang="zh-C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PREFETCH </a:t>
            </a: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进一步改造为独立后台 </a:t>
            </a:r>
            <a:r>
              <a:rPr lang="en" altLang="zh-C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Worker</a:t>
            </a:r>
            <a:r>
              <a:rPr lang="zh-CN" altLang="e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，</a:t>
            </a: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结合 </a:t>
            </a:r>
            <a:r>
              <a:rPr lang="en" altLang="zh-C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Session Deadline</a:t>
            </a:r>
            <a:r>
              <a:rPr lang="zh-CN" altLang="e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、</a:t>
            </a:r>
            <a:r>
              <a:rPr lang="en" altLang="zh-C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I/O Queue </a:t>
            </a: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与 </a:t>
            </a:r>
            <a:r>
              <a:rPr lang="en" altLang="zh-C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Memory Pressure </a:t>
            </a: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提前恢复高优先级 </a:t>
            </a:r>
            <a:r>
              <a:rPr lang="en" altLang="zh-C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KV</a:t>
            </a:r>
            <a:r>
              <a:rPr lang="zh-CN" altLang="e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。</a:t>
            </a: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进一步降低 </a:t>
            </a:r>
            <a:r>
              <a:rPr lang="en" altLang="zh-C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Resume Gate</a:t>
            </a:r>
            <a:r>
              <a:rPr lang="zh-CN" altLang="e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，</a:t>
            </a: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并减少恢复操作对 </a:t>
            </a:r>
            <a:r>
              <a:rPr lang="en" altLang="zh-C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Active Decode </a:t>
            </a: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的干扰。</a:t>
            </a:r>
            <a:endParaRPr lang="en-US" altLang="zh-CN" sz="1400" b="1" dirty="0">
              <a:solidFill>
                <a:schemeClr val="tx1">
                  <a:lumMod val="75000"/>
                  <a:lumOff val="2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25" name="矩形 3"/>
          <p:cNvSpPr/>
          <p:nvPr/>
        </p:nvSpPr>
        <p:spPr>
          <a:xfrm>
            <a:off x="425752" y="1769352"/>
            <a:ext cx="3458785" cy="869659"/>
          </a:xfrm>
          <a:custGeom>
            <a:avLst/>
            <a:gdLst/>
            <a:ahLst/>
            <a:cxnLst/>
            <a:rect l="l" t="t" r="r" b="b"/>
            <a:pathLst>
              <a:path w="5192450" h="1305562">
                <a:moveTo>
                  <a:pt x="648072" y="0"/>
                </a:moveTo>
                <a:lnTo>
                  <a:pt x="4680520" y="0"/>
                </a:lnTo>
                <a:lnTo>
                  <a:pt x="4680520" y="534"/>
                </a:lnTo>
                <a:lnTo>
                  <a:pt x="4756983" y="534"/>
                </a:lnTo>
                <a:cubicBezTo>
                  <a:pt x="4781822" y="0"/>
                  <a:pt x="4807189" y="5871"/>
                  <a:pt x="4830442" y="19749"/>
                </a:cubicBezTo>
                <a:cubicBezTo>
                  <a:pt x="4852109" y="32025"/>
                  <a:pt x="4869549" y="49639"/>
                  <a:pt x="4881176" y="70456"/>
                </a:cubicBezTo>
                <a:lnTo>
                  <a:pt x="5172368" y="579657"/>
                </a:lnTo>
                <a:cubicBezTo>
                  <a:pt x="5185051" y="601007"/>
                  <a:pt x="5192450" y="626093"/>
                  <a:pt x="5192450" y="652781"/>
                </a:cubicBezTo>
                <a:cubicBezTo>
                  <a:pt x="5192450" y="680003"/>
                  <a:pt x="5185051" y="705089"/>
                  <a:pt x="5171839" y="726439"/>
                </a:cubicBezTo>
                <a:lnTo>
                  <a:pt x="4881176" y="1235640"/>
                </a:lnTo>
                <a:cubicBezTo>
                  <a:pt x="4869021" y="1255923"/>
                  <a:pt x="4852109" y="1273537"/>
                  <a:pt x="4830442" y="1286347"/>
                </a:cubicBezTo>
                <a:cubicBezTo>
                  <a:pt x="4807717" y="1299691"/>
                  <a:pt x="4782879" y="1305562"/>
                  <a:pt x="4758040" y="1305028"/>
                </a:cubicBezTo>
                <a:lnTo>
                  <a:pt x="4680520" y="1305028"/>
                </a:lnTo>
                <a:lnTo>
                  <a:pt x="4680520" y="1305562"/>
                </a:lnTo>
                <a:lnTo>
                  <a:pt x="648072" y="1305562"/>
                </a:lnTo>
                <a:lnTo>
                  <a:pt x="648072" y="1305028"/>
                </a:lnTo>
                <a:lnTo>
                  <a:pt x="431239" y="1305028"/>
                </a:lnTo>
                <a:cubicBezTo>
                  <a:pt x="407986" y="1305028"/>
                  <a:pt x="383676" y="1299157"/>
                  <a:pt x="362008" y="1286347"/>
                </a:cubicBezTo>
                <a:cubicBezTo>
                  <a:pt x="340341" y="1273537"/>
                  <a:pt x="322901" y="1255923"/>
                  <a:pt x="311274" y="1235107"/>
                </a:cubicBezTo>
                <a:lnTo>
                  <a:pt x="19025" y="723770"/>
                </a:lnTo>
                <a:cubicBezTo>
                  <a:pt x="6870" y="702954"/>
                  <a:pt x="0" y="678935"/>
                  <a:pt x="0" y="652781"/>
                </a:cubicBezTo>
                <a:cubicBezTo>
                  <a:pt x="0" y="626627"/>
                  <a:pt x="6870" y="602608"/>
                  <a:pt x="19025" y="581258"/>
                </a:cubicBezTo>
                <a:lnTo>
                  <a:pt x="310217" y="72057"/>
                </a:lnTo>
                <a:cubicBezTo>
                  <a:pt x="322372" y="51240"/>
                  <a:pt x="339812" y="32559"/>
                  <a:pt x="362008" y="19749"/>
                </a:cubicBezTo>
                <a:cubicBezTo>
                  <a:pt x="382619" y="7473"/>
                  <a:pt x="405344" y="1068"/>
                  <a:pt x="428068" y="534"/>
                </a:cubicBezTo>
                <a:lnTo>
                  <a:pt x="648072" y="534"/>
                </a:lnTo>
                <a:close/>
              </a:path>
            </a:pathLst>
          </a:custGeom>
          <a:solidFill>
            <a:schemeClr val="accent6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320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37" name="矩形 3"/>
          <p:cNvSpPr/>
          <p:nvPr/>
        </p:nvSpPr>
        <p:spPr>
          <a:xfrm>
            <a:off x="425752" y="4305457"/>
            <a:ext cx="3458785" cy="869659"/>
          </a:xfrm>
          <a:custGeom>
            <a:avLst/>
            <a:gdLst/>
            <a:ahLst/>
            <a:cxnLst/>
            <a:rect l="l" t="t" r="r" b="b"/>
            <a:pathLst>
              <a:path w="5192450" h="1305562">
                <a:moveTo>
                  <a:pt x="648072" y="0"/>
                </a:moveTo>
                <a:lnTo>
                  <a:pt x="4680520" y="0"/>
                </a:lnTo>
                <a:lnTo>
                  <a:pt x="4680520" y="534"/>
                </a:lnTo>
                <a:lnTo>
                  <a:pt x="4756983" y="534"/>
                </a:lnTo>
                <a:cubicBezTo>
                  <a:pt x="4781822" y="0"/>
                  <a:pt x="4807189" y="5871"/>
                  <a:pt x="4830442" y="19749"/>
                </a:cubicBezTo>
                <a:cubicBezTo>
                  <a:pt x="4852109" y="32025"/>
                  <a:pt x="4869549" y="49639"/>
                  <a:pt x="4881176" y="70456"/>
                </a:cubicBezTo>
                <a:lnTo>
                  <a:pt x="5172368" y="579657"/>
                </a:lnTo>
                <a:cubicBezTo>
                  <a:pt x="5185051" y="601007"/>
                  <a:pt x="5192450" y="626093"/>
                  <a:pt x="5192450" y="652781"/>
                </a:cubicBezTo>
                <a:cubicBezTo>
                  <a:pt x="5192450" y="680003"/>
                  <a:pt x="5185051" y="705089"/>
                  <a:pt x="5171839" y="726439"/>
                </a:cubicBezTo>
                <a:lnTo>
                  <a:pt x="4881176" y="1235640"/>
                </a:lnTo>
                <a:cubicBezTo>
                  <a:pt x="4869021" y="1255923"/>
                  <a:pt x="4852109" y="1273537"/>
                  <a:pt x="4830442" y="1286347"/>
                </a:cubicBezTo>
                <a:cubicBezTo>
                  <a:pt x="4807717" y="1299691"/>
                  <a:pt x="4782879" y="1305562"/>
                  <a:pt x="4758040" y="1305028"/>
                </a:cubicBezTo>
                <a:lnTo>
                  <a:pt x="4680520" y="1305028"/>
                </a:lnTo>
                <a:lnTo>
                  <a:pt x="4680520" y="1305562"/>
                </a:lnTo>
                <a:lnTo>
                  <a:pt x="648072" y="1305562"/>
                </a:lnTo>
                <a:lnTo>
                  <a:pt x="648072" y="1305028"/>
                </a:lnTo>
                <a:lnTo>
                  <a:pt x="431239" y="1305028"/>
                </a:lnTo>
                <a:cubicBezTo>
                  <a:pt x="407986" y="1305028"/>
                  <a:pt x="383676" y="1299157"/>
                  <a:pt x="362008" y="1286347"/>
                </a:cubicBezTo>
                <a:cubicBezTo>
                  <a:pt x="340341" y="1273537"/>
                  <a:pt x="322901" y="1255923"/>
                  <a:pt x="311274" y="1235107"/>
                </a:cubicBezTo>
                <a:lnTo>
                  <a:pt x="19025" y="723770"/>
                </a:lnTo>
                <a:cubicBezTo>
                  <a:pt x="6870" y="702954"/>
                  <a:pt x="0" y="678935"/>
                  <a:pt x="0" y="652781"/>
                </a:cubicBezTo>
                <a:cubicBezTo>
                  <a:pt x="0" y="626627"/>
                  <a:pt x="6870" y="602608"/>
                  <a:pt x="19025" y="581258"/>
                </a:cubicBezTo>
                <a:lnTo>
                  <a:pt x="310217" y="72057"/>
                </a:lnTo>
                <a:cubicBezTo>
                  <a:pt x="322372" y="51240"/>
                  <a:pt x="339812" y="32559"/>
                  <a:pt x="362008" y="19749"/>
                </a:cubicBezTo>
                <a:cubicBezTo>
                  <a:pt x="382619" y="7473"/>
                  <a:pt x="405344" y="1068"/>
                  <a:pt x="428068" y="534"/>
                </a:cubicBezTo>
                <a:lnTo>
                  <a:pt x="648072" y="534"/>
                </a:lnTo>
                <a:close/>
              </a:path>
            </a:pathLst>
          </a:custGeom>
          <a:solidFill>
            <a:schemeClr val="accent6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3200" b="1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44" name="TextBox 82"/>
          <p:cNvSpPr txBox="1"/>
          <p:nvPr/>
        </p:nvSpPr>
        <p:spPr>
          <a:xfrm>
            <a:off x="795089" y="1834849"/>
            <a:ext cx="2579860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algn="ctr">
              <a:defRPr sz="20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sz="2400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更细粒度的权重驻留与自适应调度</a:t>
            </a:r>
          </a:p>
        </p:txBody>
      </p:sp>
      <p:sp>
        <p:nvSpPr>
          <p:cNvPr id="45" name="TextBox 83"/>
          <p:cNvSpPr txBox="1"/>
          <p:nvPr/>
        </p:nvSpPr>
        <p:spPr>
          <a:xfrm>
            <a:off x="707665" y="3104156"/>
            <a:ext cx="2861654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algn="ctr">
              <a:defRPr sz="20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sz="2400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完全异步化的 </a:t>
            </a:r>
            <a:r>
              <a:rPr lang="en" altLang="zh-CN" sz="2400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KV Resume</a:t>
            </a:r>
            <a:r>
              <a:rPr lang="en-US" altLang="zh-CN" sz="2400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/</a:t>
            </a:r>
            <a:r>
              <a:rPr lang="en" altLang="zh-CN" sz="2400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Prefetch</a:t>
            </a:r>
            <a:endParaRPr lang="zh-CN" altLang="en-US" sz="2400" dirty="0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46" name="TextBox 84"/>
          <p:cNvSpPr txBox="1"/>
          <p:nvPr/>
        </p:nvSpPr>
        <p:spPr>
          <a:xfrm>
            <a:off x="1006110" y="4370954"/>
            <a:ext cx="2298067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 algn="ctr">
              <a:defRPr sz="20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sz="2400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扩展到 </a:t>
            </a:r>
            <a:r>
              <a:rPr lang="en" altLang="zh-CN" sz="2400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GPU / </a:t>
            </a:r>
          </a:p>
          <a:p>
            <a:r>
              <a:rPr lang="zh-CN" altLang="en-US" sz="2400" dirty="0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异构内存后端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E90F6F00-96EA-4C85-D84F-9F6E77D564F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>
          <a:xfrm>
            <a:off x="195620" y="89117"/>
            <a:ext cx="2766644" cy="613765"/>
          </a:xfrm>
          <a:prstGeom prst="rect">
            <a:avLst/>
          </a:prstGeom>
        </p:spPr>
      </p:pic>
      <p:sp>
        <p:nvSpPr>
          <p:cNvPr id="3" name="TextBox 76">
            <a:extLst>
              <a:ext uri="{FF2B5EF4-FFF2-40B4-BE49-F238E27FC236}">
                <a16:creationId xmlns:a16="http://schemas.microsoft.com/office/drawing/2014/main" id="{28DF0D41-D43C-507C-EB7B-9321ADFD7F39}"/>
              </a:ext>
            </a:extLst>
          </p:cNvPr>
          <p:cNvSpPr txBox="1"/>
          <p:nvPr/>
        </p:nvSpPr>
        <p:spPr>
          <a:xfrm>
            <a:off x="4464895" y="5650043"/>
            <a:ext cx="6842412" cy="73545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ts val="2000"/>
              </a:lnSpc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在现有 </a:t>
            </a:r>
            <a:r>
              <a:rPr lang="en" altLang="zh-C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model-bound Multi-Session Replay </a:t>
            </a: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基础上，扩展到长期运行、多用户并发、不同上下文与 </a:t>
            </a:r>
            <a:r>
              <a:rPr lang="en" altLang="zh-C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Idle/Resume </a:t>
            </a: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分布的 </a:t>
            </a:r>
            <a:r>
              <a:rPr lang="en" altLang="zh-C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Server Workload</a:t>
            </a:r>
            <a:r>
              <a:rPr lang="zh-CN" altLang="e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。</a:t>
            </a: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重点验证 </a:t>
            </a:r>
            <a:r>
              <a:rPr lang="en" altLang="zh-C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Governor </a:t>
            </a: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的长期稳定性、</a:t>
            </a:r>
            <a:r>
              <a:rPr lang="en" altLang="zh-C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Tail Latency</a:t>
            </a:r>
            <a:r>
              <a:rPr lang="zh-CN" altLang="e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、</a:t>
            </a: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资源竞争与动态再分配收益。</a:t>
            </a:r>
            <a:endParaRPr lang="en-US" altLang="zh-CN" sz="1400" b="1" dirty="0">
              <a:solidFill>
                <a:schemeClr val="tx1">
                  <a:lumMod val="75000"/>
                  <a:lumOff val="2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3C24780-104D-6025-567D-0B9EDC70C8C0}"/>
              </a:ext>
            </a:extLst>
          </p:cNvPr>
          <p:cNvSpPr/>
          <p:nvPr/>
        </p:nvSpPr>
        <p:spPr>
          <a:xfrm>
            <a:off x="425750" y="5582943"/>
            <a:ext cx="3458785" cy="869659"/>
          </a:xfrm>
          <a:custGeom>
            <a:avLst/>
            <a:gdLst/>
            <a:ahLst/>
            <a:cxnLst/>
            <a:rect l="l" t="t" r="r" b="b"/>
            <a:pathLst>
              <a:path w="5192450" h="1305562">
                <a:moveTo>
                  <a:pt x="648072" y="0"/>
                </a:moveTo>
                <a:lnTo>
                  <a:pt x="4680520" y="0"/>
                </a:lnTo>
                <a:lnTo>
                  <a:pt x="4680520" y="534"/>
                </a:lnTo>
                <a:lnTo>
                  <a:pt x="4756983" y="534"/>
                </a:lnTo>
                <a:cubicBezTo>
                  <a:pt x="4781822" y="0"/>
                  <a:pt x="4807189" y="5871"/>
                  <a:pt x="4830442" y="19749"/>
                </a:cubicBezTo>
                <a:cubicBezTo>
                  <a:pt x="4852109" y="32025"/>
                  <a:pt x="4869549" y="49639"/>
                  <a:pt x="4881176" y="70456"/>
                </a:cubicBezTo>
                <a:lnTo>
                  <a:pt x="5172368" y="579657"/>
                </a:lnTo>
                <a:cubicBezTo>
                  <a:pt x="5185051" y="601007"/>
                  <a:pt x="5192450" y="626093"/>
                  <a:pt x="5192450" y="652781"/>
                </a:cubicBezTo>
                <a:cubicBezTo>
                  <a:pt x="5192450" y="680003"/>
                  <a:pt x="5185051" y="705089"/>
                  <a:pt x="5171839" y="726439"/>
                </a:cubicBezTo>
                <a:lnTo>
                  <a:pt x="4881176" y="1235640"/>
                </a:lnTo>
                <a:cubicBezTo>
                  <a:pt x="4869021" y="1255923"/>
                  <a:pt x="4852109" y="1273537"/>
                  <a:pt x="4830442" y="1286347"/>
                </a:cubicBezTo>
                <a:cubicBezTo>
                  <a:pt x="4807717" y="1299691"/>
                  <a:pt x="4782879" y="1305562"/>
                  <a:pt x="4758040" y="1305028"/>
                </a:cubicBezTo>
                <a:lnTo>
                  <a:pt x="4680520" y="1305028"/>
                </a:lnTo>
                <a:lnTo>
                  <a:pt x="4680520" y="1305562"/>
                </a:lnTo>
                <a:lnTo>
                  <a:pt x="648072" y="1305562"/>
                </a:lnTo>
                <a:lnTo>
                  <a:pt x="648072" y="1305028"/>
                </a:lnTo>
                <a:lnTo>
                  <a:pt x="431239" y="1305028"/>
                </a:lnTo>
                <a:cubicBezTo>
                  <a:pt x="407986" y="1305028"/>
                  <a:pt x="383676" y="1299157"/>
                  <a:pt x="362008" y="1286347"/>
                </a:cubicBezTo>
                <a:cubicBezTo>
                  <a:pt x="340341" y="1273537"/>
                  <a:pt x="322901" y="1255923"/>
                  <a:pt x="311274" y="1235107"/>
                </a:cubicBezTo>
                <a:lnTo>
                  <a:pt x="19025" y="723770"/>
                </a:lnTo>
                <a:cubicBezTo>
                  <a:pt x="6870" y="702954"/>
                  <a:pt x="0" y="678935"/>
                  <a:pt x="0" y="652781"/>
                </a:cubicBezTo>
                <a:cubicBezTo>
                  <a:pt x="0" y="626627"/>
                  <a:pt x="6870" y="602608"/>
                  <a:pt x="19025" y="581258"/>
                </a:cubicBezTo>
                <a:lnTo>
                  <a:pt x="310217" y="72057"/>
                </a:lnTo>
                <a:cubicBezTo>
                  <a:pt x="322372" y="51240"/>
                  <a:pt x="339812" y="32559"/>
                  <a:pt x="362008" y="19749"/>
                </a:cubicBezTo>
                <a:cubicBezTo>
                  <a:pt x="382619" y="7473"/>
                  <a:pt x="405344" y="1068"/>
                  <a:pt x="428068" y="534"/>
                </a:cubicBezTo>
                <a:lnTo>
                  <a:pt x="648072" y="534"/>
                </a:lnTo>
                <a:close/>
              </a:path>
            </a:pathLst>
          </a:custGeom>
          <a:solidFill>
            <a:schemeClr val="accent6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CN" sz="2400" b="1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面向真实服务负载的</a:t>
            </a:r>
            <a:endParaRPr lang="en-US" altLang="zh-CN" sz="2400" b="1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  <a:p>
            <a:pPr algn="ctr"/>
            <a:r>
              <a:rPr lang="zh-CN" altLang="en-US" sz="2400" b="1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长期闭环</a:t>
            </a:r>
            <a:r>
              <a:rPr lang="zh-CN" altLang="zh-CN" sz="2400" b="1">
                <a:solidFill>
                  <a:schemeClr val="bg1"/>
                </a:solidFill>
                <a:latin typeface="Songti SC Black" panose="02010600040101010101" pitchFamily="2" charset="-122"/>
                <a:ea typeface="Songti SC Black" panose="02010600040101010101" pitchFamily="2" charset="-122"/>
              </a:rPr>
              <a:t>验证</a:t>
            </a:r>
            <a:endParaRPr lang="zh-CN" altLang="en-US" sz="2400" b="1">
              <a:solidFill>
                <a:schemeClr val="bg1"/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  <p:sp>
        <p:nvSpPr>
          <p:cNvPr id="5" name="TextBox 76">
            <a:extLst>
              <a:ext uri="{FF2B5EF4-FFF2-40B4-BE49-F238E27FC236}">
                <a16:creationId xmlns:a16="http://schemas.microsoft.com/office/drawing/2014/main" id="{D95AE8D2-EA46-0FA0-48A5-87EEC434B68F}"/>
              </a:ext>
            </a:extLst>
          </p:cNvPr>
          <p:cNvSpPr txBox="1"/>
          <p:nvPr/>
        </p:nvSpPr>
        <p:spPr>
          <a:xfrm>
            <a:off x="4464895" y="4386997"/>
            <a:ext cx="6842412" cy="73545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ts val="2000"/>
              </a:lnSpc>
            </a:pP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面向 </a:t>
            </a:r>
            <a:r>
              <a:rPr lang="en" altLang="zh-C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GPU Backend </a:t>
            </a: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重新设计 </a:t>
            </a:r>
            <a:r>
              <a:rPr lang="en" altLang="zh-C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KV Backing</a:t>
            </a:r>
            <a:r>
              <a:rPr lang="zh-CN" altLang="e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、</a:t>
            </a:r>
            <a:r>
              <a:rPr lang="en" altLang="zh-C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Host–Device Transfer </a:t>
            </a: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与显存驻留管理，探索 </a:t>
            </a:r>
            <a:r>
              <a:rPr lang="en" altLang="zh-C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CPU DRAM–SSD–GPU </a:t>
            </a: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显存之间的分层存储与数据迁移。使 </a:t>
            </a:r>
            <a:r>
              <a:rPr lang="en" altLang="zh-C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FlexKV-OS </a:t>
            </a: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从 </a:t>
            </a:r>
            <a:r>
              <a:rPr lang="en" altLang="zh-C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CPU </a:t>
            </a: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内存治理扩展到边缘 </a:t>
            </a:r>
            <a:r>
              <a:rPr lang="en" altLang="zh-CN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GPU </a:t>
            </a:r>
            <a:r>
              <a:rPr lang="zh-CN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Songti SC Black" panose="02010600040101010101" pitchFamily="2" charset="-122"/>
                <a:ea typeface="Songti SC Black" panose="02010600040101010101" pitchFamily="2" charset="-122"/>
                <a:sym typeface="微软雅黑" panose="020B0503020204020204" pitchFamily="34" charset="-122"/>
              </a:rPr>
              <a:t>与异构计算平台。</a:t>
            </a:r>
            <a:endParaRPr lang="en-US" altLang="zh-CN" sz="1400" b="1" dirty="0">
              <a:solidFill>
                <a:schemeClr val="tx1">
                  <a:lumMod val="75000"/>
                  <a:lumOff val="25000"/>
                </a:schemeClr>
              </a:solidFill>
              <a:latin typeface="Songti SC Black" panose="02010600040101010101" pitchFamily="2" charset="-122"/>
              <a:ea typeface="Songti SC Black" panose="0201060004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5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8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8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8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8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8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8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8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8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8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800"/>
                            </p:stCondLst>
                            <p:childTnLst>
                              <p:par>
                                <p:cTn id="3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300"/>
                            </p:stCondLst>
                            <p:childTnLst>
                              <p:par>
                                <p:cTn id="4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800"/>
                            </p:stCondLst>
                            <p:childTnLst>
                              <p:par>
                                <p:cTn id="4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3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36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9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5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8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4700"/>
                            </p:stCondLst>
                            <p:childTnLst>
                              <p:par>
                                <p:cTn id="6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5" grpId="0"/>
      <p:bldP spid="18" grpId="0" animBg="1"/>
      <p:bldP spid="21" grpId="0"/>
      <p:bldP spid="23" grpId="0"/>
      <p:bldP spid="25" grpId="0" animBg="1"/>
      <p:bldP spid="37" grpId="0" animBg="1"/>
      <p:bldP spid="44" grpId="0"/>
      <p:bldP spid="45" grpId="0"/>
      <p:bldP spid="46" grpId="0"/>
      <p:bldP spid="3" grpId="0"/>
      <p:bldP spid="4" grpId="0" animBg="1"/>
      <p:bldP spid="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-5" y="0"/>
            <a:ext cx="12192000" cy="468018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720" y="205089"/>
            <a:ext cx="3922388" cy="720000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999085" y="2160677"/>
            <a:ext cx="101950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5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Thanks</a:t>
            </a:r>
          </a:p>
        </p:txBody>
      </p:sp>
      <p:grpSp>
        <p:nvGrpSpPr>
          <p:cNvPr id="31" name="组合 30"/>
          <p:cNvGrpSpPr/>
          <p:nvPr/>
        </p:nvGrpSpPr>
        <p:grpSpPr>
          <a:xfrm>
            <a:off x="2151350" y="1337698"/>
            <a:ext cx="8364250" cy="688357"/>
            <a:chOff x="2151350" y="1337698"/>
            <a:chExt cx="8364250" cy="688357"/>
          </a:xfrm>
        </p:grpSpPr>
        <p:sp>
          <p:nvSpPr>
            <p:cNvPr id="20" name="文本框 19"/>
            <p:cNvSpPr txBox="1"/>
            <p:nvPr/>
          </p:nvSpPr>
          <p:spPr>
            <a:xfrm>
              <a:off x="2151350" y="1337698"/>
              <a:ext cx="836425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800" b="1" dirty="0">
                  <a:solidFill>
                    <a:srgbClr val="FFFFFF"/>
                  </a:solidFill>
                  <a:effectLst/>
                  <a:latin typeface="Songti SC Black" panose="02010600040101010101" pitchFamily="2" charset="-122"/>
                  <a:ea typeface="Songti SC Black" panose="02010600040101010101" pitchFamily="2" charset="-122"/>
                </a:rPr>
                <a:t>2026</a:t>
              </a:r>
              <a:r>
                <a:rPr lang="zh-CN" altLang="en-US" sz="2800" b="1" dirty="0">
                  <a:solidFill>
                    <a:srgbClr val="FFFFFF"/>
                  </a:solidFill>
                  <a:effectLst/>
                  <a:latin typeface="Songti SC Black" panose="02010600040101010101" pitchFamily="2" charset="-122"/>
                  <a:ea typeface="Songti SC Black" panose="02010600040101010101" pitchFamily="2" charset="-122"/>
                </a:rPr>
                <a:t>年全国大学生计算机系统能力大赛操作系统设计</a:t>
              </a:r>
              <a:endParaRPr lang="zh-CN" altLang="en-US" sz="2800" b="1" dirty="0">
                <a:latin typeface="Songti SC Black" panose="02010600040101010101" pitchFamily="2" charset="-122"/>
                <a:ea typeface="Songti SC Black" panose="0201060004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23" name="直接连接符 22"/>
            <p:cNvCxnSpPr>
              <a:cxnSpLocks/>
            </p:cNvCxnSpPr>
            <p:nvPr/>
          </p:nvCxnSpPr>
          <p:spPr>
            <a:xfrm>
              <a:off x="2231059" y="2026055"/>
              <a:ext cx="8204831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文本框 3"/>
          <p:cNvSpPr txBox="1"/>
          <p:nvPr/>
        </p:nvSpPr>
        <p:spPr>
          <a:xfrm>
            <a:off x="3251169" y="4877513"/>
            <a:ext cx="5793105" cy="1705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zh-CN" altLang="en-US" sz="2400" b="1" dirty="0"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队伍名称：</a:t>
            </a:r>
            <a:r>
              <a:rPr lang="zh-CN" altLang="en-US" sz="2400" b="1" dirty="0">
                <a:latin typeface="Songti SC" panose="02010600040101010101" pitchFamily="2" charset="-122"/>
                <a:ea typeface="Songti SC" panose="02010600040101010101" pitchFamily="2" charset="-122"/>
                <a:sym typeface="+mn-ea"/>
              </a:rPr>
              <a:t>一起去爬梧桐山队</a:t>
            </a:r>
            <a:endParaRPr lang="en-US" altLang="zh-CN" sz="2400" b="1" dirty="0">
              <a:latin typeface="Songti SC" panose="02010600040101010101" pitchFamily="2" charset="-122"/>
              <a:ea typeface="Songti SC" panose="02010600040101010101" pitchFamily="2" charset="-122"/>
            </a:endParaRPr>
          </a:p>
          <a:p>
            <a:pPr algn="ctr" fontAlgn="auto">
              <a:lnSpc>
                <a:spcPct val="150000"/>
              </a:lnSpc>
            </a:pPr>
            <a:r>
              <a:rPr lang="zh-CN" altLang="en-US" sz="2400" b="1" dirty="0"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队伍成员：</a:t>
            </a:r>
            <a:r>
              <a:rPr lang="zh-CN" altLang="en-US" sz="2400" b="1" dirty="0">
                <a:latin typeface="Songti SC" panose="02010600040101010101" pitchFamily="2" charset="-122"/>
                <a:ea typeface="Songti SC" panose="02010600040101010101" pitchFamily="2" charset="-122"/>
                <a:sym typeface="+mn-ea"/>
              </a:rPr>
              <a:t>苏安炫、李思甜</a:t>
            </a:r>
            <a:endParaRPr lang="en-US" altLang="zh-CN" sz="2400" b="1" dirty="0">
              <a:latin typeface="Songti SC" panose="02010600040101010101" pitchFamily="2" charset="-122"/>
              <a:ea typeface="Songti SC" panose="02010600040101010101" pitchFamily="2" charset="-122"/>
            </a:endParaRPr>
          </a:p>
          <a:p>
            <a:pPr algn="ctr" fontAlgn="auto">
              <a:lnSpc>
                <a:spcPct val="150000"/>
              </a:lnSpc>
            </a:pPr>
            <a:r>
              <a:rPr lang="zh-CN" altLang="en-US" sz="2400" b="1" dirty="0">
                <a:latin typeface="Songti SC Black" panose="02010600040101010101" pitchFamily="2" charset="-122"/>
                <a:ea typeface="Songti SC Black" panose="02010600040101010101" pitchFamily="2" charset="-122"/>
                <a:sym typeface="+mn-ea"/>
              </a:rPr>
              <a:t>指导老师：</a:t>
            </a:r>
            <a:r>
              <a:rPr lang="zh-CN" altLang="en-US" sz="2400" b="1" dirty="0">
                <a:latin typeface="Songti SC" panose="02010600040101010101" pitchFamily="2" charset="-122"/>
                <a:ea typeface="Songti SC" panose="02010600040101010101" pitchFamily="2" charset="-122"/>
                <a:sym typeface="+mn-ea"/>
              </a:rPr>
              <a:t>夏文、李诗逸</a:t>
            </a:r>
            <a:endParaRPr lang="en-US" altLang="zh-CN" sz="2400" b="1" dirty="0">
              <a:latin typeface="Songti SC" panose="02010600040101010101" pitchFamily="2" charset="-122"/>
              <a:ea typeface="Songti SC" panose="02010600040101010101" pitchFamily="2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151350" y="3352443"/>
            <a:ext cx="799274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Proj59-Runtime Optimization of LLM Inference for the Memory Constraint System</a:t>
            </a:r>
            <a:endParaRPr lang="en-US" altLang="zh-CN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10855325" y="6308090"/>
            <a:ext cx="1336675" cy="5499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Tm="4944">
        <p159:morph option="byObject"/>
      </p:transition>
    </mc:Choice>
    <mc:Fallback xmlns="">
      <p:transition advTm="4944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51121191650"/>
  <p:tag name="MH_LIBRARY" val="GRAPHIC"/>
  <p:tag name="MH_TYPE" val="Other"/>
  <p:tag name="MH_ORDER" val="8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H" val="20151121191650"/>
  <p:tag name="MH_LIBRARY" val="GRAPHIC"/>
  <p:tag name="MH_TYPE" val="Other"/>
  <p:tag name="MH_ORDER" val="8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.08110236220482,&quot;left&quot;:218.23385826771656,&quot;top&quot;:441.50889763779526,&quot;width&quot;:528.4955905511811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.08110236220482,&quot;left&quot;:218.23385826771656,&quot;top&quot;:441.50889763779526,&quot;width&quot;:528.4955905511811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.08110236220482,&quot;left&quot;:218.23385826771656,&quot;top&quot;:441.50889763779526,&quot;width&quot;:528.4955905511811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.08110236220482,&quot;left&quot;:218.23385826771656,&quot;top&quot;:441.50889763779526,&quot;width&quot;:528.4955905511811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0.3028346456693,&quot;left&quot;:444.2554330708661,&quot;top&quot;:94.84858267716535,&quot;width&quot;:360.7445669291339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0.3028346456693,&quot;left&quot;:444.2554330708661,&quot;top&quot;:94.84858267716535,&quot;width&quot;:360.7445669291339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0.3028346456693,&quot;left&quot;:444.2554330708661,&quot;top&quot;:94.84858267716535,&quot;width&quot;:360.7445669291339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0.3028346456693,&quot;left&quot;:444.2554330708661,&quot;top&quot;:94.84858267716535,&quot;width&quot;:360.7445669291339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0.3028346456693,&quot;left&quot;:444.2554330708661,&quot;top&quot;:94.84858267716535,&quot;width&quot;:360.7445669291339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0.3028346456693,&quot;left&quot;:444.2554330708661,&quot;top&quot;:94.84858267716535,&quot;width&quot;:360.7445669291339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0.3028346456693,&quot;left&quot;:444.2554330708661,&quot;top&quot;:94.84858267716535,&quot;width&quot;:360.7445669291339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0.3028346456693,&quot;left&quot;:444.2554330708661,&quot;top&quot;:94.84858267716535,&quot;width&quot;:360.7445669291339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0.3028346456693,&quot;left&quot;:444.2554330708661,&quot;top&quot;:94.84858267716535,&quot;width&quot;:360.7445669291339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0.3028346456693,&quot;left&quot;:444.2554330708661,&quot;top&quot;:94.84858267716535,&quot;width&quot;:360.7445669291339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382*277"/>
  <p:tag name="TABLE_ENDDRAG_RECT" val="50*147*382*277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5.58425196850396,&quot;left&quot;:-37.664803149606314,&quot;top&quot;:131.4,&quot;width&quot;:927.1648818897636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5.58425196850396,&quot;left&quot;:-37.664803149606314,&quot;top&quot;:131.4,&quot;width&quot;:927.1648818897636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5.58425196850396,&quot;left&quot;:-37.664803149606314,&quot;top&quot;:131.4,&quot;width&quot;:927.1648818897636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5.58425196850396,&quot;left&quot;:-37.664803149606314,&quot;top&quot;:131.4,&quot;width&quot;:927.1648818897636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5.58425196850396,&quot;left&quot;:-37.664803149606314,&quot;top&quot;:131.4,&quot;width&quot;:927.1648818897636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5.58425196850396,&quot;left&quot;:-37.664803149606314,&quot;top&quot;:131.4,&quot;width&quot;:927.1648818897636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5.58425196850396,&quot;left&quot;:-37.664803149606314,&quot;top&quot;:131.4,&quot;width&quot;:927.1648818897636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5.58425196850396,&quot;left&quot;:-37.664803149606314,&quot;top&quot;:131.4,&quot;width&quot;:927.1648818897636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5.58425196850396,&quot;left&quot;:-37.664803149606314,&quot;top&quot;:131.4,&quot;width&quot;:927.1648818897636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5.58425196850396,&quot;left&quot;:-37.664803149606314,&quot;top&quot;:131.4,&quot;width&quot;:927.1648818897636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5.58425196850396,&quot;left&quot;:-37.664803149606314,&quot;top&quot;:131.4,&quot;width&quot;:927.1648818897636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5.58425196850396,&quot;left&quot;:-37.664803149606314,&quot;top&quot;:131.4,&quot;width&quot;:927.1648818897636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5.58425196850396,&quot;left&quot;:-37.664803149606314,&quot;top&quot;:131.4,&quot;width&quot;:927.1648818897636}"/>
</p:tagLst>
</file>

<file path=ppt/theme/theme1.xml><?xml version="1.0" encoding="utf-8"?>
<a:theme xmlns:a="http://schemas.openxmlformats.org/drawingml/2006/main" name="Office 主题​​">
  <a:themeElements>
    <a:clrScheme name="自定义 1">
      <a:dk1>
        <a:srgbClr val="000000"/>
      </a:dk1>
      <a:lt1>
        <a:srgbClr val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011892"/>
      </a:accent6>
      <a:hlink>
        <a:srgbClr val="6B9F25"/>
      </a:hlink>
      <a:folHlink>
        <a:srgbClr val="9F6715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592</TotalTime>
  <Words>4935</Words>
  <Application>Microsoft Macintosh PowerPoint</Application>
  <PresentationFormat>宽屏</PresentationFormat>
  <Paragraphs>732</Paragraphs>
  <Slides>39</Slides>
  <Notes>39</Notes>
  <HiddenSlides>0</HiddenSlides>
  <MMClips>1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39</vt:i4>
      </vt:variant>
    </vt:vector>
  </HeadingPairs>
  <TitlesOfParts>
    <vt:vector size="46" baseType="lpstr">
      <vt:lpstr>Songti SC</vt:lpstr>
      <vt:lpstr>Songti SC Black</vt:lpstr>
      <vt:lpstr>Songti SC Black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答辩-19</dc:title>
  <dc:creator>LP</dc:creator>
  <cp:lastModifiedBy>思甜 李</cp:lastModifiedBy>
  <cp:revision>132</cp:revision>
  <dcterms:created xsi:type="dcterms:W3CDTF">2016-11-24T09:20:00Z</dcterms:created>
  <dcterms:modified xsi:type="dcterms:W3CDTF">2026-08-12T15:37:32Z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17635949CFED4E798D8EA80D3406116F_13</vt:lpwstr>
  </property>
</Properties>
</file>