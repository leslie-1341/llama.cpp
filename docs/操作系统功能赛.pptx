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7.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handoutMasterIdLst>
    <p:handoutMasterId r:id="rId39"/>
  </p:handoutMasterIdLst>
  <p:sldIdLst>
    <p:sldId id="257" r:id="rId2"/>
    <p:sldId id="769" r:id="rId3"/>
    <p:sldId id="258" r:id="rId4"/>
    <p:sldId id="264" r:id="rId5"/>
    <p:sldId id="770" r:id="rId6"/>
    <p:sldId id="296" r:id="rId7"/>
    <p:sldId id="310" r:id="rId8"/>
    <p:sldId id="293" r:id="rId9"/>
    <p:sldId id="297" r:id="rId10"/>
    <p:sldId id="773" r:id="rId11"/>
    <p:sldId id="292" r:id="rId12"/>
    <p:sldId id="309" r:id="rId13"/>
    <p:sldId id="266" r:id="rId14"/>
    <p:sldId id="272" r:id="rId15"/>
    <p:sldId id="303" r:id="rId16"/>
    <p:sldId id="304" r:id="rId17"/>
    <p:sldId id="758" r:id="rId18"/>
    <p:sldId id="311" r:id="rId19"/>
    <p:sldId id="278" r:id="rId20"/>
    <p:sldId id="774" r:id="rId21"/>
    <p:sldId id="775" r:id="rId22"/>
    <p:sldId id="280" r:id="rId23"/>
    <p:sldId id="754" r:id="rId24"/>
    <p:sldId id="759" r:id="rId25"/>
    <p:sldId id="281" r:id="rId26"/>
    <p:sldId id="313" r:id="rId27"/>
    <p:sldId id="314" r:id="rId28"/>
    <p:sldId id="306" r:id="rId29"/>
    <p:sldId id="762" r:id="rId30"/>
    <p:sldId id="312" r:id="rId31"/>
    <p:sldId id="757" r:id="rId32"/>
    <p:sldId id="772" r:id="rId33"/>
    <p:sldId id="286" r:id="rId34"/>
    <p:sldId id="260" r:id="rId35"/>
    <p:sldId id="756" r:id="rId36"/>
    <p:sldId id="753"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4263"/>
    <a:srgbClr val="3A6695"/>
    <a:srgbClr val="9CC5FD"/>
    <a:srgbClr val="1E2B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AF606853-7671-496A-8E4F-DF71F8EC918B}" styleName="深色样式 1 - 强调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6298" autoAdjust="0"/>
    <p:restoredTop sz="75482" autoAdjust="0"/>
  </p:normalViewPr>
  <p:slideViewPr>
    <p:cSldViewPr snapToGrid="0">
      <p:cViewPr varScale="1">
        <p:scale>
          <a:sx n="106" d="100"/>
          <a:sy n="106" d="100"/>
        </p:scale>
        <p:origin x="84" y="198"/>
      </p:cViewPr>
      <p:guideLst>
        <p:guide orient="horz" pos="2212"/>
        <p:guide pos="384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50" d="100"/>
        <a:sy n="50" d="100"/>
      </p:scale>
      <p:origin x="0" y="0"/>
    </p:cViewPr>
  </p:sorterViewPr>
  <p:notesViewPr>
    <p:cSldViewPr snapToGrid="0">
      <p:cViewPr varScale="1">
        <p:scale>
          <a:sx n="67" d="100"/>
          <a:sy n="67" d="100"/>
        </p:scale>
        <p:origin x="2829" y="2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b="1">
              <a:latin typeface="Songti SC" panose="02010600040101010101" pitchFamily="2" charset="-122"/>
              <a:ea typeface="Songti SC" panose="02010600040101010101" pitchFamily="2"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b="1" smtClean="0">
                <a:latin typeface="Songti SC" panose="02010600040101010101" pitchFamily="2" charset="-122"/>
                <a:ea typeface="Songti SC" panose="02010600040101010101" pitchFamily="2" charset="-122"/>
              </a:rPr>
              <a:t>2026/8/15</a:t>
            </a:fld>
            <a:endParaRPr lang="zh-CN" altLang="en-US" b="1">
              <a:latin typeface="Songti SC" panose="02010600040101010101" pitchFamily="2" charset="-122"/>
              <a:ea typeface="Songti SC" panose="02010600040101010101" pitchFamily="2"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b="1">
              <a:latin typeface="Songti SC" panose="02010600040101010101" pitchFamily="2" charset="-122"/>
              <a:ea typeface="Songti SC" panose="02010600040101010101" pitchFamily="2"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b="1" smtClean="0">
                <a:latin typeface="Songti SC" panose="02010600040101010101" pitchFamily="2" charset="-122"/>
                <a:ea typeface="Songti SC" panose="02010600040101010101" pitchFamily="2" charset="-122"/>
              </a:rPr>
              <a:t>‹#›</a:t>
            </a:fld>
            <a:endParaRPr lang="zh-CN" altLang="en-US" b="1">
              <a:latin typeface="Songti SC" panose="02010600040101010101" pitchFamily="2" charset="-122"/>
              <a:ea typeface="Songti SC" panose="02010600040101010101" pitchFamily="2"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1" i="0">
                <a:latin typeface="Songti SC" panose="02010600040101010101" pitchFamily="2" charset="-122"/>
                <a:ea typeface="Songti SC" panose="02010600040101010101" pitchFamily="2"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1" i="0">
                <a:latin typeface="Songti SC" panose="02010600040101010101" pitchFamily="2" charset="-122"/>
                <a:ea typeface="Songti SC" panose="02010600040101010101" pitchFamily="2" charset="-122"/>
              </a:defRPr>
            </a:lvl1pPr>
          </a:lstStyle>
          <a:p>
            <a:fld id="{E7CE4261-0CDD-45A3-84C2-311859DE5B03}" type="datetimeFigureOut">
              <a:rPr lang="zh-CN" altLang="en-US" smtClean="0"/>
              <a:pPr/>
              <a:t>2026/8/15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1" i="0">
                <a:latin typeface="Songti SC" panose="02010600040101010101" pitchFamily="2" charset="-122"/>
                <a:ea typeface="Songti SC" panose="02010600040101010101" pitchFamily="2"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1" i="0">
                <a:latin typeface="Songti SC" panose="02010600040101010101" pitchFamily="2" charset="-122"/>
                <a:ea typeface="Songti SC" panose="02010600040101010101" pitchFamily="2" charset="-122"/>
              </a:defRPr>
            </a:lvl1pPr>
          </a:lstStyle>
          <a:p>
            <a:fld id="{5EF711DA-82CB-44C8-99EC-9CE596A896F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1" i="0" kern="1200">
        <a:solidFill>
          <a:schemeClr val="tx1"/>
        </a:solidFill>
        <a:latin typeface="Songti SC" panose="02010600040101010101" pitchFamily="2" charset="-122"/>
        <a:ea typeface="Songti SC" panose="02010600040101010101" pitchFamily="2"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各位评委老师好。我们是来自哈尔滨工业大学（深圳）的一起去爬梧桐山队。今天，非常荣幸能在这里向大家展示我们的项目 </a:t>
            </a:r>
            <a:r>
              <a:rPr lang="en-US" altLang="zh-CN"/>
              <a:t>——“Flex-OS</a:t>
            </a:r>
            <a:r>
              <a:rPr lang="zh-CN" altLang="en-US"/>
              <a:t>：面向端侧设备的大语言模型推理内存优化系统”。</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F0443-6B9F-1825-C267-25BA0E5FD1C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339E5EE-5EB4-A741-2EE8-3771D982EF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543ADBF-7647-7736-5694-7B3E160CBB6F}"/>
              </a:ext>
            </a:extLst>
          </p:cNvPr>
          <p:cNvSpPr>
            <a:spLocks noGrp="1"/>
          </p:cNvSpPr>
          <p:nvPr>
            <p:ph type="body" idx="1"/>
          </p:nvPr>
        </p:nvSpPr>
        <p:spPr/>
        <p:txBody>
          <a:bodyPr/>
          <a:lstStyle/>
          <a:p>
            <a:r>
              <a:rPr lang="zh-CN" altLang="en-US"/>
              <a:t>我们的项目旨在解决一个核心痛点：如何让大语言模型在内存有限的设备上流畅运行。为此，我们基于主流的 </a:t>
            </a:r>
            <a:r>
              <a:rPr lang="en-US" altLang="zh-CN"/>
              <a:t>llama.cpp </a:t>
            </a:r>
            <a:r>
              <a:rPr lang="zh-CN" altLang="en-US"/>
              <a:t>框架，设计并实现了一个名为 </a:t>
            </a:r>
            <a:r>
              <a:rPr lang="en-US" altLang="zh-CN"/>
              <a:t>Flex-OS </a:t>
            </a:r>
            <a:r>
              <a:rPr lang="zh-CN" altLang="en-US"/>
              <a:t>的端侧推理系统。它通过四个核心模块协同工作，对模型权重与运行时</a:t>
            </a:r>
            <a:r>
              <a:rPr lang="en-US" altLang="zh-CN"/>
              <a:t>KV</a:t>
            </a:r>
            <a:r>
              <a:rPr lang="zh-CN" altLang="en-US"/>
              <a:t>缓存进行统一、智能的管理与调度。实验表明，</a:t>
            </a:r>
            <a:r>
              <a:rPr lang="en-US" altLang="zh-CN"/>
              <a:t>Flex-OS</a:t>
            </a:r>
            <a:r>
              <a:rPr lang="zh-CN" altLang="en-US"/>
              <a:t>能提供</a:t>
            </a:r>
            <a:r>
              <a:rPr lang="zh-CN" altLang="en-US" b="1">
                <a:latin typeface="Arial" panose="020B0604020202020204" pitchFamily="34" charset="0"/>
                <a:ea typeface="微软雅黑" panose="020B0503020204020204" pitchFamily="34" charset="-122"/>
                <a:cs typeface="黑体" panose="02010609060101010101" charset="-122"/>
              </a:rPr>
              <a:t>正确性与稳定性保证，并</a:t>
            </a:r>
            <a:r>
              <a:rPr lang="zh-CN" altLang="en-US"/>
              <a:t>在减少内存需求的同时大幅提升模型的推理性能，如在降低</a:t>
            </a:r>
            <a:r>
              <a:rPr lang="en-US" altLang="zh-CN"/>
              <a:t>MoE</a:t>
            </a:r>
            <a:r>
              <a:rPr lang="zh-CN" altLang="en-US"/>
              <a:t>模型</a:t>
            </a:r>
            <a:r>
              <a:rPr lang="en-US" altLang="zh-CN"/>
              <a:t>30.2%</a:t>
            </a:r>
            <a:r>
              <a:rPr lang="zh-CN" altLang="en-US"/>
              <a:t>内存需求的同时提升</a:t>
            </a:r>
            <a:r>
              <a:rPr lang="en-US" altLang="zh-CN"/>
              <a:t>56.13%</a:t>
            </a:r>
            <a:r>
              <a:rPr lang="zh-CN" altLang="en-US"/>
              <a:t>的推理性能。</a:t>
            </a:r>
          </a:p>
        </p:txBody>
      </p:sp>
      <p:sp>
        <p:nvSpPr>
          <p:cNvPr id="4" name="灯片编号占位符 3">
            <a:extLst>
              <a:ext uri="{FF2B5EF4-FFF2-40B4-BE49-F238E27FC236}">
                <a16:creationId xmlns:a16="http://schemas.microsoft.com/office/drawing/2014/main" id="{FD23009A-CC8C-AE65-BE2E-B0FA861B24EB}"/>
              </a:ext>
            </a:extLst>
          </p:cNvPr>
          <p:cNvSpPr>
            <a:spLocks noGrp="1"/>
          </p:cNvSpPr>
          <p:nvPr>
            <p:ph type="sldNum" sz="quarter" idx="10"/>
          </p:nvPr>
        </p:nvSpPr>
        <p:spPr/>
        <p:txBody>
          <a:bodyPr/>
          <a:lstStyle/>
          <a:p>
            <a:fld id="{5EF711DA-82CB-44C8-99EC-9CE596A896FB}" type="slidenum">
              <a:rPr lang="zh-CN" altLang="en-US" smtClean="0"/>
              <a:t>2</a:t>
            </a:fld>
            <a:endParaRPr lang="zh-CN" altLang="en-US"/>
          </a:p>
        </p:txBody>
      </p:sp>
    </p:spTree>
    <p:extLst>
      <p:ext uri="{BB962C8B-B14F-4D97-AF65-F5344CB8AC3E}">
        <p14:creationId xmlns:p14="http://schemas.microsoft.com/office/powerpoint/2010/main" val="3294744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本次展示将分为五个部分：项目背景、项目目标、项目实现、项目测试和项目总结</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首先进入第一部分：项目背景。</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9A101-1A46-0286-7334-536A922A68B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2CEA65-DFCB-88EC-2813-201AD2CE7DD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73369A9-DC7C-EDAB-24E5-540B5A2B449E}"/>
              </a:ext>
            </a:extLst>
          </p:cNvPr>
          <p:cNvSpPr>
            <a:spLocks noGrp="1"/>
          </p:cNvSpPr>
          <p:nvPr>
            <p:ph type="body" idx="1"/>
          </p:nvPr>
        </p:nvSpPr>
        <p:spPr/>
        <p:txBody>
          <a:bodyPr/>
          <a:lstStyle/>
          <a:p>
            <a:r>
              <a:rPr lang="zh-CN" altLang="en-US"/>
              <a:t>我们的研究背景源于当前大语言模型发展的三个趋势：第一，模型的参数规模持续扩大；第二，模型的上下文长度不断增加；第三，模型的部署向边缘设备延伸。这带来了一个核心挑战：模型运行时数据增长与设备内存有限之间的矛盾。</a:t>
            </a:r>
          </a:p>
        </p:txBody>
      </p:sp>
      <p:sp>
        <p:nvSpPr>
          <p:cNvPr id="4" name="灯片编号占位符 3">
            <a:extLst>
              <a:ext uri="{FF2B5EF4-FFF2-40B4-BE49-F238E27FC236}">
                <a16:creationId xmlns:a16="http://schemas.microsoft.com/office/drawing/2014/main" id="{4CED9645-952A-C8D7-8A98-7839E6B215E1}"/>
              </a:ext>
            </a:extLst>
          </p:cNvPr>
          <p:cNvSpPr>
            <a:spLocks noGrp="1"/>
          </p:cNvSpPr>
          <p:nvPr>
            <p:ph type="sldNum" sz="quarter" idx="10"/>
          </p:nvPr>
        </p:nvSpPr>
        <p:spPr/>
        <p:txBody>
          <a:bodyPr/>
          <a:lstStyle/>
          <a:p>
            <a:fld id="{5EF711DA-82CB-44C8-99EC-9CE596A896FB}" type="slidenum">
              <a:rPr lang="zh-CN" altLang="en-US" smtClean="0"/>
              <a:t>5</a:t>
            </a:fld>
            <a:endParaRPr lang="zh-CN" altLang="en-US"/>
          </a:p>
        </p:txBody>
      </p:sp>
    </p:spTree>
    <p:extLst>
      <p:ext uri="{BB962C8B-B14F-4D97-AF65-F5344CB8AC3E}">
        <p14:creationId xmlns:p14="http://schemas.microsoft.com/office/powerpoint/2010/main" val="3383167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针对上述挑战，现有的端侧推理框架虽然提出了权重量化等优化方法，但它们难以动态调整内存策略，导致内存浪费和性能瓶颈。因此，本项目重点研究如何动态管理内存，降低运行时内存并提升推理效率。</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A2825-5022-E0C1-39BA-6BC2AFEABB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9F9086A-C23E-9224-92E1-C0CF6DAA31D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0EF7224-9EFE-80A4-5047-9E23ED39A3F4}"/>
              </a:ext>
            </a:extLst>
          </p:cNvPr>
          <p:cNvSpPr>
            <a:spLocks noGrp="1"/>
          </p:cNvSpPr>
          <p:nvPr>
            <p:ph type="body" idx="1"/>
          </p:nvPr>
        </p:nvSpPr>
        <p:spPr/>
        <p:txBody>
          <a:bodyPr/>
          <a:lstStyle/>
          <a:p>
            <a:r>
              <a:rPr lang="zh-CN" altLang="en-US"/>
              <a:t>接下来介绍项目目标。</a:t>
            </a:r>
          </a:p>
        </p:txBody>
      </p:sp>
      <p:sp>
        <p:nvSpPr>
          <p:cNvPr id="4" name="灯片编号占位符 3">
            <a:extLst>
              <a:ext uri="{FF2B5EF4-FFF2-40B4-BE49-F238E27FC236}">
                <a16:creationId xmlns:a16="http://schemas.microsoft.com/office/drawing/2014/main" id="{B4A4CA37-3BCC-4BB1-C30D-9F3039DEB380}"/>
              </a:ext>
            </a:extLst>
          </p:cNvPr>
          <p:cNvSpPr>
            <a:spLocks noGrp="1"/>
          </p:cNvSpPr>
          <p:nvPr>
            <p:ph type="sldNum" sz="quarter" idx="10"/>
          </p:nvPr>
        </p:nvSpPr>
        <p:spPr/>
        <p:txBody>
          <a:bodyPr/>
          <a:lstStyle/>
          <a:p>
            <a:fld id="{5EF711DA-82CB-44C8-99EC-9CE596A896FB}" type="slidenum">
              <a:rPr lang="zh-CN" altLang="en-US" smtClean="0"/>
              <a:t>7</a:t>
            </a:fld>
            <a:endParaRPr lang="zh-CN" altLang="en-US"/>
          </a:p>
        </p:txBody>
      </p:sp>
    </p:spTree>
    <p:extLst>
      <p:ext uri="{BB962C8B-B14F-4D97-AF65-F5344CB8AC3E}">
        <p14:creationId xmlns:p14="http://schemas.microsoft.com/office/powerpoint/2010/main" val="2380270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我们对模型的推理过程进行了深入的访存分析，发现推理过程中的权重访问和 </a:t>
            </a:r>
            <a:r>
              <a:rPr lang="en-US" altLang="zh-CN"/>
              <a:t>KV Cache </a:t>
            </a:r>
            <a:r>
              <a:rPr lang="zh-CN" altLang="en-US"/>
              <a:t>访问存在差异。这两种不同的访存模式会共同竞争宝贵的内存和 </a:t>
            </a:r>
            <a:r>
              <a:rPr lang="en-US" altLang="zh-CN"/>
              <a:t>I/O </a:t>
            </a:r>
            <a:r>
              <a:rPr lang="zh-CN" altLang="en-US"/>
              <a:t>资源，必须进行差异化管理，并从全局视角进行协调，才能高效管理内存。</a:t>
            </a:r>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我们分析了原生的 </a:t>
            </a:r>
            <a:r>
              <a:rPr lang="en-US" altLang="zh-CN"/>
              <a:t>llama.cpp </a:t>
            </a:r>
            <a:r>
              <a:rPr lang="zh-CN" altLang="en-US"/>
              <a:t>框架，发现三个核心不足。首先，它对权重和 </a:t>
            </a:r>
            <a:r>
              <a:rPr lang="en-US" altLang="zh-CN"/>
              <a:t>KV Cache </a:t>
            </a:r>
            <a:r>
              <a:rPr lang="zh-CN" altLang="en-US"/>
              <a:t>采用独立的管理方式，导致二者因抢占资源而发生冲突。其次，它对权重的加载依赖于被动缺页机制，无法主动控制权重驻留。最后，它对 </a:t>
            </a:r>
            <a:r>
              <a:rPr lang="en-US" altLang="zh-CN"/>
              <a:t>KV Cache </a:t>
            </a:r>
            <a:r>
              <a:rPr lang="zh-CN" altLang="en-US"/>
              <a:t>的驱逐没有同时考虑代价和收益，导致频繁的换入换出，严重影响性能。</a:t>
            </a:r>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E0574-427D-C4F6-1981-F92629089DA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0E178B-0FA3-676E-5C2C-A23913805E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B6E7719-6455-C28D-ADE8-11FDA0B7440C}"/>
              </a:ext>
            </a:extLst>
          </p:cNvPr>
          <p:cNvSpPr>
            <a:spLocks noGrp="1"/>
          </p:cNvSpPr>
          <p:nvPr>
            <p:ph type="body" idx="1"/>
          </p:nvPr>
        </p:nvSpPr>
        <p:spPr/>
        <p:txBody>
          <a:bodyPr/>
          <a:lstStyle/>
          <a:p>
            <a:r>
              <a:rPr lang="zh-CN" altLang="en-US"/>
              <a:t>我们在原有框架之上，通过三项工作来解决原生框架的不足：第一，建立一个全局调度器，将所有内存资源纳入统一管理，避免资源冲突；第二，利用预测技术，将权重的加载从被动等待转为主动预取，隐藏 </a:t>
            </a:r>
            <a:r>
              <a:rPr lang="en-US" altLang="zh-CN"/>
              <a:t>I/O </a:t>
            </a:r>
            <a:r>
              <a:rPr lang="zh-CN" altLang="en-US"/>
              <a:t>延迟；第三，将 </a:t>
            </a:r>
            <a:r>
              <a:rPr lang="en-US" altLang="zh-CN"/>
              <a:t>KV Cache </a:t>
            </a:r>
            <a:r>
              <a:rPr lang="zh-CN" altLang="en-US"/>
              <a:t>的管理粒度细化到 </a:t>
            </a:r>
            <a:r>
              <a:rPr lang="en-US" altLang="zh-CN"/>
              <a:t>Block </a:t>
            </a:r>
            <a:r>
              <a:rPr lang="zh-CN" altLang="en-US"/>
              <a:t>级别，实现更灵活的加载、回收与复用。</a:t>
            </a:r>
            <a:endParaRPr/>
          </a:p>
        </p:txBody>
      </p:sp>
      <p:sp>
        <p:nvSpPr>
          <p:cNvPr id="4" name="灯片编号占位符 3">
            <a:extLst>
              <a:ext uri="{FF2B5EF4-FFF2-40B4-BE49-F238E27FC236}">
                <a16:creationId xmlns:a16="http://schemas.microsoft.com/office/drawing/2014/main" id="{D074BBA8-72AC-500A-2E11-577AD86C7991}"/>
              </a:ext>
            </a:extLst>
          </p:cNvPr>
          <p:cNvSpPr>
            <a:spLocks noGrp="1"/>
          </p:cNvSpPr>
          <p:nvPr>
            <p:ph type="sldNum" sz="quarter" idx="10"/>
          </p:nvPr>
        </p:nvSpPr>
        <p:spPr/>
        <p:txBody>
          <a:bodyPr/>
          <a:lstStyle/>
          <a:p>
            <a:fld id="{5EF711DA-82CB-44C8-99EC-9CE596A896FB}" type="slidenum">
              <a:rPr lang="zh-CN" altLang="en-US" smtClean="0"/>
              <a:t>10</a:t>
            </a:fld>
            <a:endParaRPr lang="zh-CN" altLang="en-US"/>
          </a:p>
        </p:txBody>
      </p:sp>
    </p:spTree>
    <p:extLst>
      <p:ext uri="{BB962C8B-B14F-4D97-AF65-F5344CB8AC3E}">
        <p14:creationId xmlns:p14="http://schemas.microsoft.com/office/powerpoint/2010/main" val="37727372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我们为项目设定了四个项目目标，满足赛题所有要求并全部完成。</a:t>
            </a:r>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D9667-5382-5AA7-46CE-46B0238252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958EDC4-718A-FBF7-0D0B-F1AA83EDB07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FD5CFBA-482A-E121-90F1-747CFC635079}"/>
              </a:ext>
            </a:extLst>
          </p:cNvPr>
          <p:cNvSpPr>
            <a:spLocks noGrp="1"/>
          </p:cNvSpPr>
          <p:nvPr>
            <p:ph type="body" idx="1"/>
          </p:nvPr>
        </p:nvSpPr>
        <p:spPr/>
        <p:txBody>
          <a:bodyPr/>
          <a:lstStyle/>
          <a:p>
            <a:r>
              <a:rPr lang="zh-CN" altLang="en-US"/>
              <a:t>接下来介绍项目实现</a:t>
            </a:r>
            <a:endParaRPr/>
          </a:p>
        </p:txBody>
      </p:sp>
      <p:sp>
        <p:nvSpPr>
          <p:cNvPr id="4" name="灯片编号占位符 3">
            <a:extLst>
              <a:ext uri="{FF2B5EF4-FFF2-40B4-BE49-F238E27FC236}">
                <a16:creationId xmlns:a16="http://schemas.microsoft.com/office/drawing/2014/main" id="{F9D3C4E4-7DE8-2165-63FC-59E02D77AEF3}"/>
              </a:ext>
            </a:extLst>
          </p:cNvPr>
          <p:cNvSpPr>
            <a:spLocks noGrp="1"/>
          </p:cNvSpPr>
          <p:nvPr>
            <p:ph type="sldNum" sz="quarter" idx="10"/>
          </p:nvPr>
        </p:nvSpPr>
        <p:spPr/>
        <p:txBody>
          <a:bodyPr/>
          <a:lstStyle/>
          <a:p>
            <a:fld id="{5EF711DA-82CB-44C8-99EC-9CE596A896FB}" type="slidenum">
              <a:rPr lang="zh-CN" altLang="en-US" smtClean="0"/>
              <a:t>12</a:t>
            </a:fld>
            <a:endParaRPr lang="zh-CN" altLang="en-US"/>
          </a:p>
        </p:txBody>
      </p:sp>
    </p:spTree>
    <p:extLst>
      <p:ext uri="{BB962C8B-B14F-4D97-AF65-F5344CB8AC3E}">
        <p14:creationId xmlns:p14="http://schemas.microsoft.com/office/powerpoint/2010/main" val="16546702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这是我们 </a:t>
            </a:r>
            <a:r>
              <a:rPr lang="en-US" altLang="zh-CN"/>
              <a:t>Flex-OS </a:t>
            </a:r>
            <a:r>
              <a:rPr lang="zh-CN" altLang="en-US"/>
              <a:t>的整体架构。我们在推理执行层和内存存储层之间，增加了全局控制与调度层。全局控制与调度层中的 </a:t>
            </a:r>
            <a:r>
              <a:rPr lang="en-US" altLang="zh-CN"/>
              <a:t>Global Memory Governor </a:t>
            </a:r>
            <a:r>
              <a:rPr lang="zh-CN" altLang="en-US"/>
              <a:t>是整个系统的 “大脑”，负责监控内存压力，并根据策略向内存管理层下达指令。内存管理层则包含了针对不同数据类型的具体管理模块，包括 </a:t>
            </a:r>
            <a:r>
              <a:rPr lang="en-US" altLang="zh-CN"/>
              <a:t>Dense Flex</a:t>
            </a:r>
            <a:r>
              <a:rPr lang="zh-CN" altLang="en-US"/>
              <a:t>、</a:t>
            </a:r>
            <a:r>
              <a:rPr lang="en-US" altLang="zh-CN"/>
              <a:t>MoE Buffer </a:t>
            </a:r>
            <a:r>
              <a:rPr lang="zh-CN" altLang="en-US"/>
              <a:t>和 </a:t>
            </a:r>
            <a:r>
              <a:rPr lang="en-US" altLang="zh-CN"/>
              <a:t>KV Controller</a:t>
            </a:r>
            <a:r>
              <a:rPr lang="zh-CN" altLang="en-US"/>
              <a:t>。通过这种分层架构，我们实现了内存资源的统一协调和精细化控制。</a:t>
            </a:r>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a:solidFill>
                  <a:schemeClr val="tx1"/>
                </a:solidFill>
                <a:effectLst/>
                <a:latin typeface="Songti SC" panose="02010600040101010101" pitchFamily="2" charset="-122"/>
                <a:ea typeface="Songti SC" panose="02010600040101010101" pitchFamily="2" charset="-122"/>
                <a:cs typeface="+mn-cs"/>
              </a:rPr>
              <a:t>我们</a:t>
            </a:r>
            <a:r>
              <a:rPr lang="zh-CN" altLang="zh-CN" sz="1200" b="1" i="0" kern="1200">
                <a:solidFill>
                  <a:schemeClr val="tx1"/>
                </a:solidFill>
                <a:effectLst/>
                <a:latin typeface="Songti SC" panose="02010600040101010101" pitchFamily="2" charset="-122"/>
                <a:ea typeface="Songti SC" panose="02010600040101010101" pitchFamily="2" charset="-122"/>
                <a:cs typeface="+mn-cs"/>
              </a:rPr>
              <a:t>首先来看 Dense Flex </a:t>
            </a:r>
            <a:r>
              <a:rPr lang="zh-CN" altLang="en-US" sz="1200" b="1" i="0" kern="1200">
                <a:solidFill>
                  <a:schemeClr val="tx1"/>
                </a:solidFill>
                <a:effectLst/>
                <a:latin typeface="Songti SC" panose="02010600040101010101" pitchFamily="2" charset="-122"/>
                <a:ea typeface="Songti SC" panose="02010600040101010101" pitchFamily="2" charset="-122"/>
                <a:cs typeface="+mn-cs"/>
              </a:rPr>
              <a:t>模块</a:t>
            </a:r>
            <a:r>
              <a:rPr lang="zh-CN" altLang="zh-CN" sz="1200" b="1" i="0" kern="1200">
                <a:solidFill>
                  <a:schemeClr val="tx1"/>
                </a:solidFill>
                <a:effectLst/>
                <a:latin typeface="Songti SC" panose="02010600040101010101" pitchFamily="2" charset="-122"/>
                <a:ea typeface="Songti SC" panose="02010600040101010101" pitchFamily="2" charset="-122"/>
                <a:cs typeface="+mn-cs"/>
              </a:rPr>
              <a:t>，它专门管理</a:t>
            </a:r>
            <a:r>
              <a:rPr lang="en-US" altLang="zh-CN" sz="1200" b="1" i="0" kern="1200">
                <a:solidFill>
                  <a:schemeClr val="tx1"/>
                </a:solidFill>
                <a:effectLst/>
                <a:latin typeface="Songti SC" panose="02010600040101010101" pitchFamily="2" charset="-122"/>
                <a:ea typeface="Songti SC" panose="02010600040101010101" pitchFamily="2" charset="-122"/>
                <a:cs typeface="+mn-cs"/>
              </a:rPr>
              <a:t>Dense</a:t>
            </a:r>
            <a:r>
              <a:rPr lang="zh-CN" altLang="zh-CN" sz="1200" b="1" i="0" kern="1200">
                <a:solidFill>
                  <a:schemeClr val="tx1"/>
                </a:solidFill>
                <a:effectLst/>
                <a:latin typeface="Songti SC" panose="02010600040101010101" pitchFamily="2" charset="-122"/>
                <a:ea typeface="Songti SC" panose="02010600040101010101" pitchFamily="2" charset="-122"/>
                <a:cs typeface="+mn-cs"/>
              </a:rPr>
              <a:t>模型权重</a:t>
            </a:r>
            <a:r>
              <a:rPr lang="zh-CN" altLang="en-US" sz="1200" b="1" i="0" kern="1200">
                <a:solidFill>
                  <a:schemeClr val="tx1"/>
                </a:solidFill>
                <a:effectLst/>
                <a:latin typeface="Songti SC" panose="02010600040101010101" pitchFamily="2" charset="-122"/>
                <a:ea typeface="Songti SC" panose="02010600040101010101" pitchFamily="2" charset="-122"/>
                <a:cs typeface="+mn-cs"/>
              </a:rPr>
              <a:t>，</a:t>
            </a:r>
            <a:r>
              <a:rPr lang="zh-CN" altLang="zh-CN" sz="1200" b="1" i="0" kern="1200">
                <a:solidFill>
                  <a:schemeClr val="tx1"/>
                </a:solidFill>
                <a:effectLst/>
                <a:latin typeface="Songti SC" panose="02010600040101010101" pitchFamily="2" charset="-122"/>
                <a:ea typeface="Songti SC" panose="02010600040101010101" pitchFamily="2" charset="-122"/>
                <a:cs typeface="+mn-cs"/>
              </a:rPr>
              <a:t>核心思想是维护一个有限的层驻留窗口，只保留当前和即将计算的网络层。 我们依靠窗口循环复用，用后台异步预取权重，让计算和 I/O 并行。对低收益层执行回收，高频张量则锁定在内存，以此降低权重的内存常驻开销。</a:t>
            </a:r>
            <a:endParaRPr lang="en-US" altLang="zh-CN" sz="1200" b="1" i="0" kern="1200">
              <a:solidFill>
                <a:schemeClr val="tx1"/>
              </a:solidFill>
              <a:effectLst/>
              <a:latin typeface="Songti SC" panose="02010600040101010101" pitchFamily="2" charset="-122"/>
              <a:ea typeface="Songti SC" panose="02010600040101010101" pitchFamily="2" charset="-122"/>
              <a:cs typeface="+mn-cs"/>
            </a:endParaRPr>
          </a:p>
          <a:p>
            <a:br>
              <a:rPr lang="en-US" altLang="zh-CN"/>
            </a:br>
            <a:endParaRPr b="1"/>
          </a:p>
        </p:txBody>
      </p:sp>
      <p:sp>
        <p:nvSpPr>
          <p:cNvPr id="4" name="灯片编号占位符 3"/>
          <p:cNvSpPr>
            <a:spLocks noGrp="1"/>
          </p:cNvSpPr>
          <p:nvPr>
            <p:ph type="sldNum" sz="quarter" idx="10"/>
          </p:nvPr>
        </p:nvSpPr>
        <p:spPr/>
        <p:txBody>
          <a:bodyPr/>
          <a:lstStyle/>
          <a:p>
            <a:fld id="{5EF711DA-82CB-44C8-99EC-9CE596A896FB}"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a:t>接下来介绍 MoE Buffer </a:t>
            </a:r>
            <a:r>
              <a:rPr lang="zh-CN" altLang="en-US"/>
              <a:t>模块</a:t>
            </a:r>
            <a:r>
              <a:rPr lang="zh-CN" altLang="zh-CN"/>
              <a:t>，用于管理 MoE 模型的专家权重。它的核心思想是维护动态专家工作集，只保留近期高概率激活的专家。</a:t>
            </a:r>
            <a:r>
              <a:rPr lang="zh-CN" altLang="en-US"/>
              <a:t>我们通过</a:t>
            </a:r>
            <a:r>
              <a:rPr lang="zh-CN" altLang="zh-CN"/>
              <a:t>预测后续需要的专家，提前加载到温专家缓冲区。系统根据内存压力动态调整预算，保留高收益专家、驱逐冷专家，避免专家反复换入换出，减少 I/O 延迟。</a:t>
            </a:r>
            <a:endParaRPr lang="en-US" altLang="zh-CN"/>
          </a:p>
        </p:txBody>
      </p:sp>
      <p:sp>
        <p:nvSpPr>
          <p:cNvPr id="4" name="灯片编号占位符 3"/>
          <p:cNvSpPr>
            <a:spLocks noGrp="1"/>
          </p:cNvSpPr>
          <p:nvPr>
            <p:ph type="sldNum" sz="quarter" idx="10"/>
          </p:nvPr>
        </p:nvSpPr>
        <p:spPr/>
        <p:txBody>
          <a:bodyPr/>
          <a:lstStyle/>
          <a:p>
            <a:fld id="{5EF711DA-82CB-44C8-99EC-9CE596A896FB}"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i="0" kern="1200">
                <a:solidFill>
                  <a:schemeClr val="tx1"/>
                </a:solidFill>
                <a:effectLst/>
                <a:latin typeface="Songti SC" panose="02010600040101010101" pitchFamily="2" charset="-122"/>
                <a:ea typeface="Songti SC" panose="02010600040101010101" pitchFamily="2" charset="-122"/>
                <a:cs typeface="+mn-cs"/>
              </a:rPr>
              <a:t>然后是 KV Controller </a:t>
            </a:r>
            <a:r>
              <a:rPr lang="zh-CN" altLang="en-US" sz="1200" b="1" i="0" kern="1200">
                <a:solidFill>
                  <a:schemeClr val="tx1"/>
                </a:solidFill>
                <a:effectLst/>
                <a:latin typeface="Songti SC" panose="02010600040101010101" pitchFamily="2" charset="-122"/>
                <a:ea typeface="Songti SC" panose="02010600040101010101" pitchFamily="2" charset="-122"/>
                <a:cs typeface="+mn-cs"/>
              </a:rPr>
              <a:t>模块</a:t>
            </a:r>
            <a:r>
              <a:rPr lang="zh-CN" altLang="zh-CN" sz="1200" b="1" i="0" kern="1200">
                <a:solidFill>
                  <a:schemeClr val="tx1"/>
                </a:solidFill>
                <a:effectLst/>
                <a:latin typeface="Songti SC" panose="02010600040101010101" pitchFamily="2" charset="-122"/>
                <a:ea typeface="Songti SC" panose="02010600040101010101" pitchFamily="2" charset="-122"/>
                <a:cs typeface="+mn-cs"/>
              </a:rPr>
              <a:t>，专门管理推理产生的 KV 缓存。</a:t>
            </a:r>
            <a:r>
              <a:rPr lang="zh-CN" altLang="en-US" sz="1200" b="1" i="0" kern="1200">
                <a:solidFill>
                  <a:schemeClr val="tx1"/>
                </a:solidFill>
                <a:effectLst/>
                <a:latin typeface="Songti SC" panose="02010600040101010101" pitchFamily="2" charset="-122"/>
                <a:ea typeface="Songti SC" panose="02010600040101010101" pitchFamily="2" charset="-122"/>
                <a:cs typeface="+mn-cs"/>
              </a:rPr>
              <a:t>其</a:t>
            </a:r>
            <a:r>
              <a:rPr lang="zh-CN" altLang="zh-CN" sz="1200" b="1" i="0" kern="1200">
                <a:solidFill>
                  <a:schemeClr val="tx1"/>
                </a:solidFill>
                <a:effectLst/>
                <a:latin typeface="Songti SC" panose="02010600040101010101" pitchFamily="2" charset="-122"/>
                <a:ea typeface="Songti SC" panose="02010600040101010101" pitchFamily="2" charset="-122"/>
                <a:cs typeface="+mn-cs"/>
              </a:rPr>
              <a:t>核心思想是以 Block 粒度管控 KV 的完整生命周期。 </a:t>
            </a:r>
            <a:r>
              <a:rPr lang="zh-CN" altLang="en-US" sz="1200" b="1" i="0" kern="1200">
                <a:solidFill>
                  <a:schemeClr val="tx1"/>
                </a:solidFill>
                <a:effectLst/>
                <a:latin typeface="Songti SC" panose="02010600040101010101" pitchFamily="2" charset="-122"/>
                <a:ea typeface="Songti SC" panose="02010600040101010101" pitchFamily="2" charset="-122"/>
                <a:cs typeface="+mn-cs"/>
              </a:rPr>
              <a:t>对于</a:t>
            </a:r>
            <a:r>
              <a:rPr lang="zh-CN" altLang="zh-CN" sz="1200" b="1" i="0" kern="1200">
                <a:solidFill>
                  <a:schemeClr val="tx1"/>
                </a:solidFill>
                <a:effectLst/>
                <a:latin typeface="Songti SC" panose="02010600040101010101" pitchFamily="2" charset="-122"/>
                <a:ea typeface="Songti SC" panose="02010600040101010101" pitchFamily="2" charset="-122"/>
                <a:cs typeface="+mn-cs"/>
              </a:rPr>
              <a:t>无复用价值的 KV 直接 释放内存；</a:t>
            </a:r>
            <a:r>
              <a:rPr lang="zh-CN" altLang="en-US" sz="1200" b="1" i="0" kern="1200">
                <a:solidFill>
                  <a:schemeClr val="tx1"/>
                </a:solidFill>
                <a:effectLst/>
                <a:latin typeface="Songti SC" panose="02010600040101010101" pitchFamily="2" charset="-122"/>
                <a:ea typeface="Songti SC" panose="02010600040101010101" pitchFamily="2" charset="-122"/>
                <a:cs typeface="+mn-cs"/>
              </a:rPr>
              <a:t>对于</a:t>
            </a:r>
            <a:r>
              <a:rPr lang="zh-CN" altLang="zh-CN" sz="1200" b="1" i="0" kern="1200">
                <a:solidFill>
                  <a:schemeClr val="tx1"/>
                </a:solidFill>
                <a:effectLst/>
                <a:latin typeface="Songti SC" panose="02010600040101010101" pitchFamily="2" charset="-122"/>
                <a:ea typeface="Songti SC" panose="02010600040101010101" pitchFamily="2" charset="-122"/>
                <a:cs typeface="+mn-cs"/>
              </a:rPr>
              <a:t>有回访需求的 KV 通过</a:t>
            </a:r>
            <a:r>
              <a:rPr lang="zh-CN" altLang="en-US" sz="1200" b="1" i="0" kern="1200">
                <a:solidFill>
                  <a:schemeClr val="tx1"/>
                </a:solidFill>
                <a:effectLst/>
                <a:latin typeface="Songti SC" panose="02010600040101010101" pitchFamily="2" charset="-122"/>
                <a:ea typeface="Songti SC" panose="02010600040101010101" pitchFamily="2" charset="-122"/>
                <a:cs typeface="+mn-cs"/>
              </a:rPr>
              <a:t>卸载</a:t>
            </a:r>
            <a:r>
              <a:rPr lang="zh-CN" altLang="zh-CN" sz="1200" b="1" i="0" kern="1200">
                <a:solidFill>
                  <a:schemeClr val="tx1"/>
                </a:solidFill>
                <a:effectLst/>
                <a:latin typeface="Songti SC" panose="02010600040101010101" pitchFamily="2" charset="-122"/>
                <a:ea typeface="Songti SC" panose="02010600040101010101" pitchFamily="2" charset="-122"/>
                <a:cs typeface="+mn-cs"/>
              </a:rPr>
              <a:t>换出到磁盘。重访会话时</a:t>
            </a:r>
            <a:r>
              <a:rPr lang="zh-CN" altLang="en-US" sz="1200" b="1" i="0" kern="1200">
                <a:solidFill>
                  <a:schemeClr val="tx1"/>
                </a:solidFill>
                <a:effectLst/>
                <a:latin typeface="Songti SC" panose="02010600040101010101" pitchFamily="2" charset="-122"/>
                <a:ea typeface="Songti SC" panose="02010600040101010101" pitchFamily="2" charset="-122"/>
                <a:cs typeface="+mn-cs"/>
              </a:rPr>
              <a:t>，系统</a:t>
            </a:r>
            <a:r>
              <a:rPr lang="zh-CN" altLang="zh-CN" sz="1200" b="1" i="0" kern="1200">
                <a:solidFill>
                  <a:schemeClr val="tx1"/>
                </a:solidFill>
                <a:effectLst/>
                <a:latin typeface="Songti SC" panose="02010600040101010101" pitchFamily="2" charset="-122"/>
                <a:ea typeface="Songti SC" panose="02010600040101010101" pitchFamily="2" charset="-122"/>
                <a:cs typeface="+mn-cs"/>
              </a:rPr>
              <a:t>完成数据恢复，并通过校验保证结果正确，以此抑制长上下文下的内存膨胀。</a:t>
            </a:r>
            <a:br>
              <a:rPr lang="en-US" altLang="zh-CN" sz="1200" b="1" i="0" kern="1200">
                <a:solidFill>
                  <a:schemeClr val="tx1"/>
                </a:solidFill>
                <a:effectLst/>
                <a:latin typeface="Songti SC" panose="02010600040101010101" pitchFamily="2" charset="-122"/>
                <a:ea typeface="Songti SC" panose="02010600040101010101" pitchFamily="2" charset="-122"/>
                <a:cs typeface="+mn-cs"/>
              </a:rPr>
            </a:br>
            <a:br>
              <a:rPr lang="en-US" altLang="zh-CN"/>
            </a:br>
            <a:endParaRPr b="1"/>
          </a:p>
        </p:txBody>
      </p:sp>
      <p:sp>
        <p:nvSpPr>
          <p:cNvPr id="4" name="灯片编号占位符 3"/>
          <p:cNvSpPr>
            <a:spLocks noGrp="1"/>
          </p:cNvSpPr>
          <p:nvPr>
            <p:ph type="sldNum" sz="quarter" idx="10"/>
          </p:nvPr>
        </p:nvSpPr>
        <p:spPr/>
        <p:txBody>
          <a:bodyPr/>
          <a:lstStyle/>
          <a:p>
            <a:fld id="{5EF711DA-82CB-44C8-99EC-9CE596A896FB}"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004FC-4B70-5D98-BA3D-204AE1D706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D123D1-A807-0997-CD9C-6C06AFAFDC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772D3C-FE89-0C28-1287-72FF4FE8728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i="0" kern="1200">
                <a:solidFill>
                  <a:schemeClr val="tx1"/>
                </a:solidFill>
                <a:effectLst/>
                <a:latin typeface="Songti SC" panose="02010600040101010101" pitchFamily="2" charset="-122"/>
                <a:ea typeface="Songti SC" panose="02010600040101010101" pitchFamily="2" charset="-122"/>
                <a:cs typeface="+mn-cs"/>
              </a:rPr>
              <a:t>最后是 </a:t>
            </a:r>
            <a:r>
              <a:rPr lang="en-US" altLang="zh-CN" sz="1200" b="1" i="0" kern="1200">
                <a:solidFill>
                  <a:schemeClr val="tx1"/>
                </a:solidFill>
                <a:effectLst/>
                <a:latin typeface="Songti SC" panose="02010600040101010101" pitchFamily="2" charset="-122"/>
                <a:ea typeface="Songti SC" panose="02010600040101010101" pitchFamily="2" charset="-122"/>
                <a:cs typeface="+mn-cs"/>
              </a:rPr>
              <a:t>Global Memory Governor</a:t>
            </a:r>
            <a:r>
              <a:rPr lang="zh-CN" altLang="en-US" sz="1200" b="1" i="0" kern="1200">
                <a:solidFill>
                  <a:schemeClr val="tx1"/>
                </a:solidFill>
                <a:effectLst/>
                <a:latin typeface="Songti SC" panose="02010600040101010101" pitchFamily="2" charset="-122"/>
                <a:ea typeface="Songti SC" panose="02010600040101010101" pitchFamily="2" charset="-122"/>
                <a:cs typeface="+mn-cs"/>
              </a:rPr>
              <a:t>模块，它是整个系统的调度中枢。核心思想是搭建全局内存调度闭环，协调权重、</a:t>
            </a:r>
            <a:r>
              <a:rPr lang="en-US" altLang="zh-CN" sz="1200" b="1" i="0" kern="1200">
                <a:solidFill>
                  <a:schemeClr val="tx1"/>
                </a:solidFill>
                <a:effectLst/>
                <a:latin typeface="Songti SC" panose="02010600040101010101" pitchFamily="2" charset="-122"/>
                <a:ea typeface="Songti SC" panose="02010600040101010101" pitchFamily="2" charset="-122"/>
                <a:cs typeface="+mn-cs"/>
              </a:rPr>
              <a:t>KV </a:t>
            </a:r>
            <a:r>
              <a:rPr lang="zh-CN" altLang="en-US" sz="1200" b="1" i="0" kern="1200">
                <a:solidFill>
                  <a:schemeClr val="tx1"/>
                </a:solidFill>
                <a:effectLst/>
                <a:latin typeface="Songti SC" panose="02010600040101010101" pitchFamily="2" charset="-122"/>
                <a:ea typeface="Songti SC" panose="02010600040101010101" pitchFamily="2" charset="-122"/>
                <a:cs typeface="+mn-cs"/>
              </a:rPr>
              <a:t>缓存的资源竞争。 它通过内存压力门控、收益优先回收、统一预取预算、内存额度再分配这一套策略，将回收的内存重新分配给各个子模块，配合反馈回路动态调参，让系统在有限内存发挥最优性能。</a:t>
            </a:r>
            <a:endParaRPr lang="zh-CN" altLang="en-US" b="1"/>
          </a:p>
          <a:p>
            <a:endParaRPr lang="en-US" altLang="zh-CN"/>
          </a:p>
        </p:txBody>
      </p:sp>
      <p:sp>
        <p:nvSpPr>
          <p:cNvPr id="4" name="灯片编号占位符 3">
            <a:extLst>
              <a:ext uri="{FF2B5EF4-FFF2-40B4-BE49-F238E27FC236}">
                <a16:creationId xmlns:a16="http://schemas.microsoft.com/office/drawing/2014/main" id="{F5E4B531-F90D-54B3-4F55-57D7268E1366}"/>
              </a:ext>
            </a:extLst>
          </p:cNvPr>
          <p:cNvSpPr>
            <a:spLocks noGrp="1"/>
          </p:cNvSpPr>
          <p:nvPr>
            <p:ph type="sldNum" sz="quarter" idx="10"/>
          </p:nvPr>
        </p:nvSpPr>
        <p:spPr/>
        <p:txBody>
          <a:bodyPr/>
          <a:lstStyle/>
          <a:p>
            <a:fld id="{5EF711DA-82CB-44C8-99EC-9CE596A896FB}" type="slidenum">
              <a:rPr lang="zh-CN" altLang="en-US" smtClean="0"/>
              <a:t>17</a:t>
            </a:fld>
            <a:endParaRPr lang="zh-CN" altLang="en-US"/>
          </a:p>
        </p:txBody>
      </p:sp>
    </p:spTree>
    <p:extLst>
      <p:ext uri="{BB962C8B-B14F-4D97-AF65-F5344CB8AC3E}">
        <p14:creationId xmlns:p14="http://schemas.microsoft.com/office/powerpoint/2010/main" val="20903791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635CE-8439-F93A-1AB4-B6B3FC3D7F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B2A1E29-993F-8373-56FE-0EE3B2A2741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2DD9770-8470-EA4C-551A-4DC28B5C546C}"/>
              </a:ext>
            </a:extLst>
          </p:cNvPr>
          <p:cNvSpPr>
            <a:spLocks noGrp="1"/>
          </p:cNvSpPr>
          <p:nvPr>
            <p:ph type="body" idx="1"/>
          </p:nvPr>
        </p:nvSpPr>
        <p:spPr/>
        <p:txBody>
          <a:bodyPr/>
          <a:lstStyle/>
          <a:p>
            <a:r>
              <a:t>第四部分是项目测试。</a:t>
            </a:r>
          </a:p>
        </p:txBody>
      </p:sp>
      <p:sp>
        <p:nvSpPr>
          <p:cNvPr id="4" name="灯片编号占位符 3">
            <a:extLst>
              <a:ext uri="{FF2B5EF4-FFF2-40B4-BE49-F238E27FC236}">
                <a16:creationId xmlns:a16="http://schemas.microsoft.com/office/drawing/2014/main" id="{A319EBBD-E5F6-D48E-D6AE-B7CC967CA2A9}"/>
              </a:ext>
            </a:extLst>
          </p:cNvPr>
          <p:cNvSpPr>
            <a:spLocks noGrp="1"/>
          </p:cNvSpPr>
          <p:nvPr>
            <p:ph type="sldNum" sz="quarter" idx="10"/>
          </p:nvPr>
        </p:nvSpPr>
        <p:spPr/>
        <p:txBody>
          <a:bodyPr/>
          <a:lstStyle/>
          <a:p>
            <a:fld id="{5EF711DA-82CB-44C8-99EC-9CE596A896FB}" type="slidenum">
              <a:rPr lang="zh-CN" altLang="en-US" smtClean="0"/>
              <a:t>18</a:t>
            </a:fld>
            <a:endParaRPr lang="zh-CN" altLang="en-US"/>
          </a:p>
        </p:txBody>
      </p:sp>
    </p:spTree>
    <p:extLst>
      <p:ext uri="{BB962C8B-B14F-4D97-AF65-F5344CB8AC3E}">
        <p14:creationId xmlns:p14="http://schemas.microsoft.com/office/powerpoint/2010/main" val="6515298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测试都在同一环境下完成，</a:t>
            </a:r>
            <a:r>
              <a:rPr lang="zh-CN" altLang="en-US"/>
              <a:t>评价指标包括内存占用、性能稳定性与计算正确性</a:t>
            </a:r>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553FF-9971-B3E8-5836-33F6CEC35A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92F291-CD19-144B-A5D7-ABA6D0D6A3C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BC483B2-8CCF-8D36-FCC8-C5BBDB506904}"/>
              </a:ext>
            </a:extLst>
          </p:cNvPr>
          <p:cNvSpPr>
            <a:spLocks noGrp="1"/>
          </p:cNvSpPr>
          <p:nvPr>
            <p:ph type="body" idx="1"/>
          </p:nvPr>
        </p:nvSpPr>
        <p:spPr/>
        <p:txBody>
          <a:bodyPr/>
          <a:lstStyle/>
          <a:p>
            <a:r>
              <a:rPr lang="zh-CN" altLang="en-US"/>
              <a:t>首先，我们将系统与原生的 </a:t>
            </a:r>
            <a:r>
              <a:rPr lang="en-US" altLang="zh-CN"/>
              <a:t>llama.cpp </a:t>
            </a:r>
            <a:r>
              <a:rPr lang="zh-CN" altLang="en-US"/>
              <a:t>框架进行对比测试。在 </a:t>
            </a:r>
            <a:r>
              <a:rPr lang="en-US" altLang="zh-CN"/>
              <a:t>3GB </a:t>
            </a:r>
            <a:r>
              <a:rPr lang="zh-CN" altLang="en-US"/>
              <a:t>的内存限制下，</a:t>
            </a:r>
            <a:r>
              <a:rPr lang="en-US" altLang="zh-CN"/>
              <a:t>Dense </a:t>
            </a:r>
            <a:r>
              <a:rPr lang="zh-CN" altLang="en-US"/>
              <a:t>模型的推理吞吐提升</a:t>
            </a:r>
            <a:r>
              <a:rPr lang="en-US" altLang="zh-CN"/>
              <a:t>53.07%</a:t>
            </a:r>
            <a:r>
              <a:rPr lang="zh-CN" altLang="en-US"/>
              <a:t>，</a:t>
            </a:r>
            <a:r>
              <a:rPr lang="en-US" altLang="zh-CN"/>
              <a:t>MoE </a:t>
            </a:r>
            <a:r>
              <a:rPr lang="zh-CN" altLang="en-US"/>
              <a:t>模型提升</a:t>
            </a:r>
            <a:r>
              <a:rPr lang="en-US" altLang="zh-CN"/>
              <a:t>56.13%</a:t>
            </a:r>
            <a:r>
              <a:rPr lang="zh-CN" altLang="en-US"/>
              <a:t>。同时，内存占用分别降低了 </a:t>
            </a:r>
            <a:r>
              <a:rPr lang="en-US" altLang="zh-CN"/>
              <a:t>7.3% </a:t>
            </a:r>
            <a:r>
              <a:rPr lang="zh-CN" altLang="en-US"/>
              <a:t>和 </a:t>
            </a:r>
            <a:r>
              <a:rPr lang="en-US" altLang="zh-CN"/>
              <a:t>30.2%</a:t>
            </a:r>
            <a:r>
              <a:rPr lang="zh-CN" altLang="en-US"/>
              <a:t>。这证明了我们的主动内存管理策略，能高效利用内存资源的同时提升推理效率</a:t>
            </a:r>
            <a:endParaRPr/>
          </a:p>
        </p:txBody>
      </p:sp>
      <p:sp>
        <p:nvSpPr>
          <p:cNvPr id="4" name="灯片编号占位符 3">
            <a:extLst>
              <a:ext uri="{FF2B5EF4-FFF2-40B4-BE49-F238E27FC236}">
                <a16:creationId xmlns:a16="http://schemas.microsoft.com/office/drawing/2014/main" id="{157B7435-3704-9838-7585-4E4D19E9278A}"/>
              </a:ext>
            </a:extLst>
          </p:cNvPr>
          <p:cNvSpPr>
            <a:spLocks noGrp="1"/>
          </p:cNvSpPr>
          <p:nvPr>
            <p:ph type="sldNum" sz="quarter" idx="10"/>
          </p:nvPr>
        </p:nvSpPr>
        <p:spPr/>
        <p:txBody>
          <a:bodyPr/>
          <a:lstStyle/>
          <a:p>
            <a:fld id="{5EF711DA-82CB-44C8-99EC-9CE596A896FB}" type="slidenum">
              <a:rPr lang="zh-CN" altLang="en-US" smtClean="0"/>
              <a:t>20</a:t>
            </a:fld>
            <a:endParaRPr lang="zh-CN" altLang="en-US"/>
          </a:p>
        </p:txBody>
      </p:sp>
    </p:spTree>
    <p:extLst>
      <p:ext uri="{BB962C8B-B14F-4D97-AF65-F5344CB8AC3E}">
        <p14:creationId xmlns:p14="http://schemas.microsoft.com/office/powerpoint/2010/main" val="13607246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18B22-750E-C865-AF2C-60F5596998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77CE8E0-A23A-3889-6798-A3F80EA95F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65C8BB3-1670-67CB-E092-BC03CB6BA3C5}"/>
              </a:ext>
            </a:extLst>
          </p:cNvPr>
          <p:cNvSpPr>
            <a:spLocks noGrp="1"/>
          </p:cNvSpPr>
          <p:nvPr>
            <p:ph type="body" idx="1"/>
          </p:nvPr>
        </p:nvSpPr>
        <p:spPr/>
        <p:txBody>
          <a:bodyPr/>
          <a:lstStyle/>
          <a:p>
            <a:r>
              <a:rPr lang="zh-CN" altLang="en-US"/>
              <a:t>接着，我们与谷歌的 </a:t>
            </a:r>
            <a:r>
              <a:rPr lang="en-US" altLang="zh-CN"/>
              <a:t>LiteRT-LM </a:t>
            </a:r>
            <a:r>
              <a:rPr lang="zh-CN" altLang="en-US"/>
              <a:t>框架进行对比。在同样内存约束下，</a:t>
            </a:r>
            <a:r>
              <a:rPr lang="en-US" altLang="zh-CN"/>
              <a:t>LiteRT-LM </a:t>
            </a:r>
            <a:r>
              <a:rPr lang="zh-CN" altLang="en-US"/>
              <a:t>已无法稳定运行，而我们的系统保持了稳定的高吞吐性能。这充分展示了其在极端内存受限环境下的稳定性。</a:t>
            </a:r>
            <a:endParaRPr/>
          </a:p>
        </p:txBody>
      </p:sp>
      <p:sp>
        <p:nvSpPr>
          <p:cNvPr id="4" name="灯片编号占位符 3">
            <a:extLst>
              <a:ext uri="{FF2B5EF4-FFF2-40B4-BE49-F238E27FC236}">
                <a16:creationId xmlns:a16="http://schemas.microsoft.com/office/drawing/2014/main" id="{7060DB4E-8047-A8CB-C698-D37EF9645D39}"/>
              </a:ext>
            </a:extLst>
          </p:cNvPr>
          <p:cNvSpPr>
            <a:spLocks noGrp="1"/>
          </p:cNvSpPr>
          <p:nvPr>
            <p:ph type="sldNum" sz="quarter" idx="10"/>
          </p:nvPr>
        </p:nvSpPr>
        <p:spPr/>
        <p:txBody>
          <a:bodyPr/>
          <a:lstStyle/>
          <a:p>
            <a:fld id="{5EF711DA-82CB-44C8-99EC-9CE596A896FB}" type="slidenum">
              <a:rPr lang="zh-CN" altLang="en-US" smtClean="0"/>
              <a:t>21</a:t>
            </a:fld>
            <a:endParaRPr lang="zh-CN" altLang="en-US"/>
          </a:p>
        </p:txBody>
      </p:sp>
    </p:spTree>
    <p:extLst>
      <p:ext uri="{BB962C8B-B14F-4D97-AF65-F5344CB8AC3E}">
        <p14:creationId xmlns:p14="http://schemas.microsoft.com/office/powerpoint/2010/main" val="40660218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此外我们还执行了多项消融测试，确保各模块机制的稳定性与正确性。由于时间关系，我们就不一一介绍。</a:t>
            </a:r>
            <a:br>
              <a:rPr lang="en-US"/>
            </a:br>
            <a:r>
              <a:t>首先我们发现 llama.cpp 的某些权重重排会产生额外的匿名内存副本。关闭这部分后，稠密模型物理内存占用从 7.77GB 降到 4.56GB，减少 41.3%；混合专家模型从 5.73GB 降到 3.60GB，减少 37.2%。同时推理速度没有下降，说明这部分内存确实属于可以消除的重复权重副本。</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BCF1F-DFB0-BDE2-055B-53EB390830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70D092-A16E-FB08-7272-B62762105E1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ED7EA06-C8FB-3FBC-32D6-2D6D524D1C23}"/>
              </a:ext>
            </a:extLst>
          </p:cNvPr>
          <p:cNvSpPr>
            <a:spLocks noGrp="1"/>
          </p:cNvSpPr>
          <p:nvPr>
            <p:ph type="body" idx="1"/>
          </p:nvPr>
        </p:nvSpPr>
        <p:spPr/>
        <p:txBody>
          <a:bodyPr/>
          <a:lstStyle/>
          <a:p>
            <a:r>
              <a:t>接下来是稠密模型的主动驻留效果。原来每生成一个词，需要从存储中反复读取约 2684MiB 权重；优化后下降到 612MiB，减少 77.2%。等待权重就绪的时间也下降了 74.2%，最终吞吐从每秒 1.77 个词提升到 5.18 个词，大约提升到原来的 2.93 倍。这说明主动维护“当前需要的层工作集”能明显减少重复读盘。</a:t>
            </a:r>
          </a:p>
        </p:txBody>
      </p:sp>
      <p:sp>
        <p:nvSpPr>
          <p:cNvPr id="4" name="灯片编号占位符 3">
            <a:extLst>
              <a:ext uri="{FF2B5EF4-FFF2-40B4-BE49-F238E27FC236}">
                <a16:creationId xmlns:a16="http://schemas.microsoft.com/office/drawing/2014/main" id="{95CC968C-883A-1EE7-55B7-77F01FD610B7}"/>
              </a:ext>
            </a:extLst>
          </p:cNvPr>
          <p:cNvSpPr>
            <a:spLocks noGrp="1"/>
          </p:cNvSpPr>
          <p:nvPr>
            <p:ph type="sldNum" sz="quarter" idx="10"/>
          </p:nvPr>
        </p:nvSpPr>
        <p:spPr/>
        <p:txBody>
          <a:bodyPr/>
          <a:lstStyle/>
          <a:p>
            <a:fld id="{5EF711DA-82CB-44C8-99EC-9CE596A896FB}" type="slidenum">
              <a:rPr lang="zh-CN" altLang="en-US" smtClean="0"/>
              <a:t>23</a:t>
            </a:fld>
            <a:endParaRPr lang="zh-CN" altLang="en-US"/>
          </a:p>
        </p:txBody>
      </p:sp>
    </p:spTree>
    <p:extLst>
      <p:ext uri="{BB962C8B-B14F-4D97-AF65-F5344CB8AC3E}">
        <p14:creationId xmlns:p14="http://schemas.microsoft.com/office/powerpoint/2010/main" val="27898164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9F02C-90CC-AF25-3F65-6CBE8F9A0E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2597E8-CB1F-9214-EA35-0BC1488E3E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01F4ADB-37D3-B7C8-A099-CFCD6C281866}"/>
              </a:ext>
            </a:extLst>
          </p:cNvPr>
          <p:cNvSpPr>
            <a:spLocks noGrp="1"/>
          </p:cNvSpPr>
          <p:nvPr>
            <p:ph type="body" idx="1"/>
          </p:nvPr>
        </p:nvSpPr>
        <p:spPr/>
        <p:txBody>
          <a:bodyPr/>
          <a:lstStyle/>
          <a:p>
            <a:r>
              <a:t>但这里也说明一件事：权重不是锁得越多越好。我们测试了一个尽量把更多权重留在内存的激进策略，三次运行全部发生内存溢出。加入内存风险控制后，系统会主动留出安全余量，在不崩溃的前提下继续减少重复读盘。所以我们的目标不是最大化缓存，而是在性能收益和内存安全之间找边界。</a:t>
            </a:r>
          </a:p>
        </p:txBody>
      </p:sp>
      <p:sp>
        <p:nvSpPr>
          <p:cNvPr id="4" name="灯片编号占位符 3">
            <a:extLst>
              <a:ext uri="{FF2B5EF4-FFF2-40B4-BE49-F238E27FC236}">
                <a16:creationId xmlns:a16="http://schemas.microsoft.com/office/drawing/2014/main" id="{788CA79D-1693-CB71-4AC4-8375569A99D9}"/>
              </a:ext>
            </a:extLst>
          </p:cNvPr>
          <p:cNvSpPr>
            <a:spLocks noGrp="1"/>
          </p:cNvSpPr>
          <p:nvPr>
            <p:ph type="sldNum" sz="quarter" idx="10"/>
          </p:nvPr>
        </p:nvSpPr>
        <p:spPr/>
        <p:txBody>
          <a:bodyPr/>
          <a:lstStyle/>
          <a:p>
            <a:fld id="{5EF711DA-82CB-44C8-99EC-9CE596A896FB}" type="slidenum">
              <a:rPr lang="zh-CN" altLang="en-US" smtClean="0"/>
              <a:t>24</a:t>
            </a:fld>
            <a:endParaRPr lang="zh-CN" altLang="en-US"/>
          </a:p>
        </p:txBody>
      </p:sp>
    </p:spTree>
    <p:extLst>
      <p:ext uri="{BB962C8B-B14F-4D97-AF65-F5344CB8AC3E}">
        <p14:creationId xmlns:p14="http://schemas.microsoft.com/office/powerpoint/2010/main" val="3303036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混合专家模型的测试出现了非常清晰的“工作集边界”。当专家缓存太小时，系统会不断把专家赶出去、很快又重新读回来，形成严重抖动；随着预算增大，这种重复换入换出迅速减少。当预算达到大约 2432MB 时，专家淘汰次数降为 0，每个词几乎不再需要额外读专家权重，吞吐提升到每秒 11.57 个词。也就是说，关键不是缓存全部专家，而是准确覆盖真正活跃的那一批专家。</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A4506-AB9F-0747-C80F-4B6DFF93665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90507B6-3F7C-A887-53CF-C26C80D30CD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D6BE6E5-A4C4-4B15-CDB0-134E2D769F48}"/>
              </a:ext>
            </a:extLst>
          </p:cNvPr>
          <p:cNvSpPr>
            <a:spLocks noGrp="1"/>
          </p:cNvSpPr>
          <p:nvPr>
            <p:ph type="body" idx="1"/>
          </p:nvPr>
        </p:nvSpPr>
        <p:spPr/>
        <p:txBody>
          <a:bodyPr/>
          <a:lstStyle/>
          <a:p>
            <a:r>
              <a:t>更严格的测试里，我们把整个进程内存上限限制在 1500MB。手工设置 128、512、768 和 1024MB 的专家缓存都无法稳定运行，都会内存溢出；而自动预算模块根据固定开销和活跃专家规模，最终选择了 836MB，三次测试全部成功。这个结果说明，在低内存环境下，自动算出“能活下来的预算”本身就很重要。</a:t>
            </a:r>
          </a:p>
        </p:txBody>
      </p:sp>
      <p:sp>
        <p:nvSpPr>
          <p:cNvPr id="4" name="灯片编号占位符 3">
            <a:extLst>
              <a:ext uri="{FF2B5EF4-FFF2-40B4-BE49-F238E27FC236}">
                <a16:creationId xmlns:a16="http://schemas.microsoft.com/office/drawing/2014/main" id="{74210BBD-F9A1-368D-6C93-2A5E0723EF80}"/>
              </a:ext>
            </a:extLst>
          </p:cNvPr>
          <p:cNvSpPr>
            <a:spLocks noGrp="1"/>
          </p:cNvSpPr>
          <p:nvPr>
            <p:ph type="sldNum" sz="quarter" idx="10"/>
          </p:nvPr>
        </p:nvSpPr>
        <p:spPr/>
        <p:txBody>
          <a:bodyPr/>
          <a:lstStyle/>
          <a:p>
            <a:fld id="{5EF711DA-82CB-44C8-99EC-9CE596A896FB}" type="slidenum">
              <a:rPr lang="zh-CN" altLang="en-US" smtClean="0"/>
              <a:t>26</a:t>
            </a:fld>
            <a:endParaRPr lang="zh-CN" altLang="en-US"/>
          </a:p>
        </p:txBody>
      </p:sp>
    </p:spTree>
    <p:extLst>
      <p:ext uri="{BB962C8B-B14F-4D97-AF65-F5344CB8AC3E}">
        <p14:creationId xmlns:p14="http://schemas.microsoft.com/office/powerpoint/2010/main" val="31247570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A2FDD-1C95-7617-95F6-AF078E5E70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25EDDF-29FB-3A5C-C13F-B89E901EFC1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2985FD-0EBA-D322-C37B-052F04D0D1C8}"/>
              </a:ext>
            </a:extLst>
          </p:cNvPr>
          <p:cNvSpPr>
            <a:spLocks noGrp="1"/>
          </p:cNvSpPr>
          <p:nvPr>
            <p:ph type="body" idx="1"/>
          </p:nvPr>
        </p:nvSpPr>
        <p:spPr/>
        <p:txBody>
          <a:bodyPr/>
          <a:lstStyle/>
          <a:p>
            <a:r>
              <a:t>我们还测试了系统面对不同内存上限时的自适应能力。从 1500MB 到 2400MB 四档限制下，自动策略都没有引入新的内存溢出，而且吞吐始终比关闭自适应更高。它的价值不一定是某一个点跑到绝对最快，而是内存环境变化时仍能稳定做出较合理的选择。</a:t>
            </a:r>
          </a:p>
        </p:txBody>
      </p:sp>
      <p:sp>
        <p:nvSpPr>
          <p:cNvPr id="4" name="灯片编号占位符 3">
            <a:extLst>
              <a:ext uri="{FF2B5EF4-FFF2-40B4-BE49-F238E27FC236}">
                <a16:creationId xmlns:a16="http://schemas.microsoft.com/office/drawing/2014/main" id="{BE3445D4-FBC8-0405-7FE5-C0EC6C251D2F}"/>
              </a:ext>
            </a:extLst>
          </p:cNvPr>
          <p:cNvSpPr>
            <a:spLocks noGrp="1"/>
          </p:cNvSpPr>
          <p:nvPr>
            <p:ph type="sldNum" sz="quarter" idx="10"/>
          </p:nvPr>
        </p:nvSpPr>
        <p:spPr/>
        <p:txBody>
          <a:bodyPr/>
          <a:lstStyle/>
          <a:p>
            <a:fld id="{5EF711DA-82CB-44C8-99EC-9CE596A896FB}" type="slidenum">
              <a:rPr lang="zh-CN" altLang="en-US" smtClean="0"/>
              <a:t>27</a:t>
            </a:fld>
            <a:endParaRPr lang="zh-CN" altLang="en-US"/>
          </a:p>
        </p:txBody>
      </p:sp>
    </p:spTree>
    <p:extLst>
      <p:ext uri="{BB962C8B-B14F-4D97-AF65-F5344CB8AC3E}">
        <p14:creationId xmlns:p14="http://schemas.microsoft.com/office/powerpoint/2010/main" val="37121019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再看上下文缓存。完全常驻时，大约需要 3GB 物理内存。只做直接释放时，可以很准确地把实际占用控制到 2.5、2.0 和 1.5GB；进一步允许把闲置但仍有价值的数据换到磁盘后，最低可以压到 0.247GB，最大减少 91.8%。更重要的是，实际占用基本贴着我们设定的目标走，说明这个预算是可控的。</a:t>
            </a:r>
            <a:endParaRPr lang="en-US"/>
          </a:p>
          <a:p>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84B58-EE0B-5748-BB80-9EBA69E930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C641A4-57E9-7544-BD4E-9CF22DE1CA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D9F868C-B509-C597-4C38-44AAE655A763}"/>
              </a:ext>
            </a:extLst>
          </p:cNvPr>
          <p:cNvSpPr>
            <a:spLocks noGrp="1"/>
          </p:cNvSpPr>
          <p:nvPr>
            <p:ph type="body" idx="1"/>
          </p:nvPr>
        </p:nvSpPr>
        <p:spPr/>
        <p:txBody>
          <a:bodyPr/>
          <a:lstStyle/>
          <a:p>
            <a:r>
              <a:t>当然，缓存压得越低，未来恢复时要付出的代价就越大。当实际驻留从约 1GB 压到 0.247GB 时，需要从磁盘恢复的数据从 327MiB 增加到 1104MiB，会话恢复等待从 190毫秒增加到 478毫秒。因此这里不是简单追求“内存越低越好”，而是要在节省内存和恢复延迟之间做权衡。</a:t>
            </a:r>
          </a:p>
        </p:txBody>
      </p:sp>
      <p:sp>
        <p:nvSpPr>
          <p:cNvPr id="4" name="灯片编号占位符 3">
            <a:extLst>
              <a:ext uri="{FF2B5EF4-FFF2-40B4-BE49-F238E27FC236}">
                <a16:creationId xmlns:a16="http://schemas.microsoft.com/office/drawing/2014/main" id="{A898198D-A7A6-267F-AB1C-36035AF9F6EC}"/>
              </a:ext>
            </a:extLst>
          </p:cNvPr>
          <p:cNvSpPr>
            <a:spLocks noGrp="1"/>
          </p:cNvSpPr>
          <p:nvPr>
            <p:ph type="sldNum" sz="quarter" idx="10"/>
          </p:nvPr>
        </p:nvSpPr>
        <p:spPr/>
        <p:txBody>
          <a:bodyPr/>
          <a:lstStyle/>
          <a:p>
            <a:fld id="{5EF711DA-82CB-44C8-99EC-9CE596A896FB}" type="slidenum">
              <a:rPr lang="zh-CN" altLang="en-US" smtClean="0"/>
              <a:t>29</a:t>
            </a:fld>
            <a:endParaRPr lang="zh-CN" altLang="en-US"/>
          </a:p>
        </p:txBody>
      </p:sp>
    </p:spTree>
    <p:extLst>
      <p:ext uri="{BB962C8B-B14F-4D97-AF65-F5344CB8AC3E}">
        <p14:creationId xmlns:p14="http://schemas.microsoft.com/office/powerpoint/2010/main" val="22026747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7EAC4-E799-31E6-AC1C-16077A79EEB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49EF2E-2454-81AB-CB7E-DA7CFE79CF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8FDA03-24C5-1371-87FB-05AA4B0BEF03}"/>
              </a:ext>
            </a:extLst>
          </p:cNvPr>
          <p:cNvSpPr>
            <a:spLocks noGrp="1"/>
          </p:cNvSpPr>
          <p:nvPr>
            <p:ph type="body" idx="1"/>
          </p:nvPr>
        </p:nvSpPr>
        <p:spPr/>
        <p:txBody>
          <a:bodyPr/>
          <a:lstStyle/>
          <a:p>
            <a:r>
              <a:rPr lang="zh-CN" altLang="en-US"/>
              <a:t>最后</a:t>
            </a:r>
            <a:r>
              <a:t>是项目总结。</a:t>
            </a:r>
          </a:p>
        </p:txBody>
      </p:sp>
      <p:sp>
        <p:nvSpPr>
          <p:cNvPr id="4" name="灯片编号占位符 3">
            <a:extLst>
              <a:ext uri="{FF2B5EF4-FFF2-40B4-BE49-F238E27FC236}">
                <a16:creationId xmlns:a16="http://schemas.microsoft.com/office/drawing/2014/main" id="{0C719DF0-5A16-0B93-23DE-B9537949A084}"/>
              </a:ext>
            </a:extLst>
          </p:cNvPr>
          <p:cNvSpPr>
            <a:spLocks noGrp="1"/>
          </p:cNvSpPr>
          <p:nvPr>
            <p:ph type="sldNum" sz="quarter" idx="10"/>
          </p:nvPr>
        </p:nvSpPr>
        <p:spPr/>
        <p:txBody>
          <a:bodyPr/>
          <a:lstStyle/>
          <a:p>
            <a:fld id="{5EF711DA-82CB-44C8-99EC-9CE596A896FB}" type="slidenum">
              <a:rPr lang="zh-CN" altLang="en-US" smtClean="0"/>
              <a:t>30</a:t>
            </a:fld>
            <a:endParaRPr lang="zh-CN" altLang="en-US"/>
          </a:p>
        </p:txBody>
      </p:sp>
    </p:spTree>
    <p:extLst>
      <p:ext uri="{BB962C8B-B14F-4D97-AF65-F5344CB8AC3E}">
        <p14:creationId xmlns:p14="http://schemas.microsoft.com/office/powerpoint/2010/main" val="31882483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57EA8-88BE-6367-A531-53FCFFEA16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8FD1E9-3C7F-22DF-E566-60B27CD1883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80E2E7B-C8F5-144F-D0B4-BA31FF49753D}"/>
              </a:ext>
            </a:extLst>
          </p:cNvPr>
          <p:cNvSpPr>
            <a:spLocks noGrp="1"/>
          </p:cNvSpPr>
          <p:nvPr>
            <p:ph type="body" idx="1"/>
          </p:nvPr>
        </p:nvSpPr>
        <p:spPr/>
        <p:txBody>
          <a:bodyPr/>
          <a:lstStyle/>
          <a:p>
            <a:r>
              <a:rPr lang="zh-CN" altLang="en-US"/>
              <a:t>我们在大模型推理访存分析的基础上，设计并实现了三大资源管理模块和全局的内存资源协调机制，最后将所有模块在 </a:t>
            </a:r>
            <a:r>
              <a:rPr lang="en-US" altLang="zh-CN"/>
              <a:t>llama.cpp </a:t>
            </a:r>
            <a:r>
              <a:rPr lang="zh-CN" altLang="en-US"/>
              <a:t>中完成了统一集成与验证，成功达成了含赛题目标在内的所有项目目标。</a:t>
            </a:r>
            <a:endParaRPr/>
          </a:p>
        </p:txBody>
      </p:sp>
      <p:sp>
        <p:nvSpPr>
          <p:cNvPr id="4" name="灯片编号占位符 3">
            <a:extLst>
              <a:ext uri="{FF2B5EF4-FFF2-40B4-BE49-F238E27FC236}">
                <a16:creationId xmlns:a16="http://schemas.microsoft.com/office/drawing/2014/main" id="{7CBADB64-5D4E-33D5-90D9-441B552E97C8}"/>
              </a:ext>
            </a:extLst>
          </p:cNvPr>
          <p:cNvSpPr>
            <a:spLocks noGrp="1"/>
          </p:cNvSpPr>
          <p:nvPr>
            <p:ph type="sldNum" sz="quarter" idx="10"/>
          </p:nvPr>
        </p:nvSpPr>
        <p:spPr/>
        <p:txBody>
          <a:bodyPr/>
          <a:lstStyle/>
          <a:p>
            <a:fld id="{5EF711DA-82CB-44C8-99EC-9CE596A896FB}" type="slidenum">
              <a:rPr lang="zh-CN" altLang="en-US" smtClean="0"/>
              <a:t>31</a:t>
            </a:fld>
            <a:endParaRPr lang="zh-CN" altLang="en-US"/>
          </a:p>
        </p:txBody>
      </p:sp>
    </p:spTree>
    <p:extLst>
      <p:ext uri="{BB962C8B-B14F-4D97-AF65-F5344CB8AC3E}">
        <p14:creationId xmlns:p14="http://schemas.microsoft.com/office/powerpoint/2010/main" val="1664699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46A26-9843-81C0-74EE-8BB489C5FC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2220D32-CBCB-EBD1-ADB1-B488F0F9C0B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C28279-8516-FBD6-04EE-F16D9CDF8B0A}"/>
              </a:ext>
            </a:extLst>
          </p:cNvPr>
          <p:cNvSpPr>
            <a:spLocks noGrp="1"/>
          </p:cNvSpPr>
          <p:nvPr>
            <p:ph type="body" idx="1"/>
          </p:nvPr>
        </p:nvSpPr>
        <p:spPr/>
        <p:txBody>
          <a:bodyPr/>
          <a:lstStyle/>
          <a:p>
            <a:r>
              <a:rPr lang="zh-CN" altLang="en-US"/>
              <a:t>我们的项目创新点和亮点体现在六个方面。如风险感知的权重锁定可提升</a:t>
            </a:r>
            <a:r>
              <a:rPr lang="en-US" altLang="zh-CN"/>
              <a:t>63%</a:t>
            </a:r>
            <a:r>
              <a:rPr lang="zh-CN" altLang="en-US"/>
              <a:t>的推理</a:t>
            </a:r>
            <a:r>
              <a:rPr lang="zh-CN" altLang="en-US" sz="1200" b="1">
                <a:latin typeface="Arial" panose="020B0604020202020204" pitchFamily="34" charset="0"/>
                <a:ea typeface="微软雅黑" panose="020B0503020204020204" pitchFamily="34" charset="-122"/>
              </a:rPr>
              <a:t>吞吐</a:t>
            </a:r>
            <a:r>
              <a:rPr lang="zh-CN" altLang="en-US"/>
              <a:t>，并避免</a:t>
            </a:r>
            <a:r>
              <a:rPr lang="en-US" altLang="zh-CN"/>
              <a:t>OOM</a:t>
            </a:r>
            <a:r>
              <a:rPr lang="zh-CN" altLang="en-US"/>
              <a:t>；专家激活预测使得缓存命中率达</a:t>
            </a:r>
            <a:r>
              <a:rPr lang="en-US" altLang="zh-CN"/>
              <a:t>93%</a:t>
            </a:r>
            <a:r>
              <a:rPr lang="zh-CN" altLang="en-US"/>
              <a:t>，</a:t>
            </a:r>
            <a:r>
              <a:rPr lang="zh-CN" altLang="en-US" sz="1200" b="1">
                <a:latin typeface="Arial" panose="020B0604020202020204" pitchFamily="34" charset="0"/>
                <a:ea typeface="微软雅黑" panose="020B0503020204020204" pitchFamily="34" charset="-122"/>
              </a:rPr>
              <a:t>并提升</a:t>
            </a:r>
            <a:r>
              <a:rPr lang="en-US" altLang="zh-CN" sz="1200" b="1">
                <a:solidFill>
                  <a:srgbClr val="FF0000"/>
                </a:solidFill>
                <a:latin typeface="Arial" panose="020B0604020202020204" pitchFamily="34" charset="0"/>
                <a:ea typeface="微软雅黑" panose="020B0503020204020204" pitchFamily="34" charset="-122"/>
              </a:rPr>
              <a:t>44%</a:t>
            </a:r>
            <a:r>
              <a:rPr lang="zh-CN" altLang="en-US" sz="1200" b="1">
                <a:solidFill>
                  <a:srgbClr val="FF0000"/>
                </a:solidFill>
                <a:latin typeface="Arial" panose="020B0604020202020204" pitchFamily="34" charset="0"/>
                <a:ea typeface="微软雅黑" panose="020B0503020204020204" pitchFamily="34" charset="-122"/>
              </a:rPr>
              <a:t>吞吐；此外采用</a:t>
            </a:r>
            <a:r>
              <a:rPr lang="zh-CN" altLang="en-US"/>
              <a:t>代价感知 </a:t>
            </a:r>
            <a:r>
              <a:rPr lang="en-US" altLang="zh-CN"/>
              <a:t>KV </a:t>
            </a:r>
            <a:r>
              <a:rPr lang="zh-CN" altLang="en-US"/>
              <a:t>回收策略和专家工作集估计，来进一步提升吞吐。采用分组流水恢复降低内存使用，以及自适应预取窗口，保证低内存条件下的稳定运行。</a:t>
            </a:r>
            <a:endParaRPr/>
          </a:p>
        </p:txBody>
      </p:sp>
      <p:sp>
        <p:nvSpPr>
          <p:cNvPr id="4" name="灯片编号占位符 3">
            <a:extLst>
              <a:ext uri="{FF2B5EF4-FFF2-40B4-BE49-F238E27FC236}">
                <a16:creationId xmlns:a16="http://schemas.microsoft.com/office/drawing/2014/main" id="{E1116700-128E-D5C0-D084-98C0BD644DFC}"/>
              </a:ext>
            </a:extLst>
          </p:cNvPr>
          <p:cNvSpPr>
            <a:spLocks noGrp="1"/>
          </p:cNvSpPr>
          <p:nvPr>
            <p:ph type="sldNum" sz="quarter" idx="10"/>
          </p:nvPr>
        </p:nvSpPr>
        <p:spPr/>
        <p:txBody>
          <a:bodyPr/>
          <a:lstStyle/>
          <a:p>
            <a:fld id="{5EF711DA-82CB-44C8-99EC-9CE596A896FB}" type="slidenum">
              <a:rPr lang="zh-CN" altLang="en-US" smtClean="0"/>
              <a:t>32</a:t>
            </a:fld>
            <a:endParaRPr lang="zh-CN" altLang="en-US"/>
          </a:p>
        </p:txBody>
      </p:sp>
    </p:spTree>
    <p:extLst>
      <p:ext uri="{BB962C8B-B14F-4D97-AF65-F5344CB8AC3E}">
        <p14:creationId xmlns:p14="http://schemas.microsoft.com/office/powerpoint/2010/main" val="28071492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未来，我们将在自适应策略进化、异构硬件扩展等方面持续迭代优化。</a:t>
            </a:r>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我们对比了当前主流的一些优化工作。现有工作大多专注于特定方面的优化，而我们的系统是第一个在纯 </a:t>
            </a:r>
            <a:r>
              <a:rPr lang="en-US" altLang="zh-CN"/>
              <a:t>CPU </a:t>
            </a:r>
            <a:r>
              <a:rPr lang="zh-CN" altLang="en-US"/>
              <a:t>环境下，系统性地对权重和 </a:t>
            </a:r>
            <a:r>
              <a:rPr lang="en-US" altLang="zh-CN"/>
              <a:t>KV Cache </a:t>
            </a:r>
            <a:r>
              <a:rPr lang="zh-CN" altLang="en-US"/>
              <a:t>进行主动管理的框架，体现了我们工作的独创性。</a:t>
            </a:r>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BB4CA-F53D-ED13-4520-E6D8A9A784D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2A63712-FD28-522D-E14A-50602774C42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A9903E6-15EA-C09C-61AD-1EA35B649262}"/>
              </a:ext>
            </a:extLst>
          </p:cNvPr>
          <p:cNvSpPr>
            <a:spLocks noGrp="1"/>
          </p:cNvSpPr>
          <p:nvPr>
            <p:ph type="body" idx="1"/>
          </p:nvPr>
        </p:nvSpPr>
        <p:spPr/>
        <p:txBody>
          <a:bodyPr/>
          <a:lstStyle/>
          <a:p>
            <a:r>
              <a:rPr lang="zh-CN" altLang="en-US"/>
              <a:t>在项目的开发过程中，我们充分利用了大语言模型的能力提高开发效率。所有生成代码均经过人工审核，</a:t>
            </a:r>
            <a:r>
              <a:rPr lang="zh-CN" altLang="en-US" sz="1200" b="1">
                <a:latin typeface="Arial" panose="020B0604020202020204" pitchFamily="34" charset="0"/>
                <a:ea typeface="微软雅黑" panose="020B0503020204020204" pitchFamily="34" charset="-122"/>
              </a:rPr>
              <a:t>确保其正确性</a:t>
            </a:r>
            <a:r>
              <a:rPr lang="zh-CN" altLang="en-US"/>
              <a:t>。</a:t>
            </a:r>
            <a:endParaRPr/>
          </a:p>
        </p:txBody>
      </p:sp>
      <p:sp>
        <p:nvSpPr>
          <p:cNvPr id="4" name="灯片编号占位符 3">
            <a:extLst>
              <a:ext uri="{FF2B5EF4-FFF2-40B4-BE49-F238E27FC236}">
                <a16:creationId xmlns:a16="http://schemas.microsoft.com/office/drawing/2014/main" id="{8AF211F9-3A32-72F6-72A4-569D27048D2A}"/>
              </a:ext>
            </a:extLst>
          </p:cNvPr>
          <p:cNvSpPr>
            <a:spLocks noGrp="1"/>
          </p:cNvSpPr>
          <p:nvPr>
            <p:ph type="sldNum" sz="quarter" idx="10"/>
          </p:nvPr>
        </p:nvSpPr>
        <p:spPr/>
        <p:txBody>
          <a:bodyPr/>
          <a:lstStyle/>
          <a:p>
            <a:fld id="{5EF711DA-82CB-44C8-99EC-9CE596A896FB}" type="slidenum">
              <a:rPr lang="zh-CN" altLang="en-US" smtClean="0"/>
              <a:t>35</a:t>
            </a:fld>
            <a:endParaRPr lang="zh-CN" altLang="en-US"/>
          </a:p>
        </p:txBody>
      </p:sp>
    </p:spTree>
    <p:extLst>
      <p:ext uri="{BB962C8B-B14F-4D97-AF65-F5344CB8AC3E}">
        <p14:creationId xmlns:p14="http://schemas.microsoft.com/office/powerpoint/2010/main" val="582064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我们的项目展示到此结束。感谢各位评委老师的聆听！</a:t>
            </a:r>
            <a:endParaRPr/>
          </a:p>
        </p:txBody>
      </p:sp>
      <p:sp>
        <p:nvSpPr>
          <p:cNvPr id="4" name="灯片编号占位符 3"/>
          <p:cNvSpPr>
            <a:spLocks noGrp="1"/>
          </p:cNvSpPr>
          <p:nvPr>
            <p:ph type="sldNum" sz="quarter" idx="5"/>
          </p:nvPr>
        </p:nvSpPr>
        <p:spPr/>
        <p:txBody>
          <a:bodyPr/>
          <a:lstStyle/>
          <a:p>
            <a:fld id="{FE2EB26A-5605-47B9-8D7B-49FE0922DC13}" type="slidenum">
              <a:rPr lang="zh-CN" altLang="en-US" smtClean="0"/>
              <a:t>36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b="1" i="0">
                <a:latin typeface="Songti SC" panose="02010600040101010101" pitchFamily="2" charset="-122"/>
                <a:ea typeface="Songti SC" panose="02010600040101010101" pitchFamily="2"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lvl1pPr>
              <a:defRPr b="1" i="0">
                <a:latin typeface="Songti SC" panose="02010600040101010101" pitchFamily="2" charset="-122"/>
                <a:ea typeface="Songti SC" panose="02010600040101010101" pitchFamily="2" charset="-122"/>
              </a:defRPr>
            </a:lvl1pPr>
          </a:lstStyle>
          <a:p>
            <a:fld id="{694536CA-A6C4-4358-AF93-5CCBD70D248C}" type="datetimeFigureOut">
              <a:rPr lang="zh-CN" altLang="en-US" smtClean="0"/>
              <a:pPr/>
              <a:t>2026/8/15</a:t>
            </a:fld>
            <a:endParaRPr lang="zh-CN" altLang="en-US"/>
          </a:p>
        </p:txBody>
      </p:sp>
      <p:sp>
        <p:nvSpPr>
          <p:cNvPr id="5" name="页脚占位符 4"/>
          <p:cNvSpPr>
            <a:spLocks noGrp="1"/>
          </p:cNvSpPr>
          <p:nvPr>
            <p:ph type="ftr" sz="quarter" idx="11"/>
          </p:nvPr>
        </p:nvSpPr>
        <p:spPr/>
        <p:txBody>
          <a:bodyPr/>
          <a:lstStyle>
            <a:lvl1pPr>
              <a:defRPr b="1" i="0">
                <a:latin typeface="Songti SC" panose="02010600040101010101" pitchFamily="2" charset="-122"/>
                <a:ea typeface="Songti SC" panose="02010600040101010101" pitchFamily="2" charset="-122"/>
              </a:defRPr>
            </a:lvl1pPr>
          </a:lstStyle>
          <a:p>
            <a:endParaRPr lang="zh-CN" altLang="en-US"/>
          </a:p>
        </p:txBody>
      </p:sp>
      <p:sp>
        <p:nvSpPr>
          <p:cNvPr id="6" name="灯片编号占位符 5"/>
          <p:cNvSpPr>
            <a:spLocks noGrp="1"/>
          </p:cNvSpPr>
          <p:nvPr>
            <p:ph type="sldNum" sz="quarter" idx="12"/>
          </p:nvPr>
        </p:nvSpPr>
        <p:spPr/>
        <p:txBody>
          <a:bodyPr/>
          <a:lstStyle>
            <a:lvl1pPr>
              <a:defRPr b="1" i="0">
                <a:latin typeface="Songti SC" panose="02010600040101010101" pitchFamily="2" charset="-122"/>
                <a:ea typeface="Songti SC" panose="02010600040101010101" pitchFamily="2" charset="-122"/>
              </a:defRPr>
            </a:lvl1pPr>
          </a:lstStyle>
          <a:p>
            <a:fld id="{A8537B7A-7510-410A-AA53-45D600DA0276}"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lvl1pPr>
              <a:defRPr b="1" i="0">
                <a:latin typeface="Songti SC" panose="02010600040101010101" pitchFamily="2" charset="-122"/>
                <a:ea typeface="Songti SC" panose="02010600040101010101" pitchFamily="2" charset="-122"/>
              </a:defRPr>
            </a:lvl1pPr>
            <a:lvl2pPr>
              <a:defRPr b="1" i="0">
                <a:latin typeface="Songti SC" panose="02010600040101010101" pitchFamily="2" charset="-122"/>
                <a:ea typeface="Songti SC" panose="02010600040101010101" pitchFamily="2" charset="-122"/>
              </a:defRPr>
            </a:lvl2pPr>
            <a:lvl3pPr>
              <a:defRPr b="1" i="0">
                <a:latin typeface="Songti SC" panose="02010600040101010101" pitchFamily="2" charset="-122"/>
                <a:ea typeface="Songti SC" panose="02010600040101010101" pitchFamily="2" charset="-122"/>
              </a:defRPr>
            </a:lvl3pPr>
            <a:lvl4pPr>
              <a:defRPr b="1" i="0">
                <a:latin typeface="Songti SC" panose="02010600040101010101" pitchFamily="2" charset="-122"/>
                <a:ea typeface="Songti SC" panose="02010600040101010101" pitchFamily="2" charset="-122"/>
              </a:defRPr>
            </a:lvl4pPr>
            <a:lvl5pPr>
              <a:defRPr b="1" i="0">
                <a:latin typeface="Songti SC" panose="02010600040101010101" pitchFamily="2" charset="-122"/>
                <a:ea typeface="Songti SC" panose="02010600040101010101" pitchFamily="2" charset="-122"/>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b="1" i="0">
                <a:latin typeface="Songti SC" panose="02010600040101010101" pitchFamily="2" charset="-122"/>
                <a:ea typeface="Songti SC" panose="02010600040101010101" pitchFamily="2" charset="-122"/>
              </a:defRPr>
            </a:lvl1pPr>
          </a:lstStyle>
          <a:p>
            <a:fld id="{694536CA-A6C4-4358-AF93-5CCBD70D248C}" type="datetimeFigureOut">
              <a:rPr lang="zh-CN" altLang="en-US" smtClean="0"/>
              <a:pPr/>
              <a:t>2026/8/15</a:t>
            </a:fld>
            <a:endParaRPr lang="zh-CN" altLang="en-US"/>
          </a:p>
        </p:txBody>
      </p:sp>
      <p:sp>
        <p:nvSpPr>
          <p:cNvPr id="5" name="页脚占位符 4"/>
          <p:cNvSpPr>
            <a:spLocks noGrp="1"/>
          </p:cNvSpPr>
          <p:nvPr>
            <p:ph type="ftr" sz="quarter" idx="11"/>
          </p:nvPr>
        </p:nvSpPr>
        <p:spPr/>
        <p:txBody>
          <a:bodyPr/>
          <a:lstStyle>
            <a:lvl1pPr>
              <a:defRPr b="1" i="0">
                <a:latin typeface="Songti SC" panose="02010600040101010101" pitchFamily="2" charset="-122"/>
                <a:ea typeface="Songti SC" panose="02010600040101010101" pitchFamily="2" charset="-122"/>
              </a:defRPr>
            </a:lvl1pPr>
          </a:lstStyle>
          <a:p>
            <a:endParaRPr lang="zh-CN" altLang="en-US"/>
          </a:p>
        </p:txBody>
      </p:sp>
      <p:sp>
        <p:nvSpPr>
          <p:cNvPr id="6" name="灯片编号占位符 5"/>
          <p:cNvSpPr>
            <a:spLocks noGrp="1"/>
          </p:cNvSpPr>
          <p:nvPr>
            <p:ph type="sldNum" sz="quarter" idx="12"/>
          </p:nvPr>
        </p:nvSpPr>
        <p:spPr/>
        <p:txBody>
          <a:bodyPr/>
          <a:lstStyle>
            <a:lvl1pPr>
              <a:defRPr b="1" i="0">
                <a:latin typeface="Songti SC" panose="02010600040101010101" pitchFamily="2" charset="-122"/>
                <a:ea typeface="Songti SC" panose="02010600040101010101" pitchFamily="2" charset="-122"/>
              </a:defRPr>
            </a:lvl1pPr>
          </a:lstStyle>
          <a:p>
            <a:fld id="{A8537B7A-7510-410A-AA53-45D600DA0276}"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b="1" i="0">
                <a:solidFill>
                  <a:schemeClr val="tx1">
                    <a:tint val="75000"/>
                  </a:schemeClr>
                </a:solidFill>
                <a:latin typeface="Songti SC" panose="02010600040101010101" pitchFamily="2" charset="-122"/>
                <a:ea typeface="Songti SC" panose="02010600040101010101" pitchFamily="2"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lvl1pPr>
              <a:defRPr b="1" i="0">
                <a:latin typeface="Songti SC" panose="02010600040101010101" pitchFamily="2" charset="-122"/>
                <a:ea typeface="Songti SC" panose="02010600040101010101" pitchFamily="2" charset="-122"/>
              </a:defRPr>
            </a:lvl1pPr>
          </a:lstStyle>
          <a:p>
            <a:fld id="{694536CA-A6C4-4358-AF93-5CCBD70D248C}" type="datetimeFigureOut">
              <a:rPr lang="zh-CN" altLang="en-US" smtClean="0"/>
              <a:pPr/>
              <a:t>2026/8/15</a:t>
            </a:fld>
            <a:endParaRPr lang="zh-CN" altLang="en-US"/>
          </a:p>
        </p:txBody>
      </p:sp>
      <p:sp>
        <p:nvSpPr>
          <p:cNvPr id="5" name="页脚占位符 4"/>
          <p:cNvSpPr>
            <a:spLocks noGrp="1"/>
          </p:cNvSpPr>
          <p:nvPr>
            <p:ph type="ftr" sz="quarter" idx="11"/>
          </p:nvPr>
        </p:nvSpPr>
        <p:spPr/>
        <p:txBody>
          <a:bodyPr/>
          <a:lstStyle>
            <a:lvl1pPr>
              <a:defRPr b="1" i="0">
                <a:latin typeface="Songti SC" panose="02010600040101010101" pitchFamily="2" charset="-122"/>
                <a:ea typeface="Songti SC" panose="02010600040101010101" pitchFamily="2" charset="-122"/>
              </a:defRPr>
            </a:lvl1pPr>
          </a:lstStyle>
          <a:p>
            <a:endParaRPr lang="zh-CN" altLang="en-US"/>
          </a:p>
        </p:txBody>
      </p:sp>
      <p:sp>
        <p:nvSpPr>
          <p:cNvPr id="6" name="灯片编号占位符 5"/>
          <p:cNvSpPr>
            <a:spLocks noGrp="1"/>
          </p:cNvSpPr>
          <p:nvPr>
            <p:ph type="sldNum" sz="quarter" idx="12"/>
          </p:nvPr>
        </p:nvSpPr>
        <p:spPr/>
        <p:txBody>
          <a:bodyPr/>
          <a:lstStyle>
            <a:lvl1pPr>
              <a:defRPr b="1" i="0">
                <a:latin typeface="Songti SC" panose="02010600040101010101" pitchFamily="2" charset="-122"/>
                <a:ea typeface="Songti SC" panose="02010600040101010101" pitchFamily="2" charset="-122"/>
              </a:defRPr>
            </a:lvl1pPr>
          </a:lstStyle>
          <a:p>
            <a:fld id="{A8537B7A-7510-410A-AA53-45D600DA0276}"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lvl1pPr>
              <a:defRPr b="1" i="0">
                <a:latin typeface="Songti SC" panose="02010600040101010101" pitchFamily="2" charset="-122"/>
                <a:ea typeface="Songti SC" panose="02010600040101010101" pitchFamily="2" charset="-122"/>
              </a:defRPr>
            </a:lvl1pPr>
            <a:lvl2pPr>
              <a:defRPr b="1" i="0">
                <a:latin typeface="Songti SC" panose="02010600040101010101" pitchFamily="2" charset="-122"/>
                <a:ea typeface="Songti SC" panose="02010600040101010101" pitchFamily="2" charset="-122"/>
              </a:defRPr>
            </a:lvl2pPr>
            <a:lvl3pPr>
              <a:defRPr b="1" i="0">
                <a:latin typeface="Songti SC" panose="02010600040101010101" pitchFamily="2" charset="-122"/>
                <a:ea typeface="Songti SC" panose="02010600040101010101" pitchFamily="2" charset="-122"/>
              </a:defRPr>
            </a:lvl3pPr>
            <a:lvl4pPr>
              <a:defRPr b="1" i="0">
                <a:latin typeface="Songti SC" panose="02010600040101010101" pitchFamily="2" charset="-122"/>
                <a:ea typeface="Songti SC" panose="02010600040101010101" pitchFamily="2" charset="-122"/>
              </a:defRPr>
            </a:lvl4pPr>
            <a:lvl5pPr>
              <a:defRPr b="1" i="0">
                <a:latin typeface="Songti SC" panose="02010600040101010101" pitchFamily="2" charset="-122"/>
                <a:ea typeface="Songti SC" panose="02010600040101010101" pitchFamily="2" charset="-122"/>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lvl1pPr>
              <a:defRPr b="1" i="0">
                <a:latin typeface="Songti SC" panose="02010600040101010101" pitchFamily="2" charset="-122"/>
                <a:ea typeface="Songti SC" panose="02010600040101010101" pitchFamily="2" charset="-122"/>
              </a:defRPr>
            </a:lvl1pPr>
            <a:lvl2pPr>
              <a:defRPr b="1" i="0">
                <a:latin typeface="Songti SC" panose="02010600040101010101" pitchFamily="2" charset="-122"/>
                <a:ea typeface="Songti SC" panose="02010600040101010101" pitchFamily="2" charset="-122"/>
              </a:defRPr>
            </a:lvl2pPr>
            <a:lvl3pPr>
              <a:defRPr b="1" i="0">
                <a:latin typeface="Songti SC" panose="02010600040101010101" pitchFamily="2" charset="-122"/>
                <a:ea typeface="Songti SC" panose="02010600040101010101" pitchFamily="2" charset="-122"/>
              </a:defRPr>
            </a:lvl3pPr>
            <a:lvl4pPr>
              <a:defRPr b="1" i="0">
                <a:latin typeface="Songti SC" panose="02010600040101010101" pitchFamily="2" charset="-122"/>
                <a:ea typeface="Songti SC" panose="02010600040101010101" pitchFamily="2" charset="-122"/>
              </a:defRPr>
            </a:lvl4pPr>
            <a:lvl5pPr>
              <a:defRPr b="1" i="0">
                <a:latin typeface="Songti SC" panose="02010600040101010101" pitchFamily="2" charset="-122"/>
                <a:ea typeface="Songti SC" panose="02010600040101010101" pitchFamily="2" charset="-122"/>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b="1" i="0">
                <a:latin typeface="Songti SC" panose="02010600040101010101" pitchFamily="2" charset="-122"/>
                <a:ea typeface="Songti SC" panose="02010600040101010101" pitchFamily="2" charset="-122"/>
              </a:defRPr>
            </a:lvl1pPr>
          </a:lstStyle>
          <a:p>
            <a:fld id="{694536CA-A6C4-4358-AF93-5CCBD70D248C}" type="datetimeFigureOut">
              <a:rPr lang="zh-CN" altLang="en-US" smtClean="0"/>
              <a:pPr/>
              <a:t>2026/8/15</a:t>
            </a:fld>
            <a:endParaRPr lang="zh-CN" altLang="en-US"/>
          </a:p>
        </p:txBody>
      </p:sp>
      <p:sp>
        <p:nvSpPr>
          <p:cNvPr id="6" name="页脚占位符 5"/>
          <p:cNvSpPr>
            <a:spLocks noGrp="1"/>
          </p:cNvSpPr>
          <p:nvPr>
            <p:ph type="ftr" sz="quarter" idx="11"/>
          </p:nvPr>
        </p:nvSpPr>
        <p:spPr/>
        <p:txBody>
          <a:bodyPr/>
          <a:lstStyle>
            <a:lvl1pPr>
              <a:defRPr b="1" i="0">
                <a:latin typeface="Songti SC" panose="02010600040101010101" pitchFamily="2" charset="-122"/>
                <a:ea typeface="Songti SC" panose="02010600040101010101" pitchFamily="2" charset="-122"/>
              </a:defRPr>
            </a:lvl1pPr>
          </a:lstStyle>
          <a:p>
            <a:endParaRPr lang="zh-CN" altLang="en-US"/>
          </a:p>
        </p:txBody>
      </p:sp>
      <p:sp>
        <p:nvSpPr>
          <p:cNvPr id="7" name="灯片编号占位符 6"/>
          <p:cNvSpPr>
            <a:spLocks noGrp="1"/>
          </p:cNvSpPr>
          <p:nvPr>
            <p:ph type="sldNum" sz="quarter" idx="12"/>
          </p:nvPr>
        </p:nvSpPr>
        <p:spPr/>
        <p:txBody>
          <a:bodyPr/>
          <a:lstStyle>
            <a:lvl1pPr>
              <a:defRPr b="1" i="0">
                <a:latin typeface="Songti SC" panose="02010600040101010101" pitchFamily="2" charset="-122"/>
                <a:ea typeface="Songti SC" panose="02010600040101010101" pitchFamily="2" charset="-122"/>
              </a:defRPr>
            </a:lvl1pPr>
          </a:lstStyle>
          <a:p>
            <a:fld id="{A8537B7A-7510-410A-AA53-45D600DA0276}"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i="0">
                <a:latin typeface="Songti SC" panose="02010600040101010101" pitchFamily="2" charset="-122"/>
                <a:ea typeface="Songti SC" panose="0201060004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lvl1pPr>
              <a:defRPr b="1" i="0">
                <a:latin typeface="Songti SC" panose="02010600040101010101" pitchFamily="2" charset="-122"/>
                <a:ea typeface="Songti SC" panose="02010600040101010101" pitchFamily="2" charset="-122"/>
              </a:defRPr>
            </a:lvl1pPr>
            <a:lvl2pPr>
              <a:defRPr b="1" i="0">
                <a:latin typeface="Songti SC" panose="02010600040101010101" pitchFamily="2" charset="-122"/>
                <a:ea typeface="Songti SC" panose="02010600040101010101" pitchFamily="2" charset="-122"/>
              </a:defRPr>
            </a:lvl2pPr>
            <a:lvl3pPr>
              <a:defRPr b="1" i="0">
                <a:latin typeface="Songti SC" panose="02010600040101010101" pitchFamily="2" charset="-122"/>
                <a:ea typeface="Songti SC" panose="02010600040101010101" pitchFamily="2" charset="-122"/>
              </a:defRPr>
            </a:lvl3pPr>
            <a:lvl4pPr>
              <a:defRPr b="1" i="0">
                <a:latin typeface="Songti SC" panose="02010600040101010101" pitchFamily="2" charset="-122"/>
                <a:ea typeface="Songti SC" panose="02010600040101010101" pitchFamily="2" charset="-122"/>
              </a:defRPr>
            </a:lvl4pPr>
            <a:lvl5pPr>
              <a:defRPr b="1" i="0">
                <a:latin typeface="Songti SC" panose="02010600040101010101" pitchFamily="2" charset="-122"/>
                <a:ea typeface="Songti SC" panose="02010600040101010101" pitchFamily="2" charset="-122"/>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i="0">
                <a:latin typeface="Songti SC" panose="02010600040101010101" pitchFamily="2" charset="-122"/>
                <a:ea typeface="Songti SC" panose="0201060004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lvl1pPr>
              <a:defRPr b="1" i="0">
                <a:latin typeface="Songti SC" panose="02010600040101010101" pitchFamily="2" charset="-122"/>
                <a:ea typeface="Songti SC" panose="02010600040101010101" pitchFamily="2" charset="-122"/>
              </a:defRPr>
            </a:lvl1pPr>
            <a:lvl2pPr>
              <a:defRPr b="1" i="0">
                <a:latin typeface="Songti SC" panose="02010600040101010101" pitchFamily="2" charset="-122"/>
                <a:ea typeface="Songti SC" panose="02010600040101010101" pitchFamily="2" charset="-122"/>
              </a:defRPr>
            </a:lvl2pPr>
            <a:lvl3pPr>
              <a:defRPr b="1" i="0">
                <a:latin typeface="Songti SC" panose="02010600040101010101" pitchFamily="2" charset="-122"/>
                <a:ea typeface="Songti SC" panose="02010600040101010101" pitchFamily="2" charset="-122"/>
              </a:defRPr>
            </a:lvl3pPr>
            <a:lvl4pPr>
              <a:defRPr b="1" i="0">
                <a:latin typeface="Songti SC" panose="02010600040101010101" pitchFamily="2" charset="-122"/>
                <a:ea typeface="Songti SC" panose="02010600040101010101" pitchFamily="2" charset="-122"/>
              </a:defRPr>
            </a:lvl4pPr>
            <a:lvl5pPr>
              <a:defRPr b="1" i="0">
                <a:latin typeface="Songti SC" panose="02010600040101010101" pitchFamily="2" charset="-122"/>
                <a:ea typeface="Songti SC" panose="02010600040101010101" pitchFamily="2" charset="-122"/>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b="1" i="0">
                <a:latin typeface="Songti SC" panose="02010600040101010101" pitchFamily="2" charset="-122"/>
                <a:ea typeface="Songti SC" panose="02010600040101010101" pitchFamily="2" charset="-122"/>
              </a:defRPr>
            </a:lvl1pPr>
          </a:lstStyle>
          <a:p>
            <a:fld id="{694536CA-A6C4-4358-AF93-5CCBD70D248C}" type="datetimeFigureOut">
              <a:rPr lang="zh-CN" altLang="en-US" smtClean="0"/>
              <a:pPr/>
              <a:t>2026/8/15</a:t>
            </a:fld>
            <a:endParaRPr lang="zh-CN" altLang="en-US"/>
          </a:p>
        </p:txBody>
      </p:sp>
      <p:sp>
        <p:nvSpPr>
          <p:cNvPr id="8" name="页脚占位符 7"/>
          <p:cNvSpPr>
            <a:spLocks noGrp="1"/>
          </p:cNvSpPr>
          <p:nvPr>
            <p:ph type="ftr" sz="quarter" idx="11"/>
          </p:nvPr>
        </p:nvSpPr>
        <p:spPr/>
        <p:txBody>
          <a:bodyPr/>
          <a:lstStyle>
            <a:lvl1pPr>
              <a:defRPr b="1" i="0">
                <a:latin typeface="Songti SC" panose="02010600040101010101" pitchFamily="2" charset="-122"/>
                <a:ea typeface="Songti SC" panose="02010600040101010101" pitchFamily="2" charset="-122"/>
              </a:defRPr>
            </a:lvl1pPr>
          </a:lstStyle>
          <a:p>
            <a:endParaRPr lang="zh-CN" altLang="en-US"/>
          </a:p>
        </p:txBody>
      </p:sp>
      <p:sp>
        <p:nvSpPr>
          <p:cNvPr id="9" name="灯片编号占位符 8"/>
          <p:cNvSpPr>
            <a:spLocks noGrp="1"/>
          </p:cNvSpPr>
          <p:nvPr>
            <p:ph type="sldNum" sz="quarter" idx="12"/>
          </p:nvPr>
        </p:nvSpPr>
        <p:spPr/>
        <p:txBody>
          <a:bodyPr/>
          <a:lstStyle>
            <a:lvl1pPr>
              <a:defRPr b="1" i="0">
                <a:latin typeface="Songti SC" panose="02010600040101010101" pitchFamily="2" charset="-122"/>
                <a:ea typeface="Songti SC" panose="02010600040101010101" pitchFamily="2" charset="-122"/>
              </a:defRPr>
            </a:lvl1pPr>
          </a:lstStyle>
          <a:p>
            <a:fld id="{A8537B7A-7510-410A-AA53-45D600DA0276}"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b="1" i="0">
                <a:latin typeface="Songti SC" panose="02010600040101010101" pitchFamily="2" charset="-122"/>
                <a:ea typeface="Songti SC" panose="02010600040101010101" pitchFamily="2" charset="-122"/>
              </a:defRPr>
            </a:lvl1pPr>
          </a:lstStyle>
          <a:p>
            <a:fld id="{694536CA-A6C4-4358-AF93-5CCBD70D248C}" type="datetimeFigureOut">
              <a:rPr lang="zh-CN" altLang="en-US" smtClean="0"/>
              <a:pPr/>
              <a:t>2026/8/15</a:t>
            </a:fld>
            <a:endParaRPr lang="zh-CN" altLang="en-US"/>
          </a:p>
        </p:txBody>
      </p:sp>
      <p:sp>
        <p:nvSpPr>
          <p:cNvPr id="4" name="页脚占位符 3"/>
          <p:cNvSpPr>
            <a:spLocks noGrp="1"/>
          </p:cNvSpPr>
          <p:nvPr>
            <p:ph type="ftr" sz="quarter" idx="11"/>
          </p:nvPr>
        </p:nvSpPr>
        <p:spPr/>
        <p:txBody>
          <a:bodyPr/>
          <a:lstStyle>
            <a:lvl1pPr>
              <a:defRPr b="1" i="0">
                <a:latin typeface="Songti SC" panose="02010600040101010101" pitchFamily="2" charset="-122"/>
                <a:ea typeface="Songti SC" panose="02010600040101010101" pitchFamily="2" charset="-122"/>
              </a:defRPr>
            </a:lvl1pPr>
          </a:lstStyle>
          <a:p>
            <a:endParaRPr lang="zh-CN" altLang="en-US"/>
          </a:p>
        </p:txBody>
      </p:sp>
      <p:sp>
        <p:nvSpPr>
          <p:cNvPr id="5" name="灯片编号占位符 4"/>
          <p:cNvSpPr>
            <a:spLocks noGrp="1"/>
          </p:cNvSpPr>
          <p:nvPr>
            <p:ph type="sldNum" sz="quarter" idx="12"/>
          </p:nvPr>
        </p:nvSpPr>
        <p:spPr/>
        <p:txBody>
          <a:bodyPr/>
          <a:lstStyle>
            <a:lvl1pPr>
              <a:defRPr b="1" i="0">
                <a:latin typeface="Songti SC" panose="02010600040101010101" pitchFamily="2" charset="-122"/>
                <a:ea typeface="Songti SC" panose="02010600040101010101" pitchFamily="2" charset="-122"/>
              </a:defRPr>
            </a:lvl1pPr>
          </a:lstStyle>
          <a:p>
            <a:fld id="{A8537B7A-7510-410A-AA53-45D600DA0276}"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b="1" i="0">
                <a:latin typeface="Songti SC" panose="02010600040101010101" pitchFamily="2" charset="-122"/>
                <a:ea typeface="Songti SC" panose="02010600040101010101" pitchFamily="2" charset="-122"/>
              </a:defRPr>
            </a:lvl1pPr>
          </a:lstStyle>
          <a:p>
            <a:fld id="{694536CA-A6C4-4358-AF93-5CCBD70D248C}" type="datetimeFigureOut">
              <a:rPr lang="zh-CN" altLang="en-US" smtClean="0"/>
              <a:pPr/>
              <a:t>2026/8/15</a:t>
            </a:fld>
            <a:endParaRPr lang="zh-CN" altLang="en-US"/>
          </a:p>
        </p:txBody>
      </p:sp>
      <p:sp>
        <p:nvSpPr>
          <p:cNvPr id="3" name="页脚占位符 2"/>
          <p:cNvSpPr>
            <a:spLocks noGrp="1"/>
          </p:cNvSpPr>
          <p:nvPr>
            <p:ph type="ftr" sz="quarter" idx="11"/>
          </p:nvPr>
        </p:nvSpPr>
        <p:spPr/>
        <p:txBody>
          <a:bodyPr/>
          <a:lstStyle>
            <a:lvl1pPr>
              <a:defRPr b="1" i="0">
                <a:latin typeface="Songti SC" panose="02010600040101010101" pitchFamily="2" charset="-122"/>
                <a:ea typeface="Songti SC" panose="02010600040101010101" pitchFamily="2" charset="-122"/>
              </a:defRPr>
            </a:lvl1pPr>
          </a:lstStyle>
          <a:p>
            <a:endParaRPr lang="zh-CN" altLang="en-US"/>
          </a:p>
        </p:txBody>
      </p:sp>
      <p:sp>
        <p:nvSpPr>
          <p:cNvPr id="4" name="灯片编号占位符 3"/>
          <p:cNvSpPr>
            <a:spLocks noGrp="1"/>
          </p:cNvSpPr>
          <p:nvPr>
            <p:ph type="sldNum" sz="quarter" idx="12"/>
          </p:nvPr>
        </p:nvSpPr>
        <p:spPr/>
        <p:txBody>
          <a:bodyPr/>
          <a:lstStyle>
            <a:lvl1pPr>
              <a:defRPr b="1" i="0">
                <a:latin typeface="Songti SC" panose="02010600040101010101" pitchFamily="2" charset="-122"/>
                <a:ea typeface="Songti SC" panose="02010600040101010101" pitchFamily="2" charset="-122"/>
              </a:defRPr>
            </a:lvl1pPr>
          </a:lstStyle>
          <a:p>
            <a:fld id="{A8537B7A-7510-410A-AA53-45D600DA0276}"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b="1" i="0">
                <a:latin typeface="Songti SC" panose="02010600040101010101" pitchFamily="2" charset="-122"/>
                <a:ea typeface="Songti SC" panose="02010600040101010101" pitchFamily="2" charset="-122"/>
              </a:defRPr>
            </a:lvl1pPr>
            <a:lvl2pPr>
              <a:defRPr sz="2800" b="1" i="0">
                <a:latin typeface="Songti SC" panose="02010600040101010101" pitchFamily="2" charset="-122"/>
                <a:ea typeface="Songti SC" panose="02010600040101010101" pitchFamily="2" charset="-122"/>
              </a:defRPr>
            </a:lvl2pPr>
            <a:lvl3pPr>
              <a:defRPr sz="2400" b="1" i="0">
                <a:latin typeface="Songti SC" panose="02010600040101010101" pitchFamily="2" charset="-122"/>
                <a:ea typeface="Songti SC" panose="02010600040101010101" pitchFamily="2" charset="-122"/>
              </a:defRPr>
            </a:lvl3pPr>
            <a:lvl4pPr>
              <a:defRPr sz="2000" b="1" i="0">
                <a:latin typeface="Songti SC" panose="02010600040101010101" pitchFamily="2" charset="-122"/>
                <a:ea typeface="Songti SC" panose="02010600040101010101" pitchFamily="2" charset="-122"/>
              </a:defRPr>
            </a:lvl4pPr>
            <a:lvl5pPr>
              <a:defRPr sz="2000" b="1" i="0">
                <a:latin typeface="Songti SC" panose="02010600040101010101" pitchFamily="2" charset="-122"/>
                <a:ea typeface="Songti SC" panose="02010600040101010101" pitchFamily="2" charset="-122"/>
              </a:defRPr>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b="1" i="0">
                <a:latin typeface="Songti SC" panose="02010600040101010101" pitchFamily="2" charset="-122"/>
                <a:ea typeface="Songti SC" panose="02010600040101010101" pitchFamily="2"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b="1" i="0">
                <a:latin typeface="Songti SC" panose="02010600040101010101" pitchFamily="2" charset="-122"/>
                <a:ea typeface="Songti SC" panose="02010600040101010101" pitchFamily="2" charset="-122"/>
              </a:defRPr>
            </a:lvl1pPr>
          </a:lstStyle>
          <a:p>
            <a:fld id="{694536CA-A6C4-4358-AF93-5CCBD70D248C}" type="datetimeFigureOut">
              <a:rPr lang="zh-CN" altLang="en-US" smtClean="0"/>
              <a:pPr/>
              <a:t>2026/8/15</a:t>
            </a:fld>
            <a:endParaRPr lang="zh-CN" altLang="en-US"/>
          </a:p>
        </p:txBody>
      </p:sp>
      <p:sp>
        <p:nvSpPr>
          <p:cNvPr id="6" name="页脚占位符 5"/>
          <p:cNvSpPr>
            <a:spLocks noGrp="1"/>
          </p:cNvSpPr>
          <p:nvPr>
            <p:ph type="ftr" sz="quarter" idx="11"/>
          </p:nvPr>
        </p:nvSpPr>
        <p:spPr/>
        <p:txBody>
          <a:bodyPr/>
          <a:lstStyle>
            <a:lvl1pPr>
              <a:defRPr b="1" i="0">
                <a:latin typeface="Songti SC" panose="02010600040101010101" pitchFamily="2" charset="-122"/>
                <a:ea typeface="Songti SC" panose="02010600040101010101" pitchFamily="2" charset="-122"/>
              </a:defRPr>
            </a:lvl1pPr>
          </a:lstStyle>
          <a:p>
            <a:endParaRPr lang="zh-CN" altLang="en-US"/>
          </a:p>
        </p:txBody>
      </p:sp>
      <p:sp>
        <p:nvSpPr>
          <p:cNvPr id="7" name="灯片编号占位符 6"/>
          <p:cNvSpPr>
            <a:spLocks noGrp="1"/>
          </p:cNvSpPr>
          <p:nvPr>
            <p:ph type="sldNum" sz="quarter" idx="12"/>
          </p:nvPr>
        </p:nvSpPr>
        <p:spPr/>
        <p:txBody>
          <a:bodyPr/>
          <a:lstStyle>
            <a:lvl1pPr>
              <a:defRPr b="1" i="0">
                <a:latin typeface="Songti SC" panose="02010600040101010101" pitchFamily="2" charset="-122"/>
                <a:ea typeface="Songti SC" panose="02010600040101010101" pitchFamily="2" charset="-122"/>
              </a:defRPr>
            </a:lvl1pPr>
          </a:lstStyle>
          <a:p>
            <a:fld id="{A8537B7A-7510-410A-AA53-45D600DA0276}"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b="1" i="0">
                <a:latin typeface="Songti SC" panose="02010600040101010101" pitchFamily="2" charset="-122"/>
                <a:ea typeface="Songti SC" panose="02010600040101010101" pitchFamily="2"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b="1" i="0">
                <a:latin typeface="Songti SC" panose="02010600040101010101" pitchFamily="2" charset="-122"/>
                <a:ea typeface="Songti SC" panose="02010600040101010101" pitchFamily="2"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b="1" i="0">
                <a:latin typeface="Songti SC" panose="02010600040101010101" pitchFamily="2" charset="-122"/>
                <a:ea typeface="Songti SC" panose="02010600040101010101" pitchFamily="2" charset="-122"/>
              </a:defRPr>
            </a:lvl1pPr>
          </a:lstStyle>
          <a:p>
            <a:fld id="{694536CA-A6C4-4358-AF93-5CCBD70D248C}" type="datetimeFigureOut">
              <a:rPr lang="zh-CN" altLang="en-US" smtClean="0"/>
              <a:pPr/>
              <a:t>2026/8/15</a:t>
            </a:fld>
            <a:endParaRPr lang="zh-CN" altLang="en-US"/>
          </a:p>
        </p:txBody>
      </p:sp>
      <p:sp>
        <p:nvSpPr>
          <p:cNvPr id="6" name="页脚占位符 5"/>
          <p:cNvSpPr>
            <a:spLocks noGrp="1"/>
          </p:cNvSpPr>
          <p:nvPr>
            <p:ph type="ftr" sz="quarter" idx="11"/>
          </p:nvPr>
        </p:nvSpPr>
        <p:spPr/>
        <p:txBody>
          <a:bodyPr/>
          <a:lstStyle>
            <a:lvl1pPr>
              <a:defRPr b="1" i="0">
                <a:latin typeface="Songti SC" panose="02010600040101010101" pitchFamily="2" charset="-122"/>
                <a:ea typeface="Songti SC" panose="02010600040101010101" pitchFamily="2" charset="-122"/>
              </a:defRPr>
            </a:lvl1pPr>
          </a:lstStyle>
          <a:p>
            <a:endParaRPr lang="zh-CN" altLang="en-US"/>
          </a:p>
        </p:txBody>
      </p:sp>
      <p:sp>
        <p:nvSpPr>
          <p:cNvPr id="7" name="灯片编号占位符 6"/>
          <p:cNvSpPr>
            <a:spLocks noGrp="1"/>
          </p:cNvSpPr>
          <p:nvPr>
            <p:ph type="sldNum" sz="quarter" idx="12"/>
          </p:nvPr>
        </p:nvSpPr>
        <p:spPr/>
        <p:txBody>
          <a:bodyPr/>
          <a:lstStyle>
            <a:lvl1pPr>
              <a:defRPr b="1" i="0">
                <a:latin typeface="Songti SC" panose="02010600040101010101" pitchFamily="2" charset="-122"/>
                <a:ea typeface="Songti SC" panose="02010600040101010101" pitchFamily="2" charset="-122"/>
              </a:defRPr>
            </a:lvl1pPr>
          </a:lstStyle>
          <a:p>
            <a:fld id="{A8537B7A-7510-410A-AA53-45D600DA0276}"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lvl1pPr>
              <a:defRPr b="1" i="0">
                <a:latin typeface="Songti SC" panose="02010600040101010101" pitchFamily="2" charset="-122"/>
                <a:ea typeface="Songti SC" panose="02010600040101010101" pitchFamily="2" charset="-122"/>
              </a:defRPr>
            </a:lvl1pPr>
            <a:lvl2pPr>
              <a:defRPr b="1" i="0">
                <a:latin typeface="Songti SC" panose="02010600040101010101" pitchFamily="2" charset="-122"/>
                <a:ea typeface="Songti SC" panose="02010600040101010101" pitchFamily="2" charset="-122"/>
              </a:defRPr>
            </a:lvl2pPr>
            <a:lvl3pPr>
              <a:defRPr b="1" i="0">
                <a:latin typeface="Songti SC" panose="02010600040101010101" pitchFamily="2" charset="-122"/>
                <a:ea typeface="Songti SC" panose="02010600040101010101" pitchFamily="2" charset="-122"/>
              </a:defRPr>
            </a:lvl3pPr>
            <a:lvl4pPr>
              <a:defRPr b="1" i="0">
                <a:latin typeface="Songti SC" panose="02010600040101010101" pitchFamily="2" charset="-122"/>
                <a:ea typeface="Songti SC" panose="02010600040101010101" pitchFamily="2" charset="-122"/>
              </a:defRPr>
            </a:lvl4pPr>
            <a:lvl5pPr>
              <a:defRPr b="1" i="0">
                <a:latin typeface="Songti SC" panose="02010600040101010101" pitchFamily="2" charset="-122"/>
                <a:ea typeface="Songti SC" panose="02010600040101010101" pitchFamily="2" charset="-122"/>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b="1" i="0">
                <a:latin typeface="Songti SC" panose="02010600040101010101" pitchFamily="2" charset="-122"/>
                <a:ea typeface="Songti SC" panose="02010600040101010101" pitchFamily="2" charset="-122"/>
              </a:defRPr>
            </a:lvl1pPr>
          </a:lstStyle>
          <a:p>
            <a:fld id="{694536CA-A6C4-4358-AF93-5CCBD70D248C}" type="datetimeFigureOut">
              <a:rPr lang="zh-CN" altLang="en-US" smtClean="0"/>
              <a:pPr/>
              <a:t>2026/8/15</a:t>
            </a:fld>
            <a:endParaRPr lang="zh-CN" altLang="en-US"/>
          </a:p>
        </p:txBody>
      </p:sp>
      <p:sp>
        <p:nvSpPr>
          <p:cNvPr id="5" name="页脚占位符 4"/>
          <p:cNvSpPr>
            <a:spLocks noGrp="1"/>
          </p:cNvSpPr>
          <p:nvPr>
            <p:ph type="ftr" sz="quarter" idx="11"/>
          </p:nvPr>
        </p:nvSpPr>
        <p:spPr/>
        <p:txBody>
          <a:bodyPr/>
          <a:lstStyle>
            <a:lvl1pPr>
              <a:defRPr b="1" i="0">
                <a:latin typeface="Songti SC" panose="02010600040101010101" pitchFamily="2" charset="-122"/>
                <a:ea typeface="Songti SC" panose="02010600040101010101" pitchFamily="2" charset="-122"/>
              </a:defRPr>
            </a:lvl1pPr>
          </a:lstStyle>
          <a:p>
            <a:endParaRPr lang="zh-CN" altLang="en-US"/>
          </a:p>
        </p:txBody>
      </p:sp>
      <p:sp>
        <p:nvSpPr>
          <p:cNvPr id="6" name="灯片编号占位符 5"/>
          <p:cNvSpPr>
            <a:spLocks noGrp="1"/>
          </p:cNvSpPr>
          <p:nvPr>
            <p:ph type="sldNum" sz="quarter" idx="12"/>
          </p:nvPr>
        </p:nvSpPr>
        <p:spPr/>
        <p:txBody>
          <a:bodyPr/>
          <a:lstStyle>
            <a:lvl1pPr>
              <a:defRPr b="1" i="0">
                <a:latin typeface="Songti SC" panose="02010600040101010101" pitchFamily="2" charset="-122"/>
                <a:ea typeface="Songti SC" panose="02010600040101010101" pitchFamily="2" charset="-122"/>
              </a:defRPr>
            </a:lvl1pPr>
          </a:lstStyle>
          <a:p>
            <a:fld id="{A8537B7A-7510-410A-AA53-45D600DA0276}"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lvl1pPr>
              <a:defRPr b="1" i="0">
                <a:latin typeface="Songti SC" panose="02010600040101010101" pitchFamily="2" charset="-122"/>
                <a:ea typeface="Songti SC" panose="02010600040101010101" pitchFamily="2" charset="-122"/>
              </a:defRPr>
            </a:lvl1pPr>
            <a:lvl2pPr>
              <a:defRPr b="1" i="0">
                <a:latin typeface="Songti SC" panose="02010600040101010101" pitchFamily="2" charset="-122"/>
                <a:ea typeface="Songti SC" panose="02010600040101010101" pitchFamily="2" charset="-122"/>
              </a:defRPr>
            </a:lvl2pPr>
            <a:lvl3pPr>
              <a:defRPr b="1" i="0">
                <a:latin typeface="Songti SC" panose="02010600040101010101" pitchFamily="2" charset="-122"/>
                <a:ea typeface="Songti SC" panose="02010600040101010101" pitchFamily="2" charset="-122"/>
              </a:defRPr>
            </a:lvl3pPr>
            <a:lvl4pPr>
              <a:defRPr b="1" i="0">
                <a:latin typeface="Songti SC" panose="02010600040101010101" pitchFamily="2" charset="-122"/>
                <a:ea typeface="Songti SC" panose="02010600040101010101" pitchFamily="2" charset="-122"/>
              </a:defRPr>
            </a:lvl4pPr>
            <a:lvl5pPr>
              <a:defRPr b="1" i="0">
                <a:latin typeface="Songti SC" panose="02010600040101010101" pitchFamily="2" charset="-122"/>
                <a:ea typeface="Songti SC" panose="02010600040101010101" pitchFamily="2" charset="-122"/>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b="1" i="0">
                <a:latin typeface="Songti SC" panose="02010600040101010101" pitchFamily="2" charset="-122"/>
                <a:ea typeface="Songti SC" panose="02010600040101010101" pitchFamily="2" charset="-122"/>
              </a:defRPr>
            </a:lvl1pPr>
          </a:lstStyle>
          <a:p>
            <a:fld id="{694536CA-A6C4-4358-AF93-5CCBD70D248C}" type="datetimeFigureOut">
              <a:rPr lang="zh-CN" altLang="en-US" smtClean="0"/>
              <a:pPr/>
              <a:t>2026/8/15</a:t>
            </a:fld>
            <a:endParaRPr lang="zh-CN" altLang="en-US"/>
          </a:p>
        </p:txBody>
      </p:sp>
      <p:sp>
        <p:nvSpPr>
          <p:cNvPr id="5" name="页脚占位符 4"/>
          <p:cNvSpPr>
            <a:spLocks noGrp="1"/>
          </p:cNvSpPr>
          <p:nvPr>
            <p:ph type="ftr" sz="quarter" idx="11"/>
          </p:nvPr>
        </p:nvSpPr>
        <p:spPr/>
        <p:txBody>
          <a:bodyPr/>
          <a:lstStyle>
            <a:lvl1pPr>
              <a:defRPr b="1" i="0">
                <a:latin typeface="Songti SC" panose="02010600040101010101" pitchFamily="2" charset="-122"/>
                <a:ea typeface="Songti SC" panose="02010600040101010101" pitchFamily="2" charset="-122"/>
              </a:defRPr>
            </a:lvl1pPr>
          </a:lstStyle>
          <a:p>
            <a:endParaRPr lang="zh-CN" altLang="en-US"/>
          </a:p>
        </p:txBody>
      </p:sp>
      <p:sp>
        <p:nvSpPr>
          <p:cNvPr id="6" name="灯片编号占位符 5"/>
          <p:cNvSpPr>
            <a:spLocks noGrp="1"/>
          </p:cNvSpPr>
          <p:nvPr>
            <p:ph type="sldNum" sz="quarter" idx="12"/>
          </p:nvPr>
        </p:nvSpPr>
        <p:spPr/>
        <p:txBody>
          <a:bodyPr/>
          <a:lstStyle>
            <a:lvl1pPr>
              <a:defRPr b="1" i="0">
                <a:latin typeface="Songti SC" panose="02010600040101010101" pitchFamily="2" charset="-122"/>
                <a:ea typeface="Songti SC" panose="02010600040101010101" pitchFamily="2" charset="-122"/>
              </a:defRPr>
            </a:lvl1pPr>
          </a:lstStyle>
          <a:p>
            <a:fld id="{A8537B7A-7510-410A-AA53-45D600DA0276}"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i="0">
                <a:solidFill>
                  <a:schemeClr val="tx1">
                    <a:tint val="75000"/>
                  </a:schemeClr>
                </a:solidFill>
                <a:latin typeface="Songti SC" panose="02010600040101010101" pitchFamily="2" charset="-122"/>
                <a:ea typeface="Songti SC" panose="02010600040101010101" pitchFamily="2" charset="-122"/>
              </a:defRPr>
            </a:lvl1pPr>
          </a:lstStyle>
          <a:p>
            <a:fld id="{694536CA-A6C4-4358-AF93-5CCBD70D248C}" type="datetimeFigureOut">
              <a:rPr lang="zh-CN" altLang="en-US" smtClean="0"/>
              <a:pPr/>
              <a:t>2026/8/15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a:solidFill>
                  <a:schemeClr val="tx1">
                    <a:tint val="75000"/>
                  </a:schemeClr>
                </a:solidFill>
                <a:latin typeface="Songti SC" panose="02010600040101010101" pitchFamily="2" charset="-122"/>
                <a:ea typeface="Songti SC" panose="02010600040101010101" pitchFamily="2"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a:solidFill>
                  <a:schemeClr val="tx1">
                    <a:tint val="75000"/>
                  </a:schemeClr>
                </a:solidFill>
                <a:latin typeface="Songti SC" panose="02010600040101010101" pitchFamily="2" charset="-122"/>
                <a:ea typeface="Songti SC" panose="02010600040101010101" pitchFamily="2" charset="-122"/>
              </a:defRPr>
            </a:lvl1pPr>
          </a:lstStyle>
          <a:p>
            <a:fld id="{A8537B7A-7510-410A-AA53-45D600DA0276}" type="slidenum">
              <a:rPr lang="zh-CN" altLang="en-US" smtClean="0"/>
              <a:pPr/>
              <a:t>‹#›</a:t>
            </a:fld>
            <a:endParaRPr lang="zh-CN" altLang="en-US"/>
          </a:p>
        </p:txBody>
      </p:sp>
      <p:sp>
        <p:nvSpPr>
          <p:cNvPr id="7" name="矩形 6"/>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i="0">
              <a:latin typeface="Songti SC" panose="02010600040101010101" pitchFamily="2" charset="-122"/>
              <a:ea typeface="Songti SC" panose="0201060004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i="0" kern="1200">
          <a:solidFill>
            <a:schemeClr val="tx1"/>
          </a:solidFill>
          <a:latin typeface="Songti SC" panose="02010600040101010101" pitchFamily="2" charset="-122"/>
          <a:ea typeface="Songti SC" panose="02010600040101010101" pitchFamily="2"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Songti SC" panose="02010600040101010101" pitchFamily="2" charset="-122"/>
          <a:ea typeface="Songti SC" panose="020106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1" i="0" kern="1200">
          <a:solidFill>
            <a:schemeClr val="tx1"/>
          </a:solidFill>
          <a:latin typeface="Songti SC" panose="02010600040101010101" pitchFamily="2" charset="-122"/>
          <a:ea typeface="Songti SC" panose="020106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1" i="0" kern="1200">
          <a:solidFill>
            <a:schemeClr val="tx1"/>
          </a:solidFill>
          <a:latin typeface="Songti SC" panose="02010600040101010101" pitchFamily="2" charset="-122"/>
          <a:ea typeface="Songti SC" panose="020106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i="0" kern="1200">
          <a:solidFill>
            <a:schemeClr val="tx1"/>
          </a:solidFill>
          <a:latin typeface="Songti SC" panose="02010600040101010101" pitchFamily="2" charset="-122"/>
          <a:ea typeface="Songti SC" panose="020106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i="0" kern="1200">
          <a:solidFill>
            <a:schemeClr val="tx1"/>
          </a:solidFill>
          <a:latin typeface="Songti SC" panose="02010600040101010101" pitchFamily="2" charset="-122"/>
          <a:ea typeface="Songti SC"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3.xml"/><Relationship Id="rId7"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2.png"/><Relationship Id="rId4" Type="http://schemas.openxmlformats.org/officeDocument/2006/relationships/tags" Target="../tags/tag4.xm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tags" Target="../tags/tag14.xml"/><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notesSlide" Target="../notesSlides/notesSlide3.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slideLayout" Target="../slideLayouts/slideLayout7.xml"/><Relationship Id="rId5" Type="http://schemas.openxmlformats.org/officeDocument/2006/relationships/tags" Target="../tags/tag11.xml"/><Relationship Id="rId10" Type="http://schemas.openxmlformats.org/officeDocument/2006/relationships/tags" Target="../tags/tag16.xml"/><Relationship Id="rId4" Type="http://schemas.openxmlformats.org/officeDocument/2006/relationships/tags" Target="../tags/tag10.xml"/><Relationship Id="rId9" Type="http://schemas.openxmlformats.org/officeDocument/2006/relationships/tags" Target="../tags/tag1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17.xml"/><Relationship Id="rId5" Type="http://schemas.openxmlformats.org/officeDocument/2006/relationships/image" Target="../media/image1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png"/><Relationship Id="rId9"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image" Target="../media/image2.png"/><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notesSlide" Target="../notesSlides/notesSlide35.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slideLayout" Target="../slideLayouts/slideLayout7.xml"/><Relationship Id="rId5" Type="http://schemas.openxmlformats.org/officeDocument/2006/relationships/tags" Target="../tags/tag22.xml"/><Relationship Id="rId10" Type="http://schemas.openxmlformats.org/officeDocument/2006/relationships/tags" Target="../tags/tag27.xml"/><Relationship Id="rId4" Type="http://schemas.openxmlformats.org/officeDocument/2006/relationships/tags" Target="../tags/tag21.xml"/><Relationship Id="rId9" Type="http://schemas.openxmlformats.org/officeDocument/2006/relationships/tags" Target="../tags/tag26.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9"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2"/>
            </p:custDataLst>
          </p:nvPr>
        </p:nvPicPr>
        <p:blipFill>
          <a:blip r:embed="rId9"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04967"/>
            <a:ext cx="12192000" cy="286136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Songti SC" panose="02010600040101010101" pitchFamily="2" charset="-122"/>
              <a:ea typeface="Songti SC" panose="02010600040101010101" pitchFamily="2" charset="-122"/>
            </a:endParaRPr>
          </a:p>
        </p:txBody>
      </p:sp>
      <p:sp>
        <p:nvSpPr>
          <p:cNvPr id="15" name="文本框 14"/>
          <p:cNvSpPr txBox="1"/>
          <p:nvPr/>
        </p:nvSpPr>
        <p:spPr>
          <a:xfrm>
            <a:off x="1663499" y="2367384"/>
            <a:ext cx="8864999" cy="1754326"/>
          </a:xfrm>
          <a:prstGeom prst="rect">
            <a:avLst/>
          </a:prstGeom>
          <a:noFill/>
        </p:spPr>
        <p:txBody>
          <a:bodyPr wrap="square" rtlCol="0">
            <a:spAutoFit/>
          </a:bodyPr>
          <a:lstStyle/>
          <a:p>
            <a:pPr algn="ctr"/>
            <a:r>
              <a:rPr lang="en-US" altLang="zh-CN" sz="5400" b="1">
                <a:solidFill>
                  <a:schemeClr val="bg1">
                    <a:lumMod val="95000"/>
                  </a:schemeClr>
                </a:solidFill>
                <a:latin typeface="Arial" panose="020B0604020202020204" pitchFamily="34" charset="0"/>
                <a:ea typeface="微软雅黑" panose="020B0503020204020204" pitchFamily="34" charset="-122"/>
              </a:rPr>
              <a:t>Flex-OS</a:t>
            </a:r>
            <a:r>
              <a:rPr lang="zh-CN" altLang="en-US" sz="5400" b="1">
                <a:solidFill>
                  <a:schemeClr val="bg1">
                    <a:lumMod val="95000"/>
                  </a:schemeClr>
                </a:solidFill>
                <a:latin typeface="Arial" panose="020B0604020202020204" pitchFamily="34" charset="0"/>
                <a:ea typeface="微软雅黑" panose="020B0503020204020204" pitchFamily="34" charset="-122"/>
              </a:rPr>
              <a:t>：面向端侧设备的</a:t>
            </a:r>
            <a:r>
              <a:rPr lang="en-US" altLang="zh-CN" sz="5400" b="1">
                <a:solidFill>
                  <a:schemeClr val="bg1">
                    <a:lumMod val="95000"/>
                  </a:schemeClr>
                </a:solidFill>
                <a:latin typeface="Arial" panose="020B0604020202020204" pitchFamily="34" charset="0"/>
                <a:ea typeface="微软雅黑" panose="020B0503020204020204" pitchFamily="34" charset="-122"/>
              </a:rPr>
              <a:t>LLM</a:t>
            </a:r>
            <a:r>
              <a:rPr lang="zh-CN" altLang="en-US" sz="5400" b="1">
                <a:solidFill>
                  <a:schemeClr val="bg1">
                    <a:lumMod val="95000"/>
                  </a:schemeClr>
                </a:solidFill>
                <a:latin typeface="Arial" panose="020B0604020202020204" pitchFamily="34" charset="0"/>
                <a:ea typeface="微软雅黑" panose="020B0503020204020204" pitchFamily="34" charset="-122"/>
              </a:rPr>
              <a:t>推理内存优化系统</a:t>
            </a:r>
            <a:endParaRPr lang="zh-CN" altLang="en-US" sz="5400" b="1" dirty="0">
              <a:solidFill>
                <a:schemeClr val="bg1">
                  <a:lumMod val="95000"/>
                </a:schemeClr>
              </a:solidFill>
              <a:latin typeface="Arial" panose="020B0604020202020204" pitchFamily="34" charset="0"/>
              <a:ea typeface="微软雅黑" panose="020B0503020204020204" pitchFamily="34" charset="-122"/>
            </a:endParaRPr>
          </a:p>
        </p:txBody>
      </p:sp>
      <p:sp>
        <p:nvSpPr>
          <p:cNvPr id="16" name="TextBox 10"/>
          <p:cNvSpPr txBox="1"/>
          <p:nvPr/>
        </p:nvSpPr>
        <p:spPr>
          <a:xfrm>
            <a:off x="2353328" y="4199107"/>
            <a:ext cx="7485339" cy="954083"/>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en-US" altLang="zh-CN" sz="2800" b="1">
                <a:solidFill>
                  <a:schemeClr val="bg1">
                    <a:lumMod val="95000"/>
                  </a:schemeClr>
                </a:solidFill>
                <a:latin typeface="Arial" panose="020B0604020202020204" pitchFamily="34" charset="0"/>
              </a:rPr>
              <a:t>proj59</a:t>
            </a:r>
            <a:r>
              <a:rPr lang="zh-CN" altLang="en-US" sz="2800" b="1">
                <a:solidFill>
                  <a:schemeClr val="bg1">
                    <a:lumMod val="95000"/>
                  </a:schemeClr>
                </a:solidFill>
                <a:latin typeface="Arial" panose="020B0604020202020204" pitchFamily="34" charset="0"/>
              </a:rPr>
              <a:t>内存受限环境的大语言模型推理优化</a:t>
            </a:r>
            <a:br>
              <a:rPr lang="en-US" altLang="zh-CN" sz="2800" b="1">
                <a:solidFill>
                  <a:schemeClr val="bg1">
                    <a:lumMod val="95000"/>
                  </a:schemeClr>
                </a:solidFill>
                <a:latin typeface="Arial" panose="020B0604020202020204" pitchFamily="34" charset="0"/>
              </a:rPr>
            </a:br>
            <a:r>
              <a:rPr lang="zh-CN" altLang="en-US" sz="2800" b="1">
                <a:solidFill>
                  <a:schemeClr val="bg1">
                    <a:lumMod val="95000"/>
                  </a:schemeClr>
                </a:solidFill>
                <a:latin typeface="Arial" panose="020B0604020202020204" pitchFamily="34" charset="0"/>
              </a:rPr>
              <a:t>队伍名称：一起去爬梧桐山</a:t>
            </a:r>
            <a:endParaRPr lang="en-US" altLang="zh-CN" sz="2800" b="1" dirty="0">
              <a:solidFill>
                <a:schemeClr val="bg1">
                  <a:lumMod val="95000"/>
                </a:schemeClr>
              </a:solidFill>
              <a:latin typeface="Arial" panose="020B0604020202020204" pitchFamily="34" charset="0"/>
            </a:endParaRPr>
          </a:p>
        </p:txBody>
      </p:sp>
      <p:sp>
        <p:nvSpPr>
          <p:cNvPr id="13" name="TextBox 6"/>
          <p:cNvSpPr txBox="1"/>
          <p:nvPr>
            <p:custDataLst>
              <p:tags r:id="rId3"/>
            </p:custDataLst>
          </p:nvPr>
        </p:nvSpPr>
        <p:spPr>
          <a:xfrm>
            <a:off x="2850004" y="5676601"/>
            <a:ext cx="3262383" cy="400085"/>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Arial" panose="020B0604020202020204" pitchFamily="34" charset="0"/>
                <a:ea typeface="微软雅黑" panose="020B0503020204020204" pitchFamily="34" charset="-122"/>
                <a:sym typeface="+mn-ea"/>
              </a:rPr>
              <a:t>队伍成员：苏安炫、李思甜</a:t>
            </a:r>
            <a:endParaRPr lang="zh-CN" altLang="en-US" b="1" dirty="0">
              <a:solidFill>
                <a:schemeClr val="tx1"/>
              </a:solidFill>
              <a:latin typeface="Arial" panose="020B0604020202020204" pitchFamily="34" charset="0"/>
              <a:ea typeface="微软雅黑" panose="020B0503020204020204" pitchFamily="34" charset="-122"/>
            </a:endParaRPr>
          </a:p>
        </p:txBody>
      </p:sp>
      <p:sp>
        <p:nvSpPr>
          <p:cNvPr id="14" name="TextBox 7"/>
          <p:cNvSpPr txBox="1"/>
          <p:nvPr>
            <p:custDataLst>
              <p:tags r:id="rId4"/>
            </p:custDataLst>
          </p:nvPr>
        </p:nvSpPr>
        <p:spPr>
          <a:xfrm>
            <a:off x="6989375" y="5676601"/>
            <a:ext cx="3005904" cy="400085"/>
          </a:xfrm>
          <a:prstGeom prst="rect">
            <a:avLst/>
          </a:prstGeom>
          <a:noFill/>
        </p:spPr>
        <p:txBody>
          <a:bodyPr wrap="none" lIns="91416" tIns="45708" rIns="91416" bIns="45708" rtlCol="0">
            <a:spAutoFit/>
          </a:bodyPr>
          <a:lstStyle/>
          <a:p>
            <a:pPr algn="ctr"/>
            <a:r>
              <a:rPr lang="zh-CN" altLang="en-US" sz="2000" b="1" dirty="0">
                <a:latin typeface="Arial" panose="020B0604020202020204" pitchFamily="34" charset="0"/>
                <a:ea typeface="微软雅黑" panose="020B0503020204020204" pitchFamily="34" charset="-122"/>
              </a:rPr>
              <a:t>指导老师：夏文、李诗逸</a:t>
            </a:r>
          </a:p>
        </p:txBody>
      </p:sp>
      <p:sp>
        <p:nvSpPr>
          <p:cNvPr id="11" name="Freeform 7"/>
          <p:cNvSpPr>
            <a:spLocks noChangeAspect="1" noEditPoints="1"/>
          </p:cNvSpPr>
          <p:nvPr>
            <p:custDataLst>
              <p:tags r:id="rId5"/>
            </p:custDataLst>
          </p:nvPr>
        </p:nvSpPr>
        <p:spPr bwMode="auto">
          <a:xfrm>
            <a:off x="2306365" y="5648207"/>
            <a:ext cx="462900" cy="46624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chemeClr val="accent6"/>
          </a:solidFill>
          <a:ln>
            <a:noFill/>
          </a:ln>
        </p:spPr>
        <p:txBody>
          <a:bodyPr vert="horz" wrap="square" lIns="91416" tIns="45708" rIns="91416" bIns="45708" numCol="1" anchor="t" anchorCtr="0" compatLnSpc="1"/>
          <a:lstStyle/>
          <a:p>
            <a:endParaRPr lang="zh-CN" altLang="en-US" b="1">
              <a:solidFill>
                <a:schemeClr val="bg1"/>
              </a:solidFill>
              <a:latin typeface="Songti SC Black" panose="02010600040101010101" pitchFamily="2" charset="-122"/>
              <a:ea typeface="Songti SC Black" panose="02010600040101010101" pitchFamily="2" charset="-122"/>
            </a:endParaRPr>
          </a:p>
        </p:txBody>
      </p:sp>
      <p:sp>
        <p:nvSpPr>
          <p:cNvPr id="12" name="Freeform 8"/>
          <p:cNvSpPr>
            <a:spLocks noChangeAspect="1" noEditPoints="1"/>
          </p:cNvSpPr>
          <p:nvPr>
            <p:custDataLst>
              <p:tags r:id="rId6"/>
            </p:custDataLst>
          </p:nvPr>
        </p:nvSpPr>
        <p:spPr bwMode="auto">
          <a:xfrm>
            <a:off x="6377352" y="5643521"/>
            <a:ext cx="464288" cy="466246"/>
          </a:xfrm>
          <a:custGeom>
            <a:avLst/>
            <a:gdLst>
              <a:gd name="T0" fmla="*/ 422 w 422"/>
              <a:gd name="T1" fmla="*/ 211 h 422"/>
              <a:gd name="T2" fmla="*/ 0 w 422"/>
              <a:gd name="T3" fmla="*/ 211 h 422"/>
              <a:gd name="T4" fmla="*/ 340 w 422"/>
              <a:gd name="T5" fmla="*/ 117 h 422"/>
              <a:gd name="T6" fmla="*/ 345 w 422"/>
              <a:gd name="T7" fmla="*/ 123 h 422"/>
              <a:gd name="T8" fmla="*/ 344 w 422"/>
              <a:gd name="T9" fmla="*/ 226 h 422"/>
              <a:gd name="T10" fmla="*/ 340 w 422"/>
              <a:gd name="T11" fmla="*/ 227 h 422"/>
              <a:gd name="T12" fmla="*/ 217 w 422"/>
              <a:gd name="T13" fmla="*/ 226 h 422"/>
              <a:gd name="T14" fmla="*/ 215 w 422"/>
              <a:gd name="T15" fmla="*/ 222 h 422"/>
              <a:gd name="T16" fmla="*/ 286 w 422"/>
              <a:gd name="T17" fmla="*/ 164 h 422"/>
              <a:gd name="T18" fmla="*/ 215 w 422"/>
              <a:gd name="T19" fmla="*/ 171 h 422"/>
              <a:gd name="T20" fmla="*/ 217 w 422"/>
              <a:gd name="T21" fmla="*/ 119 h 422"/>
              <a:gd name="T22" fmla="*/ 220 w 422"/>
              <a:gd name="T23" fmla="*/ 117 h 422"/>
              <a:gd name="T24" fmla="*/ 220 w 422"/>
              <a:gd name="T25" fmla="*/ 96 h 422"/>
              <a:gd name="T26" fmla="*/ 202 w 422"/>
              <a:gd name="T27" fmla="*/ 104 h 422"/>
              <a:gd name="T28" fmla="*/ 194 w 422"/>
              <a:gd name="T29" fmla="*/ 174 h 422"/>
              <a:gd name="T30" fmla="*/ 186 w 422"/>
              <a:gd name="T31" fmla="*/ 166 h 422"/>
              <a:gd name="T32" fmla="*/ 137 w 422"/>
              <a:gd name="T33" fmla="*/ 151 h 422"/>
              <a:gd name="T34" fmla="*/ 54 w 422"/>
              <a:gd name="T35" fmla="*/ 173 h 422"/>
              <a:gd name="T36" fmla="*/ 77 w 422"/>
              <a:gd name="T37" fmla="*/ 243 h 422"/>
              <a:gd name="T38" fmla="*/ 81 w 422"/>
              <a:gd name="T39" fmla="*/ 192 h 422"/>
              <a:gd name="T40" fmla="*/ 81 w 422"/>
              <a:gd name="T41" fmla="*/ 256 h 422"/>
              <a:gd name="T42" fmla="*/ 106 w 422"/>
              <a:gd name="T43" fmla="*/ 350 h 422"/>
              <a:gd name="T44" fmla="*/ 112 w 422"/>
              <a:gd name="T45" fmla="*/ 272 h 422"/>
              <a:gd name="T46" fmla="*/ 137 w 422"/>
              <a:gd name="T47" fmla="*/ 350 h 422"/>
              <a:gd name="T48" fmla="*/ 137 w 422"/>
              <a:gd name="T49" fmla="*/ 256 h 422"/>
              <a:gd name="T50" fmla="*/ 137 w 422"/>
              <a:gd name="T51" fmla="*/ 192 h 422"/>
              <a:gd name="T52" fmla="*/ 162 w 422"/>
              <a:gd name="T53" fmla="*/ 192 h 422"/>
              <a:gd name="T54" fmla="*/ 186 w 422"/>
              <a:gd name="T55" fmla="*/ 185 h 422"/>
              <a:gd name="T56" fmla="*/ 194 w 422"/>
              <a:gd name="T57" fmla="*/ 222 h 422"/>
              <a:gd name="T58" fmla="*/ 202 w 422"/>
              <a:gd name="T59" fmla="*/ 240 h 422"/>
              <a:gd name="T60" fmla="*/ 220 w 422"/>
              <a:gd name="T61" fmla="*/ 248 h 422"/>
              <a:gd name="T62" fmla="*/ 359 w 422"/>
              <a:gd name="T63" fmla="*/ 240 h 422"/>
              <a:gd name="T64" fmla="*/ 366 w 422"/>
              <a:gd name="T65" fmla="*/ 222 h 422"/>
              <a:gd name="T66" fmla="*/ 359 w 422"/>
              <a:gd name="T67" fmla="*/ 104 h 422"/>
              <a:gd name="T68" fmla="*/ 220 w 422"/>
              <a:gd name="T69" fmla="*/ 96 h 422"/>
              <a:gd name="T70" fmla="*/ 344 w 422"/>
              <a:gd name="T71" fmla="*/ 277 h 422"/>
              <a:gd name="T72" fmla="*/ 346 w 422"/>
              <a:gd name="T73" fmla="*/ 351 h 422"/>
              <a:gd name="T74" fmla="*/ 298 w 422"/>
              <a:gd name="T75" fmla="*/ 277 h 422"/>
              <a:gd name="T76" fmla="*/ 250 w 422"/>
              <a:gd name="T77" fmla="*/ 351 h 422"/>
              <a:gd name="T78" fmla="*/ 244 w 422"/>
              <a:gd name="T79" fmla="*/ 277 h 422"/>
              <a:gd name="T80" fmla="*/ 221 w 422"/>
              <a:gd name="T81" fmla="*/ 254 h 422"/>
              <a:gd name="T82" fmla="*/ 109 w 422"/>
              <a:gd name="T83" fmla="*/ 75 h 422"/>
              <a:gd name="T84" fmla="*/ 109 w 422"/>
              <a:gd name="T85" fmla="*/ 146 h 422"/>
              <a:gd name="T86" fmla="*/ 109 w 422"/>
              <a:gd name="T87" fmla="*/ 75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22" h="422">
                <a:moveTo>
                  <a:pt x="211" y="0"/>
                </a:moveTo>
                <a:cubicBezTo>
                  <a:pt x="327" y="0"/>
                  <a:pt x="422" y="94"/>
                  <a:pt x="422" y="211"/>
                </a:cubicBezTo>
                <a:cubicBezTo>
                  <a:pt x="422" y="327"/>
                  <a:pt x="327" y="422"/>
                  <a:pt x="211" y="422"/>
                </a:cubicBezTo>
                <a:cubicBezTo>
                  <a:pt x="94" y="422"/>
                  <a:pt x="0" y="327"/>
                  <a:pt x="0" y="211"/>
                </a:cubicBezTo>
                <a:cubicBezTo>
                  <a:pt x="0" y="94"/>
                  <a:pt x="94" y="0"/>
                  <a:pt x="211" y="0"/>
                </a:cubicBezTo>
                <a:close/>
                <a:moveTo>
                  <a:pt x="340" y="117"/>
                </a:moveTo>
                <a:cubicBezTo>
                  <a:pt x="341" y="117"/>
                  <a:pt x="343" y="118"/>
                  <a:pt x="344" y="119"/>
                </a:cubicBezTo>
                <a:cubicBezTo>
                  <a:pt x="345" y="120"/>
                  <a:pt x="345" y="121"/>
                  <a:pt x="345" y="123"/>
                </a:cubicBezTo>
                <a:lnTo>
                  <a:pt x="345" y="222"/>
                </a:lnTo>
                <a:cubicBezTo>
                  <a:pt x="345" y="223"/>
                  <a:pt x="345" y="225"/>
                  <a:pt x="344" y="226"/>
                </a:cubicBezTo>
                <a:lnTo>
                  <a:pt x="344" y="226"/>
                </a:lnTo>
                <a:cubicBezTo>
                  <a:pt x="343" y="227"/>
                  <a:pt x="341" y="227"/>
                  <a:pt x="340" y="227"/>
                </a:cubicBezTo>
                <a:lnTo>
                  <a:pt x="220" y="227"/>
                </a:lnTo>
                <a:cubicBezTo>
                  <a:pt x="219" y="227"/>
                  <a:pt x="218" y="227"/>
                  <a:pt x="217" y="226"/>
                </a:cubicBezTo>
                <a:lnTo>
                  <a:pt x="217" y="226"/>
                </a:lnTo>
                <a:cubicBezTo>
                  <a:pt x="216" y="225"/>
                  <a:pt x="215" y="223"/>
                  <a:pt x="215" y="222"/>
                </a:cubicBezTo>
                <a:lnTo>
                  <a:pt x="215" y="179"/>
                </a:lnTo>
                <a:lnTo>
                  <a:pt x="286" y="164"/>
                </a:lnTo>
                <a:lnTo>
                  <a:pt x="286" y="162"/>
                </a:lnTo>
                <a:lnTo>
                  <a:pt x="215" y="171"/>
                </a:lnTo>
                <a:lnTo>
                  <a:pt x="215" y="123"/>
                </a:lnTo>
                <a:cubicBezTo>
                  <a:pt x="215" y="121"/>
                  <a:pt x="216" y="120"/>
                  <a:pt x="217" y="119"/>
                </a:cubicBezTo>
                <a:lnTo>
                  <a:pt x="217" y="119"/>
                </a:lnTo>
                <a:cubicBezTo>
                  <a:pt x="218" y="118"/>
                  <a:pt x="219" y="117"/>
                  <a:pt x="220" y="117"/>
                </a:cubicBezTo>
                <a:lnTo>
                  <a:pt x="340" y="117"/>
                </a:lnTo>
                <a:close/>
                <a:moveTo>
                  <a:pt x="220" y="96"/>
                </a:moveTo>
                <a:cubicBezTo>
                  <a:pt x="213" y="96"/>
                  <a:pt x="206" y="99"/>
                  <a:pt x="202" y="104"/>
                </a:cubicBezTo>
                <a:lnTo>
                  <a:pt x="202" y="104"/>
                </a:lnTo>
                <a:cubicBezTo>
                  <a:pt x="197" y="109"/>
                  <a:pt x="194" y="115"/>
                  <a:pt x="194" y="123"/>
                </a:cubicBezTo>
                <a:lnTo>
                  <a:pt x="194" y="174"/>
                </a:lnTo>
                <a:lnTo>
                  <a:pt x="186" y="175"/>
                </a:lnTo>
                <a:lnTo>
                  <a:pt x="186" y="166"/>
                </a:lnTo>
                <a:lnTo>
                  <a:pt x="162" y="166"/>
                </a:lnTo>
                <a:lnTo>
                  <a:pt x="137" y="151"/>
                </a:lnTo>
                <a:lnTo>
                  <a:pt x="77" y="151"/>
                </a:lnTo>
                <a:cubicBezTo>
                  <a:pt x="64" y="151"/>
                  <a:pt x="54" y="161"/>
                  <a:pt x="54" y="173"/>
                </a:cubicBezTo>
                <a:lnTo>
                  <a:pt x="54" y="243"/>
                </a:lnTo>
                <a:lnTo>
                  <a:pt x="77" y="243"/>
                </a:lnTo>
                <a:lnTo>
                  <a:pt x="77" y="192"/>
                </a:lnTo>
                <a:lnTo>
                  <a:pt x="81" y="192"/>
                </a:lnTo>
                <a:lnTo>
                  <a:pt x="81" y="243"/>
                </a:lnTo>
                <a:lnTo>
                  <a:pt x="81" y="256"/>
                </a:lnTo>
                <a:lnTo>
                  <a:pt x="81" y="350"/>
                </a:lnTo>
                <a:lnTo>
                  <a:pt x="106" y="350"/>
                </a:lnTo>
                <a:lnTo>
                  <a:pt x="106" y="272"/>
                </a:lnTo>
                <a:lnTo>
                  <a:pt x="112" y="272"/>
                </a:lnTo>
                <a:lnTo>
                  <a:pt x="112" y="350"/>
                </a:lnTo>
                <a:lnTo>
                  <a:pt x="137" y="350"/>
                </a:lnTo>
                <a:lnTo>
                  <a:pt x="137" y="336"/>
                </a:lnTo>
                <a:lnTo>
                  <a:pt x="137" y="256"/>
                </a:lnTo>
                <a:lnTo>
                  <a:pt x="137" y="243"/>
                </a:lnTo>
                <a:lnTo>
                  <a:pt x="137" y="192"/>
                </a:lnTo>
                <a:lnTo>
                  <a:pt x="137" y="177"/>
                </a:lnTo>
                <a:lnTo>
                  <a:pt x="162" y="192"/>
                </a:lnTo>
                <a:lnTo>
                  <a:pt x="186" y="192"/>
                </a:lnTo>
                <a:lnTo>
                  <a:pt x="186" y="185"/>
                </a:lnTo>
                <a:lnTo>
                  <a:pt x="194" y="184"/>
                </a:lnTo>
                <a:lnTo>
                  <a:pt x="194" y="222"/>
                </a:lnTo>
                <a:cubicBezTo>
                  <a:pt x="194" y="229"/>
                  <a:pt x="197" y="236"/>
                  <a:pt x="202" y="240"/>
                </a:cubicBezTo>
                <a:lnTo>
                  <a:pt x="202" y="240"/>
                </a:lnTo>
                <a:lnTo>
                  <a:pt x="202" y="241"/>
                </a:lnTo>
                <a:cubicBezTo>
                  <a:pt x="207" y="245"/>
                  <a:pt x="213" y="248"/>
                  <a:pt x="220" y="248"/>
                </a:cubicBezTo>
                <a:lnTo>
                  <a:pt x="340" y="248"/>
                </a:lnTo>
                <a:cubicBezTo>
                  <a:pt x="347" y="248"/>
                  <a:pt x="354" y="245"/>
                  <a:pt x="359" y="240"/>
                </a:cubicBezTo>
                <a:lnTo>
                  <a:pt x="359" y="241"/>
                </a:lnTo>
                <a:cubicBezTo>
                  <a:pt x="363" y="236"/>
                  <a:pt x="366" y="229"/>
                  <a:pt x="366" y="222"/>
                </a:cubicBezTo>
                <a:lnTo>
                  <a:pt x="366" y="123"/>
                </a:lnTo>
                <a:cubicBezTo>
                  <a:pt x="366" y="115"/>
                  <a:pt x="363" y="109"/>
                  <a:pt x="359" y="104"/>
                </a:cubicBezTo>
                <a:cubicBezTo>
                  <a:pt x="354" y="99"/>
                  <a:pt x="347" y="96"/>
                  <a:pt x="340" y="96"/>
                </a:cubicBezTo>
                <a:lnTo>
                  <a:pt x="220" y="96"/>
                </a:lnTo>
                <a:close/>
                <a:moveTo>
                  <a:pt x="344" y="254"/>
                </a:moveTo>
                <a:lnTo>
                  <a:pt x="344" y="277"/>
                </a:lnTo>
                <a:lnTo>
                  <a:pt x="325" y="277"/>
                </a:lnTo>
                <a:lnTo>
                  <a:pt x="346" y="351"/>
                </a:lnTo>
                <a:lnTo>
                  <a:pt x="319" y="351"/>
                </a:lnTo>
                <a:lnTo>
                  <a:pt x="298" y="277"/>
                </a:lnTo>
                <a:lnTo>
                  <a:pt x="271" y="277"/>
                </a:lnTo>
                <a:lnTo>
                  <a:pt x="250" y="351"/>
                </a:lnTo>
                <a:lnTo>
                  <a:pt x="223" y="351"/>
                </a:lnTo>
                <a:lnTo>
                  <a:pt x="244" y="277"/>
                </a:lnTo>
                <a:lnTo>
                  <a:pt x="221" y="277"/>
                </a:lnTo>
                <a:lnTo>
                  <a:pt x="221" y="254"/>
                </a:lnTo>
                <a:lnTo>
                  <a:pt x="344" y="254"/>
                </a:lnTo>
                <a:close/>
                <a:moveTo>
                  <a:pt x="109" y="75"/>
                </a:moveTo>
                <a:cubicBezTo>
                  <a:pt x="129" y="75"/>
                  <a:pt x="145" y="91"/>
                  <a:pt x="145" y="111"/>
                </a:cubicBezTo>
                <a:cubicBezTo>
                  <a:pt x="145" y="130"/>
                  <a:pt x="129" y="146"/>
                  <a:pt x="109" y="146"/>
                </a:cubicBezTo>
                <a:cubicBezTo>
                  <a:pt x="90" y="146"/>
                  <a:pt x="74" y="130"/>
                  <a:pt x="74" y="111"/>
                </a:cubicBezTo>
                <a:cubicBezTo>
                  <a:pt x="74" y="91"/>
                  <a:pt x="90" y="75"/>
                  <a:pt x="109" y="75"/>
                </a:cubicBezTo>
                <a:close/>
              </a:path>
            </a:pathLst>
          </a:custGeom>
          <a:solidFill>
            <a:schemeClr val="accent6"/>
          </a:solidFill>
          <a:ln>
            <a:noFill/>
          </a:ln>
        </p:spPr>
        <p:txBody>
          <a:bodyPr vert="horz" wrap="square" lIns="91416" tIns="45708" rIns="91416" bIns="45708" numCol="1" anchor="t" anchorCtr="0" compatLnSpc="1"/>
          <a:lstStyle/>
          <a:p>
            <a:endParaRPr lang="zh-CN" altLang="en-US" sz="2800" b="1">
              <a:solidFill>
                <a:schemeClr val="bg1"/>
              </a:solidFill>
              <a:latin typeface="Songti SC Black" panose="02010600040101010101" pitchFamily="2" charset="-122"/>
              <a:ea typeface="Songti SC Black" panose="02010600040101010101" pitchFamily="2" charset="-122"/>
            </a:endParaRPr>
          </a:p>
        </p:txBody>
      </p:sp>
      <p:pic>
        <p:nvPicPr>
          <p:cNvPr id="2" name="图片 1">
            <a:extLst>
              <a:ext uri="{FF2B5EF4-FFF2-40B4-BE49-F238E27FC236}">
                <a16:creationId xmlns:a16="http://schemas.microsoft.com/office/drawing/2014/main" id="{F4D3DCC3-0570-14DA-A297-B5849753B1AC}"/>
              </a:ext>
            </a:extLst>
          </p:cNvPr>
          <p:cNvPicPr>
            <a:picLocks noChangeAspect="1"/>
          </p:cNvPicPr>
          <p:nvPr/>
        </p:nvPicPr>
        <p:blipFill rotWithShape="1">
          <a:blip r:embed="rId10"/>
          <a:srcRect t="29956" r="-277"/>
          <a:stretch>
            <a:fillRect/>
          </a:stretch>
        </p:blipFill>
        <p:spPr>
          <a:xfrm>
            <a:off x="3330718" y="553354"/>
            <a:ext cx="5288915" cy="117331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0-#ppt_w/2"/>
                                          </p:val>
                                        </p:tav>
                                        <p:tav tm="100000">
                                          <p:val>
                                            <p:strVal val="#ppt_x"/>
                                          </p:val>
                                        </p:tav>
                                      </p:tavLst>
                                    </p:anim>
                                    <p:anim calcmode="lin" valueType="num">
                                      <p:cBhvr additive="base">
                                        <p:cTn id="8" dur="75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decel="5330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1+#ppt_w/2"/>
                                          </p:val>
                                        </p:tav>
                                        <p:tav tm="100000">
                                          <p:val>
                                            <p:strVal val="#ppt_x"/>
                                          </p:val>
                                        </p:tav>
                                      </p:tavLst>
                                    </p:anim>
                                    <p:anim calcmode="lin" valueType="num">
                                      <p:cBhvr additive="base">
                                        <p:cTn id="12" dur="750" fill="hold"/>
                                        <p:tgtEl>
                                          <p:spTgt spid="10"/>
                                        </p:tgtEl>
                                        <p:attrNameLst>
                                          <p:attrName>ppt_y</p:attrName>
                                        </p:attrNameLst>
                                      </p:cBhvr>
                                      <p:tavLst>
                                        <p:tav tm="0">
                                          <p:val>
                                            <p:strVal val="#ppt_y"/>
                                          </p:val>
                                        </p:tav>
                                        <p:tav tm="100000">
                                          <p:val>
                                            <p:strVal val="#ppt_y"/>
                                          </p:val>
                                        </p:tav>
                                      </p:tavLst>
                                    </p:anim>
                                  </p:childTnLst>
                                </p:cTn>
                              </p:par>
                            </p:childTnLst>
                          </p:cTn>
                        </p:par>
                        <p:par>
                          <p:cTn id="13" fill="hold">
                            <p:stCondLst>
                              <p:cond delay="750"/>
                            </p:stCondLst>
                            <p:childTnLst>
                              <p:par>
                                <p:cTn id="14" presetID="16" presetClass="entr" presetSubtype="21"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arn(inVertical)">
                                      <p:cBhvr>
                                        <p:cTn id="16" dur="750"/>
                                        <p:tgtEl>
                                          <p:spTgt spid="8"/>
                                        </p:tgtEl>
                                      </p:cBhvr>
                                    </p:animEffect>
                                  </p:childTnLst>
                                </p:cTn>
                              </p:par>
                            </p:childTnLst>
                          </p:cTn>
                        </p:par>
                        <p:par>
                          <p:cTn id="17" fill="hold">
                            <p:stCondLst>
                              <p:cond delay="1500"/>
                            </p:stCondLst>
                            <p:childTnLst>
                              <p:par>
                                <p:cTn id="18" presetID="50" presetClass="entr" presetSubtype="0" decel="100000" fill="hold" grpId="0" nodeType="afterEffect">
                                  <p:stCondLst>
                                    <p:cond delay="0"/>
                                  </p:stCondLst>
                                  <p:iterate type="lt">
                                    <p:tmPct val="10000"/>
                                  </p:iterate>
                                  <p:childTnLst>
                                    <p:set>
                                      <p:cBhvr>
                                        <p:cTn id="19" dur="1" fill="hold">
                                          <p:stCondLst>
                                            <p:cond delay="0"/>
                                          </p:stCondLst>
                                        </p:cTn>
                                        <p:tgtEl>
                                          <p:spTgt spid="15"/>
                                        </p:tgtEl>
                                        <p:attrNameLst>
                                          <p:attrName>style.visibility</p:attrName>
                                        </p:attrNameLst>
                                      </p:cBhvr>
                                      <p:to>
                                        <p:strVal val="visible"/>
                                      </p:to>
                                    </p:set>
                                    <p:anim calcmode="lin" valueType="num">
                                      <p:cBhvr>
                                        <p:cTn id="20" dur="1000" fill="hold"/>
                                        <p:tgtEl>
                                          <p:spTgt spid="15"/>
                                        </p:tgtEl>
                                        <p:attrNameLst>
                                          <p:attrName>ppt_w</p:attrName>
                                        </p:attrNameLst>
                                      </p:cBhvr>
                                      <p:tavLst>
                                        <p:tav tm="0">
                                          <p:val>
                                            <p:strVal val="#ppt_w+.3"/>
                                          </p:val>
                                        </p:tav>
                                        <p:tav tm="100000">
                                          <p:val>
                                            <p:strVal val="#ppt_w"/>
                                          </p:val>
                                        </p:tav>
                                      </p:tavLst>
                                    </p:anim>
                                    <p:anim calcmode="lin" valueType="num">
                                      <p:cBhvr>
                                        <p:cTn id="21" dur="1000" fill="hold"/>
                                        <p:tgtEl>
                                          <p:spTgt spid="15"/>
                                        </p:tgtEl>
                                        <p:attrNameLst>
                                          <p:attrName>ppt_h</p:attrName>
                                        </p:attrNameLst>
                                      </p:cBhvr>
                                      <p:tavLst>
                                        <p:tav tm="0">
                                          <p:val>
                                            <p:strVal val="#ppt_h"/>
                                          </p:val>
                                        </p:tav>
                                        <p:tav tm="100000">
                                          <p:val>
                                            <p:strVal val="#ppt_h"/>
                                          </p:val>
                                        </p:tav>
                                      </p:tavLst>
                                    </p:anim>
                                    <p:animEffect transition="in" filter="fade">
                                      <p:cBhvr>
                                        <p:cTn id="22" dur="1000"/>
                                        <p:tgtEl>
                                          <p:spTgt spid="15"/>
                                        </p:tgtEl>
                                      </p:cBhvr>
                                    </p:animEffect>
                                  </p:childTnLst>
                                </p:cTn>
                              </p:par>
                            </p:childTnLst>
                          </p:cTn>
                        </p:par>
                        <p:par>
                          <p:cTn id="23" fill="hold">
                            <p:stCondLst>
                              <p:cond delay="5000"/>
                            </p:stCondLst>
                            <p:childTnLst>
                              <p:par>
                                <p:cTn id="24" presetID="8" presetClass="entr" presetSubtype="32" fill="hold" grpId="0" nodeType="afterEffect">
                                  <p:stCondLst>
                                    <p:cond delay="0"/>
                                  </p:stCondLst>
                                  <p:iterate type="lt">
                                    <p:tmPct val="10000"/>
                                  </p:iterate>
                                  <p:childTnLst>
                                    <p:set>
                                      <p:cBhvr>
                                        <p:cTn id="25" dur="1" fill="hold">
                                          <p:stCondLst>
                                            <p:cond delay="0"/>
                                          </p:stCondLst>
                                        </p:cTn>
                                        <p:tgtEl>
                                          <p:spTgt spid="16"/>
                                        </p:tgtEl>
                                        <p:attrNameLst>
                                          <p:attrName>style.visibility</p:attrName>
                                        </p:attrNameLst>
                                      </p:cBhvr>
                                      <p:to>
                                        <p:strVal val="visible"/>
                                      </p:to>
                                    </p:set>
                                    <p:animEffect transition="in" filter="diamond(out)">
                                      <p:cBhvr>
                                        <p:cTn id="26" dur="1000"/>
                                        <p:tgtEl>
                                          <p:spTgt spid="16"/>
                                        </p:tgtEl>
                                      </p:cBhvr>
                                    </p:animEffect>
                                  </p:childTnLst>
                                </p:cTn>
                              </p:par>
                            </p:childTnLst>
                          </p:cTn>
                        </p:par>
                        <p:par>
                          <p:cTn id="27" fill="hold">
                            <p:stCondLst>
                              <p:cond delay="9300"/>
                            </p:stCondLst>
                            <p:childTnLst>
                              <p:par>
                                <p:cTn id="28" presetID="53" presetClass="entr" presetSubtype="16"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p:cTn id="30" dur="500" fill="hold"/>
                                        <p:tgtEl>
                                          <p:spTgt spid="11"/>
                                        </p:tgtEl>
                                        <p:attrNameLst>
                                          <p:attrName>ppt_w</p:attrName>
                                        </p:attrNameLst>
                                      </p:cBhvr>
                                      <p:tavLst>
                                        <p:tav tm="0">
                                          <p:val>
                                            <p:fltVal val="0"/>
                                          </p:val>
                                        </p:tav>
                                        <p:tav tm="100000">
                                          <p:val>
                                            <p:strVal val="#ppt_w"/>
                                          </p:val>
                                        </p:tav>
                                      </p:tavLst>
                                    </p:anim>
                                    <p:anim calcmode="lin" valueType="num">
                                      <p:cBhvr>
                                        <p:cTn id="31" dur="500" fill="hold"/>
                                        <p:tgtEl>
                                          <p:spTgt spid="11"/>
                                        </p:tgtEl>
                                        <p:attrNameLst>
                                          <p:attrName>ppt_h</p:attrName>
                                        </p:attrNameLst>
                                      </p:cBhvr>
                                      <p:tavLst>
                                        <p:tav tm="0">
                                          <p:val>
                                            <p:fltVal val="0"/>
                                          </p:val>
                                        </p:tav>
                                        <p:tav tm="100000">
                                          <p:val>
                                            <p:strVal val="#ppt_h"/>
                                          </p:val>
                                        </p:tav>
                                      </p:tavLst>
                                    </p:anim>
                                    <p:animEffect transition="in" filter="fade">
                                      <p:cBhvr>
                                        <p:cTn id="32" dur="500"/>
                                        <p:tgtEl>
                                          <p:spTgt spid="11"/>
                                        </p:tgtEl>
                                      </p:cBhvr>
                                    </p:animEffect>
                                  </p:childTnLst>
                                </p:cTn>
                              </p:par>
                            </p:childTnLst>
                          </p:cTn>
                        </p:par>
                        <p:par>
                          <p:cTn id="33" fill="hold">
                            <p:stCondLst>
                              <p:cond delay="9800"/>
                            </p:stCondLst>
                            <p:childTnLst>
                              <p:par>
                                <p:cTn id="34" presetID="22" presetClass="entr" presetSubtype="8"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childTnLst>
                          </p:cTn>
                        </p:par>
                        <p:par>
                          <p:cTn id="37" fill="hold">
                            <p:stCondLst>
                              <p:cond delay="10300"/>
                            </p:stCondLst>
                            <p:childTnLst>
                              <p:par>
                                <p:cTn id="38" presetID="53" presetClass="entr" presetSubtype="16" fill="hold" grpId="0" nodeType="after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p:cTn id="40" dur="500" fill="hold"/>
                                        <p:tgtEl>
                                          <p:spTgt spid="12"/>
                                        </p:tgtEl>
                                        <p:attrNameLst>
                                          <p:attrName>ppt_w</p:attrName>
                                        </p:attrNameLst>
                                      </p:cBhvr>
                                      <p:tavLst>
                                        <p:tav tm="0">
                                          <p:val>
                                            <p:fltVal val="0"/>
                                          </p:val>
                                        </p:tav>
                                        <p:tav tm="100000">
                                          <p:val>
                                            <p:strVal val="#ppt_w"/>
                                          </p:val>
                                        </p:tav>
                                      </p:tavLst>
                                    </p:anim>
                                    <p:anim calcmode="lin" valueType="num">
                                      <p:cBhvr>
                                        <p:cTn id="41" dur="500" fill="hold"/>
                                        <p:tgtEl>
                                          <p:spTgt spid="12"/>
                                        </p:tgtEl>
                                        <p:attrNameLst>
                                          <p:attrName>ppt_h</p:attrName>
                                        </p:attrNameLst>
                                      </p:cBhvr>
                                      <p:tavLst>
                                        <p:tav tm="0">
                                          <p:val>
                                            <p:fltVal val="0"/>
                                          </p:val>
                                        </p:tav>
                                        <p:tav tm="100000">
                                          <p:val>
                                            <p:strVal val="#ppt_h"/>
                                          </p:val>
                                        </p:tav>
                                      </p:tavLst>
                                    </p:anim>
                                    <p:animEffect transition="in" filter="fade">
                                      <p:cBhvr>
                                        <p:cTn id="42" dur="500"/>
                                        <p:tgtEl>
                                          <p:spTgt spid="12"/>
                                        </p:tgtEl>
                                      </p:cBhvr>
                                    </p:animEffect>
                                  </p:childTnLst>
                                </p:cTn>
                              </p:par>
                            </p:childTnLst>
                          </p:cTn>
                        </p:par>
                        <p:par>
                          <p:cTn id="43" fill="hold">
                            <p:stCondLst>
                              <p:cond delay="10800"/>
                            </p:stCondLst>
                            <p:childTnLst>
                              <p:par>
                                <p:cTn id="44" presetID="22" presetClass="entr" presetSubtype="8" fill="hold" grpId="0" nodeType="after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wipe(left)">
                                      <p:cBhvr>
                                        <p:cTn id="4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p:bldP spid="16" grpId="0"/>
      <p:bldP spid="13" grpId="0"/>
      <p:bldP spid="14" grpId="0"/>
      <p:bldP spid="11" grpId="0" bldLvl="0" animBg="1"/>
      <p:bldP spid="12"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FFCB6-6D5F-71F6-A5FB-3F8F2D355E69}"/>
            </a:ext>
          </a:extLst>
        </p:cNvPr>
        <p:cNvGrpSpPr/>
        <p:nvPr/>
      </p:nvGrpSpPr>
      <p:grpSpPr>
        <a:xfrm>
          <a:off x="0" y="0"/>
          <a:ext cx="0" cy="0"/>
          <a:chOff x="0" y="0"/>
          <a:chExt cx="0" cy="0"/>
        </a:xfrm>
      </p:grpSpPr>
      <p:sp>
        <p:nvSpPr>
          <p:cNvPr id="35" name="TextBox 6">
            <a:extLst>
              <a:ext uri="{FF2B5EF4-FFF2-40B4-BE49-F238E27FC236}">
                <a16:creationId xmlns:a16="http://schemas.microsoft.com/office/drawing/2014/main" id="{7048B051-3D3B-F40C-670E-0AA47AF30EBD}"/>
              </a:ext>
            </a:extLst>
          </p:cNvPr>
          <p:cNvSpPr txBox="1"/>
          <p:nvPr/>
        </p:nvSpPr>
        <p:spPr>
          <a:xfrm>
            <a:off x="378942" y="1007903"/>
            <a:ext cx="3313031" cy="527825"/>
          </a:xfrm>
          <a:prstGeom prst="rect">
            <a:avLst/>
          </a:prstGeom>
          <a:noFill/>
        </p:spPr>
        <p:txBody>
          <a:bodyPr wrap="square" lIns="0" tIns="48000" rIns="0" bIns="48000" rtlCol="0">
            <a:spAutoFit/>
          </a:bodyPr>
          <a:lstStyle/>
          <a:p>
            <a:pPr algn="ct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Flex-OS</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项目摘要</a:t>
            </a:r>
            <a:endParaRPr lang="zh-CN" altLang="en-US" sz="28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2" name="文本框 1">
            <a:extLst>
              <a:ext uri="{FF2B5EF4-FFF2-40B4-BE49-F238E27FC236}">
                <a16:creationId xmlns:a16="http://schemas.microsoft.com/office/drawing/2014/main" id="{9336D22C-AE78-AA73-A279-833D2EB61ACF}"/>
              </a:ext>
            </a:extLst>
          </p:cNvPr>
          <p:cNvSpPr txBox="1"/>
          <p:nvPr/>
        </p:nvSpPr>
        <p:spPr>
          <a:xfrm>
            <a:off x="378941" y="1599409"/>
            <a:ext cx="11261515" cy="3139505"/>
          </a:xfrm>
          <a:prstGeom prst="rect">
            <a:avLst/>
          </a:prstGeom>
        </p:spPr>
        <p:txBody>
          <a:bodyPr anchor="t">
            <a:noAutofit/>
          </a:bodyPr>
          <a:lstStyle/>
          <a:p>
            <a:pPr>
              <a:lnSpc>
                <a:spcPct val="80000"/>
              </a:lnSpc>
              <a:spcBef>
                <a:spcPts val="900"/>
              </a:spcBef>
              <a:spcAft>
                <a:spcPts val="900"/>
              </a:spcAft>
            </a:pPr>
            <a:r>
              <a:rPr lang="zh-CN" altLang="en-US" sz="2000" b="1">
                <a:latin typeface="Arial" panose="020B0604020202020204" pitchFamily="34" charset="0"/>
                <a:ea typeface="微软雅黑" panose="020B0503020204020204" pitchFamily="34" charset="-122"/>
                <a:cs typeface="黑体" panose="02010609060101010101" charset="-122"/>
              </a:rPr>
              <a:t>随着大语言模型（</a:t>
            </a:r>
            <a:r>
              <a:rPr lang="en-US" altLang="zh-CN" sz="2000" b="1">
                <a:latin typeface="Arial" panose="020B0604020202020204" pitchFamily="34" charset="0"/>
                <a:ea typeface="微软雅黑" panose="020B0503020204020204" pitchFamily="34" charset="-122"/>
                <a:cs typeface="黑体" panose="02010609060101010101" charset="-122"/>
              </a:rPr>
              <a:t>Large Language Model</a:t>
            </a:r>
            <a:r>
              <a:rPr lang="zh-CN" altLang="en-US" sz="2000" b="1">
                <a:latin typeface="Arial" panose="020B0604020202020204" pitchFamily="34" charset="0"/>
                <a:ea typeface="微软雅黑" panose="020B0503020204020204" pitchFamily="34" charset="-122"/>
                <a:cs typeface="黑体" panose="02010609060101010101" charset="-122"/>
              </a:rPr>
              <a:t>，</a:t>
            </a:r>
            <a:r>
              <a:rPr lang="en-US" altLang="zh-CN" sz="2000" b="1">
                <a:latin typeface="Arial" panose="020B0604020202020204" pitchFamily="34" charset="0"/>
                <a:ea typeface="微软雅黑" panose="020B0503020204020204" pitchFamily="34" charset="-122"/>
                <a:cs typeface="黑体" panose="02010609060101010101" charset="-122"/>
              </a:rPr>
              <a:t>LLM</a:t>
            </a:r>
            <a:r>
              <a:rPr lang="zh-CN" altLang="en-US" sz="2000" b="1">
                <a:latin typeface="Arial" panose="020B0604020202020204" pitchFamily="34" charset="0"/>
                <a:ea typeface="微软雅黑" panose="020B0503020204020204" pitchFamily="34" charset="-122"/>
                <a:cs typeface="黑体" panose="02010609060101010101" charset="-122"/>
              </a:rPr>
              <a:t>）逐步由云端数据中心向个人计算机、边缘设备及嵌入式平台迁移，有限物理内存成为制约端侧大模型部署的重要因素。</a:t>
            </a:r>
            <a:endParaRPr lang="en-US" altLang="zh-CN" sz="2000" b="1">
              <a:latin typeface="Arial" panose="020B0604020202020204" pitchFamily="34" charset="0"/>
              <a:ea typeface="微软雅黑" panose="020B0503020204020204" pitchFamily="34" charset="-122"/>
              <a:cs typeface="黑体" panose="02010609060101010101" charset="-122"/>
            </a:endParaRPr>
          </a:p>
          <a:p>
            <a:pPr marL="0" indent="0">
              <a:lnSpc>
                <a:spcPct val="80000"/>
              </a:lnSpc>
              <a:spcBef>
                <a:spcPts val="900"/>
              </a:spcBef>
              <a:spcAft>
                <a:spcPts val="900"/>
              </a:spcAft>
            </a:pPr>
            <a:r>
              <a:rPr lang="zh-CN" altLang="en-US" sz="2000" b="1">
                <a:latin typeface="Arial" panose="020B0604020202020204" pitchFamily="34" charset="0"/>
                <a:ea typeface="微软雅黑" panose="020B0503020204020204" pitchFamily="34" charset="-122"/>
              </a:rPr>
              <a:t>为此，我们基于 </a:t>
            </a:r>
            <a:r>
              <a:rPr lang="en-US" altLang="zh-CN" sz="2000" b="1">
                <a:latin typeface="Arial" panose="020B0604020202020204" pitchFamily="34" charset="0"/>
                <a:ea typeface="微软雅黑" panose="020B0503020204020204" pitchFamily="34" charset="-122"/>
              </a:rPr>
              <a:t>llama.cpp </a:t>
            </a:r>
            <a:r>
              <a:rPr lang="zh-CN" altLang="en-US" sz="2000" b="1">
                <a:latin typeface="Arial" panose="020B0604020202020204" pitchFamily="34" charset="0"/>
                <a:ea typeface="微软雅黑" panose="020B0503020204020204" pitchFamily="34" charset="-122"/>
              </a:rPr>
              <a:t>设计了一个面向内存受限环境的主动内存治理系统：</a:t>
            </a:r>
            <a:r>
              <a:rPr lang="en-US" altLang="zh-CN" sz="2000" b="1">
                <a:latin typeface="Arial" panose="020B0604020202020204" pitchFamily="34" charset="0"/>
                <a:ea typeface="微软雅黑" panose="020B0503020204020204" pitchFamily="34" charset="-122"/>
              </a:rPr>
              <a:t>Flex-OS</a:t>
            </a:r>
            <a:r>
              <a:rPr lang="zh-CN" altLang="en-US" sz="2000" b="1">
                <a:latin typeface="Arial" panose="020B0604020202020204" pitchFamily="34" charset="0"/>
                <a:ea typeface="微软雅黑" panose="020B0503020204020204" pitchFamily="34" charset="-122"/>
              </a:rPr>
              <a:t>，</a:t>
            </a:r>
            <a:br>
              <a:rPr lang="en-US" altLang="zh-CN" sz="2000" b="1">
                <a:latin typeface="Arial" panose="020B0604020202020204" pitchFamily="34" charset="0"/>
                <a:ea typeface="微软雅黑" panose="020B0503020204020204" pitchFamily="34" charset="-122"/>
              </a:rPr>
            </a:br>
            <a:r>
              <a:rPr lang="zh-CN" altLang="en-US" sz="2000" b="1">
                <a:latin typeface="Arial" panose="020B0604020202020204" pitchFamily="34" charset="0"/>
                <a:ea typeface="微软雅黑" panose="020B0503020204020204" pitchFamily="34" charset="-122"/>
              </a:rPr>
              <a:t>包含以下四个模块：</a:t>
            </a:r>
            <a:endParaRPr lang="en-US" altLang="zh-CN" b="1">
              <a:latin typeface="Arial" panose="020B0604020202020204" pitchFamily="34" charset="0"/>
              <a:ea typeface="微软雅黑" panose="020B0503020204020204" pitchFamily="34" charset="-122"/>
              <a:cs typeface="黑体" panose="02010609060101010101" charset="-122"/>
            </a:endParaRPr>
          </a:p>
          <a:p>
            <a:pPr marL="342900" indent="-342900">
              <a:lnSpc>
                <a:spcPct val="80000"/>
              </a:lnSpc>
              <a:spcBef>
                <a:spcPts val="900"/>
              </a:spcBef>
              <a:spcAft>
                <a:spcPts val="900"/>
              </a:spcAft>
              <a:buFont typeface="Wingdings" panose="05000000000000000000" pitchFamily="2" charset="2"/>
              <a:buChar char="n"/>
            </a:pPr>
            <a:r>
              <a:rPr lang="en-US" altLang="zh-CN" b="1">
                <a:latin typeface="Arial" panose="020B0604020202020204" pitchFamily="34" charset="0"/>
                <a:ea typeface="微软雅黑" panose="020B0503020204020204" pitchFamily="34" charset="-122"/>
                <a:cs typeface="黑体" panose="02010609060101010101" charset="-122"/>
              </a:rPr>
              <a:t>Dense Flex</a:t>
            </a:r>
            <a:r>
              <a:rPr lang="zh-CN" altLang="en-US" b="1">
                <a:latin typeface="Arial" panose="020B0604020202020204" pitchFamily="34" charset="0"/>
                <a:ea typeface="微软雅黑" panose="020B0503020204020204" pitchFamily="34" charset="-122"/>
                <a:cs typeface="黑体" panose="02010609060101010101" charset="-122"/>
              </a:rPr>
              <a:t>：按层管理权重，保留高收益工作集，减少重复权重 </a:t>
            </a:r>
            <a:r>
              <a:rPr lang="en-US" altLang="zh-CN" b="1">
                <a:latin typeface="Arial" panose="020B0604020202020204" pitchFamily="34" charset="0"/>
                <a:ea typeface="微软雅黑" panose="020B0503020204020204" pitchFamily="34" charset="-122"/>
                <a:cs typeface="黑体" panose="02010609060101010101" charset="-122"/>
              </a:rPr>
              <a:t>I/O</a:t>
            </a:r>
          </a:p>
          <a:p>
            <a:pPr marL="342900" indent="-342900">
              <a:lnSpc>
                <a:spcPct val="80000"/>
              </a:lnSpc>
              <a:spcBef>
                <a:spcPts val="900"/>
              </a:spcBef>
              <a:spcAft>
                <a:spcPts val="900"/>
              </a:spcAft>
              <a:buFont typeface="Wingdings" panose="05000000000000000000" pitchFamily="2" charset="2"/>
              <a:buChar char="n"/>
            </a:pPr>
            <a:r>
              <a:rPr lang="en-US" altLang="zh-CN" b="1">
                <a:latin typeface="Arial" panose="020B0604020202020204" pitchFamily="34" charset="0"/>
                <a:ea typeface="微软雅黑" panose="020B0503020204020204" pitchFamily="34" charset="-122"/>
                <a:cs typeface="黑体" panose="02010609060101010101" charset="-122"/>
              </a:rPr>
              <a:t>MoE Buffer</a:t>
            </a:r>
            <a:r>
              <a:rPr lang="zh-CN" altLang="en-US" b="1">
                <a:latin typeface="Arial" panose="020B0604020202020204" pitchFamily="34" charset="0"/>
                <a:ea typeface="微软雅黑" panose="020B0503020204020204" pitchFamily="34" charset="-122"/>
                <a:cs typeface="黑体" panose="02010609060101010101" charset="-122"/>
              </a:rPr>
              <a:t>：缓存专家权重，预测热点专家，降低专家切换开销</a:t>
            </a:r>
            <a:endParaRPr lang="en-US" altLang="zh-CN" b="1">
              <a:latin typeface="Arial" panose="020B0604020202020204" pitchFamily="34" charset="0"/>
              <a:ea typeface="微软雅黑" panose="020B0503020204020204" pitchFamily="34" charset="-122"/>
              <a:cs typeface="黑体" panose="02010609060101010101" charset="-122"/>
            </a:endParaRPr>
          </a:p>
          <a:p>
            <a:pPr marL="342900" indent="-342900">
              <a:lnSpc>
                <a:spcPct val="80000"/>
              </a:lnSpc>
              <a:spcBef>
                <a:spcPts val="900"/>
              </a:spcBef>
              <a:spcAft>
                <a:spcPts val="900"/>
              </a:spcAft>
              <a:buFont typeface="Wingdings" panose="05000000000000000000" pitchFamily="2" charset="2"/>
              <a:buChar char="n"/>
            </a:pPr>
            <a:r>
              <a:rPr lang="en-US" altLang="zh-CN" b="1">
                <a:latin typeface="Arial" panose="020B0604020202020204" pitchFamily="34" charset="0"/>
                <a:ea typeface="微软雅黑" panose="020B0503020204020204" pitchFamily="34" charset="-122"/>
                <a:cs typeface="黑体" panose="02010609060101010101" charset="-122"/>
              </a:rPr>
              <a:t>KV Cache Controller</a:t>
            </a:r>
            <a:r>
              <a:rPr lang="zh-CN" altLang="en-US" b="1">
                <a:latin typeface="Arial" panose="020B0604020202020204" pitchFamily="34" charset="0"/>
                <a:ea typeface="微软雅黑" panose="020B0503020204020204" pitchFamily="34" charset="-122"/>
                <a:cs typeface="黑体" panose="02010609060101010101" charset="-122"/>
              </a:rPr>
              <a:t>：解耦</a:t>
            </a:r>
            <a:r>
              <a:rPr lang="en-US" altLang="zh-CN" b="1">
                <a:latin typeface="Arial" panose="020B0604020202020204" pitchFamily="34" charset="0"/>
                <a:ea typeface="微软雅黑" panose="020B0503020204020204" pitchFamily="34" charset="-122"/>
                <a:cs typeface="黑体" panose="02010609060101010101" charset="-122"/>
              </a:rPr>
              <a:t>KV</a:t>
            </a:r>
            <a:r>
              <a:rPr lang="zh-CN" altLang="en-US" b="1">
                <a:latin typeface="Arial" panose="020B0604020202020204" pitchFamily="34" charset="0"/>
                <a:ea typeface="微软雅黑" panose="020B0503020204020204" pitchFamily="34" charset="-122"/>
                <a:cs typeface="黑体" panose="02010609060101010101" charset="-122"/>
              </a:rPr>
              <a:t>缓存物理状态与驻留，支持动态释放与恢复，降低长上下文内存压力</a:t>
            </a:r>
            <a:endParaRPr lang="en-US" altLang="zh-CN" b="1">
              <a:latin typeface="Arial" panose="020B0604020202020204" pitchFamily="34" charset="0"/>
              <a:ea typeface="微软雅黑" panose="020B0503020204020204" pitchFamily="34" charset="-122"/>
              <a:cs typeface="黑体" panose="02010609060101010101" charset="-122"/>
            </a:endParaRPr>
          </a:p>
          <a:p>
            <a:pPr marL="342900" indent="-342900">
              <a:lnSpc>
                <a:spcPct val="80000"/>
              </a:lnSpc>
              <a:spcBef>
                <a:spcPts val="900"/>
              </a:spcBef>
              <a:spcAft>
                <a:spcPts val="900"/>
              </a:spcAft>
              <a:buFont typeface="Wingdings" panose="05000000000000000000" pitchFamily="2" charset="2"/>
              <a:buChar char="n"/>
            </a:pPr>
            <a:r>
              <a:rPr lang="en-US" altLang="zh-CN" b="1">
                <a:latin typeface="Arial" panose="020B0604020202020204" pitchFamily="34" charset="0"/>
                <a:ea typeface="微软雅黑" panose="020B0503020204020204" pitchFamily="34" charset="-122"/>
                <a:cs typeface="黑体" panose="02010609060101010101" charset="-122"/>
              </a:rPr>
              <a:t>Global Memory Governor</a:t>
            </a:r>
            <a:r>
              <a:rPr lang="zh-CN" altLang="en-US" b="1">
                <a:latin typeface="Arial" panose="020B0604020202020204" pitchFamily="34" charset="0"/>
                <a:ea typeface="微软雅黑" panose="020B0503020204020204" pitchFamily="34" charset="-122"/>
                <a:cs typeface="黑体" panose="02010609060101010101" charset="-122"/>
              </a:rPr>
              <a:t>：感知内存压力，统一调度资源，提高整体资源利用率</a:t>
            </a:r>
            <a:endPar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endParaRPr>
          </a:p>
        </p:txBody>
      </p:sp>
      <p:pic>
        <p:nvPicPr>
          <p:cNvPr id="5" name="图片 4">
            <a:extLst>
              <a:ext uri="{FF2B5EF4-FFF2-40B4-BE49-F238E27FC236}">
                <a16:creationId xmlns:a16="http://schemas.microsoft.com/office/drawing/2014/main" id="{22DFD560-6863-2EF3-ECF5-82AE5F6B375B}"/>
              </a:ext>
            </a:extLst>
          </p:cNvPr>
          <p:cNvPicPr>
            <a:picLocks/>
          </p:cNvPicPr>
          <p:nvPr/>
        </p:nvPicPr>
        <p:blipFill>
          <a:blip r:embed="rId3" cstate="print">
            <a:extLst>
              <a:ext uri="{28A0092B-C50C-407E-A947-70E740481C1C}">
                <a14:useLocalDpi xmlns:a14="http://schemas.microsoft.com/office/drawing/2010/main" val="0"/>
              </a:ext>
            </a:extLst>
          </a:blip>
          <a:srcRect r="15761"/>
          <a:stretch>
            <a:fillRect/>
          </a:stretch>
        </p:blipFill>
        <p:spPr>
          <a:xfrm>
            <a:off x="8964979" y="2700706"/>
            <a:ext cx="2434343" cy="1204544"/>
          </a:xfrm>
          <a:prstGeom prst="rect">
            <a:avLst/>
          </a:prstGeom>
        </p:spPr>
      </p:pic>
      <p:sp>
        <p:nvSpPr>
          <p:cNvPr id="13" name="矩形 4">
            <a:extLst>
              <a:ext uri="{FF2B5EF4-FFF2-40B4-BE49-F238E27FC236}">
                <a16:creationId xmlns:a16="http://schemas.microsoft.com/office/drawing/2014/main" id="{A531A710-2B10-3D14-58B5-4D109493EF13}"/>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cxnSp>
        <p:nvCxnSpPr>
          <p:cNvPr id="15" name="直接连接符 14">
            <a:extLst>
              <a:ext uri="{FF2B5EF4-FFF2-40B4-BE49-F238E27FC236}">
                <a16:creationId xmlns:a16="http://schemas.microsoft.com/office/drawing/2014/main" id="{F10E018D-F044-98BF-6B68-FD793915C12E}"/>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1E9D1AA2-3625-5292-B865-9C3F57EF1DD5}"/>
              </a:ext>
            </a:extLst>
          </p:cNvPr>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Box 9">
            <a:extLst>
              <a:ext uri="{FF2B5EF4-FFF2-40B4-BE49-F238E27FC236}">
                <a16:creationId xmlns:a16="http://schemas.microsoft.com/office/drawing/2014/main" id="{614BA754-3ACA-9018-C1CF-7015114CE76D}"/>
              </a:ext>
            </a:extLst>
          </p:cNvPr>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a:solidFill>
                  <a:schemeClr val="bg1">
                    <a:lumMod val="50000"/>
                  </a:schemeClr>
                </a:solidFill>
                <a:latin typeface="Arial" panose="020B0604020202020204" pitchFamily="34" charset="0"/>
                <a:ea typeface="微软雅黑" panose="020B0503020204020204" pitchFamily="34" charset="-122"/>
              </a:rPr>
              <a:t>项目实</a:t>
            </a:r>
            <a:r>
              <a:rPr lang="zh-CN" altLang="en-US" sz="1600" b="1" dirty="0">
                <a:solidFill>
                  <a:schemeClr val="bg1">
                    <a:lumMod val="50000"/>
                  </a:schemeClr>
                </a:solidFill>
                <a:latin typeface="Arial" panose="020B0604020202020204" pitchFamily="34" charset="0"/>
                <a:ea typeface="微软雅黑" panose="020B0503020204020204" pitchFamily="34" charset="-122"/>
              </a:rPr>
              <a:t>现</a:t>
            </a:r>
          </a:p>
        </p:txBody>
      </p:sp>
      <p:sp>
        <p:nvSpPr>
          <p:cNvPr id="21" name="TextBox 10">
            <a:extLst>
              <a:ext uri="{FF2B5EF4-FFF2-40B4-BE49-F238E27FC236}">
                <a16:creationId xmlns:a16="http://schemas.microsoft.com/office/drawing/2014/main" id="{3D378696-E3F5-7756-B5FE-758E3CBF00FE}"/>
              </a:ext>
            </a:extLst>
          </p:cNvPr>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rPr>
              <a:t>项目测试</a:t>
            </a:r>
          </a:p>
        </p:txBody>
      </p:sp>
      <p:sp>
        <p:nvSpPr>
          <p:cNvPr id="32" name="TextBox 11">
            <a:extLst>
              <a:ext uri="{FF2B5EF4-FFF2-40B4-BE49-F238E27FC236}">
                <a16:creationId xmlns:a16="http://schemas.microsoft.com/office/drawing/2014/main" id="{76BD97F2-6B9A-5B06-9F4F-374D83AB765E}"/>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rPr>
              <a:t>项目总结</a:t>
            </a:r>
          </a:p>
        </p:txBody>
      </p:sp>
      <p:cxnSp>
        <p:nvCxnSpPr>
          <p:cNvPr id="33" name="直接连接符 32">
            <a:extLst>
              <a:ext uri="{FF2B5EF4-FFF2-40B4-BE49-F238E27FC236}">
                <a16:creationId xmlns:a16="http://schemas.microsoft.com/office/drawing/2014/main" id="{DB3761B2-3EF3-432C-C60C-00B4CCEE3D79}"/>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TextBox 6">
            <a:extLst>
              <a:ext uri="{FF2B5EF4-FFF2-40B4-BE49-F238E27FC236}">
                <a16:creationId xmlns:a16="http://schemas.microsoft.com/office/drawing/2014/main" id="{546322C9-CF02-1D86-0158-296AFD965FE0}"/>
              </a:ext>
            </a:extLst>
          </p:cNvPr>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45" name="TextBox 7">
            <a:extLst>
              <a:ext uri="{FF2B5EF4-FFF2-40B4-BE49-F238E27FC236}">
                <a16:creationId xmlns:a16="http://schemas.microsoft.com/office/drawing/2014/main" id="{BB6F73C4-F6BF-FE4D-599A-E5612E0D7B44}"/>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cxnSp>
        <p:nvCxnSpPr>
          <p:cNvPr id="46" name="直接连接符 45">
            <a:extLst>
              <a:ext uri="{FF2B5EF4-FFF2-40B4-BE49-F238E27FC236}">
                <a16:creationId xmlns:a16="http://schemas.microsoft.com/office/drawing/2014/main" id="{ADC29FA4-21E2-FEAE-9674-05202CC6ADFE}"/>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62CAED23-F985-6513-0DE8-CBD75F55EE46}"/>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9" name="图片 48">
            <a:extLst>
              <a:ext uri="{FF2B5EF4-FFF2-40B4-BE49-F238E27FC236}">
                <a16:creationId xmlns:a16="http://schemas.microsoft.com/office/drawing/2014/main" id="{5BCCA30F-C461-285E-A96C-99FA9167E727}"/>
              </a:ext>
            </a:extLst>
          </p:cNvPr>
          <p:cNvPicPr>
            <a:picLocks noChangeAspect="1"/>
          </p:cNvPicPr>
          <p:nvPr/>
        </p:nvPicPr>
        <p:blipFill rotWithShape="1">
          <a:blip r:embed="rId4"/>
          <a:srcRect t="29956" r="-277"/>
          <a:stretch>
            <a:fillRect/>
          </a:stretch>
        </p:blipFill>
        <p:spPr>
          <a:xfrm>
            <a:off x="195620" y="89117"/>
            <a:ext cx="2766644" cy="613765"/>
          </a:xfrm>
          <a:prstGeom prst="rect">
            <a:avLst/>
          </a:prstGeom>
        </p:spPr>
      </p:pic>
      <p:sp>
        <p:nvSpPr>
          <p:cNvPr id="50" name="文本框 49">
            <a:extLst>
              <a:ext uri="{FF2B5EF4-FFF2-40B4-BE49-F238E27FC236}">
                <a16:creationId xmlns:a16="http://schemas.microsoft.com/office/drawing/2014/main" id="{626B7325-CB7D-DF18-67C5-757FD612E6B5}"/>
              </a:ext>
            </a:extLst>
          </p:cNvPr>
          <p:cNvSpPr txBox="1"/>
          <p:nvPr/>
        </p:nvSpPr>
        <p:spPr>
          <a:xfrm>
            <a:off x="378942" y="4738914"/>
            <a:ext cx="11515516" cy="2423740"/>
          </a:xfrm>
          <a:prstGeom prst="rect">
            <a:avLst/>
          </a:prstGeom>
          <a:noFill/>
        </p:spPr>
        <p:txBody>
          <a:bodyPr wrap="square" rtlCol="0">
            <a:spAutoFit/>
          </a:bodyPr>
          <a:lstStyle/>
          <a:p>
            <a:pPr>
              <a:lnSpc>
                <a:spcPct val="90000"/>
              </a:lnSpc>
              <a:spcBef>
                <a:spcPts val="900"/>
              </a:spcBef>
              <a:spcAft>
                <a:spcPts val="900"/>
              </a:spcAft>
            </a:pPr>
            <a:r>
              <a:rPr lang="zh-CN" altLang="en-US" b="1">
                <a:latin typeface="Arial" panose="020B0604020202020204" pitchFamily="34" charset="0"/>
                <a:ea typeface="微软雅黑" panose="020B0503020204020204" pitchFamily="34" charset="-122"/>
                <a:cs typeface="黑体" panose="02010609060101010101" charset="-122"/>
              </a:rPr>
              <a:t>实验效果：</a:t>
            </a:r>
          </a:p>
          <a:p>
            <a:pPr marL="285750" indent="-285750">
              <a:lnSpc>
                <a:spcPct val="90000"/>
              </a:lnSpc>
              <a:spcBef>
                <a:spcPts val="900"/>
              </a:spcBef>
              <a:spcAft>
                <a:spcPts val="900"/>
              </a:spcAft>
              <a:buFont typeface="Wingdings" panose="05000000000000000000" pitchFamily="2" charset="2"/>
              <a:buChar char="n"/>
            </a:pPr>
            <a:r>
              <a:rPr lang="zh-CN" altLang="en-US" b="1">
                <a:latin typeface="Arial" panose="020B0604020202020204" pitchFamily="34" charset="0"/>
                <a:ea typeface="微软雅黑" panose="020B0503020204020204" pitchFamily="34" charset="-122"/>
                <a:cs typeface="黑体" panose="02010609060101010101" charset="-122"/>
              </a:rPr>
              <a:t>峰值物理内存降幅：</a:t>
            </a:r>
            <a:r>
              <a:rPr lang="en-US" altLang="zh-CN" b="1">
                <a:latin typeface="Arial" panose="020B0604020202020204" pitchFamily="34" charset="0"/>
                <a:ea typeface="微软雅黑" panose="020B0503020204020204" pitchFamily="34" charset="-122"/>
                <a:cs typeface="黑体" panose="02010609060101010101" charset="-122"/>
              </a:rPr>
              <a:t> Dense </a:t>
            </a:r>
            <a:r>
              <a:rPr lang="zh-CN" altLang="en-US" b="1">
                <a:latin typeface="Arial" panose="020B0604020202020204" pitchFamily="34" charset="0"/>
                <a:ea typeface="微软雅黑" panose="020B0503020204020204" pitchFamily="34" charset="-122"/>
                <a:cs typeface="黑体" panose="02010609060101010101" charset="-122"/>
              </a:rPr>
              <a:t>模型降至 </a:t>
            </a:r>
            <a:r>
              <a:rPr lang="en-US" altLang="zh-CN" b="1">
                <a:latin typeface="Arial" panose="020B0604020202020204" pitchFamily="34" charset="0"/>
                <a:ea typeface="微软雅黑" panose="020B0503020204020204" pitchFamily="34" charset="-122"/>
                <a:cs typeface="黑体" panose="02010609060101010101" charset="-122"/>
              </a:rPr>
              <a:t>2597.89 MB</a:t>
            </a:r>
            <a:r>
              <a:rPr lang="zh-CN" altLang="en-US" b="1">
                <a:latin typeface="Arial" panose="020B0604020202020204" pitchFamily="34" charset="0"/>
                <a:ea typeface="微软雅黑" panose="020B0503020204020204" pitchFamily="34" charset="-122"/>
                <a:cs typeface="黑体" panose="02010609060101010101" charset="-122"/>
              </a:rPr>
              <a:t>，降幅 </a:t>
            </a:r>
            <a:r>
              <a:rPr lang="en-US" altLang="zh-CN" b="1">
                <a:solidFill>
                  <a:srgbClr val="FF0000"/>
                </a:solidFill>
                <a:latin typeface="Arial" panose="020B0604020202020204" pitchFamily="34" charset="0"/>
                <a:ea typeface="微软雅黑" panose="020B0503020204020204" pitchFamily="34" charset="-122"/>
                <a:cs typeface="黑体" panose="02010609060101010101" charset="-122"/>
              </a:rPr>
              <a:t>7.28%</a:t>
            </a:r>
            <a:r>
              <a:rPr lang="zh-CN" altLang="en-US" b="1">
                <a:latin typeface="Arial" panose="020B0604020202020204" pitchFamily="34" charset="0"/>
                <a:ea typeface="微软雅黑" panose="020B0503020204020204" pitchFamily="34" charset="-122"/>
                <a:cs typeface="黑体" panose="02010609060101010101" charset="-122"/>
              </a:rPr>
              <a:t>； </a:t>
            </a:r>
            <a:r>
              <a:rPr lang="en-US" altLang="zh-CN" b="1">
                <a:latin typeface="Arial" panose="020B0604020202020204" pitchFamily="34" charset="0"/>
                <a:ea typeface="微软雅黑" panose="020B0503020204020204" pitchFamily="34" charset="-122"/>
                <a:cs typeface="黑体" panose="02010609060101010101" charset="-122"/>
              </a:rPr>
              <a:t>MoE </a:t>
            </a:r>
            <a:r>
              <a:rPr lang="zh-CN" altLang="en-US" b="1">
                <a:latin typeface="Arial" panose="020B0604020202020204" pitchFamily="34" charset="0"/>
                <a:ea typeface="微软雅黑" panose="020B0503020204020204" pitchFamily="34" charset="-122"/>
                <a:cs typeface="黑体" panose="02010609060101010101" charset="-122"/>
              </a:rPr>
              <a:t>模型降至 </a:t>
            </a:r>
            <a:r>
              <a:rPr lang="en-US" altLang="zh-CN" b="1">
                <a:latin typeface="Arial" panose="020B0604020202020204" pitchFamily="34" charset="0"/>
                <a:ea typeface="微软雅黑" panose="020B0503020204020204" pitchFamily="34" charset="-122"/>
                <a:cs typeface="黑体" panose="02010609060101010101" charset="-122"/>
              </a:rPr>
              <a:t>1954.75 MB</a:t>
            </a:r>
            <a:r>
              <a:rPr lang="zh-CN" altLang="en-US" b="1">
                <a:latin typeface="Arial" panose="020B0604020202020204" pitchFamily="34" charset="0"/>
                <a:ea typeface="微软雅黑" panose="020B0503020204020204" pitchFamily="34" charset="-122"/>
                <a:cs typeface="黑体" panose="02010609060101010101" charset="-122"/>
              </a:rPr>
              <a:t>，降幅 </a:t>
            </a:r>
            <a:r>
              <a:rPr lang="en-US" altLang="zh-CN" b="1">
                <a:solidFill>
                  <a:srgbClr val="FF0000"/>
                </a:solidFill>
                <a:latin typeface="Arial" panose="020B0604020202020204" pitchFamily="34" charset="0"/>
                <a:ea typeface="微软雅黑" panose="020B0503020204020204" pitchFamily="34" charset="-122"/>
                <a:cs typeface="黑体" panose="02010609060101010101" charset="-122"/>
              </a:rPr>
              <a:t>30.2%</a:t>
            </a:r>
            <a:r>
              <a:rPr lang="zh-CN" altLang="en-US" b="1">
                <a:latin typeface="Arial" panose="020B0604020202020204" pitchFamily="34" charset="0"/>
                <a:ea typeface="微软雅黑" panose="020B0503020204020204" pitchFamily="34" charset="-122"/>
                <a:cs typeface="黑体" panose="02010609060101010101" charset="-122"/>
              </a:rPr>
              <a:t>。</a:t>
            </a:r>
            <a:endParaRPr lang="en-US" altLang="zh-CN" b="1">
              <a:latin typeface="Arial" panose="020B0604020202020204" pitchFamily="34" charset="0"/>
              <a:ea typeface="微软雅黑" panose="020B0503020204020204" pitchFamily="34" charset="-122"/>
              <a:cs typeface="黑体" panose="02010609060101010101" charset="-122"/>
            </a:endParaRPr>
          </a:p>
          <a:p>
            <a:pPr marL="285750" indent="-285750">
              <a:lnSpc>
                <a:spcPct val="90000"/>
              </a:lnSpc>
              <a:spcBef>
                <a:spcPts val="900"/>
              </a:spcBef>
              <a:spcAft>
                <a:spcPts val="900"/>
              </a:spcAft>
              <a:buFont typeface="Wingdings" panose="05000000000000000000" pitchFamily="2" charset="2"/>
              <a:buChar char="n"/>
            </a:pPr>
            <a:r>
              <a:rPr lang="zh-CN" altLang="en-US" b="1">
                <a:latin typeface="Arial" panose="020B0604020202020204" pitchFamily="34" charset="0"/>
                <a:ea typeface="微软雅黑" panose="020B0503020204020204" pitchFamily="34" charset="-122"/>
                <a:cs typeface="黑体" panose="02010609060101010101" charset="-122"/>
              </a:rPr>
              <a:t>推理吞吐提升：</a:t>
            </a:r>
            <a:r>
              <a:rPr lang="en-US" altLang="zh-CN" b="1">
                <a:latin typeface="Arial" panose="020B0604020202020204" pitchFamily="34" charset="0"/>
                <a:ea typeface="微软雅黑" panose="020B0503020204020204" pitchFamily="34" charset="-122"/>
                <a:cs typeface="黑体" panose="02010609060101010101" charset="-122"/>
              </a:rPr>
              <a:t>Dense </a:t>
            </a:r>
            <a:r>
              <a:rPr lang="zh-CN" altLang="en-US" b="1">
                <a:latin typeface="Arial" panose="020B0604020202020204" pitchFamily="34" charset="0"/>
                <a:ea typeface="微软雅黑" panose="020B0503020204020204" pitchFamily="34" charset="-122"/>
                <a:cs typeface="黑体" panose="02010609060101010101" charset="-122"/>
              </a:rPr>
              <a:t>模型吞吐由 </a:t>
            </a:r>
            <a:r>
              <a:rPr lang="en-US" altLang="zh-CN" b="1">
                <a:latin typeface="Arial" panose="020B0604020202020204" pitchFamily="34" charset="0"/>
                <a:ea typeface="微软雅黑" panose="020B0503020204020204" pitchFamily="34" charset="-122"/>
                <a:cs typeface="黑体" panose="02010609060101010101" charset="-122"/>
              </a:rPr>
              <a:t>3.09 token/s </a:t>
            </a:r>
            <a:r>
              <a:rPr lang="zh-CN" altLang="en-US" b="1">
                <a:latin typeface="Arial" panose="020B0604020202020204" pitchFamily="34" charset="0"/>
                <a:ea typeface="微软雅黑" panose="020B0503020204020204" pitchFamily="34" charset="-122"/>
                <a:cs typeface="黑体" panose="02010609060101010101" charset="-122"/>
              </a:rPr>
              <a:t>提升至 </a:t>
            </a:r>
            <a:r>
              <a:rPr lang="en-US" altLang="zh-CN" b="1">
                <a:latin typeface="Arial" panose="020B0604020202020204" pitchFamily="34" charset="0"/>
                <a:ea typeface="微软雅黑" panose="020B0503020204020204" pitchFamily="34" charset="-122"/>
                <a:cs typeface="黑体" panose="02010609060101010101" charset="-122"/>
              </a:rPr>
              <a:t>4.73 token/s</a:t>
            </a:r>
            <a:r>
              <a:rPr lang="zh-CN" altLang="en-US" b="1">
                <a:latin typeface="Arial" panose="020B0604020202020204" pitchFamily="34" charset="0"/>
                <a:ea typeface="微软雅黑" panose="020B0503020204020204" pitchFamily="34" charset="-122"/>
                <a:cs typeface="黑体" panose="02010609060101010101" charset="-122"/>
              </a:rPr>
              <a:t>，提升 </a:t>
            </a:r>
            <a:r>
              <a:rPr lang="en-US" altLang="zh-CN" b="1">
                <a:solidFill>
                  <a:srgbClr val="FF0000"/>
                </a:solidFill>
                <a:latin typeface="Arial" panose="020B0604020202020204" pitchFamily="34" charset="0"/>
                <a:ea typeface="微软雅黑" panose="020B0503020204020204" pitchFamily="34" charset="-122"/>
                <a:cs typeface="黑体" panose="02010609060101010101" charset="-122"/>
              </a:rPr>
              <a:t>53.07% </a:t>
            </a:r>
            <a:r>
              <a:rPr lang="zh-CN" altLang="en-US" b="1">
                <a:latin typeface="Arial" panose="020B0604020202020204" pitchFamily="34" charset="0"/>
                <a:ea typeface="微软雅黑" panose="020B0503020204020204" pitchFamily="34" charset="-122"/>
                <a:cs typeface="黑体" panose="02010609060101010101" charset="-122"/>
              </a:rPr>
              <a:t>；</a:t>
            </a:r>
            <a:r>
              <a:rPr lang="en-US" altLang="zh-CN" b="1">
                <a:latin typeface="Arial" panose="020B0604020202020204" pitchFamily="34" charset="0"/>
                <a:ea typeface="微软雅黑" panose="020B0503020204020204" pitchFamily="34" charset="-122"/>
                <a:cs typeface="黑体" panose="02010609060101010101" charset="-122"/>
              </a:rPr>
              <a:t> MoE </a:t>
            </a:r>
            <a:r>
              <a:rPr lang="zh-CN" altLang="en-US" b="1">
                <a:latin typeface="Arial" panose="020B0604020202020204" pitchFamily="34" charset="0"/>
                <a:ea typeface="微软雅黑" panose="020B0503020204020204" pitchFamily="34" charset="-122"/>
                <a:cs typeface="黑体" panose="02010609060101010101" charset="-122"/>
              </a:rPr>
              <a:t>模型吞吐由</a:t>
            </a:r>
            <a:r>
              <a:rPr lang="en-US" altLang="zh-CN" b="1">
                <a:latin typeface="Arial" panose="020B0604020202020204" pitchFamily="34" charset="0"/>
                <a:ea typeface="微软雅黑" panose="020B0503020204020204" pitchFamily="34" charset="-122"/>
                <a:cs typeface="黑体" panose="02010609060101010101" charset="-122"/>
              </a:rPr>
              <a:t>7.34token/s </a:t>
            </a:r>
            <a:r>
              <a:rPr lang="zh-CN" altLang="en-US" b="1">
                <a:latin typeface="Arial" panose="020B0604020202020204" pitchFamily="34" charset="0"/>
                <a:ea typeface="微软雅黑" panose="020B0503020204020204" pitchFamily="34" charset="-122"/>
                <a:cs typeface="黑体" panose="02010609060101010101" charset="-122"/>
              </a:rPr>
              <a:t>提升至</a:t>
            </a:r>
            <a:r>
              <a:rPr lang="en-US" altLang="zh-CN" b="1">
                <a:latin typeface="Arial" panose="020B0604020202020204" pitchFamily="34" charset="0"/>
                <a:ea typeface="微软雅黑" panose="020B0503020204020204" pitchFamily="34" charset="-122"/>
                <a:cs typeface="黑体" panose="02010609060101010101" charset="-122"/>
              </a:rPr>
              <a:t> 11.46 token/s</a:t>
            </a:r>
            <a:r>
              <a:rPr lang="zh-CN" altLang="en-US" b="1">
                <a:latin typeface="Arial" panose="020B0604020202020204" pitchFamily="34" charset="0"/>
                <a:ea typeface="微软雅黑" panose="020B0503020204020204" pitchFamily="34" charset="-122"/>
                <a:cs typeface="黑体" panose="02010609060101010101" charset="-122"/>
              </a:rPr>
              <a:t>，提升 </a:t>
            </a:r>
            <a:r>
              <a:rPr lang="en-US" altLang="zh-CN" b="1">
                <a:solidFill>
                  <a:srgbClr val="FF0000"/>
                </a:solidFill>
                <a:latin typeface="Arial" panose="020B0604020202020204" pitchFamily="34" charset="0"/>
                <a:ea typeface="微软雅黑" panose="020B0503020204020204" pitchFamily="34" charset="-122"/>
                <a:cs typeface="黑体" panose="02010609060101010101" charset="-122"/>
              </a:rPr>
              <a:t>56.13%</a:t>
            </a:r>
            <a:r>
              <a:rPr lang="zh-CN" altLang="en-US" b="1">
                <a:latin typeface="Arial" panose="020B0604020202020204" pitchFamily="34" charset="0"/>
                <a:ea typeface="微软雅黑" panose="020B0503020204020204" pitchFamily="34" charset="-122"/>
                <a:cs typeface="黑体" panose="02010609060101010101" charset="-122"/>
              </a:rPr>
              <a:t>；</a:t>
            </a:r>
          </a:p>
          <a:p>
            <a:pPr marL="285750" indent="-285750">
              <a:lnSpc>
                <a:spcPct val="90000"/>
              </a:lnSpc>
              <a:spcBef>
                <a:spcPts val="900"/>
              </a:spcBef>
              <a:spcAft>
                <a:spcPts val="900"/>
              </a:spcAft>
              <a:buFont typeface="Wingdings" panose="05000000000000000000" pitchFamily="2" charset="2"/>
              <a:buChar char="n"/>
            </a:pPr>
            <a:r>
              <a:rPr lang="zh-CN" altLang="en-US" b="1">
                <a:latin typeface="Arial" panose="020B0604020202020204" pitchFamily="34" charset="0"/>
                <a:ea typeface="微软雅黑" panose="020B0503020204020204" pitchFamily="34" charset="-122"/>
                <a:cs typeface="黑体" panose="02010609060101010101" charset="-122"/>
              </a:rPr>
              <a:t>正确性与稳定性保证：</a:t>
            </a:r>
            <a:r>
              <a:rPr lang="en-US" altLang="zh-CN" b="1">
                <a:latin typeface="Arial" panose="020B0604020202020204" pitchFamily="34" charset="0"/>
                <a:ea typeface="微软雅黑" panose="020B0503020204020204" pitchFamily="34" charset="-122"/>
                <a:cs typeface="黑体" panose="02010609060101010101" charset="-122"/>
              </a:rPr>
              <a:t>Dense </a:t>
            </a:r>
            <a:r>
              <a:rPr lang="zh-CN" altLang="en-US" b="1">
                <a:latin typeface="Arial" panose="020B0604020202020204" pitchFamily="34" charset="0"/>
                <a:ea typeface="微软雅黑" panose="020B0503020204020204" pitchFamily="34" charset="-122"/>
                <a:cs typeface="黑体" panose="02010609060101010101" charset="-122"/>
              </a:rPr>
              <a:t>与 </a:t>
            </a:r>
            <a:r>
              <a:rPr lang="en-US" altLang="zh-CN" b="1">
                <a:latin typeface="Arial" panose="020B0604020202020204" pitchFamily="34" charset="0"/>
                <a:ea typeface="微软雅黑" panose="020B0503020204020204" pitchFamily="34" charset="-122"/>
                <a:cs typeface="黑体" panose="02010609060101010101" charset="-122"/>
              </a:rPr>
              <a:t>MoE </a:t>
            </a:r>
            <a:r>
              <a:rPr lang="zh-CN" altLang="en-US" b="1">
                <a:latin typeface="Arial" panose="020B0604020202020204" pitchFamily="34" charset="0"/>
                <a:ea typeface="微软雅黑" panose="020B0503020204020204" pitchFamily="34" charset="-122"/>
                <a:cs typeface="黑体" panose="02010609060101010101" charset="-122"/>
              </a:rPr>
              <a:t>输出哈希与对照路径完全一致，全程无 </a:t>
            </a:r>
            <a:r>
              <a:rPr lang="en-US" altLang="zh-CN" b="1">
                <a:latin typeface="Arial" panose="020B0604020202020204" pitchFamily="34" charset="0"/>
                <a:ea typeface="微软雅黑" panose="020B0503020204020204" pitchFamily="34" charset="-122"/>
                <a:cs typeface="黑体" panose="02010609060101010101" charset="-122"/>
              </a:rPr>
              <a:t>OOM</a:t>
            </a:r>
            <a:r>
              <a:rPr lang="zh-CN" altLang="en-US" b="1">
                <a:latin typeface="Arial" panose="020B0604020202020204" pitchFamily="34" charset="0"/>
                <a:ea typeface="微软雅黑" panose="020B0503020204020204" pitchFamily="34" charset="-122"/>
                <a:cs typeface="黑体" panose="02010609060101010101" charset="-122"/>
              </a:rPr>
              <a:t>（内存耗尽）。</a:t>
            </a:r>
            <a:endParaRPr lang="zh-CN" altLang="en-US" sz="1600" b="1">
              <a:latin typeface="Arial" panose="020B0604020202020204" pitchFamily="34" charset="0"/>
              <a:ea typeface="微软雅黑" panose="020B0503020204020204" pitchFamily="34" charset="-122"/>
              <a:cs typeface="黑体" panose="02010609060101010101" charset="-122"/>
            </a:endParaRPr>
          </a:p>
          <a:p>
            <a:endParaRPr lang="zh-CN" altLang="en-US"/>
          </a:p>
        </p:txBody>
      </p:sp>
    </p:spTree>
    <p:extLst>
      <p:ext uri="{BB962C8B-B14F-4D97-AF65-F5344CB8AC3E}">
        <p14:creationId xmlns:p14="http://schemas.microsoft.com/office/powerpoint/2010/main" val="366957682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圆角矩形 16"/>
          <p:cNvSpPr/>
          <p:nvPr/>
        </p:nvSpPr>
        <p:spPr>
          <a:xfrm>
            <a:off x="127806" y="1892300"/>
            <a:ext cx="5651845" cy="3073400"/>
          </a:xfrm>
          <a:prstGeom prst="roundRect">
            <a:avLst>
              <a:gd name="adj" fmla="val 5000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Songti SC" panose="02010600040101010101" pitchFamily="2" charset="-122"/>
              <a:ea typeface="Songti SC" panose="02010600040101010101" pitchFamily="2" charset="-122"/>
            </a:endParaRPr>
          </a:p>
        </p:txBody>
      </p:sp>
      <p:sp>
        <p:nvSpPr>
          <p:cNvPr id="2" name="圆角矩形 1"/>
          <p:cNvSpPr/>
          <p:nvPr/>
        </p:nvSpPr>
        <p:spPr>
          <a:xfrm>
            <a:off x="313940" y="1998319"/>
            <a:ext cx="5261917" cy="2861362"/>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Songti SC" panose="02010600040101010101" pitchFamily="2" charset="-122"/>
              <a:ea typeface="Songti SC" panose="02010600040101010101" pitchFamily="2" charset="-122"/>
            </a:endParaRPr>
          </a:p>
        </p:txBody>
      </p:sp>
      <p:sp>
        <p:nvSpPr>
          <p:cNvPr id="5" name="圆角矩形 4"/>
          <p:cNvSpPr/>
          <p:nvPr>
            <p:custDataLst>
              <p:tags r:id="rId1"/>
            </p:custDataLst>
          </p:nvPr>
        </p:nvSpPr>
        <p:spPr>
          <a:xfrm>
            <a:off x="6195609" y="1421175"/>
            <a:ext cx="911156" cy="577144"/>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Arial" panose="020B0604020202020204" pitchFamily="34" charset="0"/>
                <a:ea typeface="微软雅黑" panose="020B0503020204020204" pitchFamily="34" charset="-122"/>
              </a:rPr>
              <a:t>01</a:t>
            </a:r>
            <a:endParaRPr lang="zh-CN" altLang="en-US" b="1" dirty="0">
              <a:latin typeface="Arial" panose="020B0604020202020204" pitchFamily="34" charset="0"/>
              <a:ea typeface="微软雅黑" panose="020B0503020204020204" pitchFamily="34" charset="-122"/>
            </a:endParaRPr>
          </a:p>
        </p:txBody>
      </p:sp>
      <p:sp>
        <p:nvSpPr>
          <p:cNvPr id="6" name="圆角矩形 5"/>
          <p:cNvSpPr/>
          <p:nvPr>
            <p:custDataLst>
              <p:tags r:id="rId2"/>
            </p:custDataLst>
          </p:nvPr>
        </p:nvSpPr>
        <p:spPr>
          <a:xfrm>
            <a:off x="6195609" y="2389100"/>
            <a:ext cx="911156" cy="577144"/>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Arial" panose="020B0604020202020204" pitchFamily="34" charset="0"/>
                <a:ea typeface="微软雅黑" panose="020B0503020204020204" pitchFamily="34" charset="-122"/>
              </a:rPr>
              <a:t>02</a:t>
            </a:r>
            <a:endParaRPr lang="zh-CN" altLang="en-US" b="1" dirty="0">
              <a:latin typeface="Arial" panose="020B0604020202020204" pitchFamily="34" charset="0"/>
              <a:ea typeface="微软雅黑" panose="020B0503020204020204" pitchFamily="34" charset="-122"/>
            </a:endParaRPr>
          </a:p>
        </p:txBody>
      </p:sp>
      <p:sp>
        <p:nvSpPr>
          <p:cNvPr id="7" name="圆角矩形 6"/>
          <p:cNvSpPr/>
          <p:nvPr>
            <p:custDataLst>
              <p:tags r:id="rId3"/>
            </p:custDataLst>
          </p:nvPr>
        </p:nvSpPr>
        <p:spPr>
          <a:xfrm>
            <a:off x="6195609" y="3357025"/>
            <a:ext cx="911156" cy="577144"/>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Arial" panose="020B0604020202020204" pitchFamily="34" charset="0"/>
                <a:ea typeface="微软雅黑" panose="020B0503020204020204" pitchFamily="34" charset="-122"/>
              </a:rPr>
              <a:t>03</a:t>
            </a:r>
            <a:endParaRPr lang="zh-CN" altLang="en-US" b="1" dirty="0">
              <a:latin typeface="Arial" panose="020B0604020202020204" pitchFamily="34" charset="0"/>
              <a:ea typeface="微软雅黑" panose="020B0503020204020204" pitchFamily="34" charset="-122"/>
            </a:endParaRPr>
          </a:p>
        </p:txBody>
      </p:sp>
      <p:sp>
        <p:nvSpPr>
          <p:cNvPr id="8" name="圆角矩形 7"/>
          <p:cNvSpPr/>
          <p:nvPr>
            <p:custDataLst>
              <p:tags r:id="rId4"/>
            </p:custDataLst>
          </p:nvPr>
        </p:nvSpPr>
        <p:spPr>
          <a:xfrm>
            <a:off x="6195609" y="4324950"/>
            <a:ext cx="911156" cy="577144"/>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Arial" panose="020B0604020202020204" pitchFamily="34" charset="0"/>
                <a:ea typeface="微软雅黑" panose="020B0503020204020204" pitchFamily="34" charset="-122"/>
              </a:rPr>
              <a:t>04</a:t>
            </a:r>
            <a:endParaRPr lang="zh-CN" altLang="en-US" b="1" dirty="0">
              <a:latin typeface="Arial" panose="020B0604020202020204" pitchFamily="34" charset="0"/>
              <a:ea typeface="微软雅黑" panose="020B0503020204020204" pitchFamily="34" charset="-122"/>
            </a:endParaRPr>
          </a:p>
        </p:txBody>
      </p:sp>
      <p:sp>
        <p:nvSpPr>
          <p:cNvPr id="9" name="圆角矩形 8"/>
          <p:cNvSpPr/>
          <p:nvPr>
            <p:custDataLst>
              <p:tags r:id="rId5"/>
            </p:custDataLst>
          </p:nvPr>
        </p:nvSpPr>
        <p:spPr>
          <a:xfrm>
            <a:off x="6195609" y="5292877"/>
            <a:ext cx="911156" cy="577144"/>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Arial" panose="020B0604020202020204" pitchFamily="34" charset="0"/>
                <a:ea typeface="微软雅黑" panose="020B0503020204020204" pitchFamily="34" charset="-122"/>
              </a:rPr>
              <a:t>05</a:t>
            </a:r>
            <a:endParaRPr lang="zh-CN" altLang="en-US" b="1" dirty="0">
              <a:latin typeface="Arial" panose="020B0604020202020204" pitchFamily="34" charset="0"/>
              <a:ea typeface="微软雅黑" panose="020B0503020204020204" pitchFamily="34" charset="-122"/>
            </a:endParaRPr>
          </a:p>
        </p:txBody>
      </p:sp>
      <p:sp>
        <p:nvSpPr>
          <p:cNvPr id="59" name="圆角矩形 58"/>
          <p:cNvSpPr/>
          <p:nvPr>
            <p:custDataLst>
              <p:tags r:id="rId6"/>
            </p:custDataLst>
          </p:nvPr>
        </p:nvSpPr>
        <p:spPr>
          <a:xfrm>
            <a:off x="7300509" y="1421175"/>
            <a:ext cx="3476556" cy="577144"/>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latin typeface="Arial" panose="020B0604020202020204" pitchFamily="34" charset="0"/>
                <a:ea typeface="微软雅黑" panose="020B0503020204020204" pitchFamily="34" charset="-122"/>
              </a:rPr>
              <a:t>项目背景</a:t>
            </a:r>
            <a:endParaRPr lang="zh-CN" altLang="en-US" sz="2000" b="1" dirty="0">
              <a:latin typeface="Arial" panose="020B0604020202020204" pitchFamily="34" charset="0"/>
              <a:ea typeface="微软雅黑" panose="020B0503020204020204" pitchFamily="34" charset="-122"/>
            </a:endParaRPr>
          </a:p>
        </p:txBody>
      </p:sp>
      <p:sp>
        <p:nvSpPr>
          <p:cNvPr id="60" name="圆角矩形 59"/>
          <p:cNvSpPr/>
          <p:nvPr>
            <p:custDataLst>
              <p:tags r:id="rId7"/>
            </p:custDataLst>
          </p:nvPr>
        </p:nvSpPr>
        <p:spPr>
          <a:xfrm>
            <a:off x="7300509" y="2389100"/>
            <a:ext cx="3476556" cy="577144"/>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latin typeface="Arial" panose="020B0604020202020204" pitchFamily="34" charset="0"/>
                <a:ea typeface="微软雅黑" panose="020B0503020204020204" pitchFamily="34" charset="-122"/>
              </a:rPr>
              <a:t>项目目标</a:t>
            </a:r>
            <a:endParaRPr lang="zh-CN" altLang="en-US" sz="2000" b="1" dirty="0">
              <a:latin typeface="Arial" panose="020B0604020202020204" pitchFamily="34" charset="0"/>
              <a:ea typeface="微软雅黑" panose="020B0503020204020204" pitchFamily="34" charset="-122"/>
            </a:endParaRPr>
          </a:p>
        </p:txBody>
      </p:sp>
      <p:sp>
        <p:nvSpPr>
          <p:cNvPr id="61" name="圆角矩形 60"/>
          <p:cNvSpPr/>
          <p:nvPr>
            <p:custDataLst>
              <p:tags r:id="rId8"/>
            </p:custDataLst>
          </p:nvPr>
        </p:nvSpPr>
        <p:spPr>
          <a:xfrm>
            <a:off x="7300509" y="3357025"/>
            <a:ext cx="3476556" cy="577144"/>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latin typeface="Arial" panose="020B0604020202020204" pitchFamily="34" charset="0"/>
                <a:ea typeface="微软雅黑" panose="020B0503020204020204" pitchFamily="34" charset="-122"/>
              </a:rPr>
              <a:t>项目实现</a:t>
            </a:r>
            <a:endParaRPr lang="zh-CN" altLang="en-US" sz="2000" b="1" dirty="0">
              <a:latin typeface="Arial" panose="020B0604020202020204" pitchFamily="34" charset="0"/>
              <a:ea typeface="微软雅黑" panose="020B0503020204020204" pitchFamily="34" charset="-122"/>
            </a:endParaRPr>
          </a:p>
        </p:txBody>
      </p:sp>
      <p:sp>
        <p:nvSpPr>
          <p:cNvPr id="62" name="圆角矩形 61"/>
          <p:cNvSpPr/>
          <p:nvPr>
            <p:custDataLst>
              <p:tags r:id="rId9"/>
            </p:custDataLst>
          </p:nvPr>
        </p:nvSpPr>
        <p:spPr>
          <a:xfrm>
            <a:off x="7300509" y="4324950"/>
            <a:ext cx="3476556" cy="577144"/>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Arial" panose="020B0604020202020204" pitchFamily="34" charset="0"/>
                <a:ea typeface="微软雅黑" panose="020B0503020204020204" pitchFamily="34" charset="-122"/>
              </a:rPr>
              <a:t>项目测试</a:t>
            </a:r>
          </a:p>
        </p:txBody>
      </p:sp>
      <p:sp>
        <p:nvSpPr>
          <p:cNvPr id="63" name="圆角矩形 62"/>
          <p:cNvSpPr/>
          <p:nvPr>
            <p:custDataLst>
              <p:tags r:id="rId10"/>
            </p:custDataLst>
          </p:nvPr>
        </p:nvSpPr>
        <p:spPr>
          <a:xfrm>
            <a:off x="7300509" y="5292877"/>
            <a:ext cx="3476556" cy="577144"/>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Arial" panose="020B0604020202020204" pitchFamily="34" charset="0"/>
                <a:ea typeface="微软雅黑" panose="020B0503020204020204" pitchFamily="34" charset="-122"/>
              </a:rPr>
              <a:t>项目总结</a:t>
            </a:r>
          </a:p>
        </p:txBody>
      </p:sp>
      <p:sp>
        <p:nvSpPr>
          <p:cNvPr id="64" name="TextBox 78"/>
          <p:cNvSpPr txBox="1"/>
          <p:nvPr/>
        </p:nvSpPr>
        <p:spPr>
          <a:xfrm>
            <a:off x="1787634" y="3733289"/>
            <a:ext cx="2354873" cy="502445"/>
          </a:xfrm>
          <a:prstGeom prst="rect">
            <a:avLst/>
          </a:prstGeom>
          <a:noFill/>
        </p:spPr>
        <p:txBody>
          <a:bodyPr wrap="square" rtlCol="0">
            <a:spAutoFit/>
          </a:bodyPr>
          <a:lstStyle/>
          <a:p>
            <a:pPr algn="ctr"/>
            <a:r>
              <a:rPr lang="en-US" altLang="zh-CN" sz="2665" b="1" dirty="0">
                <a:solidFill>
                  <a:schemeClr val="bg1"/>
                </a:solidFill>
                <a:latin typeface="Arial" panose="020B0604020202020204" pitchFamily="34" charset="0"/>
                <a:ea typeface="微软雅黑" panose="020B0503020204020204" pitchFamily="34" charset="-122"/>
              </a:rPr>
              <a:t>CONTENTS</a:t>
            </a:r>
            <a:endParaRPr lang="zh-CN" altLang="en-US" sz="2665" b="1" dirty="0">
              <a:solidFill>
                <a:schemeClr val="bg1"/>
              </a:solidFill>
              <a:latin typeface="Arial" panose="020B0604020202020204" pitchFamily="34" charset="0"/>
              <a:ea typeface="微软雅黑" panose="020B0503020204020204" pitchFamily="34" charset="-122"/>
            </a:endParaRPr>
          </a:p>
        </p:txBody>
      </p:sp>
      <p:sp>
        <p:nvSpPr>
          <p:cNvPr id="65" name="TextBox 79"/>
          <p:cNvSpPr txBox="1"/>
          <p:nvPr/>
        </p:nvSpPr>
        <p:spPr>
          <a:xfrm>
            <a:off x="1987739" y="2685392"/>
            <a:ext cx="1912703" cy="994888"/>
          </a:xfrm>
          <a:prstGeom prst="rect">
            <a:avLst/>
          </a:prstGeom>
          <a:noFill/>
        </p:spPr>
        <p:txBody>
          <a:bodyPr wrap="square" rtlCol="0">
            <a:spAutoFit/>
          </a:bodyPr>
          <a:lstStyle/>
          <a:p>
            <a:pPr algn="ctr"/>
            <a:r>
              <a:rPr lang="zh-CN" altLang="en-US" sz="5865" b="1" dirty="0">
                <a:solidFill>
                  <a:schemeClr val="bg1"/>
                </a:solidFill>
                <a:latin typeface="Arial" panose="020B0604020202020204" pitchFamily="34" charset="0"/>
                <a:ea typeface="微软雅黑" panose="020B0503020204020204" pitchFamily="34" charset="-122"/>
              </a:rPr>
              <a:t>目 录</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0-#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decel="5330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750" fill="hold"/>
                                        <p:tgtEl>
                                          <p:spTgt spid="17"/>
                                        </p:tgtEl>
                                        <p:attrNameLst>
                                          <p:attrName>ppt_x</p:attrName>
                                        </p:attrNameLst>
                                      </p:cBhvr>
                                      <p:tavLst>
                                        <p:tav tm="0">
                                          <p:val>
                                            <p:strVal val="0-#ppt_w/2"/>
                                          </p:val>
                                        </p:tav>
                                        <p:tav tm="100000">
                                          <p:val>
                                            <p:strVal val="#ppt_x"/>
                                          </p:val>
                                        </p:tav>
                                      </p:tavLst>
                                    </p:anim>
                                    <p:anim calcmode="lin" valueType="num">
                                      <p:cBhvr additive="base">
                                        <p:cTn id="12" dur="750" fill="hold"/>
                                        <p:tgtEl>
                                          <p:spTgt spid="17"/>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53" presetClass="entr" presetSubtype="16" fill="hold" grpId="0" nodeType="afterEffect">
                                  <p:stCondLst>
                                    <p:cond delay="0"/>
                                  </p:stCondLst>
                                  <p:childTnLst>
                                    <p:set>
                                      <p:cBhvr>
                                        <p:cTn id="15" dur="1" fill="hold">
                                          <p:stCondLst>
                                            <p:cond delay="0"/>
                                          </p:stCondLst>
                                        </p:cTn>
                                        <p:tgtEl>
                                          <p:spTgt spid="65"/>
                                        </p:tgtEl>
                                        <p:attrNameLst>
                                          <p:attrName>style.visibility</p:attrName>
                                        </p:attrNameLst>
                                      </p:cBhvr>
                                      <p:to>
                                        <p:strVal val="visible"/>
                                      </p:to>
                                    </p:set>
                                    <p:anim calcmode="lin" valueType="num">
                                      <p:cBhvr>
                                        <p:cTn id="16" dur="500" fill="hold"/>
                                        <p:tgtEl>
                                          <p:spTgt spid="65"/>
                                        </p:tgtEl>
                                        <p:attrNameLst>
                                          <p:attrName>ppt_w</p:attrName>
                                        </p:attrNameLst>
                                      </p:cBhvr>
                                      <p:tavLst>
                                        <p:tav tm="0">
                                          <p:val>
                                            <p:fltVal val="0"/>
                                          </p:val>
                                        </p:tav>
                                        <p:tav tm="100000">
                                          <p:val>
                                            <p:strVal val="#ppt_w"/>
                                          </p:val>
                                        </p:tav>
                                      </p:tavLst>
                                    </p:anim>
                                    <p:anim calcmode="lin" valueType="num">
                                      <p:cBhvr>
                                        <p:cTn id="17" dur="500" fill="hold"/>
                                        <p:tgtEl>
                                          <p:spTgt spid="65"/>
                                        </p:tgtEl>
                                        <p:attrNameLst>
                                          <p:attrName>ppt_h</p:attrName>
                                        </p:attrNameLst>
                                      </p:cBhvr>
                                      <p:tavLst>
                                        <p:tav tm="0">
                                          <p:val>
                                            <p:fltVal val="0"/>
                                          </p:val>
                                        </p:tav>
                                        <p:tav tm="100000">
                                          <p:val>
                                            <p:strVal val="#ppt_h"/>
                                          </p:val>
                                        </p:tav>
                                      </p:tavLst>
                                    </p:anim>
                                    <p:animEffect transition="in" filter="fade">
                                      <p:cBhvr>
                                        <p:cTn id="18" dur="500"/>
                                        <p:tgtEl>
                                          <p:spTgt spid="65"/>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64"/>
                                        </p:tgtEl>
                                        <p:attrNameLst>
                                          <p:attrName>style.visibility</p:attrName>
                                        </p:attrNameLst>
                                      </p:cBhvr>
                                      <p:to>
                                        <p:strVal val="visible"/>
                                      </p:to>
                                    </p:set>
                                    <p:anim calcmode="lin" valueType="num">
                                      <p:cBhvr>
                                        <p:cTn id="21" dur="500" fill="hold"/>
                                        <p:tgtEl>
                                          <p:spTgt spid="64"/>
                                        </p:tgtEl>
                                        <p:attrNameLst>
                                          <p:attrName>ppt_w</p:attrName>
                                        </p:attrNameLst>
                                      </p:cBhvr>
                                      <p:tavLst>
                                        <p:tav tm="0">
                                          <p:val>
                                            <p:fltVal val="0"/>
                                          </p:val>
                                        </p:tav>
                                        <p:tav tm="100000">
                                          <p:val>
                                            <p:strVal val="#ppt_w"/>
                                          </p:val>
                                        </p:tav>
                                      </p:tavLst>
                                    </p:anim>
                                    <p:anim calcmode="lin" valueType="num">
                                      <p:cBhvr>
                                        <p:cTn id="22" dur="500" fill="hold"/>
                                        <p:tgtEl>
                                          <p:spTgt spid="64"/>
                                        </p:tgtEl>
                                        <p:attrNameLst>
                                          <p:attrName>ppt_h</p:attrName>
                                        </p:attrNameLst>
                                      </p:cBhvr>
                                      <p:tavLst>
                                        <p:tav tm="0">
                                          <p:val>
                                            <p:fltVal val="0"/>
                                          </p:val>
                                        </p:tav>
                                        <p:tav tm="100000">
                                          <p:val>
                                            <p:strVal val="#ppt_h"/>
                                          </p:val>
                                        </p:tav>
                                      </p:tavLst>
                                    </p:anim>
                                    <p:animEffect transition="in" filter="fade">
                                      <p:cBhvr>
                                        <p:cTn id="23" dur="500"/>
                                        <p:tgtEl>
                                          <p:spTgt spid="64"/>
                                        </p:tgtEl>
                                      </p:cBhvr>
                                    </p:animEffect>
                                  </p:childTnLst>
                                </p:cTn>
                              </p:par>
                            </p:childTnLst>
                          </p:cTn>
                        </p:par>
                        <p:par>
                          <p:cTn id="24" fill="hold">
                            <p:stCondLst>
                              <p:cond delay="1500"/>
                            </p:stCondLst>
                            <p:childTnLst>
                              <p:par>
                                <p:cTn id="25" presetID="53" presetClass="entr" presetSubtype="16" fill="hold" grpId="0" nodeType="after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p:cTn id="27" dur="500" fill="hold"/>
                                        <p:tgtEl>
                                          <p:spTgt spid="5"/>
                                        </p:tgtEl>
                                        <p:attrNameLst>
                                          <p:attrName>ppt_w</p:attrName>
                                        </p:attrNameLst>
                                      </p:cBhvr>
                                      <p:tavLst>
                                        <p:tav tm="0">
                                          <p:val>
                                            <p:fltVal val="0"/>
                                          </p:val>
                                        </p:tav>
                                        <p:tav tm="100000">
                                          <p:val>
                                            <p:strVal val="#ppt_w"/>
                                          </p:val>
                                        </p:tav>
                                      </p:tavLst>
                                    </p:anim>
                                    <p:anim calcmode="lin" valueType="num">
                                      <p:cBhvr>
                                        <p:cTn id="28" dur="500" fill="hold"/>
                                        <p:tgtEl>
                                          <p:spTgt spid="5"/>
                                        </p:tgtEl>
                                        <p:attrNameLst>
                                          <p:attrName>ppt_h</p:attrName>
                                        </p:attrNameLst>
                                      </p:cBhvr>
                                      <p:tavLst>
                                        <p:tav tm="0">
                                          <p:val>
                                            <p:fltVal val="0"/>
                                          </p:val>
                                        </p:tav>
                                        <p:tav tm="100000">
                                          <p:val>
                                            <p:strVal val="#ppt_h"/>
                                          </p:val>
                                        </p:tav>
                                      </p:tavLst>
                                    </p:anim>
                                    <p:animEffect transition="in" filter="fade">
                                      <p:cBhvr>
                                        <p:cTn id="29" dur="500"/>
                                        <p:tgtEl>
                                          <p:spTgt spid="5"/>
                                        </p:tgtEl>
                                      </p:cBhvr>
                                    </p:animEffect>
                                  </p:childTnLst>
                                </p:cTn>
                              </p:par>
                              <p:par>
                                <p:cTn id="30" presetID="2" presetClass="entr" presetSubtype="2" decel="53300" fill="hold" grpId="0" nodeType="withEffect">
                                  <p:stCondLst>
                                    <p:cond delay="250"/>
                                  </p:stCondLst>
                                  <p:childTnLst>
                                    <p:set>
                                      <p:cBhvr>
                                        <p:cTn id="31" dur="1" fill="hold">
                                          <p:stCondLst>
                                            <p:cond delay="0"/>
                                          </p:stCondLst>
                                        </p:cTn>
                                        <p:tgtEl>
                                          <p:spTgt spid="59"/>
                                        </p:tgtEl>
                                        <p:attrNameLst>
                                          <p:attrName>style.visibility</p:attrName>
                                        </p:attrNameLst>
                                      </p:cBhvr>
                                      <p:to>
                                        <p:strVal val="visible"/>
                                      </p:to>
                                    </p:set>
                                    <p:anim calcmode="lin" valueType="num">
                                      <p:cBhvr additive="base">
                                        <p:cTn id="32" dur="750" fill="hold"/>
                                        <p:tgtEl>
                                          <p:spTgt spid="59"/>
                                        </p:tgtEl>
                                        <p:attrNameLst>
                                          <p:attrName>ppt_x</p:attrName>
                                        </p:attrNameLst>
                                      </p:cBhvr>
                                      <p:tavLst>
                                        <p:tav tm="0">
                                          <p:val>
                                            <p:strVal val="1+#ppt_w/2"/>
                                          </p:val>
                                        </p:tav>
                                        <p:tav tm="100000">
                                          <p:val>
                                            <p:strVal val="#ppt_x"/>
                                          </p:val>
                                        </p:tav>
                                      </p:tavLst>
                                    </p:anim>
                                    <p:anim calcmode="lin" valueType="num">
                                      <p:cBhvr additive="base">
                                        <p:cTn id="33" dur="750" fill="hold"/>
                                        <p:tgtEl>
                                          <p:spTgt spid="59"/>
                                        </p:tgtEl>
                                        <p:attrNameLst>
                                          <p:attrName>ppt_y</p:attrName>
                                        </p:attrNameLst>
                                      </p:cBhvr>
                                      <p:tavLst>
                                        <p:tav tm="0">
                                          <p:val>
                                            <p:strVal val="#ppt_y"/>
                                          </p:val>
                                        </p:tav>
                                        <p:tav tm="100000">
                                          <p:val>
                                            <p:strVal val="#ppt_y"/>
                                          </p:val>
                                        </p:tav>
                                      </p:tavLst>
                                    </p:anim>
                                  </p:childTnLst>
                                </p:cTn>
                              </p:par>
                            </p:childTnLst>
                          </p:cTn>
                        </p:par>
                        <p:par>
                          <p:cTn id="34" fill="hold">
                            <p:stCondLst>
                              <p:cond delay="2000"/>
                            </p:stCondLst>
                            <p:childTnLst>
                              <p:par>
                                <p:cTn id="35" presetID="53" presetClass="entr" presetSubtype="16" fill="hold" grpId="0" nodeType="after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500" fill="hold"/>
                                        <p:tgtEl>
                                          <p:spTgt spid="6"/>
                                        </p:tgtEl>
                                        <p:attrNameLst>
                                          <p:attrName>ppt_w</p:attrName>
                                        </p:attrNameLst>
                                      </p:cBhvr>
                                      <p:tavLst>
                                        <p:tav tm="0">
                                          <p:val>
                                            <p:fltVal val="0"/>
                                          </p:val>
                                        </p:tav>
                                        <p:tav tm="100000">
                                          <p:val>
                                            <p:strVal val="#ppt_w"/>
                                          </p:val>
                                        </p:tav>
                                      </p:tavLst>
                                    </p:anim>
                                    <p:anim calcmode="lin" valueType="num">
                                      <p:cBhvr>
                                        <p:cTn id="38" dur="500" fill="hold"/>
                                        <p:tgtEl>
                                          <p:spTgt spid="6"/>
                                        </p:tgtEl>
                                        <p:attrNameLst>
                                          <p:attrName>ppt_h</p:attrName>
                                        </p:attrNameLst>
                                      </p:cBhvr>
                                      <p:tavLst>
                                        <p:tav tm="0">
                                          <p:val>
                                            <p:fltVal val="0"/>
                                          </p:val>
                                        </p:tav>
                                        <p:tav tm="100000">
                                          <p:val>
                                            <p:strVal val="#ppt_h"/>
                                          </p:val>
                                        </p:tav>
                                      </p:tavLst>
                                    </p:anim>
                                    <p:animEffect transition="in" filter="fade">
                                      <p:cBhvr>
                                        <p:cTn id="39" dur="500"/>
                                        <p:tgtEl>
                                          <p:spTgt spid="6"/>
                                        </p:tgtEl>
                                      </p:cBhvr>
                                    </p:animEffect>
                                  </p:childTnLst>
                                </p:cTn>
                              </p:par>
                              <p:par>
                                <p:cTn id="40" presetID="2" presetClass="entr" presetSubtype="2" decel="53300" fill="hold" grpId="0" nodeType="withEffect">
                                  <p:stCondLst>
                                    <p:cond delay="250"/>
                                  </p:stCondLst>
                                  <p:childTnLst>
                                    <p:set>
                                      <p:cBhvr>
                                        <p:cTn id="41" dur="1" fill="hold">
                                          <p:stCondLst>
                                            <p:cond delay="0"/>
                                          </p:stCondLst>
                                        </p:cTn>
                                        <p:tgtEl>
                                          <p:spTgt spid="60"/>
                                        </p:tgtEl>
                                        <p:attrNameLst>
                                          <p:attrName>style.visibility</p:attrName>
                                        </p:attrNameLst>
                                      </p:cBhvr>
                                      <p:to>
                                        <p:strVal val="visible"/>
                                      </p:to>
                                    </p:set>
                                    <p:anim calcmode="lin" valueType="num">
                                      <p:cBhvr additive="base">
                                        <p:cTn id="42" dur="750" fill="hold"/>
                                        <p:tgtEl>
                                          <p:spTgt spid="60"/>
                                        </p:tgtEl>
                                        <p:attrNameLst>
                                          <p:attrName>ppt_x</p:attrName>
                                        </p:attrNameLst>
                                      </p:cBhvr>
                                      <p:tavLst>
                                        <p:tav tm="0">
                                          <p:val>
                                            <p:strVal val="1+#ppt_w/2"/>
                                          </p:val>
                                        </p:tav>
                                        <p:tav tm="100000">
                                          <p:val>
                                            <p:strVal val="#ppt_x"/>
                                          </p:val>
                                        </p:tav>
                                      </p:tavLst>
                                    </p:anim>
                                    <p:anim calcmode="lin" valueType="num">
                                      <p:cBhvr additive="base">
                                        <p:cTn id="43" dur="750" fill="hold"/>
                                        <p:tgtEl>
                                          <p:spTgt spid="60"/>
                                        </p:tgtEl>
                                        <p:attrNameLst>
                                          <p:attrName>ppt_y</p:attrName>
                                        </p:attrNameLst>
                                      </p:cBhvr>
                                      <p:tavLst>
                                        <p:tav tm="0">
                                          <p:val>
                                            <p:strVal val="#ppt_y"/>
                                          </p:val>
                                        </p:tav>
                                        <p:tav tm="100000">
                                          <p:val>
                                            <p:strVal val="#ppt_y"/>
                                          </p:val>
                                        </p:tav>
                                      </p:tavLst>
                                    </p:anim>
                                  </p:childTnLst>
                                </p:cTn>
                              </p:par>
                            </p:childTnLst>
                          </p:cTn>
                        </p:par>
                        <p:par>
                          <p:cTn id="44" fill="hold">
                            <p:stCondLst>
                              <p:cond delay="2500"/>
                            </p:stCondLst>
                            <p:childTnLst>
                              <p:par>
                                <p:cTn id="45" presetID="53" presetClass="entr" presetSubtype="16" fill="hold" grpId="0" nodeType="after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p:cTn id="47" dur="500" fill="hold"/>
                                        <p:tgtEl>
                                          <p:spTgt spid="7"/>
                                        </p:tgtEl>
                                        <p:attrNameLst>
                                          <p:attrName>ppt_w</p:attrName>
                                        </p:attrNameLst>
                                      </p:cBhvr>
                                      <p:tavLst>
                                        <p:tav tm="0">
                                          <p:val>
                                            <p:fltVal val="0"/>
                                          </p:val>
                                        </p:tav>
                                        <p:tav tm="100000">
                                          <p:val>
                                            <p:strVal val="#ppt_w"/>
                                          </p:val>
                                        </p:tav>
                                      </p:tavLst>
                                    </p:anim>
                                    <p:anim calcmode="lin" valueType="num">
                                      <p:cBhvr>
                                        <p:cTn id="48" dur="500" fill="hold"/>
                                        <p:tgtEl>
                                          <p:spTgt spid="7"/>
                                        </p:tgtEl>
                                        <p:attrNameLst>
                                          <p:attrName>ppt_h</p:attrName>
                                        </p:attrNameLst>
                                      </p:cBhvr>
                                      <p:tavLst>
                                        <p:tav tm="0">
                                          <p:val>
                                            <p:fltVal val="0"/>
                                          </p:val>
                                        </p:tav>
                                        <p:tav tm="100000">
                                          <p:val>
                                            <p:strVal val="#ppt_h"/>
                                          </p:val>
                                        </p:tav>
                                      </p:tavLst>
                                    </p:anim>
                                    <p:animEffect transition="in" filter="fade">
                                      <p:cBhvr>
                                        <p:cTn id="49" dur="500"/>
                                        <p:tgtEl>
                                          <p:spTgt spid="7"/>
                                        </p:tgtEl>
                                      </p:cBhvr>
                                    </p:animEffect>
                                  </p:childTnLst>
                                </p:cTn>
                              </p:par>
                              <p:par>
                                <p:cTn id="50" presetID="2" presetClass="entr" presetSubtype="2" decel="53300" fill="hold" grpId="0" nodeType="withEffect">
                                  <p:stCondLst>
                                    <p:cond delay="250"/>
                                  </p:stCondLst>
                                  <p:childTnLst>
                                    <p:set>
                                      <p:cBhvr>
                                        <p:cTn id="51" dur="1" fill="hold">
                                          <p:stCondLst>
                                            <p:cond delay="0"/>
                                          </p:stCondLst>
                                        </p:cTn>
                                        <p:tgtEl>
                                          <p:spTgt spid="61"/>
                                        </p:tgtEl>
                                        <p:attrNameLst>
                                          <p:attrName>style.visibility</p:attrName>
                                        </p:attrNameLst>
                                      </p:cBhvr>
                                      <p:to>
                                        <p:strVal val="visible"/>
                                      </p:to>
                                    </p:set>
                                    <p:anim calcmode="lin" valueType="num">
                                      <p:cBhvr additive="base">
                                        <p:cTn id="52" dur="750" fill="hold"/>
                                        <p:tgtEl>
                                          <p:spTgt spid="61"/>
                                        </p:tgtEl>
                                        <p:attrNameLst>
                                          <p:attrName>ppt_x</p:attrName>
                                        </p:attrNameLst>
                                      </p:cBhvr>
                                      <p:tavLst>
                                        <p:tav tm="0">
                                          <p:val>
                                            <p:strVal val="1+#ppt_w/2"/>
                                          </p:val>
                                        </p:tav>
                                        <p:tav tm="100000">
                                          <p:val>
                                            <p:strVal val="#ppt_x"/>
                                          </p:val>
                                        </p:tav>
                                      </p:tavLst>
                                    </p:anim>
                                    <p:anim calcmode="lin" valueType="num">
                                      <p:cBhvr additive="base">
                                        <p:cTn id="53" dur="750" fill="hold"/>
                                        <p:tgtEl>
                                          <p:spTgt spid="61"/>
                                        </p:tgtEl>
                                        <p:attrNameLst>
                                          <p:attrName>ppt_y</p:attrName>
                                        </p:attrNameLst>
                                      </p:cBhvr>
                                      <p:tavLst>
                                        <p:tav tm="0">
                                          <p:val>
                                            <p:strVal val="#ppt_y"/>
                                          </p:val>
                                        </p:tav>
                                        <p:tav tm="100000">
                                          <p:val>
                                            <p:strVal val="#ppt_y"/>
                                          </p:val>
                                        </p:tav>
                                      </p:tavLst>
                                    </p:anim>
                                  </p:childTnLst>
                                </p:cTn>
                              </p:par>
                            </p:childTnLst>
                          </p:cTn>
                        </p:par>
                        <p:par>
                          <p:cTn id="54" fill="hold">
                            <p:stCondLst>
                              <p:cond delay="3000"/>
                            </p:stCondLst>
                            <p:childTnLst>
                              <p:par>
                                <p:cTn id="55" presetID="53" presetClass="entr" presetSubtype="16" fill="hold" grpId="0" nodeType="after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500" fill="hold"/>
                                        <p:tgtEl>
                                          <p:spTgt spid="8"/>
                                        </p:tgtEl>
                                        <p:attrNameLst>
                                          <p:attrName>ppt_w</p:attrName>
                                        </p:attrNameLst>
                                      </p:cBhvr>
                                      <p:tavLst>
                                        <p:tav tm="0">
                                          <p:val>
                                            <p:fltVal val="0"/>
                                          </p:val>
                                        </p:tav>
                                        <p:tav tm="100000">
                                          <p:val>
                                            <p:strVal val="#ppt_w"/>
                                          </p:val>
                                        </p:tav>
                                      </p:tavLst>
                                    </p:anim>
                                    <p:anim calcmode="lin" valueType="num">
                                      <p:cBhvr>
                                        <p:cTn id="58" dur="500" fill="hold"/>
                                        <p:tgtEl>
                                          <p:spTgt spid="8"/>
                                        </p:tgtEl>
                                        <p:attrNameLst>
                                          <p:attrName>ppt_h</p:attrName>
                                        </p:attrNameLst>
                                      </p:cBhvr>
                                      <p:tavLst>
                                        <p:tav tm="0">
                                          <p:val>
                                            <p:fltVal val="0"/>
                                          </p:val>
                                        </p:tav>
                                        <p:tav tm="100000">
                                          <p:val>
                                            <p:strVal val="#ppt_h"/>
                                          </p:val>
                                        </p:tav>
                                      </p:tavLst>
                                    </p:anim>
                                    <p:animEffect transition="in" filter="fade">
                                      <p:cBhvr>
                                        <p:cTn id="59" dur="500"/>
                                        <p:tgtEl>
                                          <p:spTgt spid="8"/>
                                        </p:tgtEl>
                                      </p:cBhvr>
                                    </p:animEffect>
                                  </p:childTnLst>
                                </p:cTn>
                              </p:par>
                              <p:par>
                                <p:cTn id="60" presetID="2" presetClass="entr" presetSubtype="2" decel="53300" fill="hold" grpId="0" nodeType="withEffect">
                                  <p:stCondLst>
                                    <p:cond delay="250"/>
                                  </p:stCondLst>
                                  <p:childTnLst>
                                    <p:set>
                                      <p:cBhvr>
                                        <p:cTn id="61" dur="1" fill="hold">
                                          <p:stCondLst>
                                            <p:cond delay="0"/>
                                          </p:stCondLst>
                                        </p:cTn>
                                        <p:tgtEl>
                                          <p:spTgt spid="62"/>
                                        </p:tgtEl>
                                        <p:attrNameLst>
                                          <p:attrName>style.visibility</p:attrName>
                                        </p:attrNameLst>
                                      </p:cBhvr>
                                      <p:to>
                                        <p:strVal val="visible"/>
                                      </p:to>
                                    </p:set>
                                    <p:anim calcmode="lin" valueType="num">
                                      <p:cBhvr additive="base">
                                        <p:cTn id="62" dur="750" fill="hold"/>
                                        <p:tgtEl>
                                          <p:spTgt spid="62"/>
                                        </p:tgtEl>
                                        <p:attrNameLst>
                                          <p:attrName>ppt_x</p:attrName>
                                        </p:attrNameLst>
                                      </p:cBhvr>
                                      <p:tavLst>
                                        <p:tav tm="0">
                                          <p:val>
                                            <p:strVal val="1+#ppt_w/2"/>
                                          </p:val>
                                        </p:tav>
                                        <p:tav tm="100000">
                                          <p:val>
                                            <p:strVal val="#ppt_x"/>
                                          </p:val>
                                        </p:tav>
                                      </p:tavLst>
                                    </p:anim>
                                    <p:anim calcmode="lin" valueType="num">
                                      <p:cBhvr additive="base">
                                        <p:cTn id="63" dur="750" fill="hold"/>
                                        <p:tgtEl>
                                          <p:spTgt spid="62"/>
                                        </p:tgtEl>
                                        <p:attrNameLst>
                                          <p:attrName>ppt_y</p:attrName>
                                        </p:attrNameLst>
                                      </p:cBhvr>
                                      <p:tavLst>
                                        <p:tav tm="0">
                                          <p:val>
                                            <p:strVal val="#ppt_y"/>
                                          </p:val>
                                        </p:tav>
                                        <p:tav tm="100000">
                                          <p:val>
                                            <p:strVal val="#ppt_y"/>
                                          </p:val>
                                        </p:tav>
                                      </p:tavLst>
                                    </p:anim>
                                  </p:childTnLst>
                                </p:cTn>
                              </p:par>
                            </p:childTnLst>
                          </p:cTn>
                        </p:par>
                        <p:par>
                          <p:cTn id="64" fill="hold">
                            <p:stCondLst>
                              <p:cond delay="3500"/>
                            </p:stCondLst>
                            <p:childTnLst>
                              <p:par>
                                <p:cTn id="65" presetID="53" presetClass="entr" presetSubtype="16" fill="hold" grpId="0" nodeType="afterEffect">
                                  <p:stCondLst>
                                    <p:cond delay="0"/>
                                  </p:stCondLst>
                                  <p:childTnLst>
                                    <p:set>
                                      <p:cBhvr>
                                        <p:cTn id="66" dur="1" fill="hold">
                                          <p:stCondLst>
                                            <p:cond delay="0"/>
                                          </p:stCondLst>
                                        </p:cTn>
                                        <p:tgtEl>
                                          <p:spTgt spid="9"/>
                                        </p:tgtEl>
                                        <p:attrNameLst>
                                          <p:attrName>style.visibility</p:attrName>
                                        </p:attrNameLst>
                                      </p:cBhvr>
                                      <p:to>
                                        <p:strVal val="visible"/>
                                      </p:to>
                                    </p:set>
                                    <p:anim calcmode="lin" valueType="num">
                                      <p:cBhvr>
                                        <p:cTn id="67" dur="500" fill="hold"/>
                                        <p:tgtEl>
                                          <p:spTgt spid="9"/>
                                        </p:tgtEl>
                                        <p:attrNameLst>
                                          <p:attrName>ppt_w</p:attrName>
                                        </p:attrNameLst>
                                      </p:cBhvr>
                                      <p:tavLst>
                                        <p:tav tm="0">
                                          <p:val>
                                            <p:fltVal val="0"/>
                                          </p:val>
                                        </p:tav>
                                        <p:tav tm="100000">
                                          <p:val>
                                            <p:strVal val="#ppt_w"/>
                                          </p:val>
                                        </p:tav>
                                      </p:tavLst>
                                    </p:anim>
                                    <p:anim calcmode="lin" valueType="num">
                                      <p:cBhvr>
                                        <p:cTn id="68" dur="500" fill="hold"/>
                                        <p:tgtEl>
                                          <p:spTgt spid="9"/>
                                        </p:tgtEl>
                                        <p:attrNameLst>
                                          <p:attrName>ppt_h</p:attrName>
                                        </p:attrNameLst>
                                      </p:cBhvr>
                                      <p:tavLst>
                                        <p:tav tm="0">
                                          <p:val>
                                            <p:fltVal val="0"/>
                                          </p:val>
                                        </p:tav>
                                        <p:tav tm="100000">
                                          <p:val>
                                            <p:strVal val="#ppt_h"/>
                                          </p:val>
                                        </p:tav>
                                      </p:tavLst>
                                    </p:anim>
                                    <p:animEffect transition="in" filter="fade">
                                      <p:cBhvr>
                                        <p:cTn id="69" dur="500"/>
                                        <p:tgtEl>
                                          <p:spTgt spid="9"/>
                                        </p:tgtEl>
                                      </p:cBhvr>
                                    </p:animEffect>
                                  </p:childTnLst>
                                </p:cTn>
                              </p:par>
                              <p:par>
                                <p:cTn id="70" presetID="2" presetClass="entr" presetSubtype="2" decel="53300" fill="hold" grpId="0" nodeType="withEffect">
                                  <p:stCondLst>
                                    <p:cond delay="250"/>
                                  </p:stCondLst>
                                  <p:childTnLst>
                                    <p:set>
                                      <p:cBhvr>
                                        <p:cTn id="71" dur="1" fill="hold">
                                          <p:stCondLst>
                                            <p:cond delay="0"/>
                                          </p:stCondLst>
                                        </p:cTn>
                                        <p:tgtEl>
                                          <p:spTgt spid="63"/>
                                        </p:tgtEl>
                                        <p:attrNameLst>
                                          <p:attrName>style.visibility</p:attrName>
                                        </p:attrNameLst>
                                      </p:cBhvr>
                                      <p:to>
                                        <p:strVal val="visible"/>
                                      </p:to>
                                    </p:set>
                                    <p:anim calcmode="lin" valueType="num">
                                      <p:cBhvr additive="base">
                                        <p:cTn id="72" dur="750" fill="hold"/>
                                        <p:tgtEl>
                                          <p:spTgt spid="63"/>
                                        </p:tgtEl>
                                        <p:attrNameLst>
                                          <p:attrName>ppt_x</p:attrName>
                                        </p:attrNameLst>
                                      </p:cBhvr>
                                      <p:tavLst>
                                        <p:tav tm="0">
                                          <p:val>
                                            <p:strVal val="1+#ppt_w/2"/>
                                          </p:val>
                                        </p:tav>
                                        <p:tav tm="100000">
                                          <p:val>
                                            <p:strVal val="#ppt_x"/>
                                          </p:val>
                                        </p:tav>
                                      </p:tavLst>
                                    </p:anim>
                                    <p:anim calcmode="lin" valueType="num">
                                      <p:cBhvr additive="base">
                                        <p:cTn id="73" dur="750" fill="hold"/>
                                        <p:tgtEl>
                                          <p:spTgt spid="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 grpId="0" animBg="1"/>
      <p:bldP spid="5" grpId="0" animBg="1"/>
      <p:bldP spid="6" grpId="0" animBg="1"/>
      <p:bldP spid="7" grpId="0" animBg="1"/>
      <p:bldP spid="8" grpId="0" animBg="1"/>
      <p:bldP spid="9" grpId="0" animBg="1"/>
      <p:bldP spid="59" grpId="0" animBg="1"/>
      <p:bldP spid="60" grpId="0" animBg="1"/>
      <p:bldP spid="61" grpId="0" animBg="1"/>
      <p:bldP spid="62" grpId="0" animBg="1"/>
      <p:bldP spid="63" grpId="0" animBg="1"/>
      <p:bldP spid="64" grpId="0"/>
      <p:bldP spid="65"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Songti SC" panose="02010600040101010101" pitchFamily="2" charset="-122"/>
              <a:ea typeface="Songti SC" panose="02010600040101010101" pitchFamily="2" charset="-122"/>
            </a:endParaRPr>
          </a:p>
        </p:txBody>
      </p:sp>
      <p:grpSp>
        <p:nvGrpSpPr>
          <p:cNvPr id="5" name="组合 4"/>
          <p:cNvGrpSpPr/>
          <p:nvPr/>
        </p:nvGrpSpPr>
        <p:grpSpPr>
          <a:xfrm>
            <a:off x="4919877" y="2920080"/>
            <a:ext cx="2352246" cy="1642832"/>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b="1">
                <a:latin typeface="Songti SC" panose="02010600040101010101" pitchFamily="2" charset="-122"/>
                <a:ea typeface="Songti SC" panose="02010600040101010101" pitchFamily="2" charset="-122"/>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b="1">
                <a:latin typeface="Songti SC" panose="02010600040101010101" pitchFamily="2" charset="-122"/>
                <a:ea typeface="Songti SC" panose="02010600040101010101" pitchFamily="2" charset="-122"/>
              </a:endParaRPr>
            </a:p>
          </p:txBody>
        </p:sp>
      </p:grpSp>
      <p:sp>
        <p:nvSpPr>
          <p:cNvPr id="8" name="文本框 7"/>
          <p:cNvSpPr txBox="1"/>
          <p:nvPr/>
        </p:nvSpPr>
        <p:spPr>
          <a:xfrm>
            <a:off x="5321588" y="3413325"/>
            <a:ext cx="1723549" cy="646331"/>
          </a:xfrm>
          <a:prstGeom prst="rect">
            <a:avLst/>
          </a:prstGeom>
          <a:noFill/>
        </p:spPr>
        <p:txBody>
          <a:bodyPr wrap="none" rtlCol="0">
            <a:spAutoFit/>
          </a:bodyPr>
          <a:lstStyle/>
          <a:p>
            <a:r>
              <a:rPr lang="en-US" altLang="zh-CN" sz="3600" b="1" dirty="0">
                <a:solidFill>
                  <a:schemeClr val="bg1"/>
                </a:solidFill>
                <a:latin typeface="Arial" panose="020B0604020202020204" pitchFamily="34" charset="0"/>
                <a:ea typeface="微软雅黑" panose="020B0503020204020204" pitchFamily="34" charset="-122"/>
              </a:rPr>
              <a:t>Part.01</a:t>
            </a:r>
          </a:p>
        </p:txBody>
      </p:sp>
      <p:sp>
        <p:nvSpPr>
          <p:cNvPr id="9" name="文本框 8"/>
          <p:cNvSpPr txBox="1"/>
          <p:nvPr/>
        </p:nvSpPr>
        <p:spPr>
          <a:xfrm>
            <a:off x="3327400" y="4946424"/>
            <a:ext cx="5537198" cy="830997"/>
          </a:xfrm>
          <a:prstGeom prst="rect">
            <a:avLst/>
          </a:prstGeom>
          <a:noFill/>
          <a:ln>
            <a:noFill/>
          </a:ln>
        </p:spPr>
        <p:txBody>
          <a:bodyPr wrap="square" rtlCol="0">
            <a:spAutoFit/>
          </a:bodyPr>
          <a:lstStyle/>
          <a:p>
            <a:pPr algn="ctr"/>
            <a:r>
              <a:rPr lang="zh-CN" altLang="en-US" sz="4800" b="1" spc="600">
                <a:solidFill>
                  <a:schemeClr val="accent6"/>
                </a:solidFill>
                <a:latin typeface="Arial" panose="020B0604020202020204" pitchFamily="34" charset="0"/>
                <a:ea typeface="微软雅黑" panose="020B0503020204020204" pitchFamily="34" charset="-122"/>
              </a:rPr>
              <a:t>项目背景</a:t>
            </a:r>
            <a:endParaRPr lang="zh-CN" altLang="en-US" sz="4800" b="1" spc="600" dirty="0">
              <a:solidFill>
                <a:schemeClr val="accent6"/>
              </a:solidFill>
              <a:latin typeface="Arial" panose="020B0604020202020204" pitchFamily="34" charset="0"/>
              <a:ea typeface="微软雅黑" panose="020B0503020204020204" pitchFamily="34" charset="-122"/>
            </a:endParaRPr>
          </a:p>
        </p:txBody>
      </p:sp>
      <p:pic>
        <p:nvPicPr>
          <p:cNvPr id="2" name="图片 1">
            <a:extLst>
              <a:ext uri="{FF2B5EF4-FFF2-40B4-BE49-F238E27FC236}">
                <a16:creationId xmlns:a16="http://schemas.microsoft.com/office/drawing/2014/main" id="{C7935A8A-38E6-B86E-9253-00DD8EE6A1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0390" y="1516741"/>
            <a:ext cx="3582844" cy="657673"/>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4" fill="hold" nodeType="afterEffect" p14:presetBounceEnd="40000">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14:bounceEnd="40000">
                                          <p:cBhvr additive="base">
                                            <p:cTn id="12" dur="750" fill="hold"/>
                                            <p:tgtEl>
                                              <p:spTgt spid="5"/>
                                            </p:tgtEl>
                                            <p:attrNameLst>
                                              <p:attrName>ppt_x</p:attrName>
                                            </p:attrNameLst>
                                          </p:cBhvr>
                                          <p:tavLst>
                                            <p:tav tm="0">
                                              <p:val>
                                                <p:strVal val="#ppt_x"/>
                                              </p:val>
                                            </p:tav>
                                            <p:tav tm="100000">
                                              <p:val>
                                                <p:strVal val="#ppt_x"/>
                                              </p:val>
                                            </p:tav>
                                          </p:tavLst>
                                        </p:anim>
                                        <p:anim calcmode="lin" valueType="num" p14:bounceEnd="40000">
                                          <p:cBhvr additive="base">
                                            <p:cTn id="13" dur="7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2500"/>
                                </p:stCondLst>
                                <p:childTnLst>
                                  <p:par>
                                    <p:cTn id="21" presetID="50" presetClass="entr" presetSubtype="0" decel="1000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strVal val="#ppt_w+.3"/>
                                              </p:val>
                                            </p:tav>
                                            <p:tav tm="100000">
                                              <p:val>
                                                <p:strVal val="#ppt_w"/>
                                              </p:val>
                                            </p:tav>
                                          </p:tavLst>
                                        </p:anim>
                                        <p:anim calcmode="lin" valueType="num">
                                          <p:cBhvr>
                                            <p:cTn id="24" dur="1000" fill="hold"/>
                                            <p:tgtEl>
                                              <p:spTgt spid="9"/>
                                            </p:tgtEl>
                                            <p:attrNameLst>
                                              <p:attrName>ppt_h</p:attrName>
                                            </p:attrNameLst>
                                          </p:cBhvr>
                                          <p:tavLst>
                                            <p:tav tm="0">
                                              <p:val>
                                                <p:strVal val="#ppt_h"/>
                                              </p:val>
                                            </p:tav>
                                            <p:tav tm="100000">
                                              <p:val>
                                                <p:strVal val="#ppt_h"/>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750" fill="hold"/>
                                            <p:tgtEl>
                                              <p:spTgt spid="5"/>
                                            </p:tgtEl>
                                            <p:attrNameLst>
                                              <p:attrName>ppt_x</p:attrName>
                                            </p:attrNameLst>
                                          </p:cBhvr>
                                          <p:tavLst>
                                            <p:tav tm="0">
                                              <p:val>
                                                <p:strVal val="#ppt_x"/>
                                              </p:val>
                                            </p:tav>
                                            <p:tav tm="100000">
                                              <p:val>
                                                <p:strVal val="#ppt_x"/>
                                              </p:val>
                                            </p:tav>
                                          </p:tavLst>
                                        </p:anim>
                                        <p:anim calcmode="lin" valueType="num">
                                          <p:cBhvr additive="base">
                                            <p:cTn id="13" dur="7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2500"/>
                                </p:stCondLst>
                                <p:childTnLst>
                                  <p:par>
                                    <p:cTn id="21" presetID="50" presetClass="entr" presetSubtype="0" decel="1000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strVal val="#ppt_w+.3"/>
                                              </p:val>
                                            </p:tav>
                                            <p:tav tm="100000">
                                              <p:val>
                                                <p:strVal val="#ppt_w"/>
                                              </p:val>
                                            </p:tav>
                                          </p:tavLst>
                                        </p:anim>
                                        <p:anim calcmode="lin" valueType="num">
                                          <p:cBhvr>
                                            <p:cTn id="24" dur="1000" fill="hold"/>
                                            <p:tgtEl>
                                              <p:spTgt spid="9"/>
                                            </p:tgtEl>
                                            <p:attrNameLst>
                                              <p:attrName>ppt_h</p:attrName>
                                            </p:attrNameLst>
                                          </p:cBhvr>
                                          <p:tavLst>
                                            <p:tav tm="0">
                                              <p:val>
                                                <p:strVal val="#ppt_h"/>
                                              </p:val>
                                            </p:tav>
                                            <p:tav tm="100000">
                                              <p:val>
                                                <p:strVal val="#ppt_h"/>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A1AC9-7BF3-88A4-7916-7FCA4EB06DEC}"/>
            </a:ext>
          </a:extLst>
        </p:cNvPr>
        <p:cNvGrpSpPr/>
        <p:nvPr/>
      </p:nvGrpSpPr>
      <p:grpSpPr>
        <a:xfrm>
          <a:off x="0" y="0"/>
          <a:ext cx="0" cy="0"/>
          <a:chOff x="0" y="0"/>
          <a:chExt cx="0" cy="0"/>
        </a:xfrm>
      </p:grpSpPr>
      <p:sp>
        <p:nvSpPr>
          <p:cNvPr id="22" name="矩形 4">
            <a:extLst>
              <a:ext uri="{FF2B5EF4-FFF2-40B4-BE49-F238E27FC236}">
                <a16:creationId xmlns:a16="http://schemas.microsoft.com/office/drawing/2014/main" id="{D5F2C9FC-59DA-3A55-9881-5415D5D19128}"/>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cxnSp>
        <p:nvCxnSpPr>
          <p:cNvPr id="23" name="直接连接符 22">
            <a:extLst>
              <a:ext uri="{FF2B5EF4-FFF2-40B4-BE49-F238E27FC236}">
                <a16:creationId xmlns:a16="http://schemas.microsoft.com/office/drawing/2014/main" id="{8B678F05-9749-8235-543B-D5CA0B78E555}"/>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87E4611C-A10F-D68D-6B7C-84D3006A21EA}"/>
              </a:ext>
            </a:extLst>
          </p:cNvPr>
          <p:cNvSpPr/>
          <p:nvPr/>
        </p:nvSpPr>
        <p:spPr>
          <a:xfrm>
            <a:off x="3231850"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cxnSp>
        <p:nvCxnSpPr>
          <p:cNvPr id="25" name="直接连接符 24">
            <a:extLst>
              <a:ext uri="{FF2B5EF4-FFF2-40B4-BE49-F238E27FC236}">
                <a16:creationId xmlns:a16="http://schemas.microsoft.com/office/drawing/2014/main" id="{F6D449AC-627D-4710-2CF3-2A556F0C83A9}"/>
              </a:ext>
            </a:extLst>
          </p:cNvPr>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a:extLst>
              <a:ext uri="{FF2B5EF4-FFF2-40B4-BE49-F238E27FC236}">
                <a16:creationId xmlns:a16="http://schemas.microsoft.com/office/drawing/2014/main" id="{9D529B5A-23C2-5550-EADC-27806E1EFB36}"/>
              </a:ext>
            </a:extLst>
          </p:cNvPr>
          <p:cNvSpPr txBox="1"/>
          <p:nvPr/>
        </p:nvSpPr>
        <p:spPr>
          <a:xfrm>
            <a:off x="3374949" y="215903"/>
            <a:ext cx="1344000" cy="404714"/>
          </a:xfrm>
          <a:prstGeom prst="rect">
            <a:avLst/>
          </a:prstGeom>
          <a:noFill/>
        </p:spPr>
        <p:txBody>
          <a:bodyPr wrap="square" lIns="0" tIns="48000" rIns="0" bIns="48000" rtlCol="0">
            <a:spAutoFit/>
          </a:bodyPr>
          <a:lstStyle/>
          <a:p>
            <a:pPr algn="ctr"/>
            <a:r>
              <a:rPr lang="zh-CN" altLang="en-US" sz="2000" b="1">
                <a:solidFill>
                  <a:schemeClr val="bg1"/>
                </a:solidFill>
                <a:latin typeface="Arial" panose="020B0604020202020204" pitchFamily="34" charset="0"/>
                <a:ea typeface="微软雅黑" panose="020B0503020204020204" pitchFamily="34" charset="-122"/>
              </a:rPr>
              <a:t>项目背景</a:t>
            </a:r>
            <a:endParaRPr lang="zh-CN" altLang="en-US" sz="2000" b="1" dirty="0">
              <a:solidFill>
                <a:schemeClr val="bg1"/>
              </a:solidFill>
              <a:latin typeface="Arial" panose="020B0604020202020204" pitchFamily="34" charset="0"/>
              <a:ea typeface="微软雅黑" panose="020B0503020204020204" pitchFamily="34" charset="-122"/>
            </a:endParaRPr>
          </a:p>
        </p:txBody>
      </p:sp>
      <p:sp>
        <p:nvSpPr>
          <p:cNvPr id="27" name="TextBox 7">
            <a:extLst>
              <a:ext uri="{FF2B5EF4-FFF2-40B4-BE49-F238E27FC236}">
                <a16:creationId xmlns:a16="http://schemas.microsoft.com/office/drawing/2014/main" id="{1DE2F288-1934-6D89-8DDD-1B8E9C5C7BBF}"/>
              </a:ext>
            </a:extLst>
          </p:cNvPr>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a:solidFill>
                  <a:schemeClr val="bg1">
                    <a:lumMod val="50000"/>
                  </a:schemeClr>
                </a:solidFill>
                <a:latin typeface="Arial" panose="020B0604020202020204" pitchFamily="34" charset="0"/>
                <a:ea typeface="微软雅黑" panose="020B0503020204020204" pitchFamily="34" charset="-122"/>
              </a:rPr>
              <a:t>项目目标</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sp>
        <p:nvSpPr>
          <p:cNvPr id="28" name="TextBox 9">
            <a:extLst>
              <a:ext uri="{FF2B5EF4-FFF2-40B4-BE49-F238E27FC236}">
                <a16:creationId xmlns:a16="http://schemas.microsoft.com/office/drawing/2014/main" id="{0D758972-BA1E-1310-2F54-D3CDF9C79A55}"/>
              </a:ext>
            </a:extLst>
          </p:cNvPr>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a:solidFill>
                  <a:schemeClr val="bg1">
                    <a:lumMod val="50000"/>
                  </a:schemeClr>
                </a:solidFill>
                <a:latin typeface="Arial" panose="020B0604020202020204" pitchFamily="34" charset="0"/>
                <a:ea typeface="微软雅黑" panose="020B0503020204020204" pitchFamily="34" charset="-122"/>
              </a:rPr>
              <a:t>项目实</a:t>
            </a:r>
            <a:r>
              <a:rPr lang="zh-CN" altLang="en-US" sz="1600" b="1" dirty="0">
                <a:solidFill>
                  <a:schemeClr val="bg1">
                    <a:lumMod val="50000"/>
                  </a:schemeClr>
                </a:solidFill>
                <a:latin typeface="Arial" panose="020B0604020202020204" pitchFamily="34" charset="0"/>
                <a:ea typeface="微软雅黑" panose="020B0503020204020204" pitchFamily="34" charset="-122"/>
              </a:rPr>
              <a:t>现</a:t>
            </a:r>
          </a:p>
        </p:txBody>
      </p:sp>
      <p:sp>
        <p:nvSpPr>
          <p:cNvPr id="29" name="TextBox 10">
            <a:extLst>
              <a:ext uri="{FF2B5EF4-FFF2-40B4-BE49-F238E27FC236}">
                <a16:creationId xmlns:a16="http://schemas.microsoft.com/office/drawing/2014/main" id="{9D168A6B-5A4F-7485-0522-1338E9DC289D}"/>
              </a:ext>
            </a:extLst>
          </p:cNvPr>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rPr>
              <a:t>项目测试</a:t>
            </a:r>
          </a:p>
        </p:txBody>
      </p:sp>
      <p:sp>
        <p:nvSpPr>
          <p:cNvPr id="30" name="TextBox 11">
            <a:extLst>
              <a:ext uri="{FF2B5EF4-FFF2-40B4-BE49-F238E27FC236}">
                <a16:creationId xmlns:a16="http://schemas.microsoft.com/office/drawing/2014/main" id="{B8B9EBB1-4FF2-BE9B-C9A4-66D584E9B29E}"/>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rPr>
              <a:t>项目总结</a:t>
            </a:r>
          </a:p>
        </p:txBody>
      </p:sp>
      <p:cxnSp>
        <p:nvCxnSpPr>
          <p:cNvPr id="31" name="直接连接符 30">
            <a:extLst>
              <a:ext uri="{FF2B5EF4-FFF2-40B4-BE49-F238E27FC236}">
                <a16:creationId xmlns:a16="http://schemas.microsoft.com/office/drawing/2014/main" id="{97C5E522-5291-2680-AB45-3E4CB2DA9BB6}"/>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学论网-矩形 1">
            <a:extLst>
              <a:ext uri="{FF2B5EF4-FFF2-40B4-BE49-F238E27FC236}">
                <a16:creationId xmlns:a16="http://schemas.microsoft.com/office/drawing/2014/main" id="{4D4A6B57-3F7A-A22F-C4B7-70ABD3FFF341}"/>
              </a:ext>
            </a:extLst>
          </p:cNvPr>
          <p:cNvSpPr/>
          <p:nvPr/>
        </p:nvSpPr>
        <p:spPr>
          <a:xfrm>
            <a:off x="574657" y="1575936"/>
            <a:ext cx="3489343" cy="680391"/>
          </a:xfrm>
          <a:prstGeom prst="rect">
            <a:avLst/>
          </a:prstGeom>
          <a:solidFill>
            <a:schemeClr val="accent6"/>
          </a:solidFill>
          <a:ln w="12700" cap="flat" cmpd="sng" algn="ctr">
            <a:solidFill>
              <a:srgbClr val="448AD7"/>
            </a:solidFill>
            <a:prstDash val="solid"/>
          </a:ln>
          <a:effectLst/>
        </p:spPr>
        <p:txBody>
          <a:bodyPr rtlCol="0" anchor="ctr"/>
          <a:lstStyle/>
          <a:p>
            <a:pPr lvl="0" algn="ctr"/>
            <a:r>
              <a:rPr lang="zh-CN" altLang="en-US" sz="2800" b="1">
                <a:solidFill>
                  <a:schemeClr val="bg1"/>
                </a:solidFill>
                <a:latin typeface="Arial" panose="020B0604020202020204" pitchFamily="34" charset="0"/>
                <a:ea typeface="微软雅黑" panose="020B0503020204020204" pitchFamily="34" charset="-122"/>
                <a:cs typeface="微软雅黑" panose="020B0503020204020204" pitchFamily="34" charset="-122"/>
                <a:sym typeface="+mn-ea"/>
              </a:rPr>
              <a:t>模型参数规模增长</a:t>
            </a:r>
            <a:endParaRPr lang="zh-CN" altLang="en-US" sz="2800" b="1" kern="0" dirty="0">
              <a:gradFill>
                <a:gsLst>
                  <a:gs pos="100000">
                    <a:schemeClr val="bg1"/>
                  </a:gs>
                  <a:gs pos="0">
                    <a:schemeClr val="bg1">
                      <a:lumMod val="95000"/>
                    </a:schemeClr>
                  </a:gs>
                </a:gsLst>
                <a:path path="circle">
                  <a:fillToRect l="100000" b="100000"/>
                </a:path>
              </a:gradFill>
              <a:latin typeface="Arial" panose="020B0604020202020204" pitchFamily="34" charset="0"/>
              <a:ea typeface="微软雅黑" panose="020B0503020204020204" pitchFamily="34" charset="-122"/>
            </a:endParaRPr>
          </a:p>
        </p:txBody>
      </p:sp>
      <p:sp>
        <p:nvSpPr>
          <p:cNvPr id="52" name="学论网-矩形 1">
            <a:extLst>
              <a:ext uri="{FF2B5EF4-FFF2-40B4-BE49-F238E27FC236}">
                <a16:creationId xmlns:a16="http://schemas.microsoft.com/office/drawing/2014/main" id="{475C8EA8-2FCB-F0C8-7AE6-828EBACCE572}"/>
              </a:ext>
            </a:extLst>
          </p:cNvPr>
          <p:cNvSpPr/>
          <p:nvPr/>
        </p:nvSpPr>
        <p:spPr>
          <a:xfrm>
            <a:off x="574657" y="2258231"/>
            <a:ext cx="3489343" cy="3970603"/>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latin typeface="Songti SC" panose="02010600040101010101" pitchFamily="2" charset="-122"/>
              <a:ea typeface="Songti SC Black" panose="02010600040101010101" pitchFamily="2" charset="-122"/>
            </a:endParaRPr>
          </a:p>
        </p:txBody>
      </p:sp>
      <p:sp>
        <p:nvSpPr>
          <p:cNvPr id="55" name="学论网-www.xuelun.me">
            <a:extLst>
              <a:ext uri="{FF2B5EF4-FFF2-40B4-BE49-F238E27FC236}">
                <a16:creationId xmlns:a16="http://schemas.microsoft.com/office/drawing/2014/main" id="{2160A6E9-24F4-1A83-B81A-10BFC7FBEF79}"/>
              </a:ext>
            </a:extLst>
          </p:cNvPr>
          <p:cNvSpPr txBox="1"/>
          <p:nvPr/>
        </p:nvSpPr>
        <p:spPr>
          <a:xfrm>
            <a:off x="774362" y="4743834"/>
            <a:ext cx="3272587" cy="1537189"/>
          </a:xfrm>
          <a:prstGeom prst="rect">
            <a:avLst/>
          </a:prstGeom>
          <a:noFill/>
          <a:ln>
            <a:noFill/>
          </a:ln>
        </p:spPr>
        <p:txBody>
          <a:bodyPr wrap="square" lIns="0" tIns="0" rIns="0" bIns="0" rtlCol="0">
            <a:noAutofit/>
          </a:bodyPr>
          <a:lstStyle/>
          <a:p>
            <a:pPr>
              <a:lnSpc>
                <a:spcPct val="150000"/>
              </a:lnSpc>
            </a:pPr>
            <a:r>
              <a:rPr lang="zh-CN" altLang="en-US" sz="2000" b="1">
                <a:latin typeface="Arial" panose="020B0604020202020204" pitchFamily="34" charset="0"/>
                <a:ea typeface="微软雅黑" panose="020B0503020204020204" pitchFamily="34" charset="-122"/>
                <a:cs typeface="宋体" panose="02010600030101010101" pitchFamily="2" charset="-122"/>
                <a:sym typeface="+mn-ea"/>
              </a:rPr>
              <a:t>随着应用场景的拓展，模型能力不断提升，驱动模型</a:t>
            </a:r>
            <a:r>
              <a:rPr lang="zh-CN" altLang="en-US" sz="2000" b="1">
                <a:solidFill>
                  <a:srgbClr val="FF0000"/>
                </a:solidFill>
                <a:latin typeface="Arial" panose="020B0604020202020204" pitchFamily="34" charset="0"/>
                <a:ea typeface="微软雅黑" panose="020B0503020204020204" pitchFamily="34" charset="-122"/>
                <a:cs typeface="宋体" panose="02010600030101010101" pitchFamily="2" charset="-122"/>
                <a:sym typeface="+mn-ea"/>
              </a:rPr>
              <a:t>参数规模持续扩大</a:t>
            </a:r>
            <a:r>
              <a:rPr lang="zh-CN" altLang="en-US" sz="2000" b="1">
                <a:latin typeface="Arial" panose="020B0604020202020204" pitchFamily="34" charset="0"/>
                <a:ea typeface="微软雅黑" panose="020B0503020204020204" pitchFamily="34" charset="-122"/>
                <a:cs typeface="宋体" panose="02010600030101010101" pitchFamily="2" charset="-122"/>
                <a:sym typeface="+mn-ea"/>
              </a:rPr>
              <a:t>。</a:t>
            </a:r>
            <a:endParaRPr lang="en-US" altLang="zh-CN" sz="2000" b="1">
              <a:latin typeface="Arial" panose="020B0604020202020204" pitchFamily="34" charset="0"/>
              <a:ea typeface="微软雅黑" panose="020B0503020204020204" pitchFamily="34" charset="-122"/>
              <a:cs typeface="宋体" panose="02010600030101010101" pitchFamily="2" charset="-122"/>
              <a:sym typeface="+mn-ea"/>
            </a:endParaRPr>
          </a:p>
        </p:txBody>
      </p:sp>
      <p:sp>
        <p:nvSpPr>
          <p:cNvPr id="3" name="TextBox 6">
            <a:extLst>
              <a:ext uri="{FF2B5EF4-FFF2-40B4-BE49-F238E27FC236}">
                <a16:creationId xmlns:a16="http://schemas.microsoft.com/office/drawing/2014/main" id="{16E887B2-2092-13D8-ED47-1D677658A7CE}"/>
              </a:ext>
            </a:extLst>
          </p:cNvPr>
          <p:cNvSpPr txBox="1"/>
          <p:nvPr/>
        </p:nvSpPr>
        <p:spPr>
          <a:xfrm>
            <a:off x="378942" y="958993"/>
            <a:ext cx="2400000" cy="527825"/>
          </a:xfrm>
          <a:prstGeom prst="rect">
            <a:avLst/>
          </a:prstGeom>
          <a:noFill/>
        </p:spPr>
        <p:txBody>
          <a:bodyPr wrap="square" lIns="0" tIns="48000" rIns="0" bIns="48000" rtlCol="0">
            <a:spAutoFit/>
          </a:bodyPr>
          <a:lstStyle/>
          <a:p>
            <a:pPr algn="ctr"/>
            <a:r>
              <a:rPr lang="en-US" altLang="zh-CN" sz="2800" b="1" dirty="0">
                <a:solidFill>
                  <a:schemeClr val="tx1">
                    <a:lumMod val="65000"/>
                    <a:lumOff val="35000"/>
                  </a:schemeClr>
                </a:solidFill>
                <a:latin typeface="Arial" panose="020B0604020202020204" pitchFamily="34" charset="0"/>
                <a:ea typeface="微软雅黑" panose="020B0503020204020204" pitchFamily="34" charset="-122"/>
              </a:rPr>
              <a:t>1.1 </a:t>
            </a:r>
            <a:r>
              <a:rPr lang="zh-CN" altLang="en-US" sz="2800" b="1" dirty="0">
                <a:solidFill>
                  <a:schemeClr val="tx1">
                    <a:lumMod val="65000"/>
                    <a:lumOff val="35000"/>
                  </a:schemeClr>
                </a:solidFill>
                <a:latin typeface="Arial" panose="020B0604020202020204" pitchFamily="34" charset="0"/>
                <a:ea typeface="微软雅黑" panose="020B0503020204020204" pitchFamily="34" charset="-122"/>
              </a:rPr>
              <a:t>项目背景</a:t>
            </a:r>
          </a:p>
        </p:txBody>
      </p:sp>
      <p:pic>
        <p:nvPicPr>
          <p:cNvPr id="4" name="图片 3">
            <a:extLst>
              <a:ext uri="{FF2B5EF4-FFF2-40B4-BE49-F238E27FC236}">
                <a16:creationId xmlns:a16="http://schemas.microsoft.com/office/drawing/2014/main" id="{E013134A-93B3-A6A9-F9FA-9E0933F5977A}"/>
              </a:ext>
            </a:extLst>
          </p:cNvPr>
          <p:cNvPicPr>
            <a:picLocks noChangeAspect="1"/>
          </p:cNvPicPr>
          <p:nvPr/>
        </p:nvPicPr>
        <p:blipFill rotWithShape="1">
          <a:blip r:embed="rId3"/>
          <a:srcRect t="29956" r="-277"/>
          <a:stretch>
            <a:fillRect/>
          </a:stretch>
        </p:blipFill>
        <p:spPr>
          <a:xfrm>
            <a:off x="195620" y="89117"/>
            <a:ext cx="2766644" cy="613765"/>
          </a:xfrm>
          <a:prstGeom prst="rect">
            <a:avLst/>
          </a:prstGeom>
        </p:spPr>
      </p:pic>
      <p:pic>
        <p:nvPicPr>
          <p:cNvPr id="9" name="图片 8">
            <a:extLst>
              <a:ext uri="{FF2B5EF4-FFF2-40B4-BE49-F238E27FC236}">
                <a16:creationId xmlns:a16="http://schemas.microsoft.com/office/drawing/2014/main" id="{A65E0C32-18AB-7572-5560-4BB8F1510986}"/>
              </a:ext>
            </a:extLst>
          </p:cNvPr>
          <p:cNvPicPr>
            <a:picLocks noChangeAspect="1"/>
          </p:cNvPicPr>
          <p:nvPr/>
        </p:nvPicPr>
        <p:blipFill>
          <a:blip r:embed="rId4"/>
          <a:stretch>
            <a:fillRect/>
          </a:stretch>
        </p:blipFill>
        <p:spPr>
          <a:xfrm>
            <a:off x="774362" y="2548929"/>
            <a:ext cx="2976711" cy="1760142"/>
          </a:xfrm>
          <a:prstGeom prst="rect">
            <a:avLst/>
          </a:prstGeom>
        </p:spPr>
      </p:pic>
      <p:sp>
        <p:nvSpPr>
          <p:cNvPr id="10" name="学论网-矩形 1">
            <a:extLst>
              <a:ext uri="{FF2B5EF4-FFF2-40B4-BE49-F238E27FC236}">
                <a16:creationId xmlns:a16="http://schemas.microsoft.com/office/drawing/2014/main" id="{8D72B660-3C02-7DB3-3121-66085B4CC120}"/>
              </a:ext>
            </a:extLst>
          </p:cNvPr>
          <p:cNvSpPr/>
          <p:nvPr/>
        </p:nvSpPr>
        <p:spPr>
          <a:xfrm>
            <a:off x="4331773" y="1575936"/>
            <a:ext cx="3437785" cy="680391"/>
          </a:xfrm>
          <a:prstGeom prst="rect">
            <a:avLst/>
          </a:prstGeom>
          <a:solidFill>
            <a:schemeClr val="accent6"/>
          </a:solidFill>
          <a:ln w="12700" cap="flat" cmpd="sng" algn="ctr">
            <a:solidFill>
              <a:srgbClr val="448AD7"/>
            </a:solidFill>
            <a:prstDash val="solid"/>
          </a:ln>
          <a:effectLst/>
        </p:spPr>
        <p:txBody>
          <a:bodyPr rtlCol="0" anchor="ctr"/>
          <a:lstStyle/>
          <a:p>
            <a:pPr lvl="0" algn="ctr"/>
            <a:r>
              <a:rPr lang="zh-CN" altLang="en-US" sz="2800" b="1">
                <a:solidFill>
                  <a:schemeClr val="bg1"/>
                </a:solidFill>
                <a:latin typeface="Arial" panose="020B0604020202020204" pitchFamily="34" charset="0"/>
                <a:ea typeface="微软雅黑" panose="020B0503020204020204" pitchFamily="34" charset="-122"/>
                <a:cs typeface="微软雅黑" panose="020B0503020204020204" pitchFamily="34" charset="-122"/>
                <a:sym typeface="+mn-ea"/>
              </a:rPr>
              <a:t>上下文长度不断增加</a:t>
            </a:r>
            <a:endParaRPr lang="zh-CN" altLang="en-US" sz="2800" b="1" kern="0" dirty="0">
              <a:gradFill>
                <a:gsLst>
                  <a:gs pos="100000">
                    <a:schemeClr val="bg1"/>
                  </a:gs>
                  <a:gs pos="0">
                    <a:schemeClr val="bg1">
                      <a:lumMod val="95000"/>
                    </a:schemeClr>
                  </a:gs>
                </a:gsLst>
                <a:path path="circle">
                  <a:fillToRect l="100000" b="100000"/>
                </a:path>
              </a:gradFill>
              <a:latin typeface="Arial" panose="020B0604020202020204" pitchFamily="34" charset="0"/>
              <a:ea typeface="微软雅黑" panose="020B0503020204020204" pitchFamily="34" charset="-122"/>
            </a:endParaRPr>
          </a:p>
        </p:txBody>
      </p:sp>
      <p:sp>
        <p:nvSpPr>
          <p:cNvPr id="11" name="学论网-矩形 1">
            <a:extLst>
              <a:ext uri="{FF2B5EF4-FFF2-40B4-BE49-F238E27FC236}">
                <a16:creationId xmlns:a16="http://schemas.microsoft.com/office/drawing/2014/main" id="{63E2035A-596F-2FC5-0779-F2F00E200152}"/>
              </a:ext>
            </a:extLst>
          </p:cNvPr>
          <p:cNvSpPr/>
          <p:nvPr/>
        </p:nvSpPr>
        <p:spPr>
          <a:xfrm>
            <a:off x="4331773" y="2258231"/>
            <a:ext cx="3437785" cy="3970603"/>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latin typeface="Songti SC" panose="02010600040101010101" pitchFamily="2" charset="-122"/>
              <a:ea typeface="Songti SC Black" panose="02010600040101010101" pitchFamily="2" charset="-122"/>
            </a:endParaRPr>
          </a:p>
        </p:txBody>
      </p:sp>
      <p:sp>
        <p:nvSpPr>
          <p:cNvPr id="12" name="学论网-www.xuelun.me">
            <a:extLst>
              <a:ext uri="{FF2B5EF4-FFF2-40B4-BE49-F238E27FC236}">
                <a16:creationId xmlns:a16="http://schemas.microsoft.com/office/drawing/2014/main" id="{9BC3B515-19CA-989C-0C7F-F21AD666A68E}"/>
              </a:ext>
            </a:extLst>
          </p:cNvPr>
          <p:cNvSpPr txBox="1"/>
          <p:nvPr/>
        </p:nvSpPr>
        <p:spPr>
          <a:xfrm>
            <a:off x="4516064" y="4743835"/>
            <a:ext cx="3118691" cy="1537189"/>
          </a:xfrm>
          <a:prstGeom prst="rect">
            <a:avLst/>
          </a:prstGeom>
          <a:noFill/>
          <a:ln>
            <a:noFill/>
          </a:ln>
        </p:spPr>
        <p:txBody>
          <a:bodyPr wrap="square" lIns="0" tIns="0" rIns="0" bIns="0" rtlCol="0">
            <a:noAutofit/>
          </a:bodyPr>
          <a:lstStyle/>
          <a:p>
            <a:pPr>
              <a:lnSpc>
                <a:spcPct val="150000"/>
              </a:lnSpc>
            </a:pPr>
            <a:r>
              <a:rPr lang="zh-CN" altLang="en-US" sz="2000" b="1">
                <a:latin typeface="Arial" panose="020B0604020202020204" pitchFamily="34" charset="0"/>
                <a:ea typeface="微软雅黑" panose="020B0503020204020204" pitchFamily="34" charset="-122"/>
                <a:cs typeface="宋体" panose="02010600030101010101" pitchFamily="2" charset="-122"/>
                <a:sym typeface="+mn-ea"/>
              </a:rPr>
              <a:t>大模型正从短文本问答向多轮长对话场景发展，</a:t>
            </a:r>
            <a:r>
              <a:rPr lang="zh-CN" altLang="en-US" sz="2000" b="1">
                <a:solidFill>
                  <a:srgbClr val="FF0000"/>
                </a:solidFill>
                <a:latin typeface="Arial" panose="020B0604020202020204" pitchFamily="34" charset="0"/>
                <a:ea typeface="微软雅黑" panose="020B0503020204020204" pitchFamily="34" charset="-122"/>
                <a:cs typeface="宋体" panose="02010600030101010101" pitchFamily="2" charset="-122"/>
                <a:sym typeface="+mn-ea"/>
              </a:rPr>
              <a:t>上下文长度随之不断增加</a:t>
            </a:r>
            <a:r>
              <a:rPr lang="zh-CN" altLang="en-US" sz="2000" b="1">
                <a:latin typeface="Arial" panose="020B0604020202020204" pitchFamily="34" charset="0"/>
                <a:ea typeface="微软雅黑" panose="020B0503020204020204" pitchFamily="34" charset="-122"/>
                <a:cs typeface="宋体" panose="02010600030101010101" pitchFamily="2" charset="-122"/>
                <a:sym typeface="+mn-ea"/>
              </a:rPr>
              <a:t>。</a:t>
            </a:r>
            <a:endParaRPr lang="en-US" altLang="zh-CN" sz="2000" b="1">
              <a:latin typeface="Arial" panose="020B0604020202020204" pitchFamily="34" charset="0"/>
              <a:ea typeface="微软雅黑" panose="020B0503020204020204" pitchFamily="34" charset="-122"/>
              <a:cs typeface="宋体" panose="02010600030101010101" pitchFamily="2" charset="-122"/>
              <a:sym typeface="+mn-ea"/>
            </a:endParaRPr>
          </a:p>
        </p:txBody>
      </p:sp>
      <p:pic>
        <p:nvPicPr>
          <p:cNvPr id="13" name="图片 12">
            <a:extLst>
              <a:ext uri="{FF2B5EF4-FFF2-40B4-BE49-F238E27FC236}">
                <a16:creationId xmlns:a16="http://schemas.microsoft.com/office/drawing/2014/main" id="{8189976E-B69E-F557-DA16-73B327BAE36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656627" y="2378661"/>
            <a:ext cx="2760172" cy="2125332"/>
          </a:xfrm>
          <a:prstGeom prst="rect">
            <a:avLst/>
          </a:prstGeom>
        </p:spPr>
      </p:pic>
      <p:sp>
        <p:nvSpPr>
          <p:cNvPr id="14" name="学论网-矩形 1">
            <a:extLst>
              <a:ext uri="{FF2B5EF4-FFF2-40B4-BE49-F238E27FC236}">
                <a16:creationId xmlns:a16="http://schemas.microsoft.com/office/drawing/2014/main" id="{B9664B26-93BB-75AB-68E2-238B4F22394C}"/>
              </a:ext>
            </a:extLst>
          </p:cNvPr>
          <p:cNvSpPr/>
          <p:nvPr/>
        </p:nvSpPr>
        <p:spPr>
          <a:xfrm>
            <a:off x="8037331" y="1575936"/>
            <a:ext cx="3692543" cy="680391"/>
          </a:xfrm>
          <a:prstGeom prst="rect">
            <a:avLst/>
          </a:prstGeom>
          <a:solidFill>
            <a:schemeClr val="accent6"/>
          </a:solidFill>
          <a:ln w="12700" cap="flat" cmpd="sng" algn="ctr">
            <a:solidFill>
              <a:srgbClr val="448AD7"/>
            </a:solidFill>
            <a:prstDash val="solid"/>
          </a:ln>
          <a:effectLst/>
        </p:spPr>
        <p:txBody>
          <a:bodyPr rtlCol="0" anchor="ctr"/>
          <a:lstStyle/>
          <a:p>
            <a:pPr lvl="0" algn="ctr"/>
            <a:r>
              <a:rPr lang="zh-CN" altLang="en-US" sz="2800" b="1">
                <a:solidFill>
                  <a:schemeClr val="bg1"/>
                </a:solidFill>
                <a:latin typeface="Arial" panose="020B0604020202020204" pitchFamily="34" charset="0"/>
                <a:ea typeface="微软雅黑" panose="020B0503020204020204" pitchFamily="34" charset="-122"/>
                <a:cs typeface="微软雅黑" panose="020B0503020204020204" pitchFamily="34" charset="-122"/>
                <a:sym typeface="+mn-ea"/>
              </a:rPr>
              <a:t>部署由云端转向边缘</a:t>
            </a:r>
            <a:endParaRPr lang="zh-CN" altLang="en-US" sz="2800" b="1" kern="0" dirty="0">
              <a:gradFill>
                <a:gsLst>
                  <a:gs pos="100000">
                    <a:schemeClr val="bg1"/>
                  </a:gs>
                  <a:gs pos="0">
                    <a:schemeClr val="bg1">
                      <a:lumMod val="95000"/>
                    </a:schemeClr>
                  </a:gs>
                </a:gsLst>
                <a:path path="circle">
                  <a:fillToRect l="100000" b="100000"/>
                </a:path>
              </a:gradFill>
              <a:latin typeface="Arial" panose="020B0604020202020204" pitchFamily="34" charset="0"/>
              <a:ea typeface="微软雅黑" panose="020B0503020204020204" pitchFamily="34" charset="-122"/>
            </a:endParaRPr>
          </a:p>
        </p:txBody>
      </p:sp>
      <p:sp>
        <p:nvSpPr>
          <p:cNvPr id="15" name="学论网-矩形 1">
            <a:extLst>
              <a:ext uri="{FF2B5EF4-FFF2-40B4-BE49-F238E27FC236}">
                <a16:creationId xmlns:a16="http://schemas.microsoft.com/office/drawing/2014/main" id="{8EEAA437-720C-4DCB-7FDD-BC83D13AE6A7}"/>
              </a:ext>
            </a:extLst>
          </p:cNvPr>
          <p:cNvSpPr/>
          <p:nvPr/>
        </p:nvSpPr>
        <p:spPr>
          <a:xfrm>
            <a:off x="8037331" y="2258231"/>
            <a:ext cx="3692544" cy="3970603"/>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latin typeface="Songti SC" panose="02010600040101010101" pitchFamily="2" charset="-122"/>
              <a:ea typeface="Songti SC Black" panose="02010600040101010101" pitchFamily="2" charset="-122"/>
            </a:endParaRPr>
          </a:p>
        </p:txBody>
      </p:sp>
      <p:sp>
        <p:nvSpPr>
          <p:cNvPr id="16" name="学论网-www.xuelun.me">
            <a:extLst>
              <a:ext uri="{FF2B5EF4-FFF2-40B4-BE49-F238E27FC236}">
                <a16:creationId xmlns:a16="http://schemas.microsoft.com/office/drawing/2014/main" id="{82DA71E1-0715-2430-FFB6-F8F921234C0E}"/>
              </a:ext>
            </a:extLst>
          </p:cNvPr>
          <p:cNvSpPr txBox="1"/>
          <p:nvPr/>
        </p:nvSpPr>
        <p:spPr>
          <a:xfrm>
            <a:off x="8257907" y="4750789"/>
            <a:ext cx="3315894" cy="1537189"/>
          </a:xfrm>
          <a:prstGeom prst="rect">
            <a:avLst/>
          </a:prstGeom>
          <a:noFill/>
          <a:ln>
            <a:noFill/>
          </a:ln>
        </p:spPr>
        <p:txBody>
          <a:bodyPr wrap="square" lIns="0" tIns="0" rIns="0" bIns="0" rtlCol="0">
            <a:noAutofit/>
          </a:bodyPr>
          <a:lstStyle/>
          <a:p>
            <a:pPr>
              <a:lnSpc>
                <a:spcPct val="150000"/>
              </a:lnSpc>
            </a:pPr>
            <a:r>
              <a:rPr lang="zh-CN" altLang="en-US" sz="2000" b="1">
                <a:latin typeface="Arial" panose="020B0604020202020204" pitchFamily="34" charset="0"/>
                <a:ea typeface="微软雅黑" panose="020B0503020204020204" pitchFamily="34" charset="-122"/>
                <a:cs typeface="宋体" panose="02010600030101010101" pitchFamily="2" charset="-122"/>
                <a:sym typeface="+mn-ea"/>
              </a:rPr>
              <a:t>本地化、低延迟和隐私友好的优点，使得大模型的部署平台从云端向</a:t>
            </a:r>
            <a:r>
              <a:rPr lang="zh-CN" altLang="en-US" sz="2000" b="1">
                <a:solidFill>
                  <a:srgbClr val="FF0000"/>
                </a:solidFill>
                <a:latin typeface="Arial" panose="020B0604020202020204" pitchFamily="34" charset="0"/>
                <a:ea typeface="微软雅黑" panose="020B0503020204020204" pitchFamily="34" charset="-122"/>
                <a:cs typeface="宋体" panose="02010600030101010101" pitchFamily="2" charset="-122"/>
                <a:sym typeface="+mn-ea"/>
              </a:rPr>
              <a:t>边缘设备</a:t>
            </a:r>
            <a:r>
              <a:rPr lang="zh-CN" altLang="en-US" sz="2000" b="1">
                <a:latin typeface="Arial" panose="020B0604020202020204" pitchFamily="34" charset="0"/>
                <a:ea typeface="微软雅黑" panose="020B0503020204020204" pitchFamily="34" charset="-122"/>
                <a:cs typeface="宋体" panose="02010600030101010101" pitchFamily="2" charset="-122"/>
                <a:sym typeface="+mn-ea"/>
              </a:rPr>
              <a:t>延伸。</a:t>
            </a:r>
            <a:endParaRPr lang="en-US" altLang="zh-CN" sz="2000" b="1">
              <a:latin typeface="Arial" panose="020B0604020202020204" pitchFamily="34" charset="0"/>
              <a:ea typeface="微软雅黑" panose="020B0503020204020204" pitchFamily="34" charset="-122"/>
              <a:cs typeface="宋体" panose="02010600030101010101" pitchFamily="2" charset="-122"/>
              <a:sym typeface="+mn-ea"/>
            </a:endParaRPr>
          </a:p>
        </p:txBody>
      </p:sp>
      <p:pic>
        <p:nvPicPr>
          <p:cNvPr id="17" name="图片 16">
            <a:extLst>
              <a:ext uri="{FF2B5EF4-FFF2-40B4-BE49-F238E27FC236}">
                <a16:creationId xmlns:a16="http://schemas.microsoft.com/office/drawing/2014/main" id="{E77069A8-8277-CE3E-2DA9-F2358EF8D26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372219" y="2378661"/>
            <a:ext cx="2904260" cy="2251699"/>
          </a:xfrm>
          <a:prstGeom prst="rect">
            <a:avLst/>
          </a:prstGeom>
        </p:spPr>
      </p:pic>
    </p:spTree>
    <p:extLst>
      <p:ext uri="{BB962C8B-B14F-4D97-AF65-F5344CB8AC3E}">
        <p14:creationId xmlns:p14="http://schemas.microsoft.com/office/powerpoint/2010/main" val="40224205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par>
                          <p:cTn id="10" fill="hold">
                            <p:stCondLst>
                              <p:cond delay="500"/>
                            </p:stCondLst>
                            <p:childTnLst>
                              <p:par>
                                <p:cTn id="11" presetID="16" presetClass="entr" presetSubtype="21" fill="hold" grpId="0" nodeType="afterEffect">
                                  <p:stCondLst>
                                    <p:cond delay="0"/>
                                  </p:stCondLst>
                                  <p:childTnLst>
                                    <p:set>
                                      <p:cBhvr>
                                        <p:cTn id="12" dur="1" fill="hold">
                                          <p:stCondLst>
                                            <p:cond delay="0"/>
                                          </p:stCondLst>
                                        </p:cTn>
                                        <p:tgtEl>
                                          <p:spTgt spid="51"/>
                                        </p:tgtEl>
                                        <p:attrNameLst>
                                          <p:attrName>style.visibility</p:attrName>
                                        </p:attrNameLst>
                                      </p:cBhvr>
                                      <p:to>
                                        <p:strVal val="visible"/>
                                      </p:to>
                                    </p:set>
                                    <p:animEffect transition="in" filter="barn(inVertical)">
                                      <p:cBhvr>
                                        <p:cTn id="13" dur="500"/>
                                        <p:tgtEl>
                                          <p:spTgt spid="51"/>
                                        </p:tgtEl>
                                      </p:cBhvr>
                                    </p:animEffect>
                                  </p:childTnLst>
                                </p:cTn>
                              </p:par>
                            </p:childTnLst>
                          </p:cTn>
                        </p:par>
                        <p:par>
                          <p:cTn id="14" fill="hold">
                            <p:stCondLst>
                              <p:cond delay="1000"/>
                            </p:stCondLst>
                            <p:childTnLst>
                              <p:par>
                                <p:cTn id="15" presetID="2" presetClass="entr" presetSubtype="4" decel="53300" fill="hold" grpId="0" nodeType="afterEffect">
                                  <p:stCondLst>
                                    <p:cond delay="0"/>
                                  </p:stCondLst>
                                  <p:childTnLst>
                                    <p:set>
                                      <p:cBhvr>
                                        <p:cTn id="16" dur="1" fill="hold">
                                          <p:stCondLst>
                                            <p:cond delay="0"/>
                                          </p:stCondLst>
                                        </p:cTn>
                                        <p:tgtEl>
                                          <p:spTgt spid="52"/>
                                        </p:tgtEl>
                                        <p:attrNameLst>
                                          <p:attrName>style.visibility</p:attrName>
                                        </p:attrNameLst>
                                      </p:cBhvr>
                                      <p:to>
                                        <p:strVal val="visible"/>
                                      </p:to>
                                    </p:set>
                                    <p:anim calcmode="lin" valueType="num">
                                      <p:cBhvr additive="base">
                                        <p:cTn id="17" dur="750" fill="hold"/>
                                        <p:tgtEl>
                                          <p:spTgt spid="52"/>
                                        </p:tgtEl>
                                        <p:attrNameLst>
                                          <p:attrName>ppt_x</p:attrName>
                                        </p:attrNameLst>
                                      </p:cBhvr>
                                      <p:tavLst>
                                        <p:tav tm="0">
                                          <p:val>
                                            <p:strVal val="#ppt_x"/>
                                          </p:val>
                                        </p:tav>
                                        <p:tav tm="100000">
                                          <p:val>
                                            <p:strVal val="#ppt_x"/>
                                          </p:val>
                                        </p:tav>
                                      </p:tavLst>
                                    </p:anim>
                                    <p:anim calcmode="lin" valueType="num">
                                      <p:cBhvr additive="base">
                                        <p:cTn id="18" dur="750" fill="hold"/>
                                        <p:tgtEl>
                                          <p:spTgt spid="52"/>
                                        </p:tgtEl>
                                        <p:attrNameLst>
                                          <p:attrName>ppt_y</p:attrName>
                                        </p:attrNameLst>
                                      </p:cBhvr>
                                      <p:tavLst>
                                        <p:tav tm="0">
                                          <p:val>
                                            <p:strVal val="1+#ppt_h/2"/>
                                          </p:val>
                                        </p:tav>
                                        <p:tav tm="100000">
                                          <p:val>
                                            <p:strVal val="#ppt_y"/>
                                          </p:val>
                                        </p:tav>
                                      </p:tavLst>
                                    </p:anim>
                                  </p:childTnLst>
                                </p:cTn>
                              </p:par>
                            </p:childTnLst>
                          </p:cTn>
                        </p:par>
                        <p:par>
                          <p:cTn id="19" fill="hold">
                            <p:stCondLst>
                              <p:cond delay="1750"/>
                            </p:stCondLst>
                            <p:childTnLst>
                              <p:par>
                                <p:cTn id="20" presetID="22" presetClass="entr" presetSubtype="1" fill="hold" grpId="0" nodeType="afterEffect">
                                  <p:stCondLst>
                                    <p:cond delay="0"/>
                                  </p:stCondLst>
                                  <p:childTnLst>
                                    <p:set>
                                      <p:cBhvr>
                                        <p:cTn id="21" dur="1" fill="hold">
                                          <p:stCondLst>
                                            <p:cond delay="0"/>
                                          </p:stCondLst>
                                        </p:cTn>
                                        <p:tgtEl>
                                          <p:spTgt spid="55"/>
                                        </p:tgtEl>
                                        <p:attrNameLst>
                                          <p:attrName>style.visibility</p:attrName>
                                        </p:attrNameLst>
                                      </p:cBhvr>
                                      <p:to>
                                        <p:strVal val="visible"/>
                                      </p:to>
                                    </p:set>
                                    <p:animEffect transition="in" filter="wipe(up)">
                                      <p:cBhvr>
                                        <p:cTn id="22" dur="300"/>
                                        <p:tgtEl>
                                          <p:spTgt spid="55"/>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par>
                          <p:cTn id="26" fill="hold">
                            <p:stCondLst>
                              <p:cond delay="2250"/>
                            </p:stCondLst>
                            <p:childTnLst>
                              <p:par>
                                <p:cTn id="27" presetID="16" presetClass="entr" presetSubtype="21"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barn(inVertical)">
                                      <p:cBhvr>
                                        <p:cTn id="29" dur="500"/>
                                        <p:tgtEl>
                                          <p:spTgt spid="10"/>
                                        </p:tgtEl>
                                      </p:cBhvr>
                                    </p:animEffect>
                                  </p:childTnLst>
                                </p:cTn>
                              </p:par>
                            </p:childTnLst>
                          </p:cTn>
                        </p:par>
                        <p:par>
                          <p:cTn id="30" fill="hold">
                            <p:stCondLst>
                              <p:cond delay="2750"/>
                            </p:stCondLst>
                            <p:childTnLst>
                              <p:par>
                                <p:cTn id="31" presetID="2" presetClass="entr" presetSubtype="4" decel="53300"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750" fill="hold"/>
                                        <p:tgtEl>
                                          <p:spTgt spid="11"/>
                                        </p:tgtEl>
                                        <p:attrNameLst>
                                          <p:attrName>ppt_x</p:attrName>
                                        </p:attrNameLst>
                                      </p:cBhvr>
                                      <p:tavLst>
                                        <p:tav tm="0">
                                          <p:val>
                                            <p:strVal val="#ppt_x"/>
                                          </p:val>
                                        </p:tav>
                                        <p:tav tm="100000">
                                          <p:val>
                                            <p:strVal val="#ppt_x"/>
                                          </p:val>
                                        </p:tav>
                                      </p:tavLst>
                                    </p:anim>
                                    <p:anim calcmode="lin" valueType="num">
                                      <p:cBhvr additive="base">
                                        <p:cTn id="34" dur="750" fill="hold"/>
                                        <p:tgtEl>
                                          <p:spTgt spid="11"/>
                                        </p:tgtEl>
                                        <p:attrNameLst>
                                          <p:attrName>ppt_y</p:attrName>
                                        </p:attrNameLst>
                                      </p:cBhvr>
                                      <p:tavLst>
                                        <p:tav tm="0">
                                          <p:val>
                                            <p:strVal val="1+#ppt_h/2"/>
                                          </p:val>
                                        </p:tav>
                                        <p:tav tm="100000">
                                          <p:val>
                                            <p:strVal val="#ppt_y"/>
                                          </p:val>
                                        </p:tav>
                                      </p:tavLst>
                                    </p:anim>
                                  </p:childTnLst>
                                </p:cTn>
                              </p:par>
                            </p:childTnLst>
                          </p:cTn>
                        </p:par>
                        <p:par>
                          <p:cTn id="35" fill="hold">
                            <p:stCondLst>
                              <p:cond delay="3500"/>
                            </p:stCondLst>
                            <p:childTnLst>
                              <p:par>
                                <p:cTn id="36" presetID="22" presetClass="entr" presetSubtype="1" fill="hold" grpId="0"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up)">
                                      <p:cBhvr>
                                        <p:cTn id="38" dur="300"/>
                                        <p:tgtEl>
                                          <p:spTgt spid="12"/>
                                        </p:tgtEl>
                                      </p:cBhvr>
                                    </p:animEffect>
                                  </p:childTnLst>
                                </p:cTn>
                              </p:par>
                            </p:childTnLst>
                          </p:cTn>
                        </p:par>
                        <p:par>
                          <p:cTn id="39" fill="hold">
                            <p:stCondLst>
                              <p:cond delay="3800"/>
                            </p:stCondLst>
                            <p:childTnLst>
                              <p:par>
                                <p:cTn id="40" presetID="16" presetClass="entr" presetSubtype="21"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barn(inVertical)">
                                      <p:cBhvr>
                                        <p:cTn id="42" dur="500"/>
                                        <p:tgtEl>
                                          <p:spTgt spid="14"/>
                                        </p:tgtEl>
                                      </p:cBhvr>
                                    </p:animEffect>
                                  </p:childTnLst>
                                </p:cTn>
                              </p:par>
                            </p:childTnLst>
                          </p:cTn>
                        </p:par>
                        <p:par>
                          <p:cTn id="43" fill="hold">
                            <p:stCondLst>
                              <p:cond delay="4300"/>
                            </p:stCondLst>
                            <p:childTnLst>
                              <p:par>
                                <p:cTn id="44" presetID="2" presetClass="entr" presetSubtype="4" decel="53300"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 calcmode="lin" valueType="num">
                                      <p:cBhvr additive="base">
                                        <p:cTn id="46" dur="750" fill="hold"/>
                                        <p:tgtEl>
                                          <p:spTgt spid="15"/>
                                        </p:tgtEl>
                                        <p:attrNameLst>
                                          <p:attrName>ppt_x</p:attrName>
                                        </p:attrNameLst>
                                      </p:cBhvr>
                                      <p:tavLst>
                                        <p:tav tm="0">
                                          <p:val>
                                            <p:strVal val="#ppt_x"/>
                                          </p:val>
                                        </p:tav>
                                        <p:tav tm="100000">
                                          <p:val>
                                            <p:strVal val="#ppt_x"/>
                                          </p:val>
                                        </p:tav>
                                      </p:tavLst>
                                    </p:anim>
                                    <p:anim calcmode="lin" valueType="num">
                                      <p:cBhvr additive="base">
                                        <p:cTn id="47" dur="750" fill="hold"/>
                                        <p:tgtEl>
                                          <p:spTgt spid="15"/>
                                        </p:tgtEl>
                                        <p:attrNameLst>
                                          <p:attrName>ppt_y</p:attrName>
                                        </p:attrNameLst>
                                      </p:cBhvr>
                                      <p:tavLst>
                                        <p:tav tm="0">
                                          <p:val>
                                            <p:strVal val="1+#ppt_h/2"/>
                                          </p:val>
                                        </p:tav>
                                        <p:tav tm="100000">
                                          <p:val>
                                            <p:strVal val="#ppt_y"/>
                                          </p:val>
                                        </p:tav>
                                      </p:tavLst>
                                    </p:anim>
                                  </p:childTnLst>
                                </p:cTn>
                              </p:par>
                            </p:childTnLst>
                          </p:cTn>
                        </p:par>
                        <p:par>
                          <p:cTn id="48" fill="hold">
                            <p:stCondLst>
                              <p:cond delay="5050"/>
                            </p:stCondLst>
                            <p:childTnLst>
                              <p:par>
                                <p:cTn id="49" presetID="22" presetClass="entr" presetSubtype="1" fill="hold" grpId="0" nodeType="after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up)">
                                      <p:cBhvr>
                                        <p:cTn id="51"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51" grpId="0" bldLvl="0" animBg="1"/>
      <p:bldP spid="52" grpId="0" bldLvl="0" animBg="1"/>
      <p:bldP spid="55" grpId="0"/>
      <p:bldP spid="3" grpId="0"/>
      <p:bldP spid="10" grpId="0" bldLvl="0" animBg="1"/>
      <p:bldP spid="11" grpId="0" bldLvl="0" animBg="1"/>
      <p:bldP spid="12" grpId="0"/>
      <p:bldP spid="14" grpId="0" bldLvl="0" animBg="1"/>
      <p:bldP spid="15" grpId="0" bldLvl="0" animBg="1"/>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 name="TextBox 6"/>
          <p:cNvSpPr txBox="1"/>
          <p:nvPr/>
        </p:nvSpPr>
        <p:spPr>
          <a:xfrm>
            <a:off x="570930" y="987058"/>
            <a:ext cx="3824825" cy="527825"/>
          </a:xfrm>
          <a:prstGeom prst="rect">
            <a:avLst/>
          </a:prstGeom>
          <a:noFill/>
        </p:spPr>
        <p:txBody>
          <a:bodyPr wrap="square" lIns="0" tIns="48000" rIns="0" bIns="48000" rtlCol="0">
            <a:spAutoFit/>
          </a:bodyPr>
          <a:lstStyle/>
          <a:p>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1.2 </a:t>
            </a:r>
            <a:r>
              <a:rPr lang="zh-CN" altLang="en-US" sz="2800" b="1" dirty="0">
                <a:solidFill>
                  <a:schemeClr val="tx1">
                    <a:lumMod val="65000"/>
                    <a:lumOff val="35000"/>
                  </a:schemeClr>
                </a:solidFill>
                <a:latin typeface="Arial" panose="020B0604020202020204" pitchFamily="34" charset="0"/>
                <a:ea typeface="微软雅黑" panose="020B0503020204020204" pitchFamily="34" charset="-122"/>
                <a:sym typeface="+mn-ea"/>
              </a:rPr>
              <a:t>研究</a:t>
            </a:r>
            <a:r>
              <a:rPr lang="zh-CN" altLang="en-US" sz="2800" b="1">
                <a:solidFill>
                  <a:schemeClr val="tx1">
                    <a:lumMod val="65000"/>
                    <a:lumOff val="35000"/>
                  </a:schemeClr>
                </a:solidFill>
                <a:latin typeface="Arial" panose="020B0604020202020204" pitchFamily="34" charset="0"/>
                <a:ea typeface="微软雅黑" panose="020B0503020204020204" pitchFamily="34" charset="-122"/>
                <a:sym typeface="+mn-ea"/>
              </a:rPr>
              <a:t>现状</a:t>
            </a:r>
            <a:endParaRPr lang="zh-CN" altLang="en-US" sz="2800" b="1" dirty="0">
              <a:solidFill>
                <a:schemeClr val="tx1">
                  <a:lumMod val="65000"/>
                  <a:lumOff val="35000"/>
                </a:schemeClr>
              </a:solidFill>
              <a:latin typeface="Arial" panose="020B0604020202020204" pitchFamily="34" charset="0"/>
              <a:ea typeface="微软雅黑" panose="020B0503020204020204" pitchFamily="34" charset="-122"/>
            </a:endParaRPr>
          </a:p>
        </p:txBody>
      </p:sp>
      <p:graphicFrame>
        <p:nvGraphicFramePr>
          <p:cNvPr id="8" name="表格 7"/>
          <p:cNvGraphicFramePr/>
          <p:nvPr>
            <p:extLst>
              <p:ext uri="{D42A27DB-BD31-4B8C-83A1-F6EECF244321}">
                <p14:modId xmlns:p14="http://schemas.microsoft.com/office/powerpoint/2010/main" val="653286739"/>
              </p:ext>
            </p:extLst>
          </p:nvPr>
        </p:nvGraphicFramePr>
        <p:xfrm>
          <a:off x="4649755" y="3210366"/>
          <a:ext cx="6850743" cy="3055260"/>
        </p:xfrm>
        <a:graphic>
          <a:graphicData uri="http://schemas.openxmlformats.org/drawingml/2006/table">
            <a:tbl>
              <a:tblPr firstRow="1" bandRow="1">
                <a:tableStyleId>{93296810-A885-4BE3-A3E7-6D5BEEA58F35}</a:tableStyleId>
              </a:tblPr>
              <a:tblGrid>
                <a:gridCol w="2344207">
                  <a:extLst>
                    <a:ext uri="{9D8B030D-6E8A-4147-A177-3AD203B41FA5}">
                      <a16:colId xmlns:a16="http://schemas.microsoft.com/office/drawing/2014/main" val="20000"/>
                    </a:ext>
                  </a:extLst>
                </a:gridCol>
                <a:gridCol w="4506536">
                  <a:extLst>
                    <a:ext uri="{9D8B030D-6E8A-4147-A177-3AD203B41FA5}">
                      <a16:colId xmlns:a16="http://schemas.microsoft.com/office/drawing/2014/main" val="20001"/>
                    </a:ext>
                  </a:extLst>
                </a:gridCol>
              </a:tblGrid>
              <a:tr h="611052">
                <a:tc>
                  <a:txBody>
                    <a:bodyPr/>
                    <a:lstStyle/>
                    <a:p>
                      <a:pPr algn="ctr">
                        <a:lnSpc>
                          <a:spcPts val="1500"/>
                        </a:lnSpc>
                      </a:pPr>
                      <a:r>
                        <a:rPr lang="zh-CN" altLang="en-US" b="1" i="0">
                          <a:latin typeface="Arial" panose="020B0604020202020204" pitchFamily="34" charset="0"/>
                          <a:ea typeface="微软雅黑" panose="020B0503020204020204" pitchFamily="34" charset="-122"/>
                        </a:rPr>
                        <a:t>挑战</a:t>
                      </a:r>
                    </a:p>
                  </a:txBody>
                  <a:tcPr marL="0" marR="122237" marT="76517" marB="76517" anchor="ctr"/>
                </a:tc>
                <a:tc>
                  <a:txBody>
                    <a:bodyPr/>
                    <a:lstStyle/>
                    <a:p>
                      <a:pPr algn="ctr">
                        <a:lnSpc>
                          <a:spcPts val="1500"/>
                        </a:lnSpc>
                      </a:pPr>
                      <a:r>
                        <a:rPr lang="zh-CN" altLang="en-US" b="1" i="0">
                          <a:latin typeface="Arial" panose="020B0604020202020204" pitchFamily="34" charset="0"/>
                          <a:ea typeface="微软雅黑" panose="020B0503020204020204" pitchFamily="34" charset="-122"/>
                        </a:rPr>
                        <a:t>具体约束</a:t>
                      </a:r>
                    </a:p>
                  </a:txBody>
                  <a:tcPr marL="122237" marR="122237" marT="76517" marB="76517" anchor="ctr"/>
                </a:tc>
                <a:extLst>
                  <a:ext uri="{0D108BD9-81ED-4DB2-BD59-A6C34878D82A}">
                    <a16:rowId xmlns:a16="http://schemas.microsoft.com/office/drawing/2014/main" val="10000"/>
                  </a:ext>
                </a:extLst>
              </a:tr>
              <a:tr h="611052">
                <a:tc>
                  <a:txBody>
                    <a:bodyPr/>
                    <a:lstStyle/>
                    <a:p>
                      <a:pPr algn="ctr">
                        <a:lnSpc>
                          <a:spcPts val="1500"/>
                        </a:lnSpc>
                      </a:pPr>
                      <a:r>
                        <a:rPr lang="zh-CN" altLang="en-US" b="1" i="0">
                          <a:latin typeface="Arial" panose="020B0604020202020204" pitchFamily="34" charset="0"/>
                          <a:ea typeface="微软雅黑" panose="020B0503020204020204" pitchFamily="34" charset="-122"/>
                        </a:rPr>
                        <a:t>内存容量严格受限</a:t>
                      </a:r>
                    </a:p>
                  </a:txBody>
                  <a:tcPr marL="0" marR="122237" marT="76517" marB="76517" anchor="ctr"/>
                </a:tc>
                <a:tc>
                  <a:txBody>
                    <a:bodyPr/>
                    <a:lstStyle/>
                    <a:p>
                      <a:pPr algn="ctr">
                        <a:lnSpc>
                          <a:spcPts val="1500"/>
                        </a:lnSpc>
                      </a:pPr>
                      <a:r>
                        <a:rPr lang="en-US" altLang="zh-CN" b="1" i="0">
                          <a:latin typeface="Arial" panose="020B0604020202020204" pitchFamily="34" charset="0"/>
                          <a:ea typeface="微软雅黑" panose="020B0503020204020204" pitchFamily="34" charset="-122"/>
                        </a:rPr>
                        <a:t>DRAM</a:t>
                      </a:r>
                      <a:r>
                        <a:rPr lang="zh-CN" altLang="en-US" b="1" i="0">
                          <a:latin typeface="Arial" panose="020B0604020202020204" pitchFamily="34" charset="0"/>
                          <a:ea typeface="微软雅黑" panose="020B0503020204020204" pitchFamily="34" charset="-122"/>
                        </a:rPr>
                        <a:t>通常</a:t>
                      </a:r>
                      <a:r>
                        <a:rPr lang="en-US" altLang="zh-CN" b="1" i="0">
                          <a:latin typeface="Arial" panose="020B0604020202020204" pitchFamily="34" charset="0"/>
                          <a:ea typeface="微软雅黑" panose="020B0503020204020204" pitchFamily="34" charset="-122"/>
                        </a:rPr>
                        <a:t>4-12GB</a:t>
                      </a:r>
                      <a:r>
                        <a:rPr lang="zh-CN" altLang="en-US" b="1" i="0">
                          <a:latin typeface="Arial" panose="020B0604020202020204" pitchFamily="34" charset="0"/>
                          <a:ea typeface="微软雅黑" panose="020B0503020204020204" pitchFamily="34" charset="-122"/>
                        </a:rPr>
                        <a:t>，无法容纳模型权重</a:t>
                      </a:r>
                    </a:p>
                  </a:txBody>
                  <a:tcPr marL="122237" marR="0" marT="76517" marB="76517" anchor="ctr"/>
                </a:tc>
                <a:extLst>
                  <a:ext uri="{0D108BD9-81ED-4DB2-BD59-A6C34878D82A}">
                    <a16:rowId xmlns:a16="http://schemas.microsoft.com/office/drawing/2014/main" val="10001"/>
                  </a:ext>
                </a:extLst>
              </a:tr>
              <a:tr h="611052">
                <a:tc>
                  <a:txBody>
                    <a:bodyPr/>
                    <a:lstStyle/>
                    <a:p>
                      <a:pPr algn="ctr">
                        <a:lnSpc>
                          <a:spcPts val="1500"/>
                        </a:lnSpc>
                      </a:pPr>
                      <a:r>
                        <a:rPr lang="zh-CN" altLang="en-US" b="1" i="0">
                          <a:latin typeface="Arial" panose="020B0604020202020204" pitchFamily="34" charset="0"/>
                          <a:ea typeface="微软雅黑" panose="020B0503020204020204" pitchFamily="34" charset="-122"/>
                        </a:rPr>
                        <a:t>存储带宽有限</a:t>
                      </a:r>
                    </a:p>
                  </a:txBody>
                  <a:tcPr marL="0" marR="122237" marT="76517" marB="76517" anchor="ctr"/>
                </a:tc>
                <a:tc>
                  <a:txBody>
                    <a:bodyPr/>
                    <a:lstStyle/>
                    <a:p>
                      <a:pPr algn="ctr">
                        <a:lnSpc>
                          <a:spcPts val="1500"/>
                        </a:lnSpc>
                      </a:pPr>
                      <a:r>
                        <a:rPr lang="zh-CN" altLang="en-US" b="1" i="0">
                          <a:latin typeface="Arial" panose="020B0604020202020204" pitchFamily="34" charset="0"/>
                          <a:ea typeface="微软雅黑" panose="020B0503020204020204" pitchFamily="34" charset="-122"/>
                        </a:rPr>
                        <a:t>多采用</a:t>
                      </a:r>
                      <a:r>
                        <a:rPr lang="en-US" altLang="zh-CN" b="1" i="0">
                          <a:latin typeface="Arial" panose="020B0604020202020204" pitchFamily="34" charset="0"/>
                          <a:ea typeface="微软雅黑" panose="020B0503020204020204" pitchFamily="34" charset="-122"/>
                        </a:rPr>
                        <a:t>eMMC/UFS</a:t>
                      </a:r>
                      <a:r>
                        <a:rPr lang="zh-CN" altLang="en-US" b="1" i="0">
                          <a:latin typeface="Arial" panose="020B0604020202020204" pitchFamily="34" charset="0"/>
                          <a:ea typeface="微软雅黑" panose="020B0503020204020204" pitchFamily="34" charset="-122"/>
                        </a:rPr>
                        <a:t>闪存，读写带宽低</a:t>
                      </a:r>
                      <a:endParaRPr lang="en-US" altLang="zh-CN" b="1" i="0">
                        <a:latin typeface="Arial" panose="020B0604020202020204" pitchFamily="34" charset="0"/>
                        <a:ea typeface="微软雅黑" panose="020B0503020204020204" pitchFamily="34" charset="-122"/>
                      </a:endParaRPr>
                    </a:p>
                  </a:txBody>
                  <a:tcPr marL="122237" marR="0" marT="76517" marB="76517" anchor="ctr"/>
                </a:tc>
                <a:extLst>
                  <a:ext uri="{0D108BD9-81ED-4DB2-BD59-A6C34878D82A}">
                    <a16:rowId xmlns:a16="http://schemas.microsoft.com/office/drawing/2014/main" val="10002"/>
                  </a:ext>
                </a:extLst>
              </a:tr>
              <a:tr h="611052">
                <a:tc>
                  <a:txBody>
                    <a:bodyPr/>
                    <a:lstStyle/>
                    <a:p>
                      <a:pPr algn="ctr">
                        <a:lnSpc>
                          <a:spcPts val="1500"/>
                        </a:lnSpc>
                      </a:pPr>
                      <a:r>
                        <a:rPr lang="zh-CN" altLang="en-US" b="1" i="0">
                          <a:latin typeface="Arial" panose="020B0604020202020204" pitchFamily="34" charset="0"/>
                          <a:ea typeface="微软雅黑" panose="020B0503020204020204" pitchFamily="34" charset="-122"/>
                        </a:rPr>
                        <a:t>计算能力不足</a:t>
                      </a:r>
                    </a:p>
                  </a:txBody>
                  <a:tcPr marL="0" marR="122237" marT="76517" marB="76517" anchor="ctr"/>
                </a:tc>
                <a:tc>
                  <a:txBody>
                    <a:bodyPr/>
                    <a:lstStyle/>
                    <a:p>
                      <a:pPr algn="ctr">
                        <a:lnSpc>
                          <a:spcPts val="1500"/>
                        </a:lnSpc>
                      </a:pPr>
                      <a:r>
                        <a:rPr lang="zh-CN" altLang="en-US" b="1" i="0">
                          <a:latin typeface="Arial" panose="020B0604020202020204" pitchFamily="34" charset="0"/>
                          <a:ea typeface="微软雅黑" panose="020B0503020204020204" pitchFamily="34" charset="-122"/>
                        </a:rPr>
                        <a:t>部分设备仅使用</a:t>
                      </a:r>
                      <a:r>
                        <a:rPr lang="en-US" altLang="zh-CN" b="1" i="0">
                          <a:latin typeface="Arial" panose="020B0604020202020204" pitchFamily="34" charset="0"/>
                          <a:ea typeface="微软雅黑" panose="020B0503020204020204" pitchFamily="34" charset="-122"/>
                        </a:rPr>
                        <a:t>CPU</a:t>
                      </a:r>
                      <a:r>
                        <a:rPr lang="zh-CN" altLang="en-US" b="1" i="0">
                          <a:latin typeface="Arial" panose="020B0604020202020204" pitchFamily="34" charset="0"/>
                          <a:ea typeface="微软雅黑" panose="020B0503020204020204" pitchFamily="34" charset="-122"/>
                        </a:rPr>
                        <a:t>推理，计算能力弱</a:t>
                      </a:r>
                    </a:p>
                  </a:txBody>
                  <a:tcPr marL="122237" marR="0" marT="76517" marB="76517" anchor="ctr"/>
                </a:tc>
                <a:extLst>
                  <a:ext uri="{0D108BD9-81ED-4DB2-BD59-A6C34878D82A}">
                    <a16:rowId xmlns:a16="http://schemas.microsoft.com/office/drawing/2014/main" val="10003"/>
                  </a:ext>
                </a:extLst>
              </a:tr>
              <a:tr h="611052">
                <a:tc>
                  <a:txBody>
                    <a:bodyPr/>
                    <a:lstStyle/>
                    <a:p>
                      <a:pPr algn="ctr">
                        <a:lnSpc>
                          <a:spcPts val="1500"/>
                        </a:lnSpc>
                      </a:pPr>
                      <a:r>
                        <a:rPr lang="zh-CN" altLang="en-US" b="1" i="0">
                          <a:latin typeface="Arial" panose="020B0604020202020204" pitchFamily="34" charset="0"/>
                          <a:ea typeface="微软雅黑" panose="020B0503020204020204" pitchFamily="34" charset="-122"/>
                        </a:rPr>
                        <a:t>功耗与散热</a:t>
                      </a:r>
                    </a:p>
                  </a:txBody>
                  <a:tcPr marL="0" marR="122237" marT="76517" marB="76517" anchor="ctr"/>
                </a:tc>
                <a:tc>
                  <a:txBody>
                    <a:bodyPr/>
                    <a:lstStyle/>
                    <a:p>
                      <a:pPr algn="ctr">
                        <a:lnSpc>
                          <a:spcPts val="1500"/>
                        </a:lnSpc>
                      </a:pPr>
                      <a:r>
                        <a:rPr lang="zh-CN" altLang="en-US" b="1" i="0">
                          <a:latin typeface="Arial" panose="020B0604020202020204" pitchFamily="34" charset="0"/>
                          <a:ea typeface="微软雅黑" panose="020B0503020204020204" pitchFamily="34" charset="-122"/>
                        </a:rPr>
                        <a:t>电池容量与散热能力限制设备高功耗运行</a:t>
                      </a:r>
                    </a:p>
                  </a:txBody>
                  <a:tcPr marL="122237" marR="0" marT="76517" marB="76517" anchor="ctr"/>
                </a:tc>
                <a:extLst>
                  <a:ext uri="{0D108BD9-81ED-4DB2-BD59-A6C34878D82A}">
                    <a16:rowId xmlns:a16="http://schemas.microsoft.com/office/drawing/2014/main" val="10004"/>
                  </a:ext>
                </a:extLst>
              </a:tr>
            </a:tbl>
          </a:graphicData>
        </a:graphic>
      </p:graphicFrame>
      <p:sp>
        <p:nvSpPr>
          <p:cNvPr id="9" name="文本框 8"/>
          <p:cNvSpPr txBox="1"/>
          <p:nvPr/>
        </p:nvSpPr>
        <p:spPr>
          <a:xfrm>
            <a:off x="617123" y="1604001"/>
            <a:ext cx="10957754" cy="1015663"/>
          </a:xfrm>
          <a:prstGeom prst="rect">
            <a:avLst/>
          </a:prstGeom>
        </p:spPr>
        <p:txBody>
          <a:bodyPr wrap="square">
            <a:spAutoFit/>
          </a:bodyPr>
          <a:lstStyle/>
          <a:p>
            <a:pPr marL="0" indent="0">
              <a:spcBef>
                <a:spcPts val="900"/>
              </a:spcBef>
              <a:spcAft>
                <a:spcPts val="900"/>
              </a:spcAft>
            </a:pPr>
            <a:r>
              <a:rPr lang="zh-CN" altLang="en-US" sz="2000" b="1">
                <a:latin typeface="Arial" panose="020B0604020202020204" pitchFamily="34" charset="0"/>
                <a:ea typeface="微软雅黑" panose="020B0503020204020204" pitchFamily="34" charset="-122"/>
              </a:rPr>
              <a:t>近年来，随着大语言模型逐渐向个人计算设备、移动终端和边缘设备迁移，面向资源受限环境的端侧推理框架快速发展。以 </a:t>
            </a:r>
            <a:r>
              <a:rPr lang="en-US" altLang="zh-CN" sz="2000" b="1">
                <a:latin typeface="Arial" panose="020B0604020202020204" pitchFamily="34" charset="0"/>
                <a:ea typeface="微软雅黑" panose="020B0503020204020204" pitchFamily="34" charset="-122"/>
              </a:rPr>
              <a:t>llama.cpp</a:t>
            </a:r>
            <a:r>
              <a:rPr lang="zh-CN" altLang="en-US" sz="2000" b="1">
                <a:latin typeface="Arial" panose="020B0604020202020204" pitchFamily="34" charset="0"/>
                <a:ea typeface="微软雅黑" panose="020B0503020204020204" pitchFamily="34" charset="-122"/>
              </a:rPr>
              <a:t>、</a:t>
            </a:r>
            <a:r>
              <a:rPr lang="en-US" altLang="zh-CN" sz="2000" b="1">
                <a:latin typeface="Arial" panose="020B0604020202020204" pitchFamily="34" charset="0"/>
                <a:ea typeface="微软雅黑" panose="020B0503020204020204" pitchFamily="34" charset="-122"/>
              </a:rPr>
              <a:t>LiteRT-LM</a:t>
            </a:r>
            <a:r>
              <a:rPr lang="zh-CN" altLang="en-US" sz="2000" b="1">
                <a:latin typeface="Arial" panose="020B0604020202020204" pitchFamily="34" charset="0"/>
                <a:ea typeface="微软雅黑" panose="020B0503020204020204" pitchFamily="34" charset="-122"/>
              </a:rPr>
              <a:t>、</a:t>
            </a:r>
            <a:r>
              <a:rPr lang="en-US" altLang="zh-CN" sz="2000" b="1">
                <a:latin typeface="Arial" panose="020B0604020202020204" pitchFamily="34" charset="0"/>
                <a:ea typeface="微软雅黑" panose="020B0503020204020204" pitchFamily="34" charset="-122"/>
              </a:rPr>
              <a:t>ExecuTorch </a:t>
            </a:r>
            <a:r>
              <a:rPr lang="zh-CN" altLang="en-US" sz="2000" b="1">
                <a:latin typeface="Arial" panose="020B0604020202020204" pitchFamily="34" charset="0"/>
                <a:ea typeface="微软雅黑" panose="020B0503020204020204" pitchFamily="34" charset="-122"/>
              </a:rPr>
              <a:t>等为代表的端侧框架，通过</a:t>
            </a:r>
            <a:r>
              <a:rPr lang="zh-CN" altLang="en-US" sz="2000" b="1">
                <a:solidFill>
                  <a:srgbClr val="FF0000"/>
                </a:solidFill>
                <a:latin typeface="Arial" panose="020B0604020202020204" pitchFamily="34" charset="0"/>
                <a:ea typeface="微软雅黑" panose="020B0503020204020204" pitchFamily="34" charset="-122"/>
              </a:rPr>
              <a:t>模型量化</a:t>
            </a:r>
            <a:r>
              <a:rPr lang="zh-CN" altLang="en-US" sz="2000" b="1">
                <a:latin typeface="Arial" panose="020B0604020202020204" pitchFamily="34" charset="0"/>
                <a:ea typeface="微软雅黑" panose="020B0503020204020204" pitchFamily="34" charset="-122"/>
              </a:rPr>
              <a:t>、</a:t>
            </a:r>
            <a:r>
              <a:rPr lang="zh-CN" altLang="en-US" sz="2000" b="1">
                <a:solidFill>
                  <a:srgbClr val="FF0000"/>
                </a:solidFill>
                <a:latin typeface="Arial" panose="020B0604020202020204" pitchFamily="34" charset="0"/>
                <a:ea typeface="微软雅黑" panose="020B0503020204020204" pitchFamily="34" charset="-122"/>
              </a:rPr>
              <a:t>权重压缩</a:t>
            </a:r>
            <a:r>
              <a:rPr lang="zh-CN" altLang="en-US" sz="2000" b="1">
                <a:latin typeface="Arial" panose="020B0604020202020204" pitchFamily="34" charset="0"/>
                <a:ea typeface="微软雅黑" panose="020B0503020204020204" pitchFamily="34" charset="-122"/>
              </a:rPr>
              <a:t>、</a:t>
            </a:r>
            <a:r>
              <a:rPr lang="zh-CN" altLang="en-US" sz="2000" b="1">
                <a:solidFill>
                  <a:srgbClr val="FF0000"/>
                </a:solidFill>
                <a:latin typeface="Arial" panose="020B0604020202020204" pitchFamily="34" charset="0"/>
                <a:ea typeface="微软雅黑" panose="020B0503020204020204" pitchFamily="34" charset="-122"/>
              </a:rPr>
              <a:t>算子优化</a:t>
            </a:r>
            <a:r>
              <a:rPr lang="zh-CN" altLang="en-US" sz="2000" b="1">
                <a:latin typeface="Arial" panose="020B0604020202020204" pitchFamily="34" charset="0"/>
                <a:ea typeface="微软雅黑" panose="020B0503020204020204" pitchFamily="34" charset="-122"/>
              </a:rPr>
              <a:t>以及</a:t>
            </a:r>
            <a:r>
              <a:rPr lang="zh-CN" altLang="en-US" sz="2000" b="1">
                <a:solidFill>
                  <a:srgbClr val="FF0000"/>
                </a:solidFill>
                <a:latin typeface="Arial" panose="020B0604020202020204" pitchFamily="34" charset="0"/>
                <a:ea typeface="微软雅黑" panose="020B0503020204020204" pitchFamily="34" charset="-122"/>
              </a:rPr>
              <a:t>硬件适配</a:t>
            </a:r>
            <a:r>
              <a:rPr lang="zh-CN" altLang="en-US" sz="2000" b="1">
                <a:latin typeface="Arial" panose="020B0604020202020204" pitchFamily="34" charset="0"/>
                <a:ea typeface="微软雅黑" panose="020B0503020204020204" pitchFamily="34" charset="-122"/>
              </a:rPr>
              <a:t>等方式，实现了大模型在有限资源设备上的运行。</a:t>
            </a:r>
          </a:p>
        </p:txBody>
      </p:sp>
      <p:sp>
        <p:nvSpPr>
          <p:cNvPr id="19" name="矩形 4">
            <a:extLst>
              <a:ext uri="{FF2B5EF4-FFF2-40B4-BE49-F238E27FC236}">
                <a16:creationId xmlns:a16="http://schemas.microsoft.com/office/drawing/2014/main" id="{AA0FBB86-0743-4E61-A5CF-813B3734EAE1}"/>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cxnSp>
        <p:nvCxnSpPr>
          <p:cNvPr id="20" name="直接连接符 19">
            <a:extLst>
              <a:ext uri="{FF2B5EF4-FFF2-40B4-BE49-F238E27FC236}">
                <a16:creationId xmlns:a16="http://schemas.microsoft.com/office/drawing/2014/main" id="{D2E05AFE-92A8-E18D-7ADC-138B4ECF490C}"/>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85FAD640-3E7B-C83F-1F5B-BEE39C14A925}"/>
              </a:ext>
            </a:extLst>
          </p:cNvPr>
          <p:cNvSpPr/>
          <p:nvPr/>
        </p:nvSpPr>
        <p:spPr>
          <a:xfrm>
            <a:off x="3231850"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cxnSp>
        <p:nvCxnSpPr>
          <p:cNvPr id="32" name="直接连接符 31">
            <a:extLst>
              <a:ext uri="{FF2B5EF4-FFF2-40B4-BE49-F238E27FC236}">
                <a16:creationId xmlns:a16="http://schemas.microsoft.com/office/drawing/2014/main" id="{297C48F4-805D-D4B5-1317-6BC21D89BF6E}"/>
              </a:ext>
            </a:extLst>
          </p:cNvPr>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6">
            <a:extLst>
              <a:ext uri="{FF2B5EF4-FFF2-40B4-BE49-F238E27FC236}">
                <a16:creationId xmlns:a16="http://schemas.microsoft.com/office/drawing/2014/main" id="{B7F075C2-9721-1A17-C0F3-731E04C1D969}"/>
              </a:ext>
            </a:extLst>
          </p:cNvPr>
          <p:cNvSpPr txBox="1"/>
          <p:nvPr/>
        </p:nvSpPr>
        <p:spPr>
          <a:xfrm>
            <a:off x="3374949" y="215903"/>
            <a:ext cx="1344000" cy="404714"/>
          </a:xfrm>
          <a:prstGeom prst="rect">
            <a:avLst/>
          </a:prstGeom>
          <a:noFill/>
        </p:spPr>
        <p:txBody>
          <a:bodyPr wrap="square" lIns="0" tIns="48000" rIns="0" bIns="48000" rtlCol="0">
            <a:spAutoFit/>
          </a:bodyPr>
          <a:lstStyle/>
          <a:p>
            <a:pPr algn="ctr"/>
            <a:r>
              <a:rPr lang="zh-CN" altLang="en-US" sz="2000" b="1">
                <a:solidFill>
                  <a:schemeClr val="bg1"/>
                </a:solidFill>
                <a:latin typeface="Arial" panose="020B0604020202020204" pitchFamily="34" charset="0"/>
                <a:ea typeface="微软雅黑" panose="020B0503020204020204" pitchFamily="34" charset="-122"/>
              </a:rPr>
              <a:t>项目背景</a:t>
            </a:r>
            <a:endParaRPr lang="zh-CN" altLang="en-US" sz="2000" b="1" dirty="0">
              <a:solidFill>
                <a:schemeClr val="bg1"/>
              </a:solidFill>
              <a:latin typeface="Arial" panose="020B0604020202020204" pitchFamily="34" charset="0"/>
              <a:ea typeface="微软雅黑" panose="020B0503020204020204" pitchFamily="34" charset="-122"/>
            </a:endParaRPr>
          </a:p>
        </p:txBody>
      </p:sp>
      <p:sp>
        <p:nvSpPr>
          <p:cNvPr id="36" name="TextBox 7">
            <a:extLst>
              <a:ext uri="{FF2B5EF4-FFF2-40B4-BE49-F238E27FC236}">
                <a16:creationId xmlns:a16="http://schemas.microsoft.com/office/drawing/2014/main" id="{9259CEEC-0C94-3AE3-BD40-91F37B9F7B52}"/>
              </a:ext>
            </a:extLst>
          </p:cNvPr>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a:solidFill>
                  <a:schemeClr val="bg1">
                    <a:lumMod val="50000"/>
                  </a:schemeClr>
                </a:solidFill>
                <a:latin typeface="Arial" panose="020B0604020202020204" pitchFamily="34" charset="0"/>
                <a:ea typeface="微软雅黑" panose="020B0503020204020204" pitchFamily="34" charset="-122"/>
              </a:rPr>
              <a:t>项目目标</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sp>
        <p:nvSpPr>
          <p:cNvPr id="37" name="TextBox 9">
            <a:extLst>
              <a:ext uri="{FF2B5EF4-FFF2-40B4-BE49-F238E27FC236}">
                <a16:creationId xmlns:a16="http://schemas.microsoft.com/office/drawing/2014/main" id="{FF7140FA-10BB-6CDE-2C2E-848BAF39C061}"/>
              </a:ext>
            </a:extLst>
          </p:cNvPr>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a:solidFill>
                  <a:schemeClr val="bg1">
                    <a:lumMod val="50000"/>
                  </a:schemeClr>
                </a:solidFill>
                <a:latin typeface="Arial" panose="020B0604020202020204" pitchFamily="34" charset="0"/>
                <a:ea typeface="微软雅黑" panose="020B0503020204020204" pitchFamily="34" charset="-122"/>
              </a:rPr>
              <a:t>项目实</a:t>
            </a:r>
            <a:r>
              <a:rPr lang="zh-CN" altLang="en-US" sz="1600" b="1" dirty="0">
                <a:solidFill>
                  <a:schemeClr val="bg1">
                    <a:lumMod val="50000"/>
                  </a:schemeClr>
                </a:solidFill>
                <a:latin typeface="Arial" panose="020B0604020202020204" pitchFamily="34" charset="0"/>
                <a:ea typeface="微软雅黑" panose="020B0503020204020204" pitchFamily="34" charset="-122"/>
              </a:rPr>
              <a:t>现</a:t>
            </a:r>
          </a:p>
        </p:txBody>
      </p:sp>
      <p:sp>
        <p:nvSpPr>
          <p:cNvPr id="38" name="TextBox 10">
            <a:extLst>
              <a:ext uri="{FF2B5EF4-FFF2-40B4-BE49-F238E27FC236}">
                <a16:creationId xmlns:a16="http://schemas.microsoft.com/office/drawing/2014/main" id="{A113BC1B-72BC-97B4-FC12-55E8EC376F46}"/>
              </a:ext>
            </a:extLst>
          </p:cNvPr>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rPr>
              <a:t>项目测试</a:t>
            </a:r>
          </a:p>
        </p:txBody>
      </p:sp>
      <p:sp>
        <p:nvSpPr>
          <p:cNvPr id="39" name="TextBox 11">
            <a:extLst>
              <a:ext uri="{FF2B5EF4-FFF2-40B4-BE49-F238E27FC236}">
                <a16:creationId xmlns:a16="http://schemas.microsoft.com/office/drawing/2014/main" id="{1691BE63-08A0-95FF-1E67-01C9D1CFB4BC}"/>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rPr>
              <a:t>项目总结</a:t>
            </a:r>
          </a:p>
        </p:txBody>
      </p:sp>
      <p:cxnSp>
        <p:nvCxnSpPr>
          <p:cNvPr id="40" name="直接连接符 39">
            <a:extLst>
              <a:ext uri="{FF2B5EF4-FFF2-40B4-BE49-F238E27FC236}">
                <a16:creationId xmlns:a16="http://schemas.microsoft.com/office/drawing/2014/main" id="{1BF58C37-DFB1-8873-5197-DE4B29077C94}"/>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1" name="图片 40">
            <a:extLst>
              <a:ext uri="{FF2B5EF4-FFF2-40B4-BE49-F238E27FC236}">
                <a16:creationId xmlns:a16="http://schemas.microsoft.com/office/drawing/2014/main" id="{89E94F9F-C555-F3D6-0EBE-AB708E8EDB40}"/>
              </a:ext>
            </a:extLst>
          </p:cNvPr>
          <p:cNvPicPr>
            <a:picLocks noChangeAspect="1"/>
          </p:cNvPicPr>
          <p:nvPr/>
        </p:nvPicPr>
        <p:blipFill rotWithShape="1">
          <a:blip r:embed="rId3"/>
          <a:srcRect t="29956" r="-277"/>
          <a:stretch>
            <a:fillRect/>
          </a:stretch>
        </p:blipFill>
        <p:spPr>
          <a:xfrm>
            <a:off x="195620" y="89117"/>
            <a:ext cx="2766644" cy="613765"/>
          </a:xfrm>
          <a:prstGeom prst="rect">
            <a:avLst/>
          </a:prstGeom>
        </p:spPr>
      </p:pic>
      <p:sp>
        <p:nvSpPr>
          <p:cNvPr id="4" name="文本框 3">
            <a:extLst>
              <a:ext uri="{FF2B5EF4-FFF2-40B4-BE49-F238E27FC236}">
                <a16:creationId xmlns:a16="http://schemas.microsoft.com/office/drawing/2014/main" id="{D22EAF0A-A0D4-AE2B-A287-E85FD4560702}"/>
              </a:ext>
            </a:extLst>
          </p:cNvPr>
          <p:cNvSpPr txBox="1"/>
          <p:nvPr/>
        </p:nvSpPr>
        <p:spPr>
          <a:xfrm>
            <a:off x="617123" y="2696302"/>
            <a:ext cx="3778632" cy="3785652"/>
          </a:xfrm>
          <a:prstGeom prst="rect">
            <a:avLst/>
          </a:prstGeom>
        </p:spPr>
        <p:txBody>
          <a:bodyPr wrap="square">
            <a:spAutoFit/>
          </a:bodyPr>
          <a:lstStyle/>
          <a:p>
            <a:pPr marL="0" indent="0">
              <a:spcBef>
                <a:spcPts val="900"/>
              </a:spcBef>
              <a:spcAft>
                <a:spcPts val="900"/>
              </a:spcAft>
            </a:pPr>
            <a:r>
              <a:rPr lang="zh-CN" altLang="en-US" sz="2000" b="1">
                <a:latin typeface="Arial" panose="020B0604020202020204" pitchFamily="34" charset="0"/>
                <a:ea typeface="微软雅黑" panose="020B0503020204020204" pitchFamily="34" charset="-122"/>
              </a:rPr>
              <a:t>与传统云端部署环境相比，端侧设备的</a:t>
            </a:r>
            <a:r>
              <a:rPr lang="zh-CN" altLang="en-US" sz="2000" b="1">
                <a:solidFill>
                  <a:srgbClr val="FF0000"/>
                </a:solidFill>
                <a:latin typeface="Arial" panose="020B0604020202020204" pitchFamily="34" charset="0"/>
                <a:ea typeface="微软雅黑" panose="020B0503020204020204" pitchFamily="34" charset="-122"/>
              </a:rPr>
              <a:t>内存容量和存储带宽有限</a:t>
            </a:r>
            <a:r>
              <a:rPr lang="zh-CN" altLang="en-US" sz="2000" b="1">
                <a:latin typeface="Arial" panose="020B0604020202020204" pitchFamily="34" charset="0"/>
                <a:ea typeface="微软雅黑" panose="020B0503020204020204" pitchFamily="34" charset="-122"/>
              </a:rPr>
              <a:t>，模型权重、推理过程中的 </a:t>
            </a:r>
            <a:r>
              <a:rPr lang="en-US" altLang="zh-CN" sz="2000" b="1">
                <a:latin typeface="Arial" panose="020B0604020202020204" pitchFamily="34" charset="0"/>
                <a:ea typeface="微软雅黑" panose="020B0503020204020204" pitchFamily="34" charset="-122"/>
              </a:rPr>
              <a:t>KV Cache </a:t>
            </a:r>
            <a:r>
              <a:rPr lang="zh-CN" altLang="en-US" sz="2000" b="1">
                <a:latin typeface="Arial" panose="020B0604020202020204" pitchFamily="34" charset="0"/>
                <a:ea typeface="微软雅黑" panose="020B0503020204020204" pitchFamily="34" charset="-122"/>
              </a:rPr>
              <a:t>会产生持续的内存压力。现有框架主要关注模型压缩与计算优化，对于推理过程中不同数据对象的动态驻留、迁移和协同调度仍缺少有效机制。如何根据模型执行特点</a:t>
            </a:r>
            <a:r>
              <a:rPr lang="zh-CN" altLang="en-US" sz="2000" b="1">
                <a:solidFill>
                  <a:srgbClr val="FF0000"/>
                </a:solidFill>
                <a:latin typeface="Arial" panose="020B0604020202020204" pitchFamily="34" charset="0"/>
                <a:ea typeface="微软雅黑" panose="020B0503020204020204" pitchFamily="34" charset="-122"/>
              </a:rPr>
              <a:t>动态管理</a:t>
            </a:r>
            <a:r>
              <a:rPr lang="zh-CN" altLang="en-US" sz="2000" b="1">
                <a:latin typeface="Arial" panose="020B0604020202020204" pitchFamily="34" charset="0"/>
                <a:ea typeface="微软雅黑" panose="020B0503020204020204" pitchFamily="34" charset="-122"/>
              </a:rPr>
              <a:t>权重与 </a:t>
            </a:r>
            <a:r>
              <a:rPr lang="en-US" altLang="zh-CN" sz="2000" b="1">
                <a:latin typeface="Arial" panose="020B0604020202020204" pitchFamily="34" charset="0"/>
                <a:ea typeface="微软雅黑" panose="020B0503020204020204" pitchFamily="34" charset="-122"/>
              </a:rPr>
              <a:t>KV Cache</a:t>
            </a:r>
            <a:r>
              <a:rPr lang="zh-CN" altLang="en-US" sz="2000" b="1">
                <a:latin typeface="Arial" panose="020B0604020202020204" pitchFamily="34" charset="0"/>
                <a:ea typeface="微软雅黑" panose="020B0503020204020204" pitchFamily="34" charset="-122"/>
              </a:rPr>
              <a:t>，降低运行时内存占用并提升推理效率，成为端侧大模型部署面临的重要挑战。</a:t>
            </a:r>
          </a:p>
        </p:txBody>
      </p:sp>
      <p:sp>
        <p:nvSpPr>
          <p:cNvPr id="6" name="文本框 5">
            <a:extLst>
              <a:ext uri="{FF2B5EF4-FFF2-40B4-BE49-F238E27FC236}">
                <a16:creationId xmlns:a16="http://schemas.microsoft.com/office/drawing/2014/main" id="{96C5D867-7C21-6EAB-9AA9-381DDAB642DF}"/>
              </a:ext>
            </a:extLst>
          </p:cNvPr>
          <p:cNvSpPr txBox="1"/>
          <p:nvPr/>
        </p:nvSpPr>
        <p:spPr>
          <a:xfrm>
            <a:off x="4649755" y="2851238"/>
            <a:ext cx="4698278" cy="369332"/>
          </a:xfrm>
          <a:prstGeom prst="rect">
            <a:avLst/>
          </a:prstGeom>
          <a:noFill/>
        </p:spPr>
        <p:txBody>
          <a:bodyPr wrap="square" rtlCol="0">
            <a:spAutoFit/>
          </a:bodyPr>
          <a:lstStyle/>
          <a:p>
            <a:r>
              <a:rPr lang="zh-CN" altLang="en-US" b="1"/>
              <a:t>端侧部署环境面临挑战：</a:t>
            </a:r>
          </a:p>
        </p:txBody>
      </p:sp>
    </p:spTree>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 calcmode="lin" valueType="num">
                                      <p:cBhvr>
                                        <p:cTn id="11" dur="500" fill="hold"/>
                                        <p:tgtEl>
                                          <p:spTgt spid="33"/>
                                        </p:tgtEl>
                                        <p:attrNameLst>
                                          <p:attrName>ppt_w</p:attrName>
                                        </p:attrNameLst>
                                      </p:cBhvr>
                                      <p:tavLst>
                                        <p:tav tm="0">
                                          <p:val>
                                            <p:fltVal val="0"/>
                                          </p:val>
                                        </p:tav>
                                        <p:tav tm="100000">
                                          <p:val>
                                            <p:strVal val="#ppt_w"/>
                                          </p:val>
                                        </p:tav>
                                      </p:tavLst>
                                    </p:anim>
                                    <p:anim calcmode="lin" valueType="num">
                                      <p:cBhvr>
                                        <p:cTn id="12" dur="500" fill="hold"/>
                                        <p:tgtEl>
                                          <p:spTgt spid="33"/>
                                        </p:tgtEl>
                                        <p:attrNameLst>
                                          <p:attrName>ppt_h</p:attrName>
                                        </p:attrNameLst>
                                      </p:cBhvr>
                                      <p:tavLst>
                                        <p:tav tm="0">
                                          <p:val>
                                            <p:fltVal val="0"/>
                                          </p:val>
                                        </p:tav>
                                        <p:tav tm="100000">
                                          <p:val>
                                            <p:strVal val="#ppt_h"/>
                                          </p:val>
                                        </p:tav>
                                      </p:tavLst>
                                    </p:anim>
                                    <p:animEffect transition="in" filter="fade">
                                      <p:cBhvr>
                                        <p:cTn id="1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3"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0B46250-D73E-7563-DC2B-494C71D6CA43}"/>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D28525A7-67A2-C125-0280-17E85DC1E920}"/>
              </a:ext>
            </a:extLst>
          </p:cNvPr>
          <p:cNvSpPr/>
          <p:nvPr/>
        </p:nvSpPr>
        <p:spPr>
          <a:xfrm rot="5400000">
            <a:off x="4227759" y="-4227756"/>
            <a:ext cx="3736490" cy="1219200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Songti SC" panose="02010600040101010101" pitchFamily="2" charset="-122"/>
              <a:ea typeface="Songti SC" panose="02010600040101010101" pitchFamily="2" charset="-122"/>
            </a:endParaRPr>
          </a:p>
        </p:txBody>
      </p:sp>
      <p:grpSp>
        <p:nvGrpSpPr>
          <p:cNvPr id="5" name="组合 4">
            <a:extLst>
              <a:ext uri="{FF2B5EF4-FFF2-40B4-BE49-F238E27FC236}">
                <a16:creationId xmlns:a16="http://schemas.microsoft.com/office/drawing/2014/main" id="{7EDB37E9-B780-B8B5-EE6F-4E4C0F5AA91E}"/>
              </a:ext>
            </a:extLst>
          </p:cNvPr>
          <p:cNvGrpSpPr/>
          <p:nvPr/>
        </p:nvGrpSpPr>
        <p:grpSpPr>
          <a:xfrm>
            <a:off x="4919877" y="2920080"/>
            <a:ext cx="2352246" cy="1642832"/>
            <a:chOff x="5127859" y="2518592"/>
            <a:chExt cx="1936282" cy="1723208"/>
          </a:xfrm>
        </p:grpSpPr>
        <p:sp>
          <p:nvSpPr>
            <p:cNvPr id="6" name="任意多边形 5">
              <a:extLst>
                <a:ext uri="{FF2B5EF4-FFF2-40B4-BE49-F238E27FC236}">
                  <a16:creationId xmlns:a16="http://schemas.microsoft.com/office/drawing/2014/main" id="{62FDDD10-F402-E7BD-73E9-7D297D2BDB8E}"/>
                </a:ext>
              </a:extLst>
            </p:cNvPr>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b="1">
                <a:latin typeface="Songti SC" panose="02010600040101010101" pitchFamily="2" charset="-122"/>
                <a:ea typeface="Songti SC" panose="02010600040101010101" pitchFamily="2" charset="-122"/>
              </a:endParaRPr>
            </a:p>
          </p:txBody>
        </p:sp>
        <p:sp>
          <p:nvSpPr>
            <p:cNvPr id="7" name="任意多边形 6">
              <a:extLst>
                <a:ext uri="{FF2B5EF4-FFF2-40B4-BE49-F238E27FC236}">
                  <a16:creationId xmlns:a16="http://schemas.microsoft.com/office/drawing/2014/main" id="{977F97CB-C591-62A7-5DE1-E18C22C01045}"/>
                </a:ext>
              </a:extLst>
            </p:cNvPr>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b="1">
                <a:latin typeface="Songti SC" panose="02010600040101010101" pitchFamily="2" charset="-122"/>
                <a:ea typeface="Songti SC" panose="02010600040101010101" pitchFamily="2" charset="-122"/>
              </a:endParaRPr>
            </a:p>
          </p:txBody>
        </p:sp>
      </p:grpSp>
      <p:sp>
        <p:nvSpPr>
          <p:cNvPr id="8" name="文本框 7">
            <a:extLst>
              <a:ext uri="{FF2B5EF4-FFF2-40B4-BE49-F238E27FC236}">
                <a16:creationId xmlns:a16="http://schemas.microsoft.com/office/drawing/2014/main" id="{4BE05DF6-8D2D-F10D-00DC-782A77C10120}"/>
              </a:ext>
            </a:extLst>
          </p:cNvPr>
          <p:cNvSpPr txBox="1"/>
          <p:nvPr/>
        </p:nvSpPr>
        <p:spPr>
          <a:xfrm>
            <a:off x="5321588" y="3413325"/>
            <a:ext cx="1723549" cy="646331"/>
          </a:xfrm>
          <a:prstGeom prst="rect">
            <a:avLst/>
          </a:prstGeom>
          <a:noFill/>
        </p:spPr>
        <p:txBody>
          <a:bodyPr wrap="none" rtlCol="0">
            <a:spAutoFit/>
          </a:bodyPr>
          <a:lstStyle/>
          <a:p>
            <a:r>
              <a:rPr lang="en-US" altLang="zh-CN" sz="3600" b="1" dirty="0">
                <a:solidFill>
                  <a:schemeClr val="bg1"/>
                </a:solidFill>
                <a:latin typeface="Arial" panose="020B0604020202020204" pitchFamily="34" charset="0"/>
                <a:ea typeface="微软雅黑" panose="020B0503020204020204" pitchFamily="34" charset="-122"/>
              </a:rPr>
              <a:t>Part</a:t>
            </a:r>
            <a:r>
              <a:rPr lang="en-US" altLang="zh-CN" sz="3600" b="1">
                <a:solidFill>
                  <a:schemeClr val="bg1"/>
                </a:solidFill>
                <a:latin typeface="Arial" panose="020B0604020202020204" pitchFamily="34" charset="0"/>
                <a:ea typeface="微软雅黑" panose="020B0503020204020204" pitchFamily="34" charset="-122"/>
              </a:rPr>
              <a:t>.02</a:t>
            </a:r>
            <a:endParaRPr lang="en-US" altLang="zh-CN" sz="3600" b="1" dirty="0">
              <a:solidFill>
                <a:schemeClr val="bg1"/>
              </a:solidFill>
              <a:latin typeface="Arial" panose="020B0604020202020204" pitchFamily="34" charset="0"/>
              <a:ea typeface="微软雅黑" panose="020B0503020204020204" pitchFamily="34" charset="-122"/>
            </a:endParaRPr>
          </a:p>
        </p:txBody>
      </p:sp>
      <p:sp>
        <p:nvSpPr>
          <p:cNvPr id="9" name="文本框 8">
            <a:extLst>
              <a:ext uri="{FF2B5EF4-FFF2-40B4-BE49-F238E27FC236}">
                <a16:creationId xmlns:a16="http://schemas.microsoft.com/office/drawing/2014/main" id="{5941B951-244B-4C3B-78A7-06862D45BE72}"/>
              </a:ext>
            </a:extLst>
          </p:cNvPr>
          <p:cNvSpPr txBox="1"/>
          <p:nvPr/>
        </p:nvSpPr>
        <p:spPr>
          <a:xfrm>
            <a:off x="3327401" y="4789616"/>
            <a:ext cx="5537198" cy="830997"/>
          </a:xfrm>
          <a:prstGeom prst="rect">
            <a:avLst/>
          </a:prstGeom>
          <a:noFill/>
          <a:ln>
            <a:noFill/>
          </a:ln>
        </p:spPr>
        <p:txBody>
          <a:bodyPr wrap="square" rtlCol="0">
            <a:spAutoFit/>
          </a:bodyPr>
          <a:lstStyle/>
          <a:p>
            <a:pPr algn="ctr"/>
            <a:r>
              <a:rPr lang="zh-CN" altLang="en-US" sz="4800" b="1" spc="600">
                <a:solidFill>
                  <a:schemeClr val="accent6"/>
                </a:solidFill>
                <a:latin typeface="Arial" panose="020B0604020202020204" pitchFamily="34" charset="0"/>
                <a:ea typeface="微软雅黑" panose="020B0503020204020204" pitchFamily="34" charset="-122"/>
              </a:rPr>
              <a:t>项目目标</a:t>
            </a:r>
            <a:endParaRPr lang="zh-CN" altLang="en-US" sz="4800" b="1" spc="600" dirty="0">
              <a:solidFill>
                <a:schemeClr val="accent6"/>
              </a:solidFill>
              <a:latin typeface="Arial" panose="020B0604020202020204" pitchFamily="34" charset="0"/>
              <a:ea typeface="微软雅黑" panose="020B0503020204020204" pitchFamily="34" charset="-122"/>
            </a:endParaRPr>
          </a:p>
        </p:txBody>
      </p:sp>
      <p:pic>
        <p:nvPicPr>
          <p:cNvPr id="4" name="图片 3">
            <a:extLst>
              <a:ext uri="{FF2B5EF4-FFF2-40B4-BE49-F238E27FC236}">
                <a16:creationId xmlns:a16="http://schemas.microsoft.com/office/drawing/2014/main" id="{88D9AB51-B0FA-05B5-4885-2CF827CDA2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0390" y="1516741"/>
            <a:ext cx="3582844" cy="657673"/>
          </a:xfrm>
          <a:prstGeom prst="rect">
            <a:avLst/>
          </a:prstGeom>
        </p:spPr>
      </p:pic>
    </p:spTree>
    <p:extLst>
      <p:ext uri="{BB962C8B-B14F-4D97-AF65-F5344CB8AC3E}">
        <p14:creationId xmlns:p14="http://schemas.microsoft.com/office/powerpoint/2010/main" val="642964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4" fill="hold" nodeType="afterEffect" p14:presetBounceEnd="40000">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14:bounceEnd="40000">
                                          <p:cBhvr additive="base">
                                            <p:cTn id="12" dur="750" fill="hold"/>
                                            <p:tgtEl>
                                              <p:spTgt spid="5"/>
                                            </p:tgtEl>
                                            <p:attrNameLst>
                                              <p:attrName>ppt_x</p:attrName>
                                            </p:attrNameLst>
                                          </p:cBhvr>
                                          <p:tavLst>
                                            <p:tav tm="0">
                                              <p:val>
                                                <p:strVal val="#ppt_x"/>
                                              </p:val>
                                            </p:tav>
                                            <p:tav tm="100000">
                                              <p:val>
                                                <p:strVal val="#ppt_x"/>
                                              </p:val>
                                            </p:tav>
                                          </p:tavLst>
                                        </p:anim>
                                        <p:anim calcmode="lin" valueType="num" p14:bounceEnd="40000">
                                          <p:cBhvr additive="base">
                                            <p:cTn id="13" dur="7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2500"/>
                                </p:stCondLst>
                                <p:childTnLst>
                                  <p:par>
                                    <p:cTn id="21" presetID="50" presetClass="entr" presetSubtype="0" decel="1000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strVal val="#ppt_w+.3"/>
                                              </p:val>
                                            </p:tav>
                                            <p:tav tm="100000">
                                              <p:val>
                                                <p:strVal val="#ppt_w"/>
                                              </p:val>
                                            </p:tav>
                                          </p:tavLst>
                                        </p:anim>
                                        <p:anim calcmode="lin" valueType="num">
                                          <p:cBhvr>
                                            <p:cTn id="24" dur="1000" fill="hold"/>
                                            <p:tgtEl>
                                              <p:spTgt spid="9"/>
                                            </p:tgtEl>
                                            <p:attrNameLst>
                                              <p:attrName>ppt_h</p:attrName>
                                            </p:attrNameLst>
                                          </p:cBhvr>
                                          <p:tavLst>
                                            <p:tav tm="0">
                                              <p:val>
                                                <p:strVal val="#ppt_h"/>
                                              </p:val>
                                            </p:tav>
                                            <p:tav tm="100000">
                                              <p:val>
                                                <p:strVal val="#ppt_h"/>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750" fill="hold"/>
                                            <p:tgtEl>
                                              <p:spTgt spid="5"/>
                                            </p:tgtEl>
                                            <p:attrNameLst>
                                              <p:attrName>ppt_x</p:attrName>
                                            </p:attrNameLst>
                                          </p:cBhvr>
                                          <p:tavLst>
                                            <p:tav tm="0">
                                              <p:val>
                                                <p:strVal val="#ppt_x"/>
                                              </p:val>
                                            </p:tav>
                                            <p:tav tm="100000">
                                              <p:val>
                                                <p:strVal val="#ppt_x"/>
                                              </p:val>
                                            </p:tav>
                                          </p:tavLst>
                                        </p:anim>
                                        <p:anim calcmode="lin" valueType="num">
                                          <p:cBhvr additive="base">
                                            <p:cTn id="13" dur="7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2500"/>
                                </p:stCondLst>
                                <p:childTnLst>
                                  <p:par>
                                    <p:cTn id="21" presetID="50" presetClass="entr" presetSubtype="0" decel="1000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strVal val="#ppt_w+.3"/>
                                              </p:val>
                                            </p:tav>
                                            <p:tav tm="100000">
                                              <p:val>
                                                <p:strVal val="#ppt_w"/>
                                              </p:val>
                                            </p:tav>
                                          </p:tavLst>
                                        </p:anim>
                                        <p:anim calcmode="lin" valueType="num">
                                          <p:cBhvr>
                                            <p:cTn id="24" dur="1000" fill="hold"/>
                                            <p:tgtEl>
                                              <p:spTgt spid="9"/>
                                            </p:tgtEl>
                                            <p:attrNameLst>
                                              <p:attrName>ppt_h</p:attrName>
                                            </p:attrNameLst>
                                          </p:cBhvr>
                                          <p:tavLst>
                                            <p:tav tm="0">
                                              <p:val>
                                                <p:strVal val="#ppt_h"/>
                                              </p:val>
                                            </p:tav>
                                            <p:tav tm="100000">
                                              <p:val>
                                                <p:strVal val="#ppt_h"/>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 name="TextBox 6"/>
          <p:cNvSpPr txBox="1"/>
          <p:nvPr/>
        </p:nvSpPr>
        <p:spPr>
          <a:xfrm>
            <a:off x="610578" y="1007242"/>
            <a:ext cx="3923543" cy="527825"/>
          </a:xfrm>
          <a:prstGeom prst="rect">
            <a:avLst/>
          </a:prstGeom>
          <a:noFill/>
        </p:spPr>
        <p:txBody>
          <a:bodyPr wrap="square" lIns="0" tIns="48000" rIns="0" bIns="48000" rtlCol="0">
            <a:spAutoFit/>
          </a:bodyPr>
          <a:lstStyle/>
          <a:p>
            <a:pPr algn="ct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2.1 </a:t>
            </a:r>
            <a:r>
              <a:rPr lang="en-US" altLang="zh-CN" sz="2800" b="1">
                <a:solidFill>
                  <a:schemeClr val="tx1">
                    <a:lumMod val="65000"/>
                    <a:lumOff val="35000"/>
                  </a:schemeClr>
                </a:solidFill>
                <a:latin typeface="Arial" panose="020B0604020202020204" pitchFamily="34" charset="0"/>
                <a:ea typeface="微软雅黑" panose="020B0503020204020204" pitchFamily="34" charset="-122"/>
                <a:sym typeface="+mn-ea"/>
              </a:rPr>
              <a:t>LLM </a:t>
            </a:r>
            <a:r>
              <a:rPr lang="zh-CN" altLang="en-US" sz="2800" b="1">
                <a:solidFill>
                  <a:schemeClr val="tx1">
                    <a:lumMod val="65000"/>
                    <a:lumOff val="35000"/>
                  </a:schemeClr>
                </a:solidFill>
                <a:latin typeface="Arial" panose="020B0604020202020204" pitchFamily="34" charset="0"/>
                <a:ea typeface="微软雅黑" panose="020B0503020204020204" pitchFamily="34" charset="-122"/>
                <a:sym typeface="+mn-ea"/>
              </a:rPr>
              <a:t>推理时访存分析</a:t>
            </a:r>
            <a:endParaRPr lang="zh-CN" altLang="en-US" sz="28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4" name="文本框 3"/>
          <p:cNvSpPr txBox="1"/>
          <p:nvPr/>
        </p:nvSpPr>
        <p:spPr>
          <a:xfrm>
            <a:off x="441628" y="1703349"/>
            <a:ext cx="6644972" cy="2046714"/>
          </a:xfrm>
          <a:prstGeom prst="rect">
            <a:avLst/>
          </a:prstGeom>
        </p:spPr>
        <p:txBody>
          <a:bodyPr wrap="square">
            <a:spAutoFit/>
          </a:bodyPr>
          <a:lstStyle/>
          <a:p>
            <a:pPr marL="0" indent="0">
              <a:spcBef>
                <a:spcPts val="900"/>
              </a:spcBef>
              <a:spcAft>
                <a:spcPts val="900"/>
              </a:spcAft>
            </a:pPr>
            <a:r>
              <a:rPr lang="en-US" altLang="zh-CN" sz="1600" b="1">
                <a:solidFill>
                  <a:srgbClr val="FF0000"/>
                </a:solidFill>
                <a:latin typeface="Arial" panose="020B0604020202020204" pitchFamily="34" charset="0"/>
                <a:ea typeface="微软雅黑" panose="020B0503020204020204" pitchFamily="34" charset="-122"/>
                <a:cs typeface="黑体" panose="02010609060101010101" charset="-122"/>
              </a:rPr>
              <a:t>LLM</a:t>
            </a:r>
            <a:r>
              <a:rPr lang="zh-CN" altLang="en-US" sz="1600" b="1">
                <a:solidFill>
                  <a:srgbClr val="FF0000"/>
                </a:solidFill>
                <a:latin typeface="Arial" panose="020B0604020202020204" pitchFamily="34" charset="0"/>
                <a:ea typeface="微软雅黑" panose="020B0503020204020204" pitchFamily="34" charset="-122"/>
                <a:cs typeface="黑体" panose="02010609060101010101" charset="-122"/>
              </a:rPr>
              <a:t>推理过程</a:t>
            </a:r>
            <a:r>
              <a:rPr lang="zh-CN" altLang="en-US" sz="1600" b="1">
                <a:latin typeface="Arial" panose="020B0604020202020204" pitchFamily="34" charset="0"/>
                <a:ea typeface="微软雅黑" panose="020B0503020204020204" pitchFamily="34" charset="-122"/>
                <a:cs typeface="黑体" panose="02010609060101010101" charset="-122"/>
              </a:rPr>
              <a:t>具有独特的访存行为特征，是内存优化的出发点。推理分为</a:t>
            </a:r>
            <a:r>
              <a:rPr lang="en-US" altLang="zh-CN" sz="1600" b="1">
                <a:latin typeface="Arial" panose="020B0604020202020204" pitchFamily="34" charset="0"/>
                <a:ea typeface="微软雅黑" panose="020B0503020204020204" pitchFamily="34" charset="-122"/>
                <a:cs typeface="黑体" panose="02010609060101010101" charset="-122"/>
              </a:rPr>
              <a:t>Prefill</a:t>
            </a:r>
            <a:r>
              <a:rPr lang="zh-CN" altLang="en-US" sz="1600" b="1">
                <a:latin typeface="Arial" panose="020B0604020202020204" pitchFamily="34" charset="0"/>
                <a:ea typeface="微软雅黑" panose="020B0503020204020204" pitchFamily="34" charset="-122"/>
                <a:cs typeface="黑体" panose="02010609060101010101" charset="-122"/>
              </a:rPr>
              <a:t>和</a:t>
            </a:r>
            <a:r>
              <a:rPr lang="en-US" altLang="zh-CN" sz="1600" b="1">
                <a:latin typeface="Arial" panose="020B0604020202020204" pitchFamily="34" charset="0"/>
                <a:ea typeface="微软雅黑" panose="020B0503020204020204" pitchFamily="34" charset="-122"/>
                <a:cs typeface="黑体" panose="02010609060101010101" charset="-122"/>
              </a:rPr>
              <a:t>Decode</a:t>
            </a:r>
            <a:r>
              <a:rPr lang="zh-CN" altLang="en-US" sz="1600" b="1">
                <a:latin typeface="Arial" panose="020B0604020202020204" pitchFamily="34" charset="0"/>
                <a:ea typeface="微软雅黑" panose="020B0503020204020204" pitchFamily="34" charset="-122"/>
                <a:cs typeface="黑体" panose="02010609060101010101" charset="-122"/>
              </a:rPr>
              <a:t>两个阶段：</a:t>
            </a:r>
          </a:p>
          <a:p>
            <a:pPr marL="285750" indent="-285750">
              <a:spcBef>
                <a:spcPct val="0"/>
              </a:spcBef>
              <a:spcAft>
                <a:spcPct val="0"/>
              </a:spcAft>
              <a:buFont typeface="Wingdings" pitchFamily="2" charset="2"/>
              <a:buChar char="n"/>
            </a:pPr>
            <a:r>
              <a:rPr lang="en-US" altLang="zh-CN" sz="1600" b="1">
                <a:solidFill>
                  <a:srgbClr val="FF0000"/>
                </a:solidFill>
                <a:latin typeface="Arial" panose="020B0604020202020204" pitchFamily="34" charset="0"/>
                <a:ea typeface="微软雅黑" panose="020B0503020204020204" pitchFamily="34" charset="-122"/>
                <a:cs typeface="黑体" panose="02010609060101010101" charset="-122"/>
              </a:rPr>
              <a:t>Prefill</a:t>
            </a:r>
            <a:r>
              <a:rPr lang="zh-CN" altLang="en-US" sz="1600" b="1">
                <a:solidFill>
                  <a:srgbClr val="FF0000"/>
                </a:solidFill>
                <a:latin typeface="Arial" panose="020B0604020202020204" pitchFamily="34" charset="0"/>
                <a:ea typeface="微软雅黑" panose="020B0503020204020204" pitchFamily="34" charset="-122"/>
                <a:cs typeface="黑体" panose="02010609060101010101" charset="-122"/>
              </a:rPr>
              <a:t>阶段：</a:t>
            </a:r>
            <a:r>
              <a:rPr lang="zh-CN" altLang="en-US" sz="1600" b="1">
                <a:latin typeface="Arial" panose="020B0604020202020204" pitchFamily="34" charset="0"/>
                <a:ea typeface="微软雅黑" panose="020B0503020204020204" pitchFamily="34" charset="-122"/>
                <a:cs typeface="黑体" panose="02010609060101010101" charset="-122"/>
              </a:rPr>
              <a:t>并行处理全部输入</a:t>
            </a:r>
            <a:r>
              <a:rPr lang="en-US" altLang="zh-CN" sz="1600" b="1">
                <a:latin typeface="Arial" panose="020B0604020202020204" pitchFamily="34" charset="0"/>
                <a:ea typeface="微软雅黑" panose="020B0503020204020204" pitchFamily="34" charset="-122"/>
                <a:cs typeface="黑体" panose="02010609060101010101" charset="-122"/>
              </a:rPr>
              <a:t>Token</a:t>
            </a:r>
            <a:r>
              <a:rPr lang="zh-CN" altLang="en-US" sz="1600" b="1">
                <a:latin typeface="Arial" panose="020B0604020202020204" pitchFamily="34" charset="0"/>
                <a:ea typeface="微软雅黑" panose="020B0503020204020204" pitchFamily="34" charset="-122"/>
                <a:cs typeface="黑体" panose="02010609060101010101" charset="-122"/>
              </a:rPr>
              <a:t>，在每个注意力层为每个</a:t>
            </a:r>
            <a:r>
              <a:rPr lang="en-US" altLang="zh-CN" sz="1600" b="1">
                <a:latin typeface="Arial" panose="020B0604020202020204" pitchFamily="34" charset="0"/>
                <a:ea typeface="微软雅黑" panose="020B0503020204020204" pitchFamily="34" charset="-122"/>
                <a:cs typeface="黑体" panose="02010609060101010101" charset="-122"/>
              </a:rPr>
              <a:t>Token</a:t>
            </a:r>
            <a:r>
              <a:rPr lang="zh-CN" altLang="en-US" sz="1600" b="1">
                <a:latin typeface="Arial" panose="020B0604020202020204" pitchFamily="34" charset="0"/>
                <a:ea typeface="微软雅黑" panose="020B0503020204020204" pitchFamily="34" charset="-122"/>
                <a:cs typeface="黑体" panose="02010609060101010101" charset="-122"/>
              </a:rPr>
              <a:t>计算</a:t>
            </a:r>
            <a:r>
              <a:rPr lang="en-US" altLang="zh-CN" sz="1600" b="1">
                <a:latin typeface="Arial" panose="020B0604020202020204" pitchFamily="34" charset="0"/>
                <a:ea typeface="微软雅黑" panose="020B0503020204020204" pitchFamily="34" charset="-122"/>
                <a:cs typeface="黑体" panose="02010609060101010101" charset="-122"/>
              </a:rPr>
              <a:t>Key</a:t>
            </a:r>
            <a:r>
              <a:rPr lang="zh-CN" altLang="en-US" sz="1600" b="1">
                <a:latin typeface="Arial" panose="020B0604020202020204" pitchFamily="34" charset="0"/>
                <a:ea typeface="微软雅黑" panose="020B0503020204020204" pitchFamily="34" charset="-122"/>
                <a:cs typeface="黑体" panose="02010609060101010101" charset="-122"/>
              </a:rPr>
              <a:t>和</a:t>
            </a:r>
            <a:r>
              <a:rPr lang="en-US" altLang="zh-CN" sz="1600" b="1">
                <a:latin typeface="Arial" panose="020B0604020202020204" pitchFamily="34" charset="0"/>
                <a:ea typeface="微软雅黑" panose="020B0503020204020204" pitchFamily="34" charset="-122"/>
                <a:cs typeface="黑体" panose="02010609060101010101" charset="-122"/>
              </a:rPr>
              <a:t>Value</a:t>
            </a:r>
            <a:r>
              <a:rPr lang="zh-CN" altLang="en-US" sz="1600" b="1">
                <a:latin typeface="Arial" panose="020B0604020202020204" pitchFamily="34" charset="0"/>
                <a:ea typeface="微软雅黑" panose="020B0503020204020204" pitchFamily="34" charset="-122"/>
                <a:cs typeface="黑体" panose="02010609060101010101" charset="-122"/>
              </a:rPr>
              <a:t>向量，属于计算密集型</a:t>
            </a:r>
          </a:p>
          <a:p>
            <a:pPr marL="285750" indent="-285750">
              <a:spcBef>
                <a:spcPct val="0"/>
              </a:spcBef>
              <a:spcAft>
                <a:spcPct val="0"/>
              </a:spcAft>
              <a:buFont typeface="Wingdings" pitchFamily="2" charset="2"/>
              <a:buChar char="n"/>
            </a:pPr>
            <a:r>
              <a:rPr lang="en-US" altLang="zh-CN" sz="1600" b="1">
                <a:solidFill>
                  <a:srgbClr val="FF0000"/>
                </a:solidFill>
                <a:latin typeface="Arial" panose="020B0604020202020204" pitchFamily="34" charset="0"/>
                <a:ea typeface="微软雅黑" panose="020B0503020204020204" pitchFamily="34" charset="-122"/>
                <a:cs typeface="黑体" panose="02010609060101010101" charset="-122"/>
              </a:rPr>
              <a:t>Decode</a:t>
            </a:r>
            <a:r>
              <a:rPr lang="zh-CN" altLang="en-US" sz="1600" b="1">
                <a:solidFill>
                  <a:srgbClr val="FF0000"/>
                </a:solidFill>
                <a:latin typeface="Arial" panose="020B0604020202020204" pitchFamily="34" charset="0"/>
                <a:ea typeface="微软雅黑" panose="020B0503020204020204" pitchFamily="34" charset="-122"/>
                <a:cs typeface="黑体" panose="02010609060101010101" charset="-122"/>
              </a:rPr>
              <a:t>阶段：</a:t>
            </a:r>
            <a:r>
              <a:rPr lang="zh-CN" altLang="en-US" sz="1600" b="1">
                <a:latin typeface="Arial" panose="020B0604020202020204" pitchFamily="34" charset="0"/>
                <a:ea typeface="微软雅黑" panose="020B0503020204020204" pitchFamily="34" charset="-122"/>
                <a:cs typeface="黑体" panose="02010609060101010101" charset="-122"/>
              </a:rPr>
              <a:t>以自回归方式逐</a:t>
            </a:r>
            <a:r>
              <a:rPr lang="en-US" altLang="zh-CN" sz="1600" b="1">
                <a:latin typeface="Arial" panose="020B0604020202020204" pitchFamily="34" charset="0"/>
                <a:ea typeface="微软雅黑" panose="020B0503020204020204" pitchFamily="34" charset="-122"/>
                <a:cs typeface="黑体" panose="02010609060101010101" charset="-122"/>
              </a:rPr>
              <a:t>Token</a:t>
            </a:r>
            <a:r>
              <a:rPr lang="zh-CN" altLang="en-US" sz="1600" b="1">
                <a:latin typeface="Arial" panose="020B0604020202020204" pitchFamily="34" charset="0"/>
                <a:ea typeface="微软雅黑" panose="020B0503020204020204" pitchFamily="34" charset="-122"/>
                <a:cs typeface="黑体" panose="02010609060101010101" charset="-122"/>
              </a:rPr>
              <a:t>生成，每个新</a:t>
            </a:r>
            <a:r>
              <a:rPr lang="en-US" altLang="zh-CN" sz="1600" b="1">
                <a:latin typeface="Arial" panose="020B0604020202020204" pitchFamily="34" charset="0"/>
                <a:ea typeface="微软雅黑" panose="020B0503020204020204" pitchFamily="34" charset="-122"/>
                <a:cs typeface="黑体" panose="02010609060101010101" charset="-122"/>
              </a:rPr>
              <a:t>Token</a:t>
            </a:r>
            <a:r>
              <a:rPr lang="zh-CN" altLang="en-US" sz="1600" b="1">
                <a:latin typeface="Arial" panose="020B0604020202020204" pitchFamily="34" charset="0"/>
                <a:ea typeface="微软雅黑" panose="020B0503020204020204" pitchFamily="34" charset="-122"/>
                <a:cs typeface="黑体" panose="02010609060101010101" charset="-122"/>
              </a:rPr>
              <a:t>需对</a:t>
            </a:r>
            <a:endParaRPr lang="en-US" altLang="zh-CN" sz="1600" b="1">
              <a:latin typeface="Arial" panose="020B0604020202020204" pitchFamily="34" charset="0"/>
              <a:ea typeface="微软雅黑" panose="020B0503020204020204" pitchFamily="34" charset="-122"/>
              <a:cs typeface="黑体" panose="02010609060101010101" charset="-122"/>
            </a:endParaRPr>
          </a:p>
          <a:p>
            <a:pPr>
              <a:spcBef>
                <a:spcPct val="0"/>
              </a:spcBef>
              <a:spcAft>
                <a:spcPct val="0"/>
              </a:spcAft>
            </a:pPr>
            <a:r>
              <a:rPr lang="en-US" altLang="zh-CN" sz="1600" b="1">
                <a:latin typeface="Arial" panose="020B0604020202020204" pitchFamily="34" charset="0"/>
                <a:ea typeface="微软雅黑" panose="020B0503020204020204" pitchFamily="34" charset="-122"/>
                <a:cs typeface="黑体" panose="02010609060101010101" charset="-122"/>
              </a:rPr>
              <a:t>     </a:t>
            </a:r>
            <a:r>
              <a:rPr lang="zh-CN" altLang="en-US" sz="1600" b="1">
                <a:latin typeface="Arial" panose="020B0604020202020204" pitchFamily="34" charset="0"/>
                <a:ea typeface="微软雅黑" panose="020B0503020204020204" pitchFamily="34" charset="-122"/>
                <a:cs typeface="黑体" panose="02010609060101010101" charset="-122"/>
              </a:rPr>
              <a:t>所有先前</a:t>
            </a:r>
            <a:r>
              <a:rPr lang="en-US" altLang="zh-CN" sz="1600" b="1">
                <a:latin typeface="Arial" panose="020B0604020202020204" pitchFamily="34" charset="0"/>
                <a:ea typeface="微软雅黑" panose="020B0503020204020204" pitchFamily="34" charset="-122"/>
                <a:cs typeface="黑体" panose="02010609060101010101" charset="-122"/>
              </a:rPr>
              <a:t>Token</a:t>
            </a:r>
            <a:r>
              <a:rPr lang="zh-CN" altLang="en-US" sz="1600" b="1">
                <a:latin typeface="Arial" panose="020B0604020202020204" pitchFamily="34" charset="0"/>
                <a:ea typeface="微软雅黑" panose="020B0503020204020204" pitchFamily="34" charset="-122"/>
                <a:cs typeface="黑体" panose="02010609060101010101" charset="-122"/>
              </a:rPr>
              <a:t>的</a:t>
            </a:r>
            <a:r>
              <a:rPr lang="en-US" altLang="zh-CN" sz="1600" b="1">
                <a:latin typeface="Arial" panose="020B0604020202020204" pitchFamily="34" charset="0"/>
                <a:ea typeface="微软雅黑" panose="020B0503020204020204" pitchFamily="34" charset="-122"/>
                <a:cs typeface="黑体" panose="02010609060101010101" charset="-122"/>
              </a:rPr>
              <a:t>Key-Value</a:t>
            </a:r>
            <a:r>
              <a:rPr lang="zh-CN" altLang="en-US" sz="1600" b="1">
                <a:latin typeface="Arial" panose="020B0604020202020204" pitchFamily="34" charset="0"/>
                <a:ea typeface="微软雅黑" panose="020B0503020204020204" pitchFamily="34" charset="-122"/>
                <a:cs typeface="黑体" panose="02010609060101010101" charset="-122"/>
              </a:rPr>
              <a:t>对做注意力计算，属于内存带宽受限型</a:t>
            </a:r>
          </a:p>
          <a:p>
            <a:pPr marL="0" indent="0">
              <a:spcBef>
                <a:spcPts val="900"/>
              </a:spcBef>
              <a:spcAft>
                <a:spcPts val="900"/>
              </a:spcAft>
            </a:pPr>
            <a:r>
              <a:rPr lang="en-US" altLang="zh-CN" sz="1600" b="1">
                <a:latin typeface="Arial" panose="020B0604020202020204" pitchFamily="34" charset="0"/>
                <a:ea typeface="微软雅黑" panose="020B0503020204020204" pitchFamily="34" charset="-122"/>
                <a:cs typeface="黑体" panose="02010609060101010101" charset="-122"/>
              </a:rPr>
              <a:t>LLM</a:t>
            </a:r>
            <a:r>
              <a:rPr lang="zh-CN" altLang="en-US" sz="1600" b="1">
                <a:latin typeface="Arial" panose="020B0604020202020204" pitchFamily="34" charset="0"/>
                <a:ea typeface="微软雅黑" panose="020B0503020204020204" pitchFamily="34" charset="-122"/>
                <a:cs typeface="黑体" panose="02010609060101010101" charset="-122"/>
              </a:rPr>
              <a:t>推理过程中的数据搬运主要有两类：</a:t>
            </a:r>
          </a:p>
        </p:txBody>
      </p:sp>
      <p:graphicFrame>
        <p:nvGraphicFramePr>
          <p:cNvPr id="5" name="表格 4"/>
          <p:cNvGraphicFramePr/>
          <p:nvPr>
            <p:extLst>
              <p:ext uri="{D42A27DB-BD31-4B8C-83A1-F6EECF244321}">
                <p14:modId xmlns:p14="http://schemas.microsoft.com/office/powerpoint/2010/main" val="4203882014"/>
              </p:ext>
            </p:extLst>
          </p:nvPr>
        </p:nvGraphicFramePr>
        <p:xfrm>
          <a:off x="425752" y="3750938"/>
          <a:ext cx="10997565" cy="1613423"/>
        </p:xfrm>
        <a:graphic>
          <a:graphicData uri="http://schemas.openxmlformats.org/drawingml/2006/table">
            <a:tbl>
              <a:tblPr firstRow="1" bandRow="1">
                <a:tableStyleId>{93296810-A885-4BE3-A3E7-6D5BEEA58F35}</a:tableStyleId>
              </a:tblPr>
              <a:tblGrid>
                <a:gridCol w="1612186">
                  <a:extLst>
                    <a:ext uri="{9D8B030D-6E8A-4147-A177-3AD203B41FA5}">
                      <a16:colId xmlns:a16="http://schemas.microsoft.com/office/drawing/2014/main" val="20000"/>
                    </a:ext>
                  </a:extLst>
                </a:gridCol>
                <a:gridCol w="4718462">
                  <a:extLst>
                    <a:ext uri="{9D8B030D-6E8A-4147-A177-3AD203B41FA5}">
                      <a16:colId xmlns:a16="http://schemas.microsoft.com/office/drawing/2014/main" val="20001"/>
                    </a:ext>
                  </a:extLst>
                </a:gridCol>
                <a:gridCol w="4666917">
                  <a:extLst>
                    <a:ext uri="{9D8B030D-6E8A-4147-A177-3AD203B41FA5}">
                      <a16:colId xmlns:a16="http://schemas.microsoft.com/office/drawing/2014/main" val="20002"/>
                    </a:ext>
                  </a:extLst>
                </a:gridCol>
              </a:tblGrid>
              <a:tr h="371720">
                <a:tc>
                  <a:txBody>
                    <a:bodyPr/>
                    <a:lstStyle/>
                    <a:p>
                      <a:pPr algn="ctr">
                        <a:lnSpc>
                          <a:spcPts val="1500"/>
                        </a:lnSpc>
                      </a:pPr>
                      <a:r>
                        <a:rPr lang="en-US" altLang="zh-CN" sz="1600" b="1" i="0">
                          <a:latin typeface="Arial" panose="020B0604020202020204" pitchFamily="34" charset="0"/>
                          <a:ea typeface="微软雅黑" panose="020B0503020204020204" pitchFamily="34" charset="-122"/>
                        </a:rPr>
                        <a:t>I/O</a:t>
                      </a:r>
                      <a:r>
                        <a:rPr lang="zh-CN" altLang="en-US" sz="1600">
                          <a:latin typeface="Arial" panose="020B0604020202020204" pitchFamily="34" charset="0"/>
                          <a:ea typeface="微软雅黑" panose="020B0503020204020204" pitchFamily="34" charset="-122"/>
                        </a:rPr>
                        <a:t>流</a:t>
                      </a:r>
                    </a:p>
                  </a:txBody>
                  <a:tcPr marL="0" marR="122237" marT="76517" marB="76517" anchor="ctr"/>
                </a:tc>
                <a:tc>
                  <a:txBody>
                    <a:bodyPr/>
                    <a:lstStyle/>
                    <a:p>
                      <a:pPr algn="ctr">
                        <a:lnSpc>
                          <a:spcPts val="1500"/>
                        </a:lnSpc>
                      </a:pPr>
                      <a:r>
                        <a:rPr lang="zh-CN" altLang="en-US" sz="1600" b="1" i="0">
                          <a:latin typeface="Arial" panose="020B0604020202020204" pitchFamily="34" charset="0"/>
                          <a:ea typeface="微软雅黑" panose="020B0503020204020204" pitchFamily="34" charset="-122"/>
                        </a:rPr>
                        <a:t>特征</a:t>
                      </a:r>
                    </a:p>
                  </a:txBody>
                  <a:tcPr marL="122237" marR="122237" marT="76517" marB="76517" anchor="ctr"/>
                </a:tc>
                <a:tc>
                  <a:txBody>
                    <a:bodyPr/>
                    <a:lstStyle/>
                    <a:p>
                      <a:pPr algn="ctr">
                        <a:lnSpc>
                          <a:spcPts val="1500"/>
                        </a:lnSpc>
                      </a:pPr>
                      <a:r>
                        <a:rPr lang="zh-CN" altLang="en-US" sz="1600">
                          <a:latin typeface="Arial" panose="020B0604020202020204" pitchFamily="34" charset="0"/>
                          <a:ea typeface="微软雅黑" panose="020B0503020204020204" pitchFamily="34" charset="-122"/>
                        </a:rPr>
                        <a:t>运行时特征</a:t>
                      </a:r>
                    </a:p>
                  </a:txBody>
                  <a:tcPr marL="122237" marR="122237" marT="76517" marB="76517" anchor="ctr"/>
                </a:tc>
                <a:extLst>
                  <a:ext uri="{0D108BD9-81ED-4DB2-BD59-A6C34878D82A}">
                    <a16:rowId xmlns:a16="http://schemas.microsoft.com/office/drawing/2014/main" val="10000"/>
                  </a:ext>
                </a:extLst>
              </a:tr>
              <a:tr h="571105">
                <a:tc>
                  <a:txBody>
                    <a:bodyPr/>
                    <a:lstStyle/>
                    <a:p>
                      <a:pPr algn="ctr">
                        <a:lnSpc>
                          <a:spcPts val="1500"/>
                        </a:lnSpc>
                      </a:pPr>
                      <a:r>
                        <a:rPr lang="zh-CN" altLang="en-US" sz="1600" b="1" i="0">
                          <a:latin typeface="Arial" panose="020B0604020202020204" pitchFamily="34" charset="0"/>
                          <a:ea typeface="微软雅黑" panose="020B0503020204020204" pitchFamily="34" charset="-122"/>
                        </a:rPr>
                        <a:t>权重</a:t>
                      </a:r>
                      <a:r>
                        <a:rPr lang="en-US" altLang="zh-CN" sz="1600">
                          <a:latin typeface="Arial" panose="020B0604020202020204" pitchFamily="34" charset="0"/>
                          <a:ea typeface="微软雅黑" panose="020B0503020204020204" pitchFamily="34" charset="-122"/>
                        </a:rPr>
                        <a:t>I/O</a:t>
                      </a:r>
                    </a:p>
                  </a:txBody>
                  <a:tcPr marL="0" marR="122237" marT="76517" marB="76517" anchor="ctr"/>
                </a:tc>
                <a:tc>
                  <a:txBody>
                    <a:bodyPr/>
                    <a:lstStyle/>
                    <a:p>
                      <a:pPr marL="0" marR="0" indent="0" algn="ctr" defTabSz="914400" rtl="0" eaLnBrk="1" fontAlgn="auto" latinLnBrk="0" hangingPunct="1">
                        <a:lnSpc>
                          <a:spcPts val="1500"/>
                        </a:lnSpc>
                        <a:spcBef>
                          <a:spcPts val="0"/>
                        </a:spcBef>
                        <a:spcAft>
                          <a:spcPts val="0"/>
                        </a:spcAft>
                        <a:buClrTx/>
                        <a:buSzTx/>
                        <a:buFontTx/>
                        <a:buNone/>
                        <a:tabLst/>
                        <a:defRPr/>
                      </a:pPr>
                      <a:r>
                        <a:rPr lang="en" altLang="zh-CN" sz="1600" b="1" i="0">
                          <a:latin typeface="Arial" panose="020B0604020202020204" pitchFamily="34" charset="0"/>
                          <a:ea typeface="微软雅黑" panose="020B0503020204020204" pitchFamily="34" charset="-122"/>
                        </a:rPr>
                        <a:t>Dense (</a:t>
                      </a:r>
                      <a:r>
                        <a:rPr lang="zh-CN" altLang="en-US" sz="1600" b="1" i="0">
                          <a:latin typeface="Arial" panose="020B0604020202020204" pitchFamily="34" charset="0"/>
                          <a:ea typeface="微软雅黑" panose="020B0503020204020204" pitchFamily="34" charset="-122"/>
                        </a:rPr>
                        <a:t>稠密模型</a:t>
                      </a:r>
                      <a:r>
                        <a:rPr lang="en-US" altLang="zh-CN" sz="1600" b="1" i="0">
                          <a:latin typeface="Arial" panose="020B0604020202020204" pitchFamily="34" charset="0"/>
                          <a:ea typeface="微软雅黑" panose="020B0503020204020204" pitchFamily="34" charset="-122"/>
                        </a:rPr>
                        <a:t>)</a:t>
                      </a:r>
                      <a:r>
                        <a:rPr lang="zh-CN" altLang="en-US" sz="1600" b="1" i="0">
                          <a:latin typeface="Arial" panose="020B0604020202020204" pitchFamily="34" charset="0"/>
                          <a:ea typeface="微软雅黑" panose="020B0503020204020204" pitchFamily="34" charset="-122"/>
                        </a:rPr>
                        <a:t>逐层顺序访问全部权重；</a:t>
                      </a:r>
                      <a:endParaRPr lang="en-US" altLang="zh-CN" sz="1600" b="1" i="0">
                        <a:latin typeface="Arial" panose="020B0604020202020204" pitchFamily="34" charset="0"/>
                        <a:ea typeface="微软雅黑" panose="020B0503020204020204" pitchFamily="34" charset="-122"/>
                      </a:endParaRPr>
                    </a:p>
                    <a:p>
                      <a:pPr marL="0" marR="0" indent="0" algn="ctr" defTabSz="914400" rtl="0" eaLnBrk="1" fontAlgn="auto" latinLnBrk="0" hangingPunct="1">
                        <a:lnSpc>
                          <a:spcPts val="1500"/>
                        </a:lnSpc>
                        <a:spcBef>
                          <a:spcPts val="0"/>
                        </a:spcBef>
                        <a:spcAft>
                          <a:spcPts val="0"/>
                        </a:spcAft>
                        <a:buClrTx/>
                        <a:buSzTx/>
                        <a:buFontTx/>
                        <a:buNone/>
                        <a:tabLst/>
                        <a:defRPr/>
                      </a:pPr>
                      <a:r>
                        <a:rPr lang="en" altLang="zh-CN" sz="1600" b="1" i="0">
                          <a:latin typeface="Arial" panose="020B0604020202020204" pitchFamily="34" charset="0"/>
                          <a:ea typeface="微软雅黑" panose="020B0503020204020204" pitchFamily="34" charset="-122"/>
                        </a:rPr>
                        <a:t>MoE (</a:t>
                      </a:r>
                      <a:r>
                        <a:rPr lang="zh-CN" altLang="en-US" sz="1600" b="1" i="0">
                          <a:latin typeface="Arial" panose="020B0604020202020204" pitchFamily="34" charset="0"/>
                          <a:ea typeface="微软雅黑" panose="020B0503020204020204" pitchFamily="34" charset="-122"/>
                        </a:rPr>
                        <a:t>稀疏专家模型</a:t>
                      </a:r>
                      <a:r>
                        <a:rPr lang="en-US" altLang="zh-CN" sz="1600" b="1" i="0">
                          <a:latin typeface="Arial" panose="020B0604020202020204" pitchFamily="34" charset="0"/>
                          <a:ea typeface="微软雅黑" panose="020B0503020204020204" pitchFamily="34" charset="-122"/>
                        </a:rPr>
                        <a:t>)</a:t>
                      </a:r>
                      <a:r>
                        <a:rPr lang="zh-CN" altLang="en-US" sz="1600" b="1" i="0">
                          <a:latin typeface="Arial" panose="020B0604020202020204" pitchFamily="34" charset="0"/>
                          <a:ea typeface="微软雅黑" panose="020B0503020204020204" pitchFamily="34" charset="-122"/>
                        </a:rPr>
                        <a:t>仅访问激活的 </a:t>
                      </a:r>
                      <a:r>
                        <a:rPr lang="en" altLang="zh-CN" sz="1600" b="1" i="0">
                          <a:latin typeface="Arial" panose="020B0604020202020204" pitchFamily="34" charset="0"/>
                          <a:ea typeface="微软雅黑" panose="020B0503020204020204" pitchFamily="34" charset="-122"/>
                        </a:rPr>
                        <a:t>Top-K </a:t>
                      </a:r>
                      <a:r>
                        <a:rPr lang="zh-CN" altLang="en-US" sz="1600" b="1" i="0">
                          <a:latin typeface="Arial" panose="020B0604020202020204" pitchFamily="34" charset="0"/>
                          <a:ea typeface="微软雅黑" panose="020B0503020204020204" pitchFamily="34" charset="-122"/>
                        </a:rPr>
                        <a:t>个专家</a:t>
                      </a:r>
                    </a:p>
                  </a:txBody>
                  <a:tcPr marL="122237" marR="122237" marT="76517" marB="76517" anchor="ctr"/>
                </a:tc>
                <a:tc>
                  <a:txBody>
                    <a:bodyPr/>
                    <a:lstStyle/>
                    <a:p>
                      <a:pPr algn="ctr">
                        <a:lnSpc>
                          <a:spcPts val="1500"/>
                        </a:lnSpc>
                      </a:pPr>
                      <a:r>
                        <a:rPr lang="zh-CN" altLang="en-US" sz="1600" b="1" i="0">
                          <a:latin typeface="Arial" panose="020B0604020202020204" pitchFamily="34" charset="0"/>
                          <a:ea typeface="微软雅黑" panose="020B0503020204020204" pitchFamily="34" charset="-122"/>
                        </a:rPr>
                        <a:t>权重未驻留时需从磁盘搬运数据，</a:t>
                      </a:r>
                      <a:endParaRPr lang="en-US" altLang="zh-CN" sz="1600" b="1" i="0">
                        <a:latin typeface="Arial" panose="020B0604020202020204" pitchFamily="34" charset="0"/>
                        <a:ea typeface="微软雅黑" panose="020B0503020204020204" pitchFamily="34" charset="-122"/>
                      </a:endParaRPr>
                    </a:p>
                    <a:p>
                      <a:pPr algn="ctr">
                        <a:lnSpc>
                          <a:spcPts val="1500"/>
                        </a:lnSpc>
                      </a:pPr>
                      <a:r>
                        <a:rPr lang="zh-CN" altLang="en-US" sz="1600" b="1" i="0">
                          <a:latin typeface="Arial" panose="020B0604020202020204" pitchFamily="34" charset="0"/>
                          <a:ea typeface="微软雅黑" panose="020B0503020204020204" pitchFamily="34" charset="-122"/>
                        </a:rPr>
                        <a:t>加载延迟直接阻塞计算</a:t>
                      </a:r>
                      <a:endParaRPr lang="en-US" altLang="zh-CN" sz="1600">
                        <a:latin typeface="Arial" panose="020B0604020202020204" pitchFamily="34" charset="0"/>
                        <a:ea typeface="微软雅黑" panose="020B0503020204020204" pitchFamily="34" charset="-122"/>
                      </a:endParaRPr>
                    </a:p>
                  </a:txBody>
                  <a:tcPr marL="122237" marR="0" marT="76517" marB="76517" anchor="ctr"/>
                </a:tc>
                <a:extLst>
                  <a:ext uri="{0D108BD9-81ED-4DB2-BD59-A6C34878D82A}">
                    <a16:rowId xmlns:a16="http://schemas.microsoft.com/office/drawing/2014/main" val="10001"/>
                  </a:ext>
                </a:extLst>
              </a:tr>
              <a:tr h="670598">
                <a:tc>
                  <a:txBody>
                    <a:bodyPr/>
                    <a:lstStyle/>
                    <a:p>
                      <a:pPr algn="ctr">
                        <a:lnSpc>
                          <a:spcPts val="1500"/>
                        </a:lnSpc>
                      </a:pPr>
                      <a:r>
                        <a:rPr lang="en-US" altLang="zh-CN" sz="1600" b="1" i="0">
                          <a:latin typeface="Arial" panose="020B0604020202020204" pitchFamily="34" charset="0"/>
                          <a:ea typeface="微软雅黑" panose="020B0503020204020204" pitchFamily="34" charset="-122"/>
                        </a:rPr>
                        <a:t>KV Cache I/O</a:t>
                      </a:r>
                    </a:p>
                  </a:txBody>
                  <a:tcPr marL="0" marR="122237" marT="76517" marB="76517" anchor="ctr"/>
                </a:tc>
                <a:tc>
                  <a:txBody>
                    <a:bodyPr/>
                    <a:lstStyle/>
                    <a:p>
                      <a:pPr algn="ctr">
                        <a:lnSpc>
                          <a:spcPts val="1500"/>
                        </a:lnSpc>
                      </a:pPr>
                      <a:r>
                        <a:rPr lang="en" altLang="zh-CN" sz="1600" b="1" i="0">
                          <a:latin typeface="Arial" panose="020B0604020202020204" pitchFamily="34" charset="0"/>
                          <a:ea typeface="微软雅黑" panose="020B0503020204020204" pitchFamily="34" charset="-122"/>
                        </a:rPr>
                        <a:t>Live KV </a:t>
                      </a:r>
                      <a:r>
                        <a:rPr lang="zh-CN" altLang="en-US" sz="1600" b="1" i="0">
                          <a:latin typeface="Arial" panose="020B0604020202020204" pitchFamily="34" charset="0"/>
                          <a:ea typeface="微软雅黑" panose="020B0503020204020204" pitchFamily="34" charset="-122"/>
                        </a:rPr>
                        <a:t>访问量随上下文长度和并发序列增长</a:t>
                      </a:r>
                    </a:p>
                  </a:txBody>
                  <a:tcPr marL="122237" marR="122237" marT="76517" marB="76517"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i="0" kern="1200">
                          <a:solidFill>
                            <a:schemeClr val="dk1"/>
                          </a:solidFill>
                          <a:latin typeface="Arial" panose="020B0604020202020204" pitchFamily="34" charset="0"/>
                          <a:ea typeface="微软雅黑" panose="020B0503020204020204" pitchFamily="34" charset="-122"/>
                          <a:cs typeface="+mn-cs"/>
                        </a:rPr>
                        <a:t>分层存储会额外增加</a:t>
                      </a:r>
                      <a:r>
                        <a:rPr lang="en-US" altLang="zh-CN" sz="1600" b="1" i="0" kern="1200">
                          <a:solidFill>
                            <a:schemeClr val="dk1"/>
                          </a:solidFill>
                          <a:latin typeface="Arial" panose="020B0604020202020204" pitchFamily="34" charset="0"/>
                          <a:ea typeface="微软雅黑" panose="020B0503020204020204" pitchFamily="34" charset="-122"/>
                          <a:cs typeface="+mn-cs"/>
                        </a:rPr>
                        <a:t>I/O</a:t>
                      </a:r>
                      <a:r>
                        <a:rPr lang="zh-CN" altLang="en-US" sz="1600" b="1" i="0" kern="1200">
                          <a:solidFill>
                            <a:schemeClr val="dk1"/>
                          </a:solidFill>
                          <a:latin typeface="Arial" panose="020B0604020202020204" pitchFamily="34" charset="0"/>
                          <a:ea typeface="微软雅黑" panose="020B0503020204020204" pitchFamily="34" charset="-122"/>
                          <a:cs typeface="+mn-cs"/>
                        </a:rPr>
                        <a:t>开销，</a:t>
                      </a:r>
                      <a:br>
                        <a:rPr lang="en-US" altLang="zh-CN" sz="1600" b="1" i="0" kern="1200">
                          <a:solidFill>
                            <a:schemeClr val="dk1"/>
                          </a:solidFill>
                          <a:latin typeface="Arial" panose="020B0604020202020204" pitchFamily="34" charset="0"/>
                          <a:ea typeface="微软雅黑" panose="020B0503020204020204" pitchFamily="34" charset="-122"/>
                          <a:cs typeface="+mn-cs"/>
                        </a:rPr>
                      </a:br>
                      <a:r>
                        <a:rPr lang="zh-CN" altLang="en-US" sz="1600" b="1" i="0" kern="1200">
                          <a:solidFill>
                            <a:schemeClr val="dk1"/>
                          </a:solidFill>
                          <a:latin typeface="Arial" panose="020B0604020202020204" pitchFamily="34" charset="0"/>
                          <a:ea typeface="微软雅黑" panose="020B0503020204020204" pitchFamily="34" charset="-122"/>
                          <a:cs typeface="+mn-cs"/>
                        </a:rPr>
                        <a:t>包括数据的写入、卸载和恢复读取等操作</a:t>
                      </a:r>
                      <a:endParaRPr lang="en-US" altLang="zh-CN" sz="1600" b="1" i="0" kern="1200">
                        <a:solidFill>
                          <a:schemeClr val="dk1"/>
                        </a:solidFill>
                        <a:latin typeface="Arial" panose="020B0604020202020204" pitchFamily="34" charset="0"/>
                        <a:ea typeface="微软雅黑" panose="020B0503020204020204" pitchFamily="34" charset="-122"/>
                        <a:cs typeface="+mn-cs"/>
                      </a:endParaRPr>
                    </a:p>
                  </a:txBody>
                  <a:tcPr marL="122237" marR="0" marT="76517" marB="76517" anchor="ctr"/>
                </a:tc>
                <a:extLst>
                  <a:ext uri="{0D108BD9-81ED-4DB2-BD59-A6C34878D82A}">
                    <a16:rowId xmlns:a16="http://schemas.microsoft.com/office/drawing/2014/main" val="10002"/>
                  </a:ext>
                </a:extLst>
              </a:tr>
            </a:tbl>
          </a:graphicData>
        </a:graphic>
      </p:graphicFrame>
      <p:sp>
        <p:nvSpPr>
          <p:cNvPr id="6" name="文本框 5"/>
          <p:cNvSpPr txBox="1"/>
          <p:nvPr/>
        </p:nvSpPr>
        <p:spPr>
          <a:xfrm>
            <a:off x="1661864" y="5771368"/>
            <a:ext cx="9317286" cy="707886"/>
          </a:xfrm>
          <a:prstGeom prst="rect">
            <a:avLst/>
          </a:prstGeom>
        </p:spPr>
        <p:txBody>
          <a:bodyPr wrap="square">
            <a:spAutoFit/>
          </a:bodyPr>
          <a:lstStyle/>
          <a:p>
            <a:pPr algn="ctr">
              <a:spcBef>
                <a:spcPts val="900"/>
              </a:spcBef>
              <a:spcAft>
                <a:spcPts val="900"/>
              </a:spcAft>
            </a:pP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关键结论：</a:t>
            </a:r>
            <a:r>
              <a:rPr lang="en" altLang="zh-CN" sz="2000" b="1">
                <a:latin typeface="Arial" panose="020B0604020202020204" pitchFamily="34" charset="0"/>
                <a:ea typeface="微软雅黑" panose="020B0503020204020204" pitchFamily="34" charset="-122"/>
                <a:cs typeface="黑体" panose="02010609060101010101" charset="-122"/>
              </a:rPr>
              <a:t>Decode </a:t>
            </a:r>
            <a:r>
              <a:rPr lang="zh-CN" altLang="en-US" sz="2000" b="1">
                <a:latin typeface="Arial" panose="020B0604020202020204" pitchFamily="34" charset="0"/>
                <a:ea typeface="微软雅黑" panose="020B0503020204020204" pitchFamily="34" charset="-122"/>
                <a:cs typeface="黑体" panose="02010609060101010101" charset="-122"/>
              </a:rPr>
              <a:t>阶段 </a:t>
            </a:r>
            <a:r>
              <a:rPr lang="en" altLang="zh-CN" sz="2000" b="1">
                <a:latin typeface="Arial" panose="020B0604020202020204" pitchFamily="34" charset="0"/>
                <a:ea typeface="微软雅黑" panose="020B0503020204020204" pitchFamily="34" charset="-122"/>
                <a:cs typeface="黑体" panose="02010609060101010101" charset="-122"/>
              </a:rPr>
              <a:t>Dense / M</a:t>
            </a:r>
            <a:r>
              <a:rPr lang="en-US" altLang="zh-CN" sz="2000" b="1">
                <a:latin typeface="Arial" panose="020B0604020202020204" pitchFamily="34" charset="0"/>
                <a:ea typeface="微软雅黑" panose="020B0503020204020204" pitchFamily="34" charset="-122"/>
                <a:cs typeface="黑体" panose="02010609060101010101" charset="-122"/>
              </a:rPr>
              <a:t>oE </a:t>
            </a:r>
            <a:r>
              <a:rPr lang="zh-CN" altLang="en-US" sz="2000" b="1">
                <a:latin typeface="Arial" panose="020B0604020202020204" pitchFamily="34" charset="0"/>
                <a:ea typeface="微软雅黑" panose="020B0503020204020204" pitchFamily="34" charset="-122"/>
                <a:cs typeface="黑体" panose="02010609060101010101" charset="-122"/>
              </a:rPr>
              <a:t>模型权重加载与 </a:t>
            </a:r>
            <a:r>
              <a:rPr lang="en" altLang="zh-CN" sz="2000" b="1">
                <a:latin typeface="Arial" panose="020B0604020202020204" pitchFamily="34" charset="0"/>
                <a:ea typeface="微软雅黑" panose="020B0503020204020204" pitchFamily="34" charset="-122"/>
                <a:cs typeface="黑体" panose="02010609060101010101" charset="-122"/>
              </a:rPr>
              <a:t>KV Cache </a:t>
            </a:r>
            <a:r>
              <a:rPr lang="zh-CN" altLang="en-US" sz="2000" b="1">
                <a:latin typeface="Arial" panose="020B0604020202020204" pitchFamily="34" charset="0"/>
                <a:ea typeface="微软雅黑" panose="020B0503020204020204" pitchFamily="34" charset="-122"/>
                <a:cs typeface="黑体" panose="02010609060101010101" charset="-122"/>
              </a:rPr>
              <a:t>访问特征各异，却共同竞争有限内存与 </a:t>
            </a:r>
            <a:r>
              <a:rPr lang="en" altLang="zh-CN" sz="2000" b="1">
                <a:latin typeface="Arial" panose="020B0604020202020204" pitchFamily="34" charset="0"/>
                <a:ea typeface="微软雅黑" panose="020B0503020204020204" pitchFamily="34" charset="-122"/>
                <a:cs typeface="黑体" panose="02010609060101010101" charset="-122"/>
              </a:rPr>
              <a:t>I/O</a:t>
            </a:r>
            <a:r>
              <a:rPr lang="zh-CN" altLang="en" sz="2000" b="1">
                <a:latin typeface="Arial" panose="020B0604020202020204" pitchFamily="34" charset="0"/>
                <a:ea typeface="微软雅黑" panose="020B0503020204020204" pitchFamily="34" charset="-122"/>
                <a:cs typeface="黑体" panose="02010609060101010101" charset="-122"/>
              </a:rPr>
              <a:t>，</a:t>
            </a:r>
            <a:r>
              <a:rPr lang="zh-CN" altLang="en-US" sz="2000" b="1">
                <a:latin typeface="Arial" panose="020B0604020202020204" pitchFamily="34" charset="0"/>
                <a:ea typeface="微软雅黑" panose="020B0503020204020204" pitchFamily="34" charset="-122"/>
                <a:cs typeface="黑体" panose="02010609060101010101" charset="-122"/>
              </a:rPr>
              <a:t>需要差异化驻留管理与全局协调。</a:t>
            </a:r>
          </a:p>
        </p:txBody>
      </p:sp>
      <p:pic>
        <p:nvPicPr>
          <p:cNvPr id="7" name="图片 6">
            <a:extLst>
              <a:ext uri="{FF2B5EF4-FFF2-40B4-BE49-F238E27FC236}">
                <a16:creationId xmlns:a16="http://schemas.microsoft.com/office/drawing/2014/main" id="{B34C92A6-D919-8BE5-CA14-448E015710C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07791" y="1263040"/>
            <a:ext cx="5284209" cy="2443947"/>
          </a:xfrm>
          <a:prstGeom prst="rect">
            <a:avLst/>
          </a:prstGeom>
        </p:spPr>
      </p:pic>
      <p:sp>
        <p:nvSpPr>
          <p:cNvPr id="3" name="矩形 4">
            <a:extLst>
              <a:ext uri="{FF2B5EF4-FFF2-40B4-BE49-F238E27FC236}">
                <a16:creationId xmlns:a16="http://schemas.microsoft.com/office/drawing/2014/main" id="{772CE8BA-E6C6-0A8B-3E7A-1C880BF88397}"/>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cxnSp>
        <p:nvCxnSpPr>
          <p:cNvPr id="8" name="直接连接符 7">
            <a:extLst>
              <a:ext uri="{FF2B5EF4-FFF2-40B4-BE49-F238E27FC236}">
                <a16:creationId xmlns:a16="http://schemas.microsoft.com/office/drawing/2014/main" id="{35FD82A1-4024-5729-F13C-19D5B311F9B9}"/>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BBA2445C-FF81-89AA-380F-63CAA503DD24}"/>
              </a:ext>
            </a:extLst>
          </p:cNvPr>
          <p:cNvSpPr/>
          <p:nvPr/>
        </p:nvSpPr>
        <p:spPr>
          <a:xfrm>
            <a:off x="4933648"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cxnSp>
        <p:nvCxnSpPr>
          <p:cNvPr id="10" name="直接连接符 9">
            <a:extLst>
              <a:ext uri="{FF2B5EF4-FFF2-40B4-BE49-F238E27FC236}">
                <a16:creationId xmlns:a16="http://schemas.microsoft.com/office/drawing/2014/main" id="{9E0E8EA3-15FF-0B48-DCDA-8DD005AD0002}"/>
              </a:ext>
            </a:extLst>
          </p:cNvPr>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6">
            <a:extLst>
              <a:ext uri="{FF2B5EF4-FFF2-40B4-BE49-F238E27FC236}">
                <a16:creationId xmlns:a16="http://schemas.microsoft.com/office/drawing/2014/main" id="{8F685CBC-DFB4-9356-AF63-9378BD02956C}"/>
              </a:ext>
            </a:extLst>
          </p:cNvPr>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2" name="TextBox 7">
            <a:extLst>
              <a:ext uri="{FF2B5EF4-FFF2-40B4-BE49-F238E27FC236}">
                <a16:creationId xmlns:a16="http://schemas.microsoft.com/office/drawing/2014/main" id="{3DFAAF0B-8273-4AE4-7C1E-A79F43C21E19}"/>
              </a:ext>
            </a:extLst>
          </p:cNvPr>
          <p:cNvSpPr txBox="1"/>
          <p:nvPr/>
        </p:nvSpPr>
        <p:spPr>
          <a:xfrm>
            <a:off x="5076749" y="215904"/>
            <a:ext cx="1344000" cy="404714"/>
          </a:xfrm>
          <a:prstGeom prst="rect">
            <a:avLst/>
          </a:prstGeom>
          <a:noFill/>
        </p:spPr>
        <p:txBody>
          <a:bodyPr wrap="square" lIns="0" tIns="48000" rIns="0" bIns="48000" rtlCol="0">
            <a:spAutoFit/>
          </a:bodyPr>
          <a:lstStyle/>
          <a:p>
            <a:pPr algn="ctr"/>
            <a:r>
              <a:rPr lang="zh-CN" altLang="en-US" sz="2000" b="1">
                <a:solidFill>
                  <a:schemeClr val="bg1"/>
                </a:solidFill>
                <a:latin typeface="Arial" panose="020B0604020202020204" pitchFamily="34" charset="0"/>
                <a:ea typeface="微软雅黑" panose="020B0503020204020204" pitchFamily="34" charset="-122"/>
              </a:rPr>
              <a:t>项目目标</a:t>
            </a:r>
            <a:endParaRPr lang="zh-CN" altLang="en-US" sz="2000" b="1" dirty="0">
              <a:solidFill>
                <a:schemeClr val="bg1"/>
              </a:solidFill>
              <a:latin typeface="Arial" panose="020B0604020202020204" pitchFamily="34" charset="0"/>
              <a:ea typeface="微软雅黑" panose="020B0503020204020204" pitchFamily="34" charset="-122"/>
            </a:endParaRPr>
          </a:p>
        </p:txBody>
      </p:sp>
      <p:sp>
        <p:nvSpPr>
          <p:cNvPr id="13" name="TextBox 9">
            <a:extLst>
              <a:ext uri="{FF2B5EF4-FFF2-40B4-BE49-F238E27FC236}">
                <a16:creationId xmlns:a16="http://schemas.microsoft.com/office/drawing/2014/main" id="{56CCFCF1-F992-4572-3ED8-D19633980E2E}"/>
              </a:ext>
            </a:extLst>
          </p:cNvPr>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a:solidFill>
                  <a:schemeClr val="bg1">
                    <a:lumMod val="50000"/>
                  </a:schemeClr>
                </a:solidFill>
                <a:latin typeface="Arial" panose="020B0604020202020204" pitchFamily="34" charset="0"/>
                <a:ea typeface="微软雅黑" panose="020B0503020204020204" pitchFamily="34" charset="-122"/>
                <a:sym typeface="+mn-ea"/>
              </a:rPr>
              <a:t>项目实</a:t>
            </a: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现</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sp>
        <p:nvSpPr>
          <p:cNvPr id="14" name="TextBox 10">
            <a:extLst>
              <a:ext uri="{FF2B5EF4-FFF2-40B4-BE49-F238E27FC236}">
                <a16:creationId xmlns:a16="http://schemas.microsoft.com/office/drawing/2014/main" id="{324675BC-E7A6-5138-BDDC-3A8EFF1B5031}"/>
              </a:ext>
            </a:extLst>
          </p:cNvPr>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项目测试</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sp>
        <p:nvSpPr>
          <p:cNvPr id="15" name="TextBox 11">
            <a:extLst>
              <a:ext uri="{FF2B5EF4-FFF2-40B4-BE49-F238E27FC236}">
                <a16:creationId xmlns:a16="http://schemas.microsoft.com/office/drawing/2014/main" id="{128E65E1-B813-EF78-6960-D228544EC19F}"/>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项目总结</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cxnSp>
        <p:nvCxnSpPr>
          <p:cNvPr id="16" name="直接连接符 15">
            <a:extLst>
              <a:ext uri="{FF2B5EF4-FFF2-40B4-BE49-F238E27FC236}">
                <a16:creationId xmlns:a16="http://schemas.microsoft.com/office/drawing/2014/main" id="{572A3E42-7546-0E7D-028D-2E5CE2090280}"/>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801F3ED9-F139-C059-CBFE-31DAF79D208C}"/>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8" name="图片 17">
            <a:extLst>
              <a:ext uri="{FF2B5EF4-FFF2-40B4-BE49-F238E27FC236}">
                <a16:creationId xmlns:a16="http://schemas.microsoft.com/office/drawing/2014/main" id="{4F8A8652-97EF-7F36-EBB2-746791CA3EA9}"/>
              </a:ext>
            </a:extLst>
          </p:cNvPr>
          <p:cNvPicPr>
            <a:picLocks noChangeAspect="1"/>
          </p:cNvPicPr>
          <p:nvPr/>
        </p:nvPicPr>
        <p:blipFill rotWithShape="1">
          <a:blip r:embed="rId4"/>
          <a:srcRect t="29956" r="-277"/>
          <a:stretch>
            <a:fillRect/>
          </a:stretch>
        </p:blipFill>
        <p:spPr>
          <a:xfrm>
            <a:off x="195620" y="89117"/>
            <a:ext cx="2766644" cy="613765"/>
          </a:xfrm>
          <a:prstGeom prst="rect">
            <a:avLst/>
          </a:prstGeom>
        </p:spPr>
      </p:pic>
      <p:sp>
        <p:nvSpPr>
          <p:cNvPr id="21" name="文本框 20">
            <a:extLst>
              <a:ext uri="{FF2B5EF4-FFF2-40B4-BE49-F238E27FC236}">
                <a16:creationId xmlns:a16="http://schemas.microsoft.com/office/drawing/2014/main" id="{3BCFE9E0-F7C2-4AB9-A6D8-4C30EEFBEFBA}"/>
              </a:ext>
            </a:extLst>
          </p:cNvPr>
          <p:cNvSpPr txBox="1"/>
          <p:nvPr/>
        </p:nvSpPr>
        <p:spPr>
          <a:xfrm>
            <a:off x="425752" y="5387385"/>
            <a:ext cx="10381272" cy="584775"/>
          </a:xfrm>
          <a:prstGeom prst="rect">
            <a:avLst/>
          </a:prstGeom>
          <a:noFill/>
        </p:spPr>
        <p:txBody>
          <a:bodyPr wrap="square" rtlCol="0">
            <a:spAutoFit/>
          </a:bodyPr>
          <a:lstStyle/>
          <a:p>
            <a:pPr>
              <a:lnSpc>
                <a:spcPct val="100000"/>
              </a:lnSpc>
            </a:pPr>
            <a:r>
              <a:rPr lang="zh-CN" altLang="en-US" sz="1400" b="1">
                <a:latin typeface="Arial" panose="020B0604020202020204" pitchFamily="34" charset="0"/>
                <a:ea typeface="微软雅黑" panose="020B0503020204020204" pitchFamily="34" charset="-122"/>
              </a:rPr>
              <a:t>（ </a:t>
            </a:r>
            <a:r>
              <a:rPr lang="en-US" altLang="zh-CN" sz="1400" b="1">
                <a:latin typeface="Arial" panose="020B0604020202020204" pitchFamily="34" charset="0"/>
                <a:ea typeface="微软雅黑" panose="020B0503020204020204" pitchFamily="34" charset="-122"/>
              </a:rPr>
              <a:t>Decode </a:t>
            </a:r>
            <a:r>
              <a:rPr lang="zh-CN" altLang="en-US" sz="1400" b="1">
                <a:latin typeface="Arial" panose="020B0604020202020204" pitchFamily="34" charset="0"/>
                <a:ea typeface="微软雅黑" panose="020B0503020204020204" pitchFamily="34" charset="-122"/>
              </a:rPr>
              <a:t>阶段激活</a:t>
            </a:r>
            <a:r>
              <a:rPr lang="en-US" altLang="zh-CN" sz="1400" b="1">
                <a:latin typeface="Arial" panose="020B0604020202020204" pitchFamily="34" charset="0"/>
                <a:ea typeface="微软雅黑" panose="020B0503020204020204" pitchFamily="34" charset="-122"/>
              </a:rPr>
              <a:t>I/O</a:t>
            </a:r>
            <a:r>
              <a:rPr lang="zh-CN" altLang="en-US" sz="1400" b="1">
                <a:latin typeface="Arial" panose="020B0604020202020204" pitchFamily="34" charset="0"/>
                <a:ea typeface="微软雅黑" panose="020B0503020204020204" pitchFamily="34" charset="-122"/>
              </a:rPr>
              <a:t>规模远小于权重</a:t>
            </a:r>
            <a:r>
              <a:rPr lang="en-US" altLang="zh-CN" sz="1400" b="1">
                <a:latin typeface="Arial" panose="020B0604020202020204" pitchFamily="34" charset="0"/>
                <a:ea typeface="微软雅黑" panose="020B0503020204020204" pitchFamily="34" charset="-122"/>
              </a:rPr>
              <a:t>I/O</a:t>
            </a:r>
            <a:r>
              <a:rPr lang="zh-CN" altLang="en-US" sz="1400" b="1">
                <a:latin typeface="Arial" panose="020B0604020202020204" pitchFamily="34" charset="0"/>
                <a:ea typeface="微软雅黑" panose="020B0503020204020204" pitchFamily="34" charset="-122"/>
              </a:rPr>
              <a:t>与</a:t>
            </a:r>
            <a:r>
              <a:rPr lang="en-US" altLang="zh-CN" sz="1400" b="1">
                <a:latin typeface="Arial" panose="020B0604020202020204" pitchFamily="34" charset="0"/>
                <a:ea typeface="微软雅黑" panose="020B0503020204020204" pitchFamily="34" charset="-122"/>
              </a:rPr>
              <a:t>KV Cache I/O</a:t>
            </a:r>
            <a:r>
              <a:rPr lang="zh-CN" altLang="en-US" sz="1400" b="1">
                <a:latin typeface="Arial" panose="020B0604020202020204" pitchFamily="34" charset="0"/>
                <a:ea typeface="微软雅黑" panose="020B0503020204020204" pitchFamily="34" charset="-122"/>
              </a:rPr>
              <a:t>，对整体推理延迟的贡献占比有限）</a:t>
            </a:r>
            <a:endParaRPr lang="zh-CN" altLang="en-US" sz="1400">
              <a:latin typeface="Arial" panose="020B0604020202020204" pitchFamily="34" charset="0"/>
              <a:ea typeface="微软雅黑" panose="020B0503020204020204" pitchFamily="34" charset="-122"/>
            </a:endParaRPr>
          </a:p>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 name="TextBox 6"/>
          <p:cNvSpPr txBox="1"/>
          <p:nvPr/>
        </p:nvSpPr>
        <p:spPr>
          <a:xfrm>
            <a:off x="592425" y="1066649"/>
            <a:ext cx="4739677" cy="527825"/>
          </a:xfrm>
          <a:prstGeom prst="rect">
            <a:avLst/>
          </a:prstGeom>
          <a:noFill/>
        </p:spPr>
        <p:txBody>
          <a:bodyPr wrap="square" lIns="0" tIns="48000" rIns="0" bIns="48000" rtlCol="0" anchor="ctr">
            <a:spAutoFit/>
          </a:bodyPr>
          <a:lstStyle/>
          <a:p>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2.2 </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原生 </a:t>
            </a: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llama.cpp </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框架分析</a:t>
            </a:r>
            <a:endParaRPr lang="zh-CN" altLang="en-US" sz="28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3" name="文本框 2"/>
          <p:cNvSpPr txBox="1"/>
          <p:nvPr/>
        </p:nvSpPr>
        <p:spPr>
          <a:xfrm>
            <a:off x="6014176" y="1788312"/>
            <a:ext cx="5250723" cy="4270400"/>
          </a:xfrm>
          <a:prstGeom prst="rect">
            <a:avLst/>
          </a:prstGeom>
        </p:spPr>
        <p:txBody>
          <a:bodyPr wrap="square">
            <a:spAutoFit/>
          </a:bodyPr>
          <a:lstStyle/>
          <a:p>
            <a:pPr>
              <a:spcBef>
                <a:spcPts val="900"/>
              </a:spcBef>
              <a:spcAft>
                <a:spcPts val="900"/>
              </a:spcAft>
            </a:pPr>
            <a:r>
              <a:rPr lang="zh-CN" altLang="en-US" sz="2400" b="1">
                <a:latin typeface="Arial" panose="020B0604020202020204" pitchFamily="34" charset="0"/>
                <a:ea typeface="微软雅黑" panose="020B0503020204020204" pitchFamily="34" charset="-122"/>
                <a:cs typeface="黑体" panose="02010609060101010101" charset="-122"/>
              </a:rPr>
              <a:t>三个核心不足：</a:t>
            </a:r>
          </a:p>
          <a:p>
            <a:pPr marL="342900" indent="-342900">
              <a:spcBef>
                <a:spcPct val="0"/>
              </a:spcBef>
              <a:spcAft>
                <a:spcPct val="0"/>
              </a:spcAft>
              <a:buFont typeface="Wingdings" panose="05000000000000000000" pitchFamily="2" charset="2"/>
              <a:buChar char="n"/>
            </a:pP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权重与 </a:t>
            </a:r>
            <a:r>
              <a:rPr lang="en" altLang="zh-CN" sz="2000" b="1">
                <a:solidFill>
                  <a:srgbClr val="FF0000"/>
                </a:solidFill>
                <a:latin typeface="Arial" panose="020B0604020202020204" pitchFamily="34" charset="0"/>
                <a:ea typeface="微软雅黑" panose="020B0503020204020204" pitchFamily="34" charset="-122"/>
                <a:cs typeface="黑体" panose="02010609060101010101" charset="-122"/>
              </a:rPr>
              <a:t>KV Cache </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独立管理： </a:t>
            </a:r>
            <a:br>
              <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rPr>
            </a:br>
            <a:r>
              <a:rPr lang="en" altLang="zh-CN" sz="2000" b="1">
                <a:solidFill>
                  <a:srgbClr val="0F1115"/>
                </a:solidFill>
                <a:latin typeface="Arial" panose="020B0604020202020204" pitchFamily="34" charset="0"/>
                <a:ea typeface="微软雅黑" panose="020B0503020204020204" pitchFamily="34" charset="-122"/>
                <a:cs typeface="黑体" panose="02010609060101010101" charset="-122"/>
              </a:rPr>
              <a:t>Dense</a:t>
            </a:r>
            <a:r>
              <a:rPr lang="en-US" altLang="zh-CN" sz="2000" b="1">
                <a:solidFill>
                  <a:srgbClr val="0F1115"/>
                </a:solidFill>
                <a:latin typeface="Arial" panose="020B0604020202020204" pitchFamily="34" charset="0"/>
                <a:ea typeface="微软雅黑" panose="020B0503020204020204" pitchFamily="34" charset="-122"/>
                <a:cs typeface="黑体" panose="02010609060101010101" charset="-122"/>
              </a:rPr>
              <a:t>/</a:t>
            </a:r>
            <a:r>
              <a:rPr lang="en" altLang="zh-CN" sz="2000" b="1">
                <a:solidFill>
                  <a:srgbClr val="0F1115"/>
                </a:solidFill>
                <a:latin typeface="Arial" panose="020B0604020202020204" pitchFamily="34" charset="0"/>
                <a:ea typeface="微软雅黑" panose="020B0503020204020204" pitchFamily="34" charset="-122"/>
                <a:cs typeface="黑体" panose="02010609060101010101" charset="-122"/>
              </a:rPr>
              <a:t>MoE </a:t>
            </a:r>
            <a:r>
              <a:rPr lang="zh-CN" altLang="en-US" sz="2000" b="1">
                <a:solidFill>
                  <a:srgbClr val="0F1115"/>
                </a:solidFill>
                <a:latin typeface="Arial" panose="020B0604020202020204" pitchFamily="34" charset="0"/>
                <a:ea typeface="微软雅黑" panose="020B0503020204020204" pitchFamily="34" charset="-122"/>
                <a:cs typeface="黑体" panose="02010609060101010101" charset="-122"/>
              </a:rPr>
              <a:t>模型权重与运行时 </a:t>
            </a:r>
            <a:r>
              <a:rPr lang="en" altLang="zh-CN" sz="2000" b="1">
                <a:solidFill>
                  <a:srgbClr val="0F1115"/>
                </a:solidFill>
                <a:latin typeface="Arial" panose="020B0604020202020204" pitchFamily="34" charset="0"/>
                <a:ea typeface="微软雅黑" panose="020B0503020204020204" pitchFamily="34" charset="-122"/>
                <a:cs typeface="黑体" panose="02010609060101010101" charset="-122"/>
              </a:rPr>
              <a:t>KV </a:t>
            </a:r>
            <a:r>
              <a:rPr lang="zh-CN" altLang="en-US" sz="2000" b="1">
                <a:solidFill>
                  <a:srgbClr val="0F1115"/>
                </a:solidFill>
                <a:latin typeface="Arial" panose="020B0604020202020204" pitchFamily="34" charset="0"/>
                <a:ea typeface="微软雅黑" panose="020B0503020204020204" pitchFamily="34" charset="-122"/>
                <a:cs typeface="黑体" panose="02010609060101010101" charset="-122"/>
              </a:rPr>
              <a:t>缓存共同竞争有限物理内存和存储带宽，各模块独立扩张容易产生内存与 </a:t>
            </a:r>
            <a:r>
              <a:rPr lang="en" altLang="zh-CN" sz="2000" b="1">
                <a:solidFill>
                  <a:srgbClr val="0F1115"/>
                </a:solidFill>
                <a:latin typeface="Arial" panose="020B0604020202020204" pitchFamily="34" charset="0"/>
                <a:ea typeface="微软雅黑" panose="020B0503020204020204" pitchFamily="34" charset="-122"/>
                <a:cs typeface="黑体" panose="02010609060101010101" charset="-122"/>
              </a:rPr>
              <a:t>I/O </a:t>
            </a:r>
            <a:r>
              <a:rPr lang="zh-CN" altLang="en-US" sz="2000" b="1">
                <a:solidFill>
                  <a:srgbClr val="0F1115"/>
                </a:solidFill>
                <a:latin typeface="Arial" panose="020B0604020202020204" pitchFamily="34" charset="0"/>
                <a:ea typeface="微软雅黑" panose="020B0503020204020204" pitchFamily="34" charset="-122"/>
                <a:cs typeface="黑体" panose="02010609060101010101" charset="-122"/>
              </a:rPr>
              <a:t>冲突。</a:t>
            </a:r>
            <a:endParaRPr lang="en-US" altLang="zh-CN" sz="2000" b="1">
              <a:solidFill>
                <a:srgbClr val="0F1115"/>
              </a:solidFill>
              <a:latin typeface="Arial" panose="020B0604020202020204" pitchFamily="34" charset="0"/>
              <a:ea typeface="微软雅黑" panose="020B0503020204020204" pitchFamily="34" charset="-122"/>
            </a:endParaRPr>
          </a:p>
          <a:p>
            <a:pPr marL="342900" indent="-342900">
              <a:spcBef>
                <a:spcPct val="0"/>
              </a:spcBef>
              <a:spcAft>
                <a:spcPct val="0"/>
              </a:spcAft>
              <a:buFont typeface="Wingdings" panose="05000000000000000000" pitchFamily="2" charset="2"/>
              <a:buChar char="n"/>
            </a:pPr>
            <a:r>
              <a:rPr lang="zh-CN" altLang="zh-CN" sz="2000" b="1">
                <a:solidFill>
                  <a:srgbClr val="FF0000"/>
                </a:solidFill>
                <a:latin typeface="Arial" panose="020B0604020202020204" pitchFamily="34" charset="0"/>
                <a:ea typeface="微软雅黑" panose="020B0503020204020204" pitchFamily="34" charset="-122"/>
              </a:rPr>
              <a:t>权重管理缺乏访存模式感知：</a:t>
            </a:r>
            <a:r>
              <a:rPr lang="zh-CN" altLang="zh-CN" sz="2000" b="1">
                <a:solidFill>
                  <a:srgbClr val="0F1115"/>
                </a:solidFill>
                <a:latin typeface="Arial" panose="020B0604020202020204" pitchFamily="34" charset="0"/>
                <a:ea typeface="微软雅黑" panose="020B0503020204020204" pitchFamily="34" charset="-122"/>
              </a:rPr>
              <a:t> </a:t>
            </a:r>
            <a:endParaRPr lang="en-US" altLang="zh-CN" sz="2000" b="1">
              <a:solidFill>
                <a:srgbClr val="0F1115"/>
              </a:solidFill>
              <a:latin typeface="Arial" panose="020B0604020202020204" pitchFamily="34" charset="0"/>
              <a:ea typeface="微软雅黑" panose="020B0503020204020204" pitchFamily="34" charset="-122"/>
            </a:endParaRPr>
          </a:p>
          <a:p>
            <a:pPr>
              <a:spcBef>
                <a:spcPct val="0"/>
              </a:spcBef>
              <a:spcAft>
                <a:spcPct val="0"/>
              </a:spcAft>
            </a:pPr>
            <a:r>
              <a:rPr lang="en-US" altLang="zh-CN" sz="2000" b="1">
                <a:solidFill>
                  <a:srgbClr val="0F1115"/>
                </a:solidFill>
                <a:latin typeface="Arial" panose="020B0604020202020204" pitchFamily="34" charset="0"/>
                <a:ea typeface="微软雅黑" panose="020B0503020204020204" pitchFamily="34" charset="-122"/>
              </a:rPr>
              <a:t>     </a:t>
            </a:r>
            <a:r>
              <a:rPr lang="zh-CN" altLang="zh-CN" sz="2000" b="1">
                <a:solidFill>
                  <a:srgbClr val="0F1115"/>
                </a:solidFill>
                <a:latin typeface="Arial" panose="020B0604020202020204" pitchFamily="34" charset="0"/>
                <a:ea typeface="微软雅黑" panose="020B0503020204020204" pitchFamily="34" charset="-122"/>
              </a:rPr>
              <a:t>mmap 依赖被动缺页，无法利用 Dense </a:t>
            </a:r>
            <a:r>
              <a:rPr lang="en-US" altLang="zh-CN" sz="2000" b="1">
                <a:solidFill>
                  <a:srgbClr val="0F1115"/>
                </a:solidFill>
                <a:latin typeface="Arial" panose="020B0604020202020204" pitchFamily="34" charset="0"/>
                <a:ea typeface="微软雅黑" panose="020B0503020204020204" pitchFamily="34" charset="-122"/>
              </a:rPr>
              <a:t> </a:t>
            </a:r>
          </a:p>
          <a:p>
            <a:pPr>
              <a:spcBef>
                <a:spcPct val="0"/>
              </a:spcBef>
              <a:spcAft>
                <a:spcPct val="0"/>
              </a:spcAft>
            </a:pPr>
            <a:r>
              <a:rPr lang="en-US" altLang="zh-CN" sz="2000" b="1">
                <a:solidFill>
                  <a:srgbClr val="0F1115"/>
                </a:solidFill>
                <a:latin typeface="Arial" panose="020B0604020202020204" pitchFamily="34" charset="0"/>
                <a:ea typeface="微软雅黑" panose="020B0503020204020204" pitchFamily="34" charset="-122"/>
              </a:rPr>
              <a:t>     </a:t>
            </a:r>
            <a:r>
              <a:rPr lang="zh-CN" altLang="en-US" sz="2000" b="1">
                <a:solidFill>
                  <a:srgbClr val="0F1115"/>
                </a:solidFill>
                <a:latin typeface="Arial" panose="020B0604020202020204" pitchFamily="34" charset="0"/>
                <a:ea typeface="微软雅黑" panose="020B0503020204020204" pitchFamily="34" charset="-122"/>
              </a:rPr>
              <a:t>层级</a:t>
            </a:r>
            <a:r>
              <a:rPr lang="zh-CN" altLang="zh-CN" sz="2000" b="1">
                <a:solidFill>
                  <a:srgbClr val="0F1115"/>
                </a:solidFill>
                <a:latin typeface="Arial" panose="020B0604020202020204" pitchFamily="34" charset="0"/>
                <a:ea typeface="微软雅黑" panose="020B0503020204020204" pitchFamily="34" charset="-122"/>
              </a:rPr>
              <a:t>顺序访问</a:t>
            </a:r>
            <a:r>
              <a:rPr lang="zh-CN" altLang="en-US" sz="2000" b="1">
                <a:solidFill>
                  <a:srgbClr val="0F1115"/>
                </a:solidFill>
                <a:latin typeface="Arial" panose="020B0604020202020204" pitchFamily="34" charset="0"/>
                <a:ea typeface="微软雅黑" panose="020B0503020204020204" pitchFamily="34" charset="-122"/>
              </a:rPr>
              <a:t>规律</a:t>
            </a:r>
            <a:r>
              <a:rPr lang="zh-CN" altLang="zh-CN" sz="2000" b="1">
                <a:solidFill>
                  <a:srgbClr val="0F1115"/>
                </a:solidFill>
                <a:latin typeface="Arial" panose="020B0604020202020204" pitchFamily="34" charset="0"/>
                <a:ea typeface="微软雅黑" panose="020B0503020204020204" pitchFamily="34" charset="-122"/>
              </a:rPr>
              <a:t>与 MoE 稀疏</a:t>
            </a:r>
            <a:r>
              <a:rPr lang="zh-CN" altLang="en-US" sz="2000" b="1">
                <a:solidFill>
                  <a:srgbClr val="0F1115"/>
                </a:solidFill>
                <a:latin typeface="Arial" panose="020B0604020202020204" pitchFamily="34" charset="0"/>
                <a:ea typeface="微软雅黑" panose="020B0503020204020204" pitchFamily="34" charset="-122"/>
              </a:rPr>
              <a:t>专家</a:t>
            </a:r>
            <a:r>
              <a:rPr lang="zh-CN" altLang="zh-CN" sz="2000" b="1">
                <a:solidFill>
                  <a:srgbClr val="0F1115"/>
                </a:solidFill>
                <a:latin typeface="Arial" panose="020B0604020202020204" pitchFamily="34" charset="0"/>
                <a:ea typeface="微软雅黑" panose="020B0503020204020204" pitchFamily="34" charset="-122"/>
              </a:rPr>
              <a:t>工作</a:t>
            </a:r>
            <a:endParaRPr lang="en-US" altLang="zh-CN" sz="2000" b="1">
              <a:solidFill>
                <a:srgbClr val="0F1115"/>
              </a:solidFill>
              <a:latin typeface="Arial" panose="020B0604020202020204" pitchFamily="34" charset="0"/>
              <a:ea typeface="微软雅黑" panose="020B0503020204020204" pitchFamily="34" charset="-122"/>
            </a:endParaRPr>
          </a:p>
          <a:p>
            <a:pPr>
              <a:spcBef>
                <a:spcPct val="0"/>
              </a:spcBef>
              <a:spcAft>
                <a:spcPct val="0"/>
              </a:spcAft>
            </a:pPr>
            <a:r>
              <a:rPr lang="en-US" altLang="zh-CN" sz="2000" b="1">
                <a:solidFill>
                  <a:srgbClr val="0F1115"/>
                </a:solidFill>
                <a:latin typeface="Arial" panose="020B0604020202020204" pitchFamily="34" charset="0"/>
                <a:ea typeface="微软雅黑" panose="020B0503020204020204" pitchFamily="34" charset="-122"/>
              </a:rPr>
              <a:t>     </a:t>
            </a:r>
            <a:r>
              <a:rPr lang="zh-CN" altLang="zh-CN" sz="2000" b="1">
                <a:solidFill>
                  <a:srgbClr val="0F1115"/>
                </a:solidFill>
                <a:latin typeface="Arial" panose="020B0604020202020204" pitchFamily="34" charset="0"/>
                <a:ea typeface="微软雅黑" panose="020B0503020204020204" pitchFamily="34" charset="-122"/>
              </a:rPr>
              <a:t>集主动控制权重驻留。</a:t>
            </a:r>
            <a:endParaRPr lang="en-US" altLang="zh-CN" sz="2000" b="1">
              <a:solidFill>
                <a:srgbClr val="0F1115"/>
              </a:solidFill>
              <a:latin typeface="Arial" panose="020B0604020202020204" pitchFamily="34" charset="0"/>
              <a:ea typeface="微软雅黑" panose="020B0503020204020204" pitchFamily="34" charset="-122"/>
              <a:cs typeface="黑体" panose="02010609060101010101" charset="-122"/>
            </a:endParaRPr>
          </a:p>
          <a:p>
            <a:pPr marL="342900" indent="-342900">
              <a:spcBef>
                <a:spcPct val="0"/>
              </a:spcBef>
              <a:spcAft>
                <a:spcPct val="0"/>
              </a:spcAft>
              <a:buFont typeface="Wingdings" panose="05000000000000000000" pitchFamily="2" charset="2"/>
              <a:buChar char="n"/>
            </a:pPr>
            <a:r>
              <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rPr>
              <a:t>KV Cache </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缺少物理收益</a:t>
            </a:r>
            <a:r>
              <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rPr>
              <a:t>—</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恢复代价权衡： </a:t>
            </a:r>
            <a:r>
              <a:rPr lang="zh-CN" altLang="en-US" sz="2000" b="1">
                <a:solidFill>
                  <a:srgbClr val="0F1115"/>
                </a:solidFill>
                <a:latin typeface="Arial" panose="020B0604020202020204" pitchFamily="34" charset="0"/>
                <a:ea typeface="微软雅黑" panose="020B0503020204020204" pitchFamily="34" charset="-122"/>
                <a:cs typeface="黑体" panose="02010609060101010101" charset="-122"/>
              </a:rPr>
              <a:t>仅按逻辑容量或 </a:t>
            </a:r>
            <a:r>
              <a:rPr lang="en-US" altLang="zh-CN" sz="2000" b="1">
                <a:solidFill>
                  <a:srgbClr val="0F1115"/>
                </a:solidFill>
                <a:latin typeface="Arial" panose="020B0604020202020204" pitchFamily="34" charset="0"/>
                <a:ea typeface="微软雅黑" panose="020B0503020204020204" pitchFamily="34" charset="-122"/>
                <a:cs typeface="黑体" panose="02010609060101010101" charset="-122"/>
              </a:rPr>
              <a:t>LRU </a:t>
            </a:r>
            <a:r>
              <a:rPr lang="zh-CN" altLang="en-US" sz="2000" b="1">
                <a:solidFill>
                  <a:srgbClr val="0F1115"/>
                </a:solidFill>
                <a:latin typeface="Arial" panose="020B0604020202020204" pitchFamily="34" charset="0"/>
                <a:ea typeface="微软雅黑" panose="020B0503020204020204" pitchFamily="34" charset="-122"/>
                <a:cs typeface="黑体" panose="02010609060101010101" charset="-122"/>
              </a:rPr>
              <a:t>驱逐，难以判断真实 </a:t>
            </a:r>
            <a:r>
              <a:rPr lang="en-US" altLang="zh-CN" sz="2000" b="1">
                <a:solidFill>
                  <a:srgbClr val="0F1115"/>
                </a:solidFill>
                <a:latin typeface="Arial" panose="020B0604020202020204" pitchFamily="34" charset="0"/>
                <a:ea typeface="微软雅黑" panose="020B0503020204020204" pitchFamily="34" charset="-122"/>
                <a:cs typeface="黑体" panose="02010609060101010101" charset="-122"/>
              </a:rPr>
              <a:t>DRAM </a:t>
            </a:r>
            <a:r>
              <a:rPr lang="zh-CN" altLang="en-US" sz="2000" b="1">
                <a:solidFill>
                  <a:srgbClr val="0F1115"/>
                </a:solidFill>
                <a:latin typeface="Arial" panose="020B0604020202020204" pitchFamily="34" charset="0"/>
                <a:ea typeface="微软雅黑" panose="020B0503020204020204" pitchFamily="34" charset="-122"/>
                <a:cs typeface="黑体" panose="02010609060101010101" charset="-122"/>
              </a:rPr>
              <a:t>释放量，也无法同时考虑卸载</a:t>
            </a:r>
            <a:r>
              <a:rPr lang="en-US" altLang="zh-CN" sz="2000" b="1">
                <a:solidFill>
                  <a:srgbClr val="0F1115"/>
                </a:solidFill>
                <a:latin typeface="Arial" panose="020B0604020202020204" pitchFamily="34" charset="0"/>
                <a:ea typeface="微软雅黑" panose="020B0503020204020204" pitchFamily="34" charset="-122"/>
                <a:cs typeface="黑体" panose="02010609060101010101" charset="-122"/>
              </a:rPr>
              <a:t>/</a:t>
            </a:r>
            <a:r>
              <a:rPr lang="zh-CN" altLang="en-US" sz="2000" b="1">
                <a:solidFill>
                  <a:srgbClr val="0F1115"/>
                </a:solidFill>
                <a:latin typeface="Arial" panose="020B0604020202020204" pitchFamily="34" charset="0"/>
                <a:ea typeface="微软雅黑" panose="020B0503020204020204" pitchFamily="34" charset="-122"/>
                <a:cs typeface="黑体" panose="02010609060101010101" charset="-122"/>
              </a:rPr>
              <a:t>恢复与频繁换入换出的代价。</a:t>
            </a:r>
          </a:p>
        </p:txBody>
      </p:sp>
      <p:sp>
        <p:nvSpPr>
          <p:cNvPr id="15" name="矩形 4">
            <a:extLst>
              <a:ext uri="{FF2B5EF4-FFF2-40B4-BE49-F238E27FC236}">
                <a16:creationId xmlns:a16="http://schemas.microsoft.com/office/drawing/2014/main" id="{CA975283-EA16-C7D8-4537-279670B5E445}"/>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cxnSp>
        <p:nvCxnSpPr>
          <p:cNvPr id="16" name="直接连接符 15">
            <a:extLst>
              <a:ext uri="{FF2B5EF4-FFF2-40B4-BE49-F238E27FC236}">
                <a16:creationId xmlns:a16="http://schemas.microsoft.com/office/drawing/2014/main" id="{CB3F8CBE-6FBC-26A6-B1CB-04DC5408F1F0}"/>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20442E90-D025-4600-895A-06BDC6ED6487}"/>
              </a:ext>
            </a:extLst>
          </p:cNvPr>
          <p:cNvSpPr/>
          <p:nvPr/>
        </p:nvSpPr>
        <p:spPr>
          <a:xfrm>
            <a:off x="4933648"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cxnSp>
        <p:nvCxnSpPr>
          <p:cNvPr id="18" name="直接连接符 17">
            <a:extLst>
              <a:ext uri="{FF2B5EF4-FFF2-40B4-BE49-F238E27FC236}">
                <a16:creationId xmlns:a16="http://schemas.microsoft.com/office/drawing/2014/main" id="{2FD8CD63-86FD-A25E-28E1-82A602153246}"/>
              </a:ext>
            </a:extLst>
          </p:cNvPr>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6">
            <a:extLst>
              <a:ext uri="{FF2B5EF4-FFF2-40B4-BE49-F238E27FC236}">
                <a16:creationId xmlns:a16="http://schemas.microsoft.com/office/drawing/2014/main" id="{1520FB60-0EB9-8565-8344-EE208B0F5004}"/>
              </a:ext>
            </a:extLst>
          </p:cNvPr>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20" name="TextBox 7">
            <a:extLst>
              <a:ext uri="{FF2B5EF4-FFF2-40B4-BE49-F238E27FC236}">
                <a16:creationId xmlns:a16="http://schemas.microsoft.com/office/drawing/2014/main" id="{0852426D-0A5E-CECE-5F36-36AD7C242DC8}"/>
              </a:ext>
            </a:extLst>
          </p:cNvPr>
          <p:cNvSpPr txBox="1"/>
          <p:nvPr/>
        </p:nvSpPr>
        <p:spPr>
          <a:xfrm>
            <a:off x="5076749" y="215904"/>
            <a:ext cx="1344000" cy="404714"/>
          </a:xfrm>
          <a:prstGeom prst="rect">
            <a:avLst/>
          </a:prstGeom>
          <a:noFill/>
        </p:spPr>
        <p:txBody>
          <a:bodyPr wrap="square" lIns="0" tIns="48000" rIns="0" bIns="48000" rtlCol="0">
            <a:spAutoFit/>
          </a:bodyPr>
          <a:lstStyle/>
          <a:p>
            <a:pPr algn="ctr"/>
            <a:r>
              <a:rPr lang="zh-CN" altLang="en-US" sz="2000" b="1">
                <a:solidFill>
                  <a:schemeClr val="bg1"/>
                </a:solidFill>
                <a:latin typeface="Arial" panose="020B0604020202020204" pitchFamily="34" charset="0"/>
                <a:ea typeface="微软雅黑" panose="020B0503020204020204" pitchFamily="34" charset="-122"/>
              </a:rPr>
              <a:t>项目目标</a:t>
            </a:r>
            <a:endParaRPr lang="zh-CN" altLang="en-US" sz="2000" b="1" dirty="0">
              <a:solidFill>
                <a:schemeClr val="bg1"/>
              </a:solidFill>
              <a:latin typeface="Arial" panose="020B0604020202020204" pitchFamily="34" charset="0"/>
              <a:ea typeface="微软雅黑" panose="020B0503020204020204" pitchFamily="34" charset="-122"/>
            </a:endParaRPr>
          </a:p>
        </p:txBody>
      </p:sp>
      <p:sp>
        <p:nvSpPr>
          <p:cNvPr id="21" name="TextBox 9">
            <a:extLst>
              <a:ext uri="{FF2B5EF4-FFF2-40B4-BE49-F238E27FC236}">
                <a16:creationId xmlns:a16="http://schemas.microsoft.com/office/drawing/2014/main" id="{58F7AE32-EA9C-599C-BB7C-616A7152D904}"/>
              </a:ext>
            </a:extLst>
          </p:cNvPr>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a:solidFill>
                  <a:schemeClr val="bg1">
                    <a:lumMod val="50000"/>
                  </a:schemeClr>
                </a:solidFill>
                <a:latin typeface="Arial" panose="020B0604020202020204" pitchFamily="34" charset="0"/>
                <a:ea typeface="微软雅黑" panose="020B0503020204020204" pitchFamily="34" charset="-122"/>
                <a:sym typeface="+mn-ea"/>
              </a:rPr>
              <a:t>项目实</a:t>
            </a: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现</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sp>
        <p:nvSpPr>
          <p:cNvPr id="32" name="TextBox 10">
            <a:extLst>
              <a:ext uri="{FF2B5EF4-FFF2-40B4-BE49-F238E27FC236}">
                <a16:creationId xmlns:a16="http://schemas.microsoft.com/office/drawing/2014/main" id="{EDEA3D4C-4DD5-C8BF-69C9-E40B08B04221}"/>
              </a:ext>
            </a:extLst>
          </p:cNvPr>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项目测试</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sp>
        <p:nvSpPr>
          <p:cNvPr id="33" name="TextBox 11">
            <a:extLst>
              <a:ext uri="{FF2B5EF4-FFF2-40B4-BE49-F238E27FC236}">
                <a16:creationId xmlns:a16="http://schemas.microsoft.com/office/drawing/2014/main" id="{1D005CEA-326E-4759-58DB-196B04C566B8}"/>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项目总结</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cxnSp>
        <p:nvCxnSpPr>
          <p:cNvPr id="36" name="直接连接符 35">
            <a:extLst>
              <a:ext uri="{FF2B5EF4-FFF2-40B4-BE49-F238E27FC236}">
                <a16:creationId xmlns:a16="http://schemas.microsoft.com/office/drawing/2014/main" id="{D002B5C7-E4C4-49D9-2456-D00A89BE3DFD}"/>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2C976959-BCEF-2662-127A-80C56F31D98D}"/>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8" name="图片 37">
            <a:extLst>
              <a:ext uri="{FF2B5EF4-FFF2-40B4-BE49-F238E27FC236}">
                <a16:creationId xmlns:a16="http://schemas.microsoft.com/office/drawing/2014/main" id="{4A5E7560-8C37-1509-F6B0-38317D99346A}"/>
              </a:ext>
            </a:extLst>
          </p:cNvPr>
          <p:cNvPicPr>
            <a:picLocks noChangeAspect="1"/>
          </p:cNvPicPr>
          <p:nvPr/>
        </p:nvPicPr>
        <p:blipFill rotWithShape="1">
          <a:blip r:embed="rId3"/>
          <a:srcRect t="29956" r="-277"/>
          <a:stretch>
            <a:fillRect/>
          </a:stretch>
        </p:blipFill>
        <p:spPr>
          <a:xfrm>
            <a:off x="195620" y="89117"/>
            <a:ext cx="2766644" cy="613765"/>
          </a:xfrm>
          <a:prstGeom prst="rect">
            <a:avLst/>
          </a:prstGeom>
        </p:spPr>
      </p:pic>
      <p:pic>
        <p:nvPicPr>
          <p:cNvPr id="6" name="图片 5">
            <a:extLst>
              <a:ext uri="{FF2B5EF4-FFF2-40B4-BE49-F238E27FC236}">
                <a16:creationId xmlns:a16="http://schemas.microsoft.com/office/drawing/2014/main" id="{A5435AF5-A203-CE59-D508-DEDD72E0E83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9088" y="1788312"/>
            <a:ext cx="4853426" cy="422794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p:cTn id="11" dur="500" fill="hold"/>
                                        <p:tgtEl>
                                          <p:spTgt spid="20"/>
                                        </p:tgtEl>
                                        <p:attrNameLst>
                                          <p:attrName>ppt_w</p:attrName>
                                        </p:attrNameLst>
                                      </p:cBhvr>
                                      <p:tavLst>
                                        <p:tav tm="0">
                                          <p:val>
                                            <p:fltVal val="0"/>
                                          </p:val>
                                        </p:tav>
                                        <p:tav tm="100000">
                                          <p:val>
                                            <p:strVal val="#ppt_w"/>
                                          </p:val>
                                        </p:tav>
                                      </p:tavLst>
                                    </p:anim>
                                    <p:anim calcmode="lin" valueType="num">
                                      <p:cBhvr>
                                        <p:cTn id="12" dur="500" fill="hold"/>
                                        <p:tgtEl>
                                          <p:spTgt spid="20"/>
                                        </p:tgtEl>
                                        <p:attrNameLst>
                                          <p:attrName>ppt_h</p:attrName>
                                        </p:attrNameLst>
                                      </p:cBhvr>
                                      <p:tavLst>
                                        <p:tav tm="0">
                                          <p:val>
                                            <p:fltVal val="0"/>
                                          </p:val>
                                        </p:tav>
                                        <p:tav tm="100000">
                                          <p:val>
                                            <p:strVal val="#ppt_h"/>
                                          </p:val>
                                        </p:tav>
                                      </p:tavLst>
                                    </p:anim>
                                    <p:animEffect transition="in" filter="fade">
                                      <p:cBhvr>
                                        <p:cTn id="1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1D2B6-0176-2466-5208-F461F3C2C61F}"/>
            </a:ext>
          </a:extLst>
        </p:cNvPr>
        <p:cNvGrpSpPr/>
        <p:nvPr/>
      </p:nvGrpSpPr>
      <p:grpSpPr>
        <a:xfrm>
          <a:off x="0" y="0"/>
          <a:ext cx="0" cy="0"/>
          <a:chOff x="0" y="0"/>
          <a:chExt cx="0" cy="0"/>
        </a:xfrm>
      </p:grpSpPr>
      <p:sp>
        <p:nvSpPr>
          <p:cNvPr id="35" name="TextBox 6">
            <a:extLst>
              <a:ext uri="{FF2B5EF4-FFF2-40B4-BE49-F238E27FC236}">
                <a16:creationId xmlns:a16="http://schemas.microsoft.com/office/drawing/2014/main" id="{16C35E7C-8C5A-DC21-9351-051F7059D950}"/>
              </a:ext>
            </a:extLst>
          </p:cNvPr>
          <p:cNvSpPr txBox="1"/>
          <p:nvPr/>
        </p:nvSpPr>
        <p:spPr>
          <a:xfrm>
            <a:off x="512502" y="1007903"/>
            <a:ext cx="3470461" cy="527825"/>
          </a:xfrm>
          <a:prstGeom prst="rect">
            <a:avLst/>
          </a:prstGeom>
          <a:noFill/>
        </p:spPr>
        <p:txBody>
          <a:bodyPr wrap="square" lIns="0" tIns="48000" rIns="0" bIns="48000" rtlCol="0" anchor="ctr">
            <a:spAutoFit/>
          </a:bodyPr>
          <a:lstStyle/>
          <a:p>
            <a:pPr algn="ct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2.3 </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项目主要实现内容</a:t>
            </a:r>
            <a:endParaRPr lang="zh-CN" altLang="en-US" sz="28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3" name="文本框 2">
            <a:extLst>
              <a:ext uri="{FF2B5EF4-FFF2-40B4-BE49-F238E27FC236}">
                <a16:creationId xmlns:a16="http://schemas.microsoft.com/office/drawing/2014/main" id="{AF7D5A53-01BB-2A6A-5E92-BE060E6DC981}"/>
              </a:ext>
            </a:extLst>
          </p:cNvPr>
          <p:cNvSpPr txBox="1"/>
          <p:nvPr/>
        </p:nvSpPr>
        <p:spPr>
          <a:xfrm>
            <a:off x="6020893" y="1356167"/>
            <a:ext cx="5505258" cy="4847481"/>
          </a:xfrm>
          <a:prstGeom prst="rect">
            <a:avLst/>
          </a:prstGeom>
        </p:spPr>
        <p:txBody>
          <a:bodyPr wrap="square">
            <a:spAutoFit/>
          </a:bodyPr>
          <a:lstStyle/>
          <a:p>
            <a:pPr>
              <a:spcBef>
                <a:spcPts val="900"/>
              </a:spcBef>
              <a:spcAft>
                <a:spcPts val="900"/>
              </a:spcAft>
            </a:pPr>
            <a:r>
              <a:rPr lang="zh-CN" altLang="en-US" sz="2400" b="1">
                <a:latin typeface="Arial" panose="020B0604020202020204" pitchFamily="34" charset="0"/>
                <a:ea typeface="微软雅黑" panose="020B0503020204020204" pitchFamily="34" charset="-122"/>
                <a:cs typeface="黑体" panose="02010609060101010101" charset="-122"/>
              </a:rPr>
              <a:t>本项目主要实现内容：</a:t>
            </a:r>
          </a:p>
          <a:p>
            <a:pPr marL="342900" indent="-342900">
              <a:spcBef>
                <a:spcPts val="900"/>
              </a:spcBef>
              <a:spcAft>
                <a:spcPts val="900"/>
              </a:spcAft>
              <a:buFont typeface="Wingdings" pitchFamily="2" charset="2"/>
              <a:buChar char="n"/>
            </a:pPr>
            <a:r>
              <a:rPr lang="zh-CN" altLang="en-US" sz="2000" b="1">
                <a:solidFill>
                  <a:srgbClr val="0F1115"/>
                </a:solidFill>
                <a:latin typeface="Arial" panose="020B0604020202020204" pitchFamily="34" charset="0"/>
                <a:ea typeface="微软雅黑" panose="020B0503020204020204" pitchFamily="34" charset="-122"/>
                <a:cs typeface="黑体" panose="02010609060101010101" charset="-122"/>
              </a:rPr>
              <a:t>构建</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统一的运行时内存管理系统</a:t>
            </a:r>
            <a:r>
              <a:rPr lang="zh-CN" altLang="en-US" sz="2000" b="1">
                <a:solidFill>
                  <a:srgbClr val="0F1115"/>
                </a:solidFill>
                <a:latin typeface="Arial" panose="020B0604020202020204" pitchFamily="34" charset="0"/>
                <a:ea typeface="微软雅黑" panose="020B0503020204020204" pitchFamily="34" charset="-122"/>
                <a:cs typeface="黑体" panose="02010609060101010101" charset="-122"/>
              </a:rPr>
              <a:t>，</a:t>
            </a:r>
            <a:r>
              <a:rPr lang="zh-CN" altLang="en-US" sz="2000" b="1">
                <a:latin typeface="Arial" panose="020B0604020202020204" pitchFamily="34" charset="0"/>
                <a:ea typeface="微软雅黑" panose="020B0503020204020204" pitchFamily="34" charset="-122"/>
                <a:cs typeface="黑体" panose="02010609060101010101" charset="-122"/>
              </a:rPr>
              <a:t>将 </a:t>
            </a:r>
            <a:r>
              <a:rPr lang="en" altLang="zh-CN" sz="2000" b="1">
                <a:latin typeface="Arial" panose="020B0604020202020204" pitchFamily="34" charset="0"/>
                <a:ea typeface="微软雅黑" panose="020B0503020204020204" pitchFamily="34" charset="-122"/>
                <a:cs typeface="黑体" panose="02010609060101010101" charset="-122"/>
              </a:rPr>
              <a:t>Dense / M</a:t>
            </a:r>
            <a:r>
              <a:rPr lang="en-US" altLang="zh-CN" sz="2000" b="1">
                <a:latin typeface="Arial" panose="020B0604020202020204" pitchFamily="34" charset="0"/>
                <a:ea typeface="微软雅黑" panose="020B0503020204020204" pitchFamily="34" charset="-122"/>
                <a:cs typeface="黑体" panose="02010609060101010101" charset="-122"/>
              </a:rPr>
              <a:t>oE </a:t>
            </a:r>
            <a:r>
              <a:rPr lang="zh-CN" altLang="en-US" sz="2000" b="1">
                <a:latin typeface="Arial" panose="020B0604020202020204" pitchFamily="34" charset="0"/>
                <a:ea typeface="微软雅黑" panose="020B0503020204020204" pitchFamily="34" charset="-122"/>
                <a:cs typeface="黑体" panose="02010609060101010101" charset="-122"/>
              </a:rPr>
              <a:t>模型权重与 </a:t>
            </a:r>
            <a:r>
              <a:rPr lang="en" altLang="zh-CN" sz="2000" b="1">
                <a:latin typeface="Arial" panose="020B0604020202020204" pitchFamily="34" charset="0"/>
                <a:ea typeface="微软雅黑" panose="020B0503020204020204" pitchFamily="34" charset="-122"/>
                <a:cs typeface="黑体" panose="02010609060101010101" charset="-122"/>
              </a:rPr>
              <a:t>KV Cache </a:t>
            </a:r>
            <a:r>
              <a:rPr lang="zh-CN" altLang="en-US" sz="2000" b="1">
                <a:latin typeface="Arial" panose="020B0604020202020204" pitchFamily="34" charset="0"/>
                <a:ea typeface="微软雅黑" panose="020B0503020204020204" pitchFamily="34" charset="-122"/>
                <a:cs typeface="黑体" panose="02010609060101010101" charset="-122"/>
              </a:rPr>
              <a:t>纳入同一资源管理体系，</a:t>
            </a:r>
            <a:r>
              <a:rPr lang="en-US" altLang="zh-CN" sz="2000" b="1">
                <a:latin typeface="Arial" panose="020B0604020202020204" pitchFamily="34" charset="0"/>
                <a:ea typeface="微软雅黑" panose="020B0503020204020204" pitchFamily="34" charset="-122"/>
                <a:cs typeface="黑体" panose="02010609060101010101" charset="-122"/>
              </a:rPr>
              <a:t> </a:t>
            </a:r>
            <a:r>
              <a:rPr lang="zh-CN" altLang="en-US" sz="2000" b="1">
                <a:latin typeface="Arial" panose="020B0604020202020204" pitchFamily="34" charset="0"/>
                <a:ea typeface="微软雅黑" panose="020B0503020204020204" pitchFamily="34" charset="-122"/>
                <a:cs typeface="黑体" panose="02010609060101010101" charset="-122"/>
              </a:rPr>
              <a:t>全局协调内存预算、数据搬运与资源再分配。</a:t>
            </a:r>
            <a:endParaRPr lang="en-US" altLang="zh-CN" sz="2000" b="1">
              <a:latin typeface="Arial" panose="020B0604020202020204" pitchFamily="34" charset="0"/>
              <a:ea typeface="微软雅黑" panose="020B0503020204020204" pitchFamily="34" charset="-122"/>
              <a:cs typeface="黑体" panose="02010609060101010101" charset="-122"/>
            </a:endParaRPr>
          </a:p>
          <a:p>
            <a:pPr marL="342900" indent="-342900">
              <a:spcBef>
                <a:spcPts val="900"/>
              </a:spcBef>
              <a:spcAft>
                <a:spcPts val="900"/>
              </a:spcAft>
              <a:buFont typeface="Wingdings" pitchFamily="2" charset="2"/>
              <a:buChar char="n"/>
            </a:pPr>
            <a:r>
              <a:rPr lang="zh-CN" altLang="en-US" sz="2000" b="1">
                <a:latin typeface="Arial" panose="020B0604020202020204" pitchFamily="34" charset="0"/>
                <a:ea typeface="微软雅黑" panose="020B0503020204020204" pitchFamily="34" charset="-122"/>
                <a:cs typeface="黑体" panose="02010609060101010101" charset="-122"/>
              </a:rPr>
              <a:t>利用 </a:t>
            </a:r>
            <a:r>
              <a:rPr lang="en-US" altLang="zh-CN" sz="2000" b="1">
                <a:latin typeface="Arial" panose="020B0604020202020204" pitchFamily="34" charset="0"/>
                <a:ea typeface="微软雅黑" panose="020B0503020204020204" pitchFamily="34" charset="-122"/>
                <a:cs typeface="黑体" panose="02010609060101010101" charset="-122"/>
              </a:rPr>
              <a:t>Dense </a:t>
            </a:r>
            <a:r>
              <a:rPr lang="zh-CN" altLang="en-US" sz="2000" b="1">
                <a:latin typeface="Arial" panose="020B0604020202020204" pitchFamily="34" charset="0"/>
                <a:ea typeface="微软雅黑" panose="020B0503020204020204" pitchFamily="34" charset="-122"/>
                <a:cs typeface="黑体" panose="02010609060101010101" charset="-122"/>
              </a:rPr>
              <a:t>模型逐层顺序访问规律与 </a:t>
            </a:r>
            <a:r>
              <a:rPr lang="en-US" altLang="zh-CN" sz="2000" b="1">
                <a:latin typeface="Arial" panose="020B0604020202020204" pitchFamily="34" charset="0"/>
                <a:ea typeface="微软雅黑" panose="020B0503020204020204" pitchFamily="34" charset="-122"/>
                <a:cs typeface="黑体" panose="02010609060101010101" charset="-122"/>
              </a:rPr>
              <a:t>MoE </a:t>
            </a:r>
            <a:r>
              <a:rPr lang="zh-CN" altLang="en-US" sz="2000" b="1">
                <a:latin typeface="Arial" panose="020B0604020202020204" pitchFamily="34" charset="0"/>
                <a:ea typeface="微软雅黑" panose="020B0503020204020204" pitchFamily="34" charset="-122"/>
                <a:cs typeface="黑体" panose="02010609060101010101" charset="-122"/>
              </a:rPr>
              <a:t>模型专家路由预测结果，</a:t>
            </a:r>
            <a:r>
              <a:rPr lang="zh-CN" altLang="en-US" sz="2000" b="1">
                <a:solidFill>
                  <a:srgbClr val="0F1115"/>
                </a:solidFill>
                <a:latin typeface="Arial" panose="020B0604020202020204" pitchFamily="34" charset="0"/>
                <a:ea typeface="微软雅黑" panose="020B0503020204020204" pitchFamily="34" charset="-122"/>
                <a:cs typeface="黑体" panose="02010609060101010101" charset="-122"/>
              </a:rPr>
              <a:t>对权重进行</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异步预取与恢复</a:t>
            </a:r>
            <a:r>
              <a:rPr lang="zh-CN" altLang="en-US" sz="2000" b="1">
                <a:solidFill>
                  <a:srgbClr val="0F1115"/>
                </a:solidFill>
                <a:latin typeface="Arial" panose="020B0604020202020204" pitchFamily="34" charset="0"/>
                <a:ea typeface="微软雅黑" panose="020B0503020204020204" pitchFamily="34" charset="-122"/>
                <a:cs typeface="黑体" panose="02010609060101010101" charset="-122"/>
              </a:rPr>
              <a:t>，将被动缺页转化为</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主动预取</a:t>
            </a:r>
            <a:r>
              <a:rPr lang="zh-CN" altLang="en-US" sz="2000" b="1">
                <a:solidFill>
                  <a:srgbClr val="0F1115"/>
                </a:solidFill>
                <a:latin typeface="Arial" panose="020B0604020202020204" pitchFamily="34" charset="0"/>
                <a:ea typeface="微软雅黑" panose="020B0503020204020204" pitchFamily="34" charset="-122"/>
                <a:cs typeface="黑体" panose="02010609060101010101" charset="-122"/>
              </a:rPr>
              <a:t>，实现对权重工作集的精准主动控制。</a:t>
            </a:r>
            <a:endParaRPr lang="en-US" altLang="zh-CN" sz="2000" b="1">
              <a:solidFill>
                <a:srgbClr val="0F1115"/>
              </a:solidFill>
              <a:latin typeface="Arial" panose="020B0604020202020204" pitchFamily="34" charset="0"/>
              <a:ea typeface="微软雅黑" panose="020B0503020204020204" pitchFamily="34" charset="-122"/>
              <a:cs typeface="黑体" panose="02010609060101010101" charset="-122"/>
            </a:endParaRPr>
          </a:p>
          <a:p>
            <a:pPr marL="342900" indent="-342900">
              <a:spcBef>
                <a:spcPts val="900"/>
              </a:spcBef>
              <a:spcAft>
                <a:spcPts val="900"/>
              </a:spcAft>
              <a:buFont typeface="Wingdings" pitchFamily="2" charset="2"/>
              <a:buChar char="n"/>
            </a:pPr>
            <a:r>
              <a:rPr lang="zh-CN" altLang="en-US" sz="2000" b="1">
                <a:latin typeface="Arial" panose="020B0604020202020204" pitchFamily="34" charset="0"/>
                <a:ea typeface="微软雅黑" panose="020B0503020204020204" pitchFamily="34" charset="-122"/>
                <a:cs typeface="黑体" panose="02010609060101010101" charset="-122"/>
              </a:rPr>
              <a:t>以</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 </a:t>
            </a:r>
            <a:r>
              <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rPr>
              <a:t>Block </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为 </a:t>
            </a:r>
            <a:r>
              <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rPr>
              <a:t>KV Cache </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基本管理粒度</a:t>
            </a:r>
            <a:r>
              <a:rPr lang="zh-CN" altLang="en-US" sz="2000" b="1">
                <a:latin typeface="Arial" panose="020B0604020202020204" pitchFamily="34" charset="0"/>
                <a:ea typeface="微软雅黑" panose="020B0503020204020204" pitchFamily="34" charset="-122"/>
                <a:cs typeface="黑体" panose="02010609060101010101" charset="-122"/>
              </a:rPr>
              <a:t>，根据物理内存压力与执行代价动态执行加载、回收与复用，并通过流水线重叠降</a:t>
            </a:r>
            <a:r>
              <a:rPr lang="zh-CN" altLang="en-US" sz="2000" b="1">
                <a:solidFill>
                  <a:srgbClr val="0F1115"/>
                </a:solidFill>
                <a:latin typeface="Arial" panose="020B0604020202020204" pitchFamily="34" charset="0"/>
                <a:ea typeface="微软雅黑" panose="020B0503020204020204" pitchFamily="34" charset="-122"/>
                <a:cs typeface="黑体" panose="02010609060101010101" charset="-122"/>
              </a:rPr>
              <a:t>低等待延迟，显著提升 </a:t>
            </a:r>
            <a:r>
              <a:rPr lang="en-US" altLang="zh-CN" sz="2000" b="1">
                <a:solidFill>
                  <a:srgbClr val="0F1115"/>
                </a:solidFill>
                <a:latin typeface="Arial" panose="020B0604020202020204" pitchFamily="34" charset="0"/>
                <a:ea typeface="微软雅黑" panose="020B0503020204020204" pitchFamily="34" charset="-122"/>
                <a:cs typeface="黑体" panose="02010609060101010101" charset="-122"/>
              </a:rPr>
              <a:t>KV Cache </a:t>
            </a:r>
            <a:r>
              <a:rPr lang="zh-CN" altLang="en-US" sz="2000" b="1">
                <a:solidFill>
                  <a:srgbClr val="0F1115"/>
                </a:solidFill>
                <a:latin typeface="Arial" panose="020B0604020202020204" pitchFamily="34" charset="0"/>
                <a:ea typeface="微软雅黑" panose="020B0503020204020204" pitchFamily="34" charset="-122"/>
                <a:cs typeface="黑体" panose="02010609060101010101" charset="-122"/>
              </a:rPr>
              <a:t>的命中率与推理吞吐。</a:t>
            </a:r>
            <a:endParaRPr lang="en-US" altLang="zh-CN" sz="2000" b="1">
              <a:solidFill>
                <a:srgbClr val="0F1115"/>
              </a:solidFill>
              <a:latin typeface="Arial" panose="020B0604020202020204" pitchFamily="34" charset="0"/>
              <a:ea typeface="微软雅黑" panose="020B0503020204020204" pitchFamily="34" charset="-122"/>
              <a:cs typeface="黑体" panose="02010609060101010101" charset="-122"/>
            </a:endParaRPr>
          </a:p>
        </p:txBody>
      </p:sp>
      <p:sp>
        <p:nvSpPr>
          <p:cNvPr id="15" name="矩形 4">
            <a:extLst>
              <a:ext uri="{FF2B5EF4-FFF2-40B4-BE49-F238E27FC236}">
                <a16:creationId xmlns:a16="http://schemas.microsoft.com/office/drawing/2014/main" id="{425BC951-78B6-512E-C2E9-B00604269435}"/>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cxnSp>
        <p:nvCxnSpPr>
          <p:cNvPr id="16" name="直接连接符 15">
            <a:extLst>
              <a:ext uri="{FF2B5EF4-FFF2-40B4-BE49-F238E27FC236}">
                <a16:creationId xmlns:a16="http://schemas.microsoft.com/office/drawing/2014/main" id="{823D9284-4696-B858-2684-E1385A8F034C}"/>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DC33C9AA-FE62-11E1-BF0B-0517407E8A24}"/>
              </a:ext>
            </a:extLst>
          </p:cNvPr>
          <p:cNvSpPr/>
          <p:nvPr/>
        </p:nvSpPr>
        <p:spPr>
          <a:xfrm>
            <a:off x="4933648"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cxnSp>
        <p:nvCxnSpPr>
          <p:cNvPr id="18" name="直接连接符 17">
            <a:extLst>
              <a:ext uri="{FF2B5EF4-FFF2-40B4-BE49-F238E27FC236}">
                <a16:creationId xmlns:a16="http://schemas.microsoft.com/office/drawing/2014/main" id="{A5221EE3-4A73-E211-EFEE-5DB554776D6B}"/>
              </a:ext>
            </a:extLst>
          </p:cNvPr>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6">
            <a:extLst>
              <a:ext uri="{FF2B5EF4-FFF2-40B4-BE49-F238E27FC236}">
                <a16:creationId xmlns:a16="http://schemas.microsoft.com/office/drawing/2014/main" id="{4B4B067D-E7DA-147D-0F93-43CE5431DA32}"/>
              </a:ext>
            </a:extLst>
          </p:cNvPr>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20" name="TextBox 7">
            <a:extLst>
              <a:ext uri="{FF2B5EF4-FFF2-40B4-BE49-F238E27FC236}">
                <a16:creationId xmlns:a16="http://schemas.microsoft.com/office/drawing/2014/main" id="{1617AA4C-5185-7D2E-BDF0-9077CBF3C79B}"/>
              </a:ext>
            </a:extLst>
          </p:cNvPr>
          <p:cNvSpPr txBox="1"/>
          <p:nvPr/>
        </p:nvSpPr>
        <p:spPr>
          <a:xfrm>
            <a:off x="5076749" y="215904"/>
            <a:ext cx="1344000" cy="404714"/>
          </a:xfrm>
          <a:prstGeom prst="rect">
            <a:avLst/>
          </a:prstGeom>
          <a:noFill/>
        </p:spPr>
        <p:txBody>
          <a:bodyPr wrap="square" lIns="0" tIns="48000" rIns="0" bIns="48000" rtlCol="0">
            <a:spAutoFit/>
          </a:bodyPr>
          <a:lstStyle/>
          <a:p>
            <a:pPr algn="ctr"/>
            <a:r>
              <a:rPr lang="zh-CN" altLang="en-US" sz="2000" b="1">
                <a:solidFill>
                  <a:schemeClr val="bg1"/>
                </a:solidFill>
                <a:latin typeface="Arial" panose="020B0604020202020204" pitchFamily="34" charset="0"/>
                <a:ea typeface="微软雅黑" panose="020B0503020204020204" pitchFamily="34" charset="-122"/>
              </a:rPr>
              <a:t>项目目标</a:t>
            </a:r>
            <a:endParaRPr lang="zh-CN" altLang="en-US" sz="2000" b="1" dirty="0">
              <a:solidFill>
                <a:schemeClr val="bg1"/>
              </a:solidFill>
              <a:latin typeface="Arial" panose="020B0604020202020204" pitchFamily="34" charset="0"/>
              <a:ea typeface="微软雅黑" panose="020B0503020204020204" pitchFamily="34" charset="-122"/>
            </a:endParaRPr>
          </a:p>
        </p:txBody>
      </p:sp>
      <p:sp>
        <p:nvSpPr>
          <p:cNvPr id="21" name="TextBox 9">
            <a:extLst>
              <a:ext uri="{FF2B5EF4-FFF2-40B4-BE49-F238E27FC236}">
                <a16:creationId xmlns:a16="http://schemas.microsoft.com/office/drawing/2014/main" id="{E8F07AFA-857B-8825-893A-36EC81D2346A}"/>
              </a:ext>
            </a:extLst>
          </p:cNvPr>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a:solidFill>
                  <a:schemeClr val="bg1">
                    <a:lumMod val="50000"/>
                  </a:schemeClr>
                </a:solidFill>
                <a:latin typeface="Arial" panose="020B0604020202020204" pitchFamily="34" charset="0"/>
                <a:ea typeface="微软雅黑" panose="020B0503020204020204" pitchFamily="34" charset="-122"/>
                <a:sym typeface="+mn-ea"/>
              </a:rPr>
              <a:t>项目实</a:t>
            </a: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现</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sp>
        <p:nvSpPr>
          <p:cNvPr id="32" name="TextBox 10">
            <a:extLst>
              <a:ext uri="{FF2B5EF4-FFF2-40B4-BE49-F238E27FC236}">
                <a16:creationId xmlns:a16="http://schemas.microsoft.com/office/drawing/2014/main" id="{77172BA6-70B6-2145-45AC-F696018B0478}"/>
              </a:ext>
            </a:extLst>
          </p:cNvPr>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项目测试</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sp>
        <p:nvSpPr>
          <p:cNvPr id="33" name="TextBox 11">
            <a:extLst>
              <a:ext uri="{FF2B5EF4-FFF2-40B4-BE49-F238E27FC236}">
                <a16:creationId xmlns:a16="http://schemas.microsoft.com/office/drawing/2014/main" id="{A3BBCB27-F484-4AA7-3DDC-C3448EA2E5CF}"/>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项目总结</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cxnSp>
        <p:nvCxnSpPr>
          <p:cNvPr id="36" name="直接连接符 35">
            <a:extLst>
              <a:ext uri="{FF2B5EF4-FFF2-40B4-BE49-F238E27FC236}">
                <a16:creationId xmlns:a16="http://schemas.microsoft.com/office/drawing/2014/main" id="{05499B2C-F6AF-3745-37F5-A0FC96F55ACE}"/>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F52920AE-3EC0-19E9-908F-95D56F08B9A9}"/>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8" name="图片 37">
            <a:extLst>
              <a:ext uri="{FF2B5EF4-FFF2-40B4-BE49-F238E27FC236}">
                <a16:creationId xmlns:a16="http://schemas.microsoft.com/office/drawing/2014/main" id="{D8180561-85A6-120A-5112-3F5C361B0BE3}"/>
              </a:ext>
            </a:extLst>
          </p:cNvPr>
          <p:cNvPicPr>
            <a:picLocks noChangeAspect="1"/>
          </p:cNvPicPr>
          <p:nvPr/>
        </p:nvPicPr>
        <p:blipFill rotWithShape="1">
          <a:blip r:embed="rId3"/>
          <a:srcRect t="29956" r="-277"/>
          <a:stretch>
            <a:fillRect/>
          </a:stretch>
        </p:blipFill>
        <p:spPr>
          <a:xfrm>
            <a:off x="195620" y="89117"/>
            <a:ext cx="2766644" cy="613765"/>
          </a:xfrm>
          <a:prstGeom prst="rect">
            <a:avLst/>
          </a:prstGeom>
        </p:spPr>
      </p:pic>
      <p:pic>
        <p:nvPicPr>
          <p:cNvPr id="8" name="图片 7">
            <a:extLst>
              <a:ext uri="{FF2B5EF4-FFF2-40B4-BE49-F238E27FC236}">
                <a16:creationId xmlns:a16="http://schemas.microsoft.com/office/drawing/2014/main" id="{76F70F67-855C-21C5-F25C-37F8E226BD47}"/>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400308" y="1737167"/>
            <a:ext cx="5313130" cy="4120162"/>
          </a:xfrm>
          <a:prstGeom prst="rect">
            <a:avLst/>
          </a:prstGeom>
        </p:spPr>
      </p:pic>
    </p:spTree>
    <p:extLst>
      <p:ext uri="{BB962C8B-B14F-4D97-AF65-F5344CB8AC3E}">
        <p14:creationId xmlns:p14="http://schemas.microsoft.com/office/powerpoint/2010/main" val="95727720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p:cTn id="11" dur="500" fill="hold"/>
                                        <p:tgtEl>
                                          <p:spTgt spid="20"/>
                                        </p:tgtEl>
                                        <p:attrNameLst>
                                          <p:attrName>ppt_w</p:attrName>
                                        </p:attrNameLst>
                                      </p:cBhvr>
                                      <p:tavLst>
                                        <p:tav tm="0">
                                          <p:val>
                                            <p:fltVal val="0"/>
                                          </p:val>
                                        </p:tav>
                                        <p:tav tm="100000">
                                          <p:val>
                                            <p:strVal val="#ppt_w"/>
                                          </p:val>
                                        </p:tav>
                                      </p:tavLst>
                                    </p:anim>
                                    <p:anim calcmode="lin" valueType="num">
                                      <p:cBhvr>
                                        <p:cTn id="12" dur="500" fill="hold"/>
                                        <p:tgtEl>
                                          <p:spTgt spid="20"/>
                                        </p:tgtEl>
                                        <p:attrNameLst>
                                          <p:attrName>ppt_h</p:attrName>
                                        </p:attrNameLst>
                                      </p:cBhvr>
                                      <p:tavLst>
                                        <p:tav tm="0">
                                          <p:val>
                                            <p:fltVal val="0"/>
                                          </p:val>
                                        </p:tav>
                                        <p:tav tm="100000">
                                          <p:val>
                                            <p:strVal val="#ppt_h"/>
                                          </p:val>
                                        </p:tav>
                                      </p:tavLst>
                                    </p:anim>
                                    <p:animEffect transition="in" filter="fade">
                                      <p:cBhvr>
                                        <p:cTn id="1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 name="TextBox 6"/>
          <p:cNvSpPr txBox="1"/>
          <p:nvPr/>
        </p:nvSpPr>
        <p:spPr>
          <a:xfrm>
            <a:off x="572617" y="896507"/>
            <a:ext cx="2210923" cy="527825"/>
          </a:xfrm>
          <a:prstGeom prst="rect">
            <a:avLst/>
          </a:prstGeom>
          <a:noFill/>
        </p:spPr>
        <p:txBody>
          <a:bodyPr wrap="square" lIns="0" tIns="48000" rIns="0" bIns="48000" rtlCol="0">
            <a:spAutoFit/>
          </a:bodyPr>
          <a:lstStyle>
            <a:defPPr>
              <a:defRPr lang="zh-CN"/>
            </a:defPPr>
            <a:lvl1pPr algn="ctr">
              <a:defRPr sz="2400" b="1">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en-US" altLang="zh-CN" sz="2800">
                <a:latin typeface="Arial" panose="020B0604020202020204" pitchFamily="34" charset="0"/>
              </a:rPr>
              <a:t>2.4 </a:t>
            </a:r>
            <a:r>
              <a:rPr lang="zh-CN" altLang="en-US" sz="2800">
                <a:latin typeface="Arial" panose="020B0604020202020204" pitchFamily="34" charset="0"/>
              </a:rPr>
              <a:t>项目目标</a:t>
            </a:r>
            <a:endParaRPr lang="zh-CN" altLang="en-US" sz="2800" dirty="0">
              <a:latin typeface="Arial" panose="020B0604020202020204" pitchFamily="34" charset="0"/>
            </a:endParaRPr>
          </a:p>
        </p:txBody>
      </p:sp>
      <p:graphicFrame>
        <p:nvGraphicFramePr>
          <p:cNvPr id="3" name="表格 2"/>
          <p:cNvGraphicFramePr/>
          <p:nvPr>
            <p:extLst>
              <p:ext uri="{D42A27DB-BD31-4B8C-83A1-F6EECF244321}">
                <p14:modId xmlns:p14="http://schemas.microsoft.com/office/powerpoint/2010/main" val="2804843766"/>
              </p:ext>
            </p:extLst>
          </p:nvPr>
        </p:nvGraphicFramePr>
        <p:xfrm>
          <a:off x="710438" y="1528839"/>
          <a:ext cx="11094052" cy="5213896"/>
        </p:xfrm>
        <a:graphic>
          <a:graphicData uri="http://schemas.openxmlformats.org/drawingml/2006/table">
            <a:tbl>
              <a:tblPr firstRow="1" bandRow="1">
                <a:tableStyleId>{93296810-A885-4BE3-A3E7-6D5BEEA58F35}</a:tableStyleId>
              </a:tblPr>
              <a:tblGrid>
                <a:gridCol w="2739599">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6525653">
                  <a:extLst>
                    <a:ext uri="{9D8B030D-6E8A-4147-A177-3AD203B41FA5}">
                      <a16:colId xmlns:a16="http://schemas.microsoft.com/office/drawing/2014/main" val="20002"/>
                    </a:ext>
                  </a:extLst>
                </a:gridCol>
              </a:tblGrid>
              <a:tr h="435128">
                <a:tc>
                  <a:txBody>
                    <a:bodyPr/>
                    <a:lstStyle/>
                    <a:p>
                      <a:pPr marL="68580" indent="0" algn="ctr">
                        <a:lnSpc>
                          <a:spcPct val="100000"/>
                        </a:lnSpc>
                        <a:spcBef>
                          <a:spcPct val="0"/>
                        </a:spcBef>
                        <a:spcAft>
                          <a:spcPts val="100"/>
                        </a:spcAft>
                      </a:pPr>
                      <a:r>
                        <a:rPr lang="zh-CN" altLang="en-US" sz="1800" b="1" i="0">
                          <a:solidFill>
                            <a:schemeClr val="bg1"/>
                          </a:solidFill>
                          <a:latin typeface="Arial" panose="020B0604020202020204" pitchFamily="34" charset="0"/>
                          <a:ea typeface="微软雅黑" panose="020B0503020204020204" pitchFamily="34" charset="-122"/>
                        </a:rPr>
                        <a:t>项目</a:t>
                      </a:r>
                      <a:r>
                        <a:rPr lang="zh-CN" sz="1800" b="1" i="0">
                          <a:solidFill>
                            <a:schemeClr val="bg1"/>
                          </a:solidFill>
                          <a:latin typeface="Arial" panose="020B0604020202020204" pitchFamily="34" charset="0"/>
                          <a:ea typeface="微软雅黑" panose="020B0503020204020204" pitchFamily="34" charset="-122"/>
                        </a:rPr>
                        <a:t>目标</a:t>
                      </a:r>
                    </a:p>
                  </a:txBody>
                  <a:tcPr marL="0" marR="121920" marT="76200" marB="76200" anchor="ctr"/>
                </a:tc>
                <a:tc>
                  <a:txBody>
                    <a:bodyPr/>
                    <a:lstStyle/>
                    <a:p>
                      <a:pPr marL="68580" indent="0" algn="ctr">
                        <a:lnSpc>
                          <a:spcPct val="100000"/>
                        </a:lnSpc>
                        <a:spcBef>
                          <a:spcPct val="0"/>
                        </a:spcBef>
                        <a:spcAft>
                          <a:spcPts val="100"/>
                        </a:spcAft>
                      </a:pPr>
                      <a:r>
                        <a:rPr lang="zh-CN" sz="1800" b="1" i="0">
                          <a:solidFill>
                            <a:schemeClr val="bg1"/>
                          </a:solidFill>
                          <a:latin typeface="Arial" panose="020B0604020202020204" pitchFamily="34" charset="0"/>
                          <a:ea typeface="微软雅黑" panose="020B0503020204020204" pitchFamily="34" charset="-122"/>
                        </a:rPr>
                        <a:t>完成情况</a:t>
                      </a:r>
                    </a:p>
                  </a:txBody>
                  <a:tcPr marL="121920" marR="121920" marT="76200" marB="76200" anchor="ctr"/>
                </a:tc>
                <a:tc>
                  <a:txBody>
                    <a:bodyPr/>
                    <a:lstStyle/>
                    <a:p>
                      <a:pPr marL="68580" indent="0" algn="ctr">
                        <a:lnSpc>
                          <a:spcPct val="100000"/>
                        </a:lnSpc>
                        <a:spcBef>
                          <a:spcPct val="0"/>
                        </a:spcBef>
                        <a:spcAft>
                          <a:spcPts val="100"/>
                        </a:spcAft>
                      </a:pPr>
                      <a:r>
                        <a:rPr lang="zh-CN" sz="1800" b="1" i="0">
                          <a:solidFill>
                            <a:schemeClr val="bg1"/>
                          </a:solidFill>
                          <a:latin typeface="Arial" panose="020B0604020202020204" pitchFamily="34" charset="0"/>
                          <a:ea typeface="微软雅黑" panose="020B0503020204020204" pitchFamily="34" charset="-122"/>
                        </a:rPr>
                        <a:t>说明</a:t>
                      </a:r>
                    </a:p>
                  </a:txBody>
                  <a:tcPr marL="121920" marR="121920" marT="76200" marB="76200" anchor="ctr"/>
                </a:tc>
                <a:extLst>
                  <a:ext uri="{0D108BD9-81ED-4DB2-BD59-A6C34878D82A}">
                    <a16:rowId xmlns:a16="http://schemas.microsoft.com/office/drawing/2014/main" val="10000"/>
                  </a:ext>
                </a:extLst>
              </a:tr>
              <a:tr h="1016257">
                <a:tc>
                  <a:txBody>
                    <a:bodyPr/>
                    <a:lstStyle/>
                    <a:p>
                      <a:pPr marL="68580" indent="0" algn="ctr">
                        <a:lnSpc>
                          <a:spcPct val="100000"/>
                        </a:lnSpc>
                        <a:spcBef>
                          <a:spcPct val="0"/>
                        </a:spcBef>
                        <a:spcAft>
                          <a:spcPts val="100"/>
                        </a:spcAft>
                      </a:pPr>
                      <a:r>
                        <a:rPr lang="en-US" altLang="zh-CN" sz="1800" b="1" i="0">
                          <a:solidFill>
                            <a:schemeClr val="tx1"/>
                          </a:solidFill>
                          <a:latin typeface="Arial" panose="020B0604020202020204" pitchFamily="34" charset="0"/>
                          <a:ea typeface="微软雅黑" panose="020B0503020204020204" pitchFamily="34" charset="-122"/>
                        </a:rPr>
                        <a:t>1</a:t>
                      </a:r>
                      <a:r>
                        <a:rPr lang="zh-CN" altLang="en-US" sz="1800" b="1" i="0">
                          <a:solidFill>
                            <a:schemeClr val="tx1"/>
                          </a:solidFill>
                          <a:latin typeface="Arial" panose="020B0604020202020204" pitchFamily="34" charset="0"/>
                          <a:ea typeface="微软雅黑" panose="020B0503020204020204" pitchFamily="34" charset="-122"/>
                        </a:rPr>
                        <a:t>、</a:t>
                      </a:r>
                      <a:r>
                        <a:rPr lang="zh-CN" altLang="en-US" sz="1800" b="1" i="0" dirty="0">
                          <a:solidFill>
                            <a:schemeClr val="tx1"/>
                          </a:solidFill>
                          <a:latin typeface="Arial" panose="020B0604020202020204" pitchFamily="34" charset="0"/>
                          <a:ea typeface="微软雅黑" panose="020B0503020204020204" pitchFamily="34" charset="-122"/>
                          <a:sym typeface="+mn-ea"/>
                        </a:rPr>
                        <a:t>分析 </a:t>
                      </a:r>
                      <a:r>
                        <a:rPr lang="en-US" altLang="zh-CN" sz="1800" b="1" i="0" dirty="0">
                          <a:solidFill>
                            <a:schemeClr val="tx1"/>
                          </a:solidFill>
                          <a:latin typeface="Arial" panose="020B0604020202020204" pitchFamily="34" charset="0"/>
                          <a:ea typeface="微软雅黑" panose="020B0503020204020204" pitchFamily="34" charset="-122"/>
                          <a:sym typeface="+mn-ea"/>
                        </a:rPr>
                        <a:t>LLM </a:t>
                      </a:r>
                      <a:r>
                        <a:rPr lang="zh-CN" altLang="en-US" sz="1800" b="1" i="0" dirty="0">
                          <a:solidFill>
                            <a:schemeClr val="tx1"/>
                          </a:solidFill>
                          <a:latin typeface="Arial" panose="020B0604020202020204" pitchFamily="34" charset="0"/>
                          <a:ea typeface="微软雅黑" panose="020B0503020204020204" pitchFamily="34" charset="-122"/>
                          <a:sym typeface="+mn-ea"/>
                        </a:rPr>
                        <a:t>推理过程的访存</a:t>
                      </a:r>
                      <a:r>
                        <a:rPr lang="zh-CN" altLang="en-US" sz="1800" b="1" i="0">
                          <a:solidFill>
                            <a:schemeClr val="tx1"/>
                          </a:solidFill>
                          <a:latin typeface="Arial" panose="020B0604020202020204" pitchFamily="34" charset="0"/>
                          <a:ea typeface="微软雅黑" panose="020B0503020204020204" pitchFamily="34" charset="-122"/>
                          <a:sym typeface="+mn-ea"/>
                        </a:rPr>
                        <a:t>行为</a:t>
                      </a:r>
                      <a:br>
                        <a:rPr lang="en-US" altLang="zh-CN" sz="1800" b="1" i="0">
                          <a:solidFill>
                            <a:schemeClr val="tx1"/>
                          </a:solidFill>
                          <a:latin typeface="Arial" panose="020B0604020202020204" pitchFamily="34" charset="0"/>
                          <a:ea typeface="微软雅黑" panose="020B0503020204020204" pitchFamily="34" charset="-122"/>
                          <a:sym typeface="+mn-ea"/>
                        </a:rPr>
                      </a:br>
                      <a:r>
                        <a:rPr lang="zh-CN" altLang="en-US" sz="1800" b="1" i="0">
                          <a:solidFill>
                            <a:schemeClr val="tx1"/>
                          </a:solidFill>
                          <a:latin typeface="Arial" panose="020B0604020202020204" pitchFamily="34" charset="0"/>
                          <a:ea typeface="微软雅黑" panose="020B0503020204020204" pitchFamily="34" charset="-122"/>
                          <a:sym typeface="+mn-ea"/>
                        </a:rPr>
                        <a:t>（赛题要求）</a:t>
                      </a:r>
                      <a:endParaRPr lang="zh-CN" altLang="en-US" sz="1800" b="1" i="0" dirty="0">
                        <a:solidFill>
                          <a:schemeClr val="tx1"/>
                        </a:solidFill>
                        <a:latin typeface="Arial" panose="020B0604020202020204" pitchFamily="34" charset="0"/>
                        <a:ea typeface="微软雅黑" panose="020B0503020204020204" pitchFamily="34" charset="-122"/>
                        <a:cs typeface="+mn-cs"/>
                      </a:endParaRPr>
                    </a:p>
                  </a:txBody>
                  <a:tcPr marL="0" marR="121920" marT="76200" marB="76200" anchor="ctr"/>
                </a:tc>
                <a:tc>
                  <a:txBody>
                    <a:bodyPr/>
                    <a:lstStyle/>
                    <a:p>
                      <a:pPr marL="68580" indent="0" algn="ctr">
                        <a:lnSpc>
                          <a:spcPct val="100000"/>
                        </a:lnSpc>
                        <a:spcBef>
                          <a:spcPct val="0"/>
                        </a:spcBef>
                        <a:spcAft>
                          <a:spcPts val="100"/>
                        </a:spcAft>
                      </a:pPr>
                      <a:r>
                        <a:rPr lang="zh-CN" sz="1800" b="1" i="0">
                          <a:solidFill>
                            <a:srgbClr val="000000"/>
                          </a:solidFill>
                          <a:latin typeface="Arial" panose="020B0604020202020204" pitchFamily="34" charset="0"/>
                          <a:ea typeface="微软雅黑" panose="020B0503020204020204" pitchFamily="34" charset="-122"/>
                        </a:rPr>
                        <a:t>全部完成</a:t>
                      </a:r>
                    </a:p>
                  </a:txBody>
                  <a:tcPr marL="121920" marR="121920" marT="76200" marB="76200" anchor="ctr"/>
                </a:tc>
                <a:tc>
                  <a:txBody>
                    <a:bodyPr/>
                    <a:lstStyle/>
                    <a:p>
                      <a:pPr marL="68580" marR="0" indent="0" algn="ctr" defTabSz="914400" rtl="0" eaLnBrk="1" fontAlgn="auto" latinLnBrk="0" hangingPunct="1">
                        <a:lnSpc>
                          <a:spcPct val="100000"/>
                        </a:lnSpc>
                        <a:spcBef>
                          <a:spcPct val="0"/>
                        </a:spcBef>
                        <a:spcAft>
                          <a:spcPts val="100"/>
                        </a:spcAft>
                        <a:buClrTx/>
                        <a:buSzTx/>
                        <a:buFontTx/>
                        <a:buNone/>
                        <a:tabLst/>
                        <a:defRPr/>
                      </a:pPr>
                      <a:r>
                        <a:rPr lang="zh-CN" altLang="en-US" sz="1800" b="1" i="0">
                          <a:solidFill>
                            <a:srgbClr val="000000"/>
                          </a:solidFill>
                          <a:latin typeface="Arial" panose="020B0604020202020204" pitchFamily="34" charset="0"/>
                          <a:ea typeface="微软雅黑" panose="020B0503020204020204" pitchFamily="34" charset="-122"/>
                        </a:rPr>
                        <a:t>完成 </a:t>
                      </a:r>
                      <a:r>
                        <a:rPr lang="en" altLang="zh-CN" sz="1800" b="1" i="0">
                          <a:solidFill>
                            <a:srgbClr val="FF0000"/>
                          </a:solidFill>
                          <a:latin typeface="Arial" panose="020B0604020202020204" pitchFamily="34" charset="0"/>
                          <a:ea typeface="微软雅黑" panose="020B0503020204020204" pitchFamily="34" charset="-122"/>
                        </a:rPr>
                        <a:t>Dense </a:t>
                      </a:r>
                      <a:r>
                        <a:rPr lang="zh-CN" altLang="en-US" sz="1800" b="1" i="0">
                          <a:solidFill>
                            <a:srgbClr val="FF0000"/>
                          </a:solidFill>
                          <a:latin typeface="Arial" panose="020B0604020202020204" pitchFamily="34" charset="0"/>
                          <a:ea typeface="微软雅黑" panose="020B0503020204020204" pitchFamily="34" charset="-122"/>
                        </a:rPr>
                        <a:t>模型权重顺序访问、</a:t>
                      </a:r>
                      <a:r>
                        <a:rPr lang="en" altLang="zh-CN" sz="1800" b="1" i="0">
                          <a:solidFill>
                            <a:srgbClr val="FF0000"/>
                          </a:solidFill>
                          <a:latin typeface="Arial" panose="020B0604020202020204" pitchFamily="34" charset="0"/>
                          <a:ea typeface="微软雅黑" panose="020B0503020204020204" pitchFamily="34" charset="-122"/>
                        </a:rPr>
                        <a:t>MoE </a:t>
                      </a:r>
                      <a:r>
                        <a:rPr lang="zh-CN" altLang="en-US" sz="1800" b="1" i="0">
                          <a:solidFill>
                            <a:srgbClr val="FF0000"/>
                          </a:solidFill>
                          <a:latin typeface="Arial" panose="020B0604020202020204" pitchFamily="34" charset="0"/>
                          <a:ea typeface="微软雅黑" panose="020B0503020204020204" pitchFamily="34" charset="-122"/>
                        </a:rPr>
                        <a:t>模型专家稀疏激活</a:t>
                      </a:r>
                      <a:endParaRPr lang="en-US" altLang="zh-CN" sz="1800" b="1" i="0">
                        <a:solidFill>
                          <a:srgbClr val="FF0000"/>
                        </a:solidFill>
                        <a:latin typeface="Arial" panose="020B0604020202020204" pitchFamily="34" charset="0"/>
                        <a:ea typeface="微软雅黑" panose="020B0503020204020204" pitchFamily="34" charset="-122"/>
                      </a:endParaRPr>
                    </a:p>
                    <a:p>
                      <a:pPr marL="68580" marR="0" indent="0" algn="ctr" defTabSz="914400" rtl="0" eaLnBrk="1" fontAlgn="auto" latinLnBrk="0" hangingPunct="1">
                        <a:lnSpc>
                          <a:spcPct val="100000"/>
                        </a:lnSpc>
                        <a:spcBef>
                          <a:spcPct val="0"/>
                        </a:spcBef>
                        <a:spcAft>
                          <a:spcPts val="100"/>
                        </a:spcAft>
                        <a:buClrTx/>
                        <a:buSzTx/>
                        <a:buFontTx/>
                        <a:buNone/>
                        <a:tabLst/>
                        <a:defRPr/>
                      </a:pPr>
                      <a:r>
                        <a:rPr lang="zh-CN" altLang="en-US" sz="1800" b="1" i="0">
                          <a:solidFill>
                            <a:srgbClr val="FF0000"/>
                          </a:solidFill>
                          <a:latin typeface="Arial" panose="020B0604020202020204" pitchFamily="34" charset="0"/>
                          <a:ea typeface="微软雅黑" panose="020B0503020204020204" pitchFamily="34" charset="-122"/>
                        </a:rPr>
                        <a:t>及 </a:t>
                      </a:r>
                      <a:r>
                        <a:rPr lang="en" altLang="zh-CN" sz="1800" b="1" i="0">
                          <a:solidFill>
                            <a:srgbClr val="FF0000"/>
                          </a:solidFill>
                          <a:latin typeface="Arial" panose="020B0604020202020204" pitchFamily="34" charset="0"/>
                          <a:ea typeface="微软雅黑" panose="020B0503020204020204" pitchFamily="34" charset="-122"/>
                        </a:rPr>
                        <a:t>KV Cache </a:t>
                      </a:r>
                      <a:r>
                        <a:rPr lang="zh-CN" altLang="en-US" sz="1800" b="1" i="0">
                          <a:solidFill>
                            <a:srgbClr val="FF0000"/>
                          </a:solidFill>
                          <a:latin typeface="Arial" panose="020B0604020202020204" pitchFamily="34" charset="0"/>
                          <a:ea typeface="微软雅黑" panose="020B0503020204020204" pitchFamily="34" charset="-122"/>
                        </a:rPr>
                        <a:t>物理驻留与对话生命周期分析</a:t>
                      </a:r>
                      <a:r>
                        <a:rPr lang="zh-CN" altLang="en-US" sz="1800" b="1" i="0">
                          <a:solidFill>
                            <a:srgbClr val="000000"/>
                          </a:solidFill>
                          <a:latin typeface="Arial" panose="020B0604020202020204" pitchFamily="34" charset="0"/>
                          <a:ea typeface="微软雅黑" panose="020B0503020204020204" pitchFamily="34" charset="-122"/>
                        </a:rPr>
                        <a:t>，</a:t>
                      </a:r>
                      <a:endParaRPr lang="en-US" altLang="zh-CN" sz="1800" b="1" i="0">
                        <a:solidFill>
                          <a:srgbClr val="000000"/>
                        </a:solidFill>
                        <a:latin typeface="Arial" panose="020B0604020202020204" pitchFamily="34" charset="0"/>
                        <a:ea typeface="微软雅黑" panose="020B0503020204020204" pitchFamily="34" charset="-122"/>
                      </a:endParaRPr>
                    </a:p>
                    <a:p>
                      <a:pPr marL="68580" marR="0" indent="0" algn="ctr" defTabSz="914400" rtl="0" eaLnBrk="1" fontAlgn="auto" latinLnBrk="0" hangingPunct="1">
                        <a:lnSpc>
                          <a:spcPct val="100000"/>
                        </a:lnSpc>
                        <a:spcBef>
                          <a:spcPct val="0"/>
                        </a:spcBef>
                        <a:spcAft>
                          <a:spcPts val="100"/>
                        </a:spcAft>
                        <a:buClrTx/>
                        <a:buSzTx/>
                        <a:buFontTx/>
                        <a:buNone/>
                        <a:tabLst/>
                        <a:defRPr/>
                      </a:pPr>
                      <a:r>
                        <a:rPr lang="zh-CN" altLang="en-US" sz="1800" b="1" i="0">
                          <a:solidFill>
                            <a:srgbClr val="000000"/>
                          </a:solidFill>
                          <a:latin typeface="Arial" panose="020B0604020202020204" pitchFamily="34" charset="0"/>
                          <a:ea typeface="微软雅黑" panose="020B0503020204020204" pitchFamily="34" charset="-122"/>
                        </a:rPr>
                        <a:t>形成可观测、可调度的运行时资源视图。</a:t>
                      </a:r>
                      <a:endParaRPr lang="zh-CN" altLang="en-US" sz="1800" b="1" i="0">
                        <a:solidFill>
                          <a:srgbClr val="000000"/>
                        </a:solidFill>
                        <a:latin typeface="Arial" panose="020B0604020202020204" pitchFamily="34" charset="0"/>
                        <a:ea typeface="微软雅黑" panose="020B0503020204020204" pitchFamily="34" charset="-122"/>
                        <a:cs typeface="+mn-cs"/>
                      </a:endParaRPr>
                    </a:p>
                  </a:txBody>
                  <a:tcPr marL="121920" marR="0" marT="76200" marB="76200" anchor="ctr"/>
                </a:tc>
                <a:extLst>
                  <a:ext uri="{0D108BD9-81ED-4DB2-BD59-A6C34878D82A}">
                    <a16:rowId xmlns:a16="http://schemas.microsoft.com/office/drawing/2014/main" val="10001"/>
                  </a:ext>
                </a:extLst>
              </a:tr>
              <a:tr h="1016257">
                <a:tc>
                  <a:txBody>
                    <a:bodyPr/>
                    <a:lstStyle/>
                    <a:p>
                      <a:pPr marL="68580" indent="0" algn="ctr">
                        <a:lnSpc>
                          <a:spcPct val="100000"/>
                        </a:lnSpc>
                        <a:spcBef>
                          <a:spcPct val="0"/>
                        </a:spcBef>
                        <a:spcAft>
                          <a:spcPts val="100"/>
                        </a:spcAft>
                      </a:pPr>
                      <a:r>
                        <a:rPr lang="en-US" altLang="zh-CN" sz="1800" b="1" i="0">
                          <a:solidFill>
                            <a:schemeClr val="tx1"/>
                          </a:solidFill>
                          <a:latin typeface="Arial" panose="020B0604020202020204" pitchFamily="34" charset="0"/>
                          <a:ea typeface="微软雅黑" panose="020B0503020204020204" pitchFamily="34" charset="-122"/>
                        </a:rPr>
                        <a:t>2</a:t>
                      </a:r>
                      <a:r>
                        <a:rPr lang="zh-CN" altLang="en-US" sz="1800" b="1" i="0">
                          <a:solidFill>
                            <a:schemeClr val="tx1"/>
                          </a:solidFill>
                          <a:latin typeface="Arial" panose="020B0604020202020204" pitchFamily="34" charset="0"/>
                          <a:ea typeface="微软雅黑" panose="020B0503020204020204" pitchFamily="34" charset="-122"/>
                        </a:rPr>
                        <a:t>、使用虚拟内存相关技术减少运行时物理内存量（赛题要求）</a:t>
                      </a:r>
                      <a:endParaRPr lang="zh-CN" altLang="en-US" sz="1800" b="1" i="0">
                        <a:solidFill>
                          <a:schemeClr val="tx1"/>
                        </a:solidFill>
                        <a:latin typeface="Arial" panose="020B0604020202020204" pitchFamily="34" charset="0"/>
                        <a:ea typeface="微软雅黑" panose="020B0503020204020204" pitchFamily="34" charset="-122"/>
                        <a:cs typeface="+mn-cs"/>
                      </a:endParaRPr>
                    </a:p>
                  </a:txBody>
                  <a:tcPr marL="0" marR="121920" marT="76200" marB="76200" anchor="ctr"/>
                </a:tc>
                <a:tc>
                  <a:txBody>
                    <a:bodyPr/>
                    <a:lstStyle/>
                    <a:p>
                      <a:pPr marL="68580" indent="0" algn="ctr">
                        <a:lnSpc>
                          <a:spcPct val="100000"/>
                        </a:lnSpc>
                        <a:spcBef>
                          <a:spcPct val="0"/>
                        </a:spcBef>
                        <a:spcAft>
                          <a:spcPts val="100"/>
                        </a:spcAft>
                      </a:pPr>
                      <a:r>
                        <a:rPr lang="zh-CN" sz="1800" b="1" i="0">
                          <a:solidFill>
                            <a:srgbClr val="000000"/>
                          </a:solidFill>
                          <a:latin typeface="Arial" panose="020B0604020202020204" pitchFamily="34" charset="0"/>
                          <a:ea typeface="微软雅黑" panose="020B0503020204020204" pitchFamily="34" charset="-122"/>
                        </a:rPr>
                        <a:t>全部完成</a:t>
                      </a:r>
                    </a:p>
                  </a:txBody>
                  <a:tcPr marL="121920" marR="121920" marT="76200" marB="76200" anchor="ctr"/>
                </a:tc>
                <a:tc>
                  <a:txBody>
                    <a:bodyPr/>
                    <a:lstStyle/>
                    <a:p>
                      <a:pPr marL="68580" marR="0" indent="0" algn="ctr" defTabSz="914400" rtl="0" eaLnBrk="1" fontAlgn="auto" latinLnBrk="0" hangingPunct="1">
                        <a:lnSpc>
                          <a:spcPct val="100000"/>
                        </a:lnSpc>
                        <a:spcBef>
                          <a:spcPct val="0"/>
                        </a:spcBef>
                        <a:spcAft>
                          <a:spcPts val="100"/>
                        </a:spcAft>
                        <a:buClrTx/>
                        <a:buSzTx/>
                        <a:buFontTx/>
                        <a:buNone/>
                        <a:tabLst/>
                        <a:defRPr/>
                      </a:pPr>
                      <a:r>
                        <a:rPr lang="zh-CN" altLang="en-US" sz="1800" b="1" i="0">
                          <a:solidFill>
                            <a:srgbClr val="000000"/>
                          </a:solidFill>
                          <a:latin typeface="Arial" panose="020B0604020202020204" pitchFamily="34" charset="0"/>
                          <a:ea typeface="微软雅黑" panose="020B0503020204020204" pitchFamily="34" charset="-122"/>
                        </a:rPr>
                        <a:t>通过</a:t>
                      </a:r>
                      <a:r>
                        <a:rPr lang="zh-CN" altLang="en-US" sz="1800" b="1" i="0">
                          <a:solidFill>
                            <a:srgbClr val="FF0000"/>
                          </a:solidFill>
                          <a:latin typeface="Arial" panose="020B0604020202020204" pitchFamily="34" charset="0"/>
                          <a:ea typeface="微软雅黑" panose="020B0503020204020204" pitchFamily="34" charset="-122"/>
                        </a:rPr>
                        <a:t>权重按需加载 </a:t>
                      </a:r>
                      <a:r>
                        <a:rPr lang="en-US" altLang="zh-CN" sz="1800" b="1" i="0">
                          <a:solidFill>
                            <a:srgbClr val="FF0000"/>
                          </a:solidFill>
                          <a:latin typeface="Arial" panose="020B0604020202020204" pitchFamily="34" charset="0"/>
                          <a:ea typeface="微软雅黑" panose="020B0503020204020204" pitchFamily="34" charset="-122"/>
                        </a:rPr>
                        <a:t>/ </a:t>
                      </a:r>
                      <a:r>
                        <a:rPr lang="zh-CN" altLang="en-US" sz="1800" b="1" i="0">
                          <a:solidFill>
                            <a:srgbClr val="FF0000"/>
                          </a:solidFill>
                          <a:latin typeface="Arial" panose="020B0604020202020204" pitchFamily="34" charset="0"/>
                          <a:ea typeface="微软雅黑" panose="020B0503020204020204" pitchFamily="34" charset="-122"/>
                        </a:rPr>
                        <a:t>动态驱逐</a:t>
                      </a:r>
                      <a:r>
                        <a:rPr lang="zh-CN" altLang="en-US" sz="1800" b="1" i="0">
                          <a:solidFill>
                            <a:schemeClr val="tx1"/>
                          </a:solidFill>
                          <a:latin typeface="Arial" panose="020B0604020202020204" pitchFamily="34" charset="0"/>
                          <a:ea typeface="微软雅黑" panose="020B0503020204020204" pitchFamily="34" charset="-122"/>
                        </a:rPr>
                        <a:t>、</a:t>
                      </a:r>
                      <a:r>
                        <a:rPr lang="en" altLang="zh-CN" sz="1800" b="1" i="0">
                          <a:solidFill>
                            <a:srgbClr val="FF0000"/>
                          </a:solidFill>
                          <a:latin typeface="Arial" panose="020B0604020202020204" pitchFamily="34" charset="0"/>
                          <a:ea typeface="微软雅黑" panose="020B0503020204020204" pitchFamily="34" charset="-122"/>
                        </a:rPr>
                        <a:t>KV Cache</a:t>
                      </a:r>
                      <a:r>
                        <a:rPr lang="zh-CN" altLang="en-US" sz="1800" b="1" i="0">
                          <a:solidFill>
                            <a:srgbClr val="FF0000"/>
                          </a:solidFill>
                          <a:latin typeface="Arial" panose="020B0604020202020204" pitchFamily="34" charset="0"/>
                          <a:ea typeface="微软雅黑" panose="020B0503020204020204" pitchFamily="34" charset="-122"/>
                        </a:rPr>
                        <a:t>物理页回收</a:t>
                      </a:r>
                      <a:r>
                        <a:rPr lang="zh-CN" altLang="en-US" sz="1800" b="1" i="0">
                          <a:solidFill>
                            <a:schemeClr val="tx1"/>
                          </a:solidFill>
                          <a:latin typeface="Arial" panose="020B0604020202020204" pitchFamily="34" charset="0"/>
                          <a:ea typeface="微软雅黑" panose="020B0503020204020204" pitchFamily="34" charset="-122"/>
                        </a:rPr>
                        <a:t>等机制实现 </a:t>
                      </a:r>
                      <a:r>
                        <a:rPr lang="en" altLang="zh-CN" sz="1800" b="1" i="0">
                          <a:solidFill>
                            <a:schemeClr val="tx1"/>
                          </a:solidFill>
                          <a:latin typeface="Arial" panose="020B0604020202020204" pitchFamily="34" charset="0"/>
                          <a:ea typeface="微软雅黑" panose="020B0503020204020204" pitchFamily="34" charset="-122"/>
                        </a:rPr>
                        <a:t>Dense / MoE </a:t>
                      </a:r>
                      <a:r>
                        <a:rPr lang="zh-CN" altLang="en-US" sz="1800" b="1" i="0">
                          <a:solidFill>
                            <a:schemeClr val="tx1"/>
                          </a:solidFill>
                          <a:latin typeface="Arial" panose="020B0604020202020204" pitchFamily="34" charset="0"/>
                          <a:ea typeface="微软雅黑" panose="020B0503020204020204" pitchFamily="34" charset="-122"/>
                        </a:rPr>
                        <a:t>模型权重与 </a:t>
                      </a:r>
                      <a:r>
                        <a:rPr lang="en" altLang="zh-CN" sz="1800" b="1" i="0">
                          <a:solidFill>
                            <a:schemeClr val="tx1"/>
                          </a:solidFill>
                          <a:latin typeface="Arial" panose="020B0604020202020204" pitchFamily="34" charset="0"/>
                          <a:ea typeface="微软雅黑" panose="020B0503020204020204" pitchFamily="34" charset="-122"/>
                        </a:rPr>
                        <a:t>KV C</a:t>
                      </a:r>
                      <a:r>
                        <a:rPr lang="en-US" altLang="zh-CN" sz="1800" b="1" i="0">
                          <a:solidFill>
                            <a:schemeClr val="tx1"/>
                          </a:solidFill>
                          <a:latin typeface="Arial" panose="020B0604020202020204" pitchFamily="34" charset="0"/>
                          <a:ea typeface="微软雅黑" panose="020B0503020204020204" pitchFamily="34" charset="-122"/>
                        </a:rPr>
                        <a:t>ache</a:t>
                      </a:r>
                      <a:r>
                        <a:rPr lang="en" altLang="zh-CN" sz="1800" b="1" i="0">
                          <a:solidFill>
                            <a:schemeClr val="tx1"/>
                          </a:solidFill>
                          <a:latin typeface="Arial" panose="020B0604020202020204" pitchFamily="34" charset="0"/>
                          <a:ea typeface="微软雅黑" panose="020B0503020204020204" pitchFamily="34" charset="-122"/>
                        </a:rPr>
                        <a:t> </a:t>
                      </a:r>
                      <a:r>
                        <a:rPr lang="en-US" altLang="zh-CN" sz="1800" b="1" i="0">
                          <a:solidFill>
                            <a:schemeClr val="tx1"/>
                          </a:solidFill>
                          <a:latin typeface="Arial" panose="020B0604020202020204" pitchFamily="34" charset="0"/>
                          <a:ea typeface="微软雅黑" panose="020B0503020204020204" pitchFamily="34" charset="-122"/>
                        </a:rPr>
                        <a:t>Block </a:t>
                      </a:r>
                      <a:r>
                        <a:rPr lang="zh-CN" altLang="en-US" sz="1800" b="1" i="0">
                          <a:solidFill>
                            <a:schemeClr val="tx1"/>
                          </a:solidFill>
                          <a:latin typeface="Arial" panose="020B0604020202020204" pitchFamily="34" charset="0"/>
                          <a:ea typeface="微软雅黑" panose="020B0503020204020204" pitchFamily="34" charset="-122"/>
                        </a:rPr>
                        <a:t>颗粒度的显式驻留管理，降低真实物理内存占用。</a:t>
                      </a:r>
                      <a:endParaRPr lang="zh-CN" altLang="en-US" sz="1800" b="1" i="0">
                        <a:solidFill>
                          <a:schemeClr val="tx1"/>
                        </a:solidFill>
                        <a:latin typeface="Arial" panose="020B0604020202020204" pitchFamily="34" charset="0"/>
                        <a:ea typeface="微软雅黑" panose="020B0503020204020204" pitchFamily="34" charset="-122"/>
                        <a:cs typeface="+mn-cs"/>
                      </a:endParaRPr>
                    </a:p>
                  </a:txBody>
                  <a:tcPr marL="121920" marR="0" marT="76200" marB="76200" anchor="ctr"/>
                </a:tc>
                <a:extLst>
                  <a:ext uri="{0D108BD9-81ED-4DB2-BD59-A6C34878D82A}">
                    <a16:rowId xmlns:a16="http://schemas.microsoft.com/office/drawing/2014/main" val="10002"/>
                  </a:ext>
                </a:extLst>
              </a:tr>
              <a:tr h="1016257">
                <a:tc>
                  <a:txBody>
                    <a:bodyPr/>
                    <a:lstStyle/>
                    <a:p>
                      <a:pPr marL="68580" indent="0" algn="ctr">
                        <a:lnSpc>
                          <a:spcPct val="100000"/>
                        </a:lnSpc>
                        <a:spcBef>
                          <a:spcPct val="0"/>
                        </a:spcBef>
                        <a:spcAft>
                          <a:spcPts val="100"/>
                        </a:spcAft>
                      </a:pPr>
                      <a:r>
                        <a:rPr lang="en-US" altLang="zh-CN" sz="1800" b="1" i="0">
                          <a:solidFill>
                            <a:schemeClr val="tx1"/>
                          </a:solidFill>
                          <a:latin typeface="Arial" panose="020B0604020202020204" pitchFamily="34" charset="0"/>
                          <a:ea typeface="微软雅黑" panose="020B0503020204020204" pitchFamily="34" charset="-122"/>
                        </a:rPr>
                        <a:t>3</a:t>
                      </a:r>
                      <a:r>
                        <a:rPr lang="zh-CN" altLang="en-US" sz="1800" b="1" i="0">
                          <a:solidFill>
                            <a:schemeClr val="tx1"/>
                          </a:solidFill>
                          <a:latin typeface="Arial" panose="020B0604020202020204" pitchFamily="34" charset="0"/>
                          <a:ea typeface="微软雅黑" panose="020B0503020204020204" pitchFamily="34" charset="-122"/>
                        </a:rPr>
                        <a:t>、通过预取等技术掩盖 </a:t>
                      </a:r>
                      <a:r>
                        <a:rPr lang="en-US" altLang="zh-CN" sz="1800" b="1" i="0">
                          <a:solidFill>
                            <a:schemeClr val="tx1"/>
                          </a:solidFill>
                          <a:latin typeface="Arial" panose="020B0604020202020204" pitchFamily="34" charset="0"/>
                          <a:ea typeface="微软雅黑" panose="020B0503020204020204" pitchFamily="34" charset="-122"/>
                        </a:rPr>
                        <a:t>I/O </a:t>
                      </a:r>
                      <a:r>
                        <a:rPr lang="zh-CN" altLang="en-US" sz="1800" b="1" i="0">
                          <a:solidFill>
                            <a:schemeClr val="tx1"/>
                          </a:solidFill>
                          <a:latin typeface="Arial" panose="020B0604020202020204" pitchFamily="34" charset="0"/>
                          <a:ea typeface="微软雅黑" panose="020B0503020204020204" pitchFamily="34" charset="-122"/>
                        </a:rPr>
                        <a:t>延迟，提升推理性能</a:t>
                      </a:r>
                      <a:endParaRPr lang="en-US" altLang="zh-CN" sz="1800" b="1" i="0">
                        <a:solidFill>
                          <a:schemeClr val="tx1"/>
                        </a:solidFill>
                        <a:latin typeface="Arial" panose="020B0604020202020204" pitchFamily="34" charset="0"/>
                        <a:ea typeface="微软雅黑" panose="020B0503020204020204" pitchFamily="34" charset="-122"/>
                      </a:endParaRPr>
                    </a:p>
                    <a:p>
                      <a:pPr marL="68580" indent="0" algn="ctr">
                        <a:lnSpc>
                          <a:spcPct val="100000"/>
                        </a:lnSpc>
                        <a:spcBef>
                          <a:spcPct val="0"/>
                        </a:spcBef>
                        <a:spcAft>
                          <a:spcPts val="100"/>
                        </a:spcAft>
                      </a:pPr>
                      <a:r>
                        <a:rPr lang="zh-CN" altLang="en-US" sz="1800" b="1" i="0">
                          <a:solidFill>
                            <a:schemeClr val="tx1"/>
                          </a:solidFill>
                          <a:latin typeface="Arial" panose="020B0604020202020204" pitchFamily="34" charset="0"/>
                          <a:ea typeface="微软雅黑" panose="020B0503020204020204" pitchFamily="34" charset="-122"/>
                        </a:rPr>
                        <a:t>（赛题要求）</a:t>
                      </a:r>
                      <a:endParaRPr lang="en-US" altLang="zh-CN" sz="1800" b="1" i="0">
                        <a:solidFill>
                          <a:srgbClr val="000000"/>
                        </a:solidFill>
                        <a:latin typeface="Arial" panose="020B0604020202020204" pitchFamily="34" charset="0"/>
                        <a:ea typeface="微软雅黑" panose="020B0503020204020204" pitchFamily="34" charset="-122"/>
                      </a:endParaRPr>
                    </a:p>
                  </a:txBody>
                  <a:tcPr marL="0" marR="121920" marT="76200" marB="76200" anchor="ctr"/>
                </a:tc>
                <a:tc>
                  <a:txBody>
                    <a:bodyPr/>
                    <a:lstStyle/>
                    <a:p>
                      <a:pPr marL="68580" indent="0" algn="ctr">
                        <a:lnSpc>
                          <a:spcPct val="100000"/>
                        </a:lnSpc>
                        <a:spcBef>
                          <a:spcPct val="0"/>
                        </a:spcBef>
                        <a:spcAft>
                          <a:spcPts val="100"/>
                        </a:spcAft>
                      </a:pPr>
                      <a:r>
                        <a:rPr lang="zh-CN" sz="1800" b="1" i="0">
                          <a:solidFill>
                            <a:srgbClr val="000000"/>
                          </a:solidFill>
                          <a:latin typeface="Arial" panose="020B0604020202020204" pitchFamily="34" charset="0"/>
                          <a:ea typeface="微软雅黑" panose="020B0503020204020204" pitchFamily="34" charset="-122"/>
                        </a:rPr>
                        <a:t>全部完成</a:t>
                      </a:r>
                    </a:p>
                  </a:txBody>
                  <a:tcPr marL="121920" marR="121920" marT="76200" marB="76200" anchor="ctr"/>
                </a:tc>
                <a:tc>
                  <a:txBody>
                    <a:bodyPr/>
                    <a:lstStyle/>
                    <a:p>
                      <a:pPr marL="68580" marR="0" indent="0" algn="ctr" defTabSz="914400" rtl="0" eaLnBrk="1" fontAlgn="auto" latinLnBrk="0" hangingPunct="1">
                        <a:lnSpc>
                          <a:spcPct val="100000"/>
                        </a:lnSpc>
                        <a:spcBef>
                          <a:spcPct val="0"/>
                        </a:spcBef>
                        <a:spcAft>
                          <a:spcPts val="100"/>
                        </a:spcAft>
                        <a:buClrTx/>
                        <a:buSzTx/>
                        <a:buFontTx/>
                        <a:buNone/>
                        <a:tabLst/>
                        <a:defRPr/>
                      </a:pPr>
                      <a:r>
                        <a:rPr lang="zh-CN" altLang="en-US" sz="1800" b="1" i="0">
                          <a:solidFill>
                            <a:schemeClr val="tx1"/>
                          </a:solidFill>
                          <a:latin typeface="Arial" panose="020B0604020202020204" pitchFamily="34" charset="0"/>
                          <a:ea typeface="微软雅黑" panose="020B0503020204020204" pitchFamily="34" charset="-122"/>
                        </a:rPr>
                        <a:t>实现了 </a:t>
                      </a:r>
                      <a:r>
                        <a:rPr lang="en-US" altLang="zh-CN" sz="1800" b="1" i="0">
                          <a:solidFill>
                            <a:srgbClr val="FF0000"/>
                          </a:solidFill>
                          <a:latin typeface="Arial" panose="020B0604020202020204" pitchFamily="34" charset="0"/>
                          <a:ea typeface="微软雅黑" panose="020B0503020204020204" pitchFamily="34" charset="-122"/>
                        </a:rPr>
                        <a:t>Dense </a:t>
                      </a:r>
                      <a:r>
                        <a:rPr lang="zh-CN" altLang="en-US" sz="1800" b="1" i="0">
                          <a:solidFill>
                            <a:srgbClr val="FF0000"/>
                          </a:solidFill>
                          <a:latin typeface="Arial" panose="020B0604020202020204" pitchFamily="34" charset="0"/>
                          <a:ea typeface="微软雅黑" panose="020B0503020204020204" pitchFamily="34" charset="-122"/>
                        </a:rPr>
                        <a:t>权重的前向预取</a:t>
                      </a:r>
                      <a:r>
                        <a:rPr lang="zh-CN" altLang="en-US" sz="1800" b="1" i="0">
                          <a:solidFill>
                            <a:schemeClr val="tx1"/>
                          </a:solidFill>
                          <a:latin typeface="Arial" panose="020B0604020202020204" pitchFamily="34" charset="0"/>
                          <a:ea typeface="微软雅黑" panose="020B0503020204020204" pitchFamily="34" charset="-122"/>
                        </a:rPr>
                        <a:t>、</a:t>
                      </a:r>
                      <a:r>
                        <a:rPr lang="en-US" altLang="zh-CN" sz="1800" b="1" i="0">
                          <a:solidFill>
                            <a:srgbClr val="FF0000"/>
                          </a:solidFill>
                          <a:latin typeface="Arial" panose="020B0604020202020204" pitchFamily="34" charset="0"/>
                          <a:ea typeface="微软雅黑" panose="020B0503020204020204" pitchFamily="34" charset="-122"/>
                        </a:rPr>
                        <a:t>MoE</a:t>
                      </a:r>
                      <a:r>
                        <a:rPr lang="zh-CN" altLang="en-US" sz="1800" b="1" i="0">
                          <a:solidFill>
                            <a:srgbClr val="FF0000"/>
                          </a:solidFill>
                          <a:latin typeface="Arial" panose="020B0604020202020204" pitchFamily="34" charset="0"/>
                          <a:ea typeface="微软雅黑" panose="020B0503020204020204" pitchFamily="34" charset="-122"/>
                        </a:rPr>
                        <a:t>专家预测预取</a:t>
                      </a:r>
                      <a:endParaRPr lang="en-US" altLang="zh-CN" sz="1800" b="1" i="0">
                        <a:solidFill>
                          <a:srgbClr val="FF0000"/>
                        </a:solidFill>
                        <a:latin typeface="Arial" panose="020B0604020202020204" pitchFamily="34" charset="0"/>
                        <a:ea typeface="微软雅黑" panose="020B0503020204020204" pitchFamily="34" charset="-122"/>
                      </a:endParaRPr>
                    </a:p>
                    <a:p>
                      <a:pPr marL="68580" marR="0" indent="0" algn="ctr" defTabSz="914400" rtl="0" eaLnBrk="1" fontAlgn="auto" latinLnBrk="0" hangingPunct="1">
                        <a:lnSpc>
                          <a:spcPct val="100000"/>
                        </a:lnSpc>
                        <a:spcBef>
                          <a:spcPct val="0"/>
                        </a:spcBef>
                        <a:spcAft>
                          <a:spcPts val="100"/>
                        </a:spcAft>
                        <a:buClrTx/>
                        <a:buSzTx/>
                        <a:buFontTx/>
                        <a:buNone/>
                        <a:tabLst/>
                        <a:defRPr/>
                      </a:pPr>
                      <a:r>
                        <a:rPr lang="zh-CN" altLang="en-US" sz="1800" b="1" i="0">
                          <a:solidFill>
                            <a:schemeClr val="tx1"/>
                          </a:solidFill>
                          <a:latin typeface="Arial" panose="020B0604020202020204" pitchFamily="34" charset="0"/>
                          <a:ea typeface="微软雅黑" panose="020B0503020204020204" pitchFamily="34" charset="-122"/>
                        </a:rPr>
                        <a:t>以及 </a:t>
                      </a:r>
                      <a:r>
                        <a:rPr lang="en-US" altLang="zh-CN" sz="1800" b="1" i="0">
                          <a:solidFill>
                            <a:srgbClr val="FF0000"/>
                          </a:solidFill>
                          <a:latin typeface="Arial" panose="020B0604020202020204" pitchFamily="34" charset="0"/>
                          <a:ea typeface="微软雅黑" panose="020B0503020204020204" pitchFamily="34" charset="-122"/>
                        </a:rPr>
                        <a:t>KV </a:t>
                      </a:r>
                      <a:r>
                        <a:rPr lang="zh-CN" altLang="en-US" sz="1800" b="1" i="0">
                          <a:solidFill>
                            <a:srgbClr val="FF0000"/>
                          </a:solidFill>
                          <a:latin typeface="Arial" panose="020B0604020202020204" pitchFamily="34" charset="0"/>
                          <a:ea typeface="微软雅黑" panose="020B0503020204020204" pitchFamily="34" charset="-122"/>
                        </a:rPr>
                        <a:t>向量读取</a:t>
                      </a:r>
                      <a:r>
                        <a:rPr lang="en-US" altLang="zh-CN" sz="1800" b="1" i="0">
                          <a:solidFill>
                            <a:srgbClr val="FF0000"/>
                          </a:solidFill>
                          <a:latin typeface="Arial" panose="020B0604020202020204" pitchFamily="34" charset="0"/>
                          <a:ea typeface="微软雅黑" panose="020B0503020204020204" pitchFamily="34" charset="-122"/>
                        </a:rPr>
                        <a:t>/</a:t>
                      </a:r>
                      <a:r>
                        <a:rPr lang="zh-CN" altLang="en-US" sz="1800" b="1" i="0">
                          <a:solidFill>
                            <a:srgbClr val="FF0000"/>
                          </a:solidFill>
                          <a:latin typeface="Arial" panose="020B0604020202020204" pitchFamily="34" charset="0"/>
                          <a:ea typeface="微软雅黑" panose="020B0503020204020204" pitchFamily="34" charset="-122"/>
                        </a:rPr>
                        <a:t>恢复流水线</a:t>
                      </a:r>
                      <a:r>
                        <a:rPr lang="zh-CN" altLang="en-US" sz="1800" b="1" i="0">
                          <a:solidFill>
                            <a:schemeClr val="tx1"/>
                          </a:solidFill>
                          <a:latin typeface="Arial" panose="020B0604020202020204" pitchFamily="34" charset="0"/>
                          <a:ea typeface="微软雅黑" panose="020B0503020204020204" pitchFamily="34" charset="-122"/>
                        </a:rPr>
                        <a:t>，借助后台异步</a:t>
                      </a:r>
                      <a:r>
                        <a:rPr lang="en-US" altLang="zh-CN" sz="1800" b="1" i="0">
                          <a:solidFill>
                            <a:schemeClr val="tx1"/>
                          </a:solidFill>
                          <a:latin typeface="Arial" panose="020B0604020202020204" pitchFamily="34" charset="0"/>
                          <a:ea typeface="微软雅黑" panose="020B0503020204020204" pitchFamily="34" charset="-122"/>
                        </a:rPr>
                        <a:t>I/O</a:t>
                      </a:r>
                      <a:r>
                        <a:rPr lang="zh-CN" altLang="en-US" sz="1800" b="1" i="0">
                          <a:solidFill>
                            <a:schemeClr val="tx1"/>
                          </a:solidFill>
                          <a:latin typeface="Arial" panose="020B0604020202020204" pitchFamily="34" charset="0"/>
                          <a:ea typeface="微软雅黑" panose="020B0503020204020204" pitchFamily="34" charset="-122"/>
                        </a:rPr>
                        <a:t>，</a:t>
                      </a:r>
                      <a:endParaRPr lang="en-US" altLang="zh-CN" sz="1800" b="1" i="0">
                        <a:solidFill>
                          <a:schemeClr val="tx1"/>
                        </a:solidFill>
                        <a:latin typeface="Arial" panose="020B0604020202020204" pitchFamily="34" charset="0"/>
                        <a:ea typeface="微软雅黑" panose="020B0503020204020204" pitchFamily="34" charset="-122"/>
                      </a:endParaRPr>
                    </a:p>
                    <a:p>
                      <a:pPr marL="68580" marR="0" indent="0" algn="ctr" defTabSz="914400" rtl="0" eaLnBrk="1" fontAlgn="auto" latinLnBrk="0" hangingPunct="1">
                        <a:lnSpc>
                          <a:spcPct val="100000"/>
                        </a:lnSpc>
                        <a:spcBef>
                          <a:spcPct val="0"/>
                        </a:spcBef>
                        <a:spcAft>
                          <a:spcPts val="100"/>
                        </a:spcAft>
                        <a:buClrTx/>
                        <a:buSzTx/>
                        <a:buFontTx/>
                        <a:buNone/>
                        <a:tabLst/>
                        <a:defRPr/>
                      </a:pPr>
                      <a:r>
                        <a:rPr lang="zh-CN" altLang="en-US" sz="1800" b="1" i="0">
                          <a:solidFill>
                            <a:schemeClr val="tx1"/>
                          </a:solidFill>
                          <a:latin typeface="Arial" panose="020B0604020202020204" pitchFamily="34" charset="0"/>
                          <a:ea typeface="微软雅黑" panose="020B0503020204020204" pitchFamily="34" charset="-122"/>
                        </a:rPr>
                        <a:t>有效提升了计算与数据迁移之间的并行度。</a:t>
                      </a:r>
                      <a:endParaRPr lang="zh-CN" altLang="en-US" sz="1800" b="1" i="0">
                        <a:solidFill>
                          <a:srgbClr val="000000"/>
                        </a:solidFill>
                        <a:latin typeface="Arial" panose="020B0604020202020204" pitchFamily="34" charset="0"/>
                        <a:ea typeface="微软雅黑" panose="020B0503020204020204" pitchFamily="34" charset="-122"/>
                        <a:cs typeface="+mn-cs"/>
                      </a:endParaRPr>
                    </a:p>
                  </a:txBody>
                  <a:tcPr marL="121920" marR="0" marT="76200" marB="76200" anchor="ctr"/>
                </a:tc>
                <a:extLst>
                  <a:ext uri="{0D108BD9-81ED-4DB2-BD59-A6C34878D82A}">
                    <a16:rowId xmlns:a16="http://schemas.microsoft.com/office/drawing/2014/main" val="10003"/>
                  </a:ext>
                </a:extLst>
              </a:tr>
              <a:tr h="1016257">
                <a:tc>
                  <a:txBody>
                    <a:bodyPr/>
                    <a:lstStyle/>
                    <a:p>
                      <a:pPr marL="68580" marR="0" indent="0" algn="ctr" defTabSz="914400" rtl="0" eaLnBrk="1" fontAlgn="auto" latinLnBrk="0" hangingPunct="1">
                        <a:lnSpc>
                          <a:spcPct val="100000"/>
                        </a:lnSpc>
                        <a:spcBef>
                          <a:spcPct val="0"/>
                        </a:spcBef>
                        <a:spcAft>
                          <a:spcPts val="100"/>
                        </a:spcAft>
                        <a:buClrTx/>
                        <a:buSzTx/>
                        <a:buFontTx/>
                        <a:buNone/>
                        <a:tabLst/>
                        <a:defRPr/>
                      </a:pPr>
                      <a:r>
                        <a:rPr lang="en-US" altLang="zh-CN" sz="1800" b="1" i="0">
                          <a:solidFill>
                            <a:srgbClr val="000000"/>
                          </a:solidFill>
                          <a:latin typeface="Arial" panose="020B0604020202020204" pitchFamily="34" charset="0"/>
                          <a:ea typeface="微软雅黑" panose="020B0503020204020204" pitchFamily="34" charset="-122"/>
                        </a:rPr>
                        <a:t>4</a:t>
                      </a:r>
                      <a:r>
                        <a:rPr lang="zh-CN" altLang="en-US" sz="1800" b="1" i="0">
                          <a:solidFill>
                            <a:srgbClr val="000000"/>
                          </a:solidFill>
                          <a:latin typeface="Arial" panose="020B0604020202020204" pitchFamily="34" charset="0"/>
                          <a:ea typeface="微软雅黑" panose="020B0503020204020204" pitchFamily="34" charset="-122"/>
                        </a:rPr>
                        <a:t>、构建 </a:t>
                      </a:r>
                      <a:r>
                        <a:rPr lang="en" altLang="zh-CN" sz="1800" b="1" i="0">
                          <a:solidFill>
                            <a:srgbClr val="000000"/>
                          </a:solidFill>
                          <a:latin typeface="Arial" panose="020B0604020202020204" pitchFamily="34" charset="0"/>
                          <a:ea typeface="微软雅黑" panose="020B0503020204020204" pitchFamily="34" charset="-122"/>
                        </a:rPr>
                        <a:t>Weight-KV-I/O </a:t>
                      </a:r>
                      <a:r>
                        <a:rPr lang="zh-CN" altLang="en-US" sz="1800" b="1" i="0">
                          <a:solidFill>
                            <a:srgbClr val="000000"/>
                          </a:solidFill>
                          <a:latin typeface="Arial" panose="020B0604020202020204" pitchFamily="34" charset="0"/>
                          <a:ea typeface="微软雅黑" panose="020B0503020204020204" pitchFamily="34" charset="-122"/>
                        </a:rPr>
                        <a:t>全局资源协调机制</a:t>
                      </a:r>
                      <a:endParaRPr lang="en-US" altLang="zh-CN" sz="1800" b="1" i="0">
                        <a:solidFill>
                          <a:srgbClr val="000000"/>
                        </a:solidFill>
                        <a:latin typeface="Arial" panose="020B0604020202020204" pitchFamily="34" charset="0"/>
                        <a:ea typeface="微软雅黑" panose="020B0503020204020204" pitchFamily="34" charset="-122"/>
                      </a:endParaRPr>
                    </a:p>
                  </a:txBody>
                  <a:tcPr marL="0" marR="121920" marT="76200" marB="76200" anchor="ctr"/>
                </a:tc>
                <a:tc>
                  <a:txBody>
                    <a:bodyPr/>
                    <a:lstStyle/>
                    <a:p>
                      <a:pPr marL="68580" indent="0" algn="ctr">
                        <a:lnSpc>
                          <a:spcPct val="100000"/>
                        </a:lnSpc>
                        <a:spcBef>
                          <a:spcPct val="0"/>
                        </a:spcBef>
                        <a:spcAft>
                          <a:spcPts val="100"/>
                        </a:spcAft>
                      </a:pPr>
                      <a:r>
                        <a:rPr lang="zh-CN" altLang="en-US" sz="1800" b="1" i="0">
                          <a:solidFill>
                            <a:srgbClr val="000000"/>
                          </a:solidFill>
                          <a:latin typeface="Arial" panose="020B0604020202020204" pitchFamily="34" charset="0"/>
                          <a:ea typeface="微软雅黑" panose="020B0503020204020204" pitchFamily="34" charset="-122"/>
                        </a:rPr>
                        <a:t>全部完成</a:t>
                      </a:r>
                      <a:endParaRPr lang="zh-CN" sz="1800" b="1" i="0">
                        <a:solidFill>
                          <a:srgbClr val="000000"/>
                        </a:solidFill>
                        <a:latin typeface="Arial" panose="020B0604020202020204" pitchFamily="34" charset="0"/>
                        <a:ea typeface="微软雅黑" panose="020B0503020204020204" pitchFamily="34" charset="-122"/>
                      </a:endParaRPr>
                    </a:p>
                  </a:txBody>
                  <a:tcPr marL="121920" marR="121920" marT="76200" marB="76200" anchor="ctr"/>
                </a:tc>
                <a:tc>
                  <a:txBody>
                    <a:bodyPr/>
                    <a:lstStyle/>
                    <a:p>
                      <a:pPr marL="68580" marR="0" indent="0" algn="ctr" defTabSz="914400" rtl="0" eaLnBrk="1" fontAlgn="auto" latinLnBrk="0" hangingPunct="1">
                        <a:lnSpc>
                          <a:spcPct val="100000"/>
                        </a:lnSpc>
                        <a:spcBef>
                          <a:spcPct val="0"/>
                        </a:spcBef>
                        <a:spcAft>
                          <a:spcPts val="100"/>
                        </a:spcAft>
                        <a:buClrTx/>
                        <a:buSzTx/>
                        <a:buFontTx/>
                        <a:buNone/>
                        <a:tabLst/>
                        <a:defRPr/>
                      </a:pPr>
                      <a:r>
                        <a:rPr lang="zh-CN" altLang="en-US" sz="1800" b="1" i="0">
                          <a:solidFill>
                            <a:schemeClr val="tx1"/>
                          </a:solidFill>
                          <a:latin typeface="Arial" panose="020B0604020202020204" pitchFamily="34" charset="0"/>
                          <a:ea typeface="微软雅黑" panose="020B0503020204020204" pitchFamily="34" charset="-122"/>
                          <a:cs typeface="+mn-cs"/>
                        </a:rPr>
                        <a:t>设计了</a:t>
                      </a:r>
                      <a:r>
                        <a:rPr lang="zh-CN" altLang="en-US" sz="1800" b="1" i="0">
                          <a:solidFill>
                            <a:srgbClr val="FF0000"/>
                          </a:solidFill>
                          <a:latin typeface="Arial" panose="020B0604020202020204" pitchFamily="34" charset="0"/>
                          <a:ea typeface="微软雅黑" panose="020B0503020204020204" pitchFamily="34" charset="-122"/>
                          <a:cs typeface="+mn-cs"/>
                        </a:rPr>
                        <a:t> </a:t>
                      </a:r>
                      <a:r>
                        <a:rPr lang="en" altLang="zh-CN" sz="1800" b="1" i="0">
                          <a:solidFill>
                            <a:srgbClr val="FF0000"/>
                          </a:solidFill>
                          <a:latin typeface="Arial" panose="020B0604020202020204" pitchFamily="34" charset="0"/>
                          <a:ea typeface="微软雅黑" panose="020B0503020204020204" pitchFamily="34" charset="-122"/>
                          <a:cs typeface="+mn-cs"/>
                        </a:rPr>
                        <a:t>G</a:t>
                      </a:r>
                      <a:r>
                        <a:rPr lang="en-US" altLang="zh-CN" sz="1800" b="1" i="0">
                          <a:solidFill>
                            <a:srgbClr val="FF0000"/>
                          </a:solidFill>
                          <a:latin typeface="Arial" panose="020B0604020202020204" pitchFamily="34" charset="0"/>
                          <a:ea typeface="微软雅黑" panose="020B0503020204020204" pitchFamily="34" charset="-122"/>
                          <a:cs typeface="+mn-cs"/>
                        </a:rPr>
                        <a:t>lobal Memoty Governor </a:t>
                      </a:r>
                      <a:r>
                        <a:rPr lang="zh-CN" altLang="en-US" sz="1800" b="1" i="0">
                          <a:solidFill>
                            <a:srgbClr val="FF0000"/>
                          </a:solidFill>
                          <a:latin typeface="Arial" panose="020B0604020202020204" pitchFamily="34" charset="0"/>
                          <a:ea typeface="微软雅黑" panose="020B0503020204020204" pitchFamily="34" charset="-122"/>
                          <a:cs typeface="+mn-cs"/>
                        </a:rPr>
                        <a:t>全局资源调度模块</a:t>
                      </a:r>
                      <a:r>
                        <a:rPr lang="zh-CN" altLang="en" sz="1800" b="1" i="0">
                          <a:solidFill>
                            <a:srgbClr val="000000"/>
                          </a:solidFill>
                          <a:latin typeface="Arial" panose="020B0604020202020204" pitchFamily="34" charset="0"/>
                          <a:ea typeface="微软雅黑" panose="020B0503020204020204" pitchFamily="34" charset="-122"/>
                          <a:cs typeface="+mn-cs"/>
                        </a:rPr>
                        <a:t>，</a:t>
                      </a:r>
                      <a:endParaRPr lang="en-US" altLang="zh-CN" sz="1800" b="1" i="0">
                        <a:solidFill>
                          <a:srgbClr val="000000"/>
                        </a:solidFill>
                        <a:latin typeface="Arial" panose="020B0604020202020204" pitchFamily="34" charset="0"/>
                        <a:ea typeface="微软雅黑" panose="020B0503020204020204" pitchFamily="34" charset="-122"/>
                        <a:cs typeface="+mn-cs"/>
                      </a:endParaRPr>
                    </a:p>
                    <a:p>
                      <a:pPr marL="68580" marR="0" indent="0" algn="ctr" defTabSz="914400" rtl="0" eaLnBrk="1" fontAlgn="auto" latinLnBrk="0" hangingPunct="1">
                        <a:lnSpc>
                          <a:spcPct val="100000"/>
                        </a:lnSpc>
                        <a:spcBef>
                          <a:spcPct val="0"/>
                        </a:spcBef>
                        <a:spcAft>
                          <a:spcPts val="100"/>
                        </a:spcAft>
                        <a:buClrTx/>
                        <a:buSzTx/>
                        <a:buFontTx/>
                        <a:buNone/>
                        <a:tabLst/>
                        <a:defRPr/>
                      </a:pPr>
                      <a:r>
                        <a:rPr lang="zh-CN" altLang="en-US" sz="1800" b="1" i="0">
                          <a:solidFill>
                            <a:schemeClr val="tx1"/>
                          </a:solidFill>
                          <a:latin typeface="Arial" panose="020B0604020202020204" pitchFamily="34" charset="0"/>
                          <a:ea typeface="微软雅黑" panose="020B0503020204020204" pitchFamily="34" charset="-122"/>
                          <a:cs typeface="+mn-cs"/>
                        </a:rPr>
                        <a:t>统一协调 </a:t>
                      </a:r>
                      <a:r>
                        <a:rPr lang="en" altLang="zh-CN" sz="1800" b="1" i="0">
                          <a:solidFill>
                            <a:schemeClr val="tx1"/>
                          </a:solidFill>
                          <a:latin typeface="Arial" panose="020B0604020202020204" pitchFamily="34" charset="0"/>
                          <a:ea typeface="微软雅黑" panose="020B0503020204020204" pitchFamily="34" charset="-122"/>
                          <a:cs typeface="+mn-cs"/>
                        </a:rPr>
                        <a:t>Dense </a:t>
                      </a:r>
                      <a:r>
                        <a:rPr lang="en" altLang="zh-CN" sz="1800" b="1" i="0">
                          <a:solidFill>
                            <a:srgbClr val="000000"/>
                          </a:solidFill>
                          <a:latin typeface="Arial" panose="020B0604020202020204" pitchFamily="34" charset="0"/>
                          <a:ea typeface="微软雅黑" panose="020B0503020204020204" pitchFamily="34" charset="-122"/>
                          <a:cs typeface="+mn-cs"/>
                        </a:rPr>
                        <a:t>/ </a:t>
                      </a:r>
                      <a:r>
                        <a:rPr lang="en-US" altLang="zh-CN" sz="1800" b="1" i="0">
                          <a:solidFill>
                            <a:srgbClr val="000000"/>
                          </a:solidFill>
                          <a:latin typeface="Arial" panose="020B0604020202020204" pitchFamily="34" charset="0"/>
                          <a:ea typeface="微软雅黑" panose="020B0503020204020204" pitchFamily="34" charset="-122"/>
                          <a:cs typeface="+mn-cs"/>
                        </a:rPr>
                        <a:t>MoE </a:t>
                      </a:r>
                      <a:r>
                        <a:rPr lang="zh-CN" altLang="en-US" sz="1800" b="1" i="0">
                          <a:solidFill>
                            <a:srgbClr val="000000"/>
                          </a:solidFill>
                          <a:latin typeface="Arial" panose="020B0604020202020204" pitchFamily="34" charset="0"/>
                          <a:ea typeface="微软雅黑" panose="020B0503020204020204" pitchFamily="34" charset="-122"/>
                          <a:cs typeface="+mn-cs"/>
                        </a:rPr>
                        <a:t>权重与 </a:t>
                      </a:r>
                      <a:r>
                        <a:rPr lang="en" altLang="zh-CN" sz="1800" b="1" i="0">
                          <a:solidFill>
                            <a:srgbClr val="000000"/>
                          </a:solidFill>
                          <a:latin typeface="Arial" panose="020B0604020202020204" pitchFamily="34" charset="0"/>
                          <a:ea typeface="微软雅黑" panose="020B0503020204020204" pitchFamily="34" charset="-122"/>
                          <a:cs typeface="+mn-cs"/>
                        </a:rPr>
                        <a:t>KV Cache </a:t>
                      </a:r>
                      <a:r>
                        <a:rPr lang="zh-CN" altLang="en-US" sz="1800" b="1" i="0">
                          <a:solidFill>
                            <a:srgbClr val="000000"/>
                          </a:solidFill>
                          <a:latin typeface="Arial" panose="020B0604020202020204" pitchFamily="34" charset="0"/>
                          <a:ea typeface="微软雅黑" panose="020B0503020204020204" pitchFamily="34" charset="-122"/>
                          <a:cs typeface="+mn-cs"/>
                        </a:rPr>
                        <a:t>管理模块</a:t>
                      </a:r>
                      <a:endParaRPr lang="en-US" altLang="zh-CN" sz="1800" b="1" i="0">
                        <a:solidFill>
                          <a:srgbClr val="000000"/>
                        </a:solidFill>
                        <a:latin typeface="Arial" panose="020B0604020202020204" pitchFamily="34" charset="0"/>
                        <a:ea typeface="微软雅黑" panose="020B0503020204020204" pitchFamily="34" charset="-122"/>
                        <a:cs typeface="+mn-cs"/>
                      </a:endParaRPr>
                    </a:p>
                    <a:p>
                      <a:pPr marL="68580" marR="0" indent="0" algn="ctr" defTabSz="914400" rtl="0" eaLnBrk="1" fontAlgn="auto" latinLnBrk="0" hangingPunct="1">
                        <a:lnSpc>
                          <a:spcPct val="100000"/>
                        </a:lnSpc>
                        <a:spcBef>
                          <a:spcPct val="0"/>
                        </a:spcBef>
                        <a:spcAft>
                          <a:spcPts val="100"/>
                        </a:spcAft>
                        <a:buClrTx/>
                        <a:buSzTx/>
                        <a:buFontTx/>
                        <a:buNone/>
                        <a:tabLst/>
                        <a:defRPr/>
                      </a:pPr>
                      <a:r>
                        <a:rPr lang="zh-CN" altLang="en-US" sz="1800" b="1" i="0">
                          <a:solidFill>
                            <a:srgbClr val="000000"/>
                          </a:solidFill>
                          <a:latin typeface="Arial" panose="020B0604020202020204" pitchFamily="34" charset="0"/>
                          <a:ea typeface="微软雅黑" panose="020B0503020204020204" pitchFamily="34" charset="-122"/>
                          <a:cs typeface="+mn-cs"/>
                        </a:rPr>
                        <a:t>之间的</a:t>
                      </a:r>
                      <a:r>
                        <a:rPr lang="zh-CN" altLang="zh-CN" sz="1800" b="1" i="0" kern="1200">
                          <a:solidFill>
                            <a:schemeClr val="dk1"/>
                          </a:solidFill>
                          <a:effectLst/>
                          <a:latin typeface="+mn-lt"/>
                          <a:ea typeface="+mn-ea"/>
                          <a:cs typeface="+mn-cs"/>
                        </a:rPr>
                        <a:t>内存配额、回收时机与预取优先级</a:t>
                      </a:r>
                      <a:r>
                        <a:rPr lang="zh-CN" altLang="en-US" sz="1800" b="1" i="0" kern="1200">
                          <a:solidFill>
                            <a:srgbClr val="000000"/>
                          </a:solidFill>
                          <a:latin typeface="Arial" panose="020B0604020202020204" pitchFamily="34" charset="0"/>
                          <a:ea typeface="微软雅黑" panose="020B0503020204020204" pitchFamily="34" charset="-122"/>
                          <a:cs typeface="+mn-cs"/>
                        </a:rPr>
                        <a:t>。</a:t>
                      </a:r>
                    </a:p>
                  </a:txBody>
                  <a:tcPr marL="121920" marR="0" marT="76200" marB="76200" anchor="ctr"/>
                </a:tc>
                <a:extLst>
                  <a:ext uri="{0D108BD9-81ED-4DB2-BD59-A6C34878D82A}">
                    <a16:rowId xmlns:a16="http://schemas.microsoft.com/office/drawing/2014/main" val="960615930"/>
                  </a:ext>
                </a:extLst>
              </a:tr>
              <a:tr h="708656">
                <a:tc>
                  <a:txBody>
                    <a:bodyPr/>
                    <a:lstStyle/>
                    <a:p>
                      <a:pPr marL="68580" indent="0" algn="ctr">
                        <a:lnSpc>
                          <a:spcPct val="100000"/>
                        </a:lnSpc>
                        <a:spcBef>
                          <a:spcPct val="0"/>
                        </a:spcBef>
                        <a:spcAft>
                          <a:spcPts val="100"/>
                        </a:spcAft>
                      </a:pPr>
                      <a:r>
                        <a:rPr lang="zh-CN" sz="1800" b="1" i="0">
                          <a:solidFill>
                            <a:srgbClr val="000000"/>
                          </a:solidFill>
                          <a:latin typeface="Arial" panose="020B0604020202020204" pitchFamily="34" charset="0"/>
                          <a:ea typeface="微软雅黑" panose="020B0503020204020204" pitchFamily="34" charset="-122"/>
                        </a:rPr>
                        <a:t>总计</a:t>
                      </a:r>
                    </a:p>
                  </a:txBody>
                  <a:tcPr marL="0" marR="121920" marT="76200" marB="76200" anchor="ctr"/>
                </a:tc>
                <a:tc>
                  <a:txBody>
                    <a:bodyPr/>
                    <a:lstStyle/>
                    <a:p>
                      <a:pPr marL="68580" indent="0" algn="ctr">
                        <a:lnSpc>
                          <a:spcPct val="100000"/>
                        </a:lnSpc>
                        <a:spcBef>
                          <a:spcPct val="0"/>
                        </a:spcBef>
                        <a:spcAft>
                          <a:spcPts val="100"/>
                        </a:spcAft>
                      </a:pPr>
                      <a:r>
                        <a:rPr lang="zh-CN" sz="1800" b="1" i="0">
                          <a:solidFill>
                            <a:srgbClr val="000000"/>
                          </a:solidFill>
                          <a:latin typeface="Arial" panose="020B0604020202020204" pitchFamily="34" charset="0"/>
                          <a:ea typeface="微软雅黑" panose="020B0503020204020204" pitchFamily="34" charset="-122"/>
                        </a:rPr>
                        <a:t>全部完成</a:t>
                      </a:r>
                    </a:p>
                  </a:txBody>
                  <a:tcPr marL="121920" marR="121920" marT="76200" marB="76200" anchor="ctr"/>
                </a:tc>
                <a:tc>
                  <a:txBody>
                    <a:bodyPr/>
                    <a:lstStyle/>
                    <a:p>
                      <a:pPr marL="68580" indent="0" algn="ctr">
                        <a:lnSpc>
                          <a:spcPct val="100000"/>
                        </a:lnSpc>
                        <a:spcBef>
                          <a:spcPct val="0"/>
                        </a:spcBef>
                        <a:spcAft>
                          <a:spcPts val="100"/>
                        </a:spcAft>
                      </a:pPr>
                      <a:r>
                        <a:rPr lang="zh-CN" altLang="en-US" sz="1800" b="1" i="0">
                          <a:solidFill>
                            <a:schemeClr val="tx1"/>
                          </a:solidFill>
                          <a:latin typeface="Arial" panose="020B0604020202020204" pitchFamily="34" charset="0"/>
                          <a:ea typeface="微软雅黑" panose="020B0503020204020204" pitchFamily="34" charset="-122"/>
                        </a:rPr>
                        <a:t>完成 </a:t>
                      </a:r>
                      <a:r>
                        <a:rPr lang="en-US" altLang="zh-CN" sz="1800" b="1" i="0">
                          <a:solidFill>
                            <a:schemeClr val="tx1"/>
                          </a:solidFill>
                          <a:latin typeface="Arial" panose="020B0604020202020204" pitchFamily="34" charset="0"/>
                          <a:ea typeface="微软雅黑" panose="020B0503020204020204" pitchFamily="34" charset="-122"/>
                        </a:rPr>
                        <a:t>LLM </a:t>
                      </a:r>
                      <a:r>
                        <a:rPr lang="zh-CN" altLang="en-US" sz="1800" b="1" i="0">
                          <a:solidFill>
                            <a:schemeClr val="tx1"/>
                          </a:solidFill>
                          <a:latin typeface="Arial" panose="020B0604020202020204" pitchFamily="34" charset="0"/>
                          <a:ea typeface="微软雅黑" panose="020B0503020204020204" pitchFamily="34" charset="-122"/>
                        </a:rPr>
                        <a:t>推理内存优化系统的核心逻辑设计与实现，</a:t>
                      </a:r>
                      <a:endParaRPr lang="en-US" altLang="zh-CN" sz="1800" b="1" i="0">
                        <a:solidFill>
                          <a:schemeClr val="tx1"/>
                        </a:solidFill>
                        <a:latin typeface="Arial" panose="020B0604020202020204" pitchFamily="34" charset="0"/>
                        <a:ea typeface="微软雅黑" panose="020B0503020204020204" pitchFamily="34" charset="-122"/>
                      </a:endParaRPr>
                    </a:p>
                    <a:p>
                      <a:pPr marL="68580" indent="0" algn="ctr">
                        <a:lnSpc>
                          <a:spcPct val="100000"/>
                        </a:lnSpc>
                        <a:spcBef>
                          <a:spcPct val="0"/>
                        </a:spcBef>
                        <a:spcAft>
                          <a:spcPts val="100"/>
                        </a:spcAft>
                      </a:pPr>
                      <a:r>
                        <a:rPr lang="zh-CN" altLang="en-US" sz="1800" b="1" i="0">
                          <a:solidFill>
                            <a:schemeClr val="tx1"/>
                          </a:solidFill>
                          <a:latin typeface="Arial" panose="020B0604020202020204" pitchFamily="34" charset="0"/>
                          <a:ea typeface="微软雅黑" panose="020B0503020204020204" pitchFamily="34" charset="-122"/>
                        </a:rPr>
                        <a:t>并完成内存节省和推理性能验证。</a:t>
                      </a:r>
                      <a:endParaRPr lang="zh-CN" altLang="en-US" sz="1800" b="1" i="0">
                        <a:solidFill>
                          <a:schemeClr val="tx1"/>
                        </a:solidFill>
                        <a:latin typeface="Arial" panose="020B0604020202020204" pitchFamily="34" charset="0"/>
                        <a:ea typeface="微软雅黑" panose="020B0503020204020204" pitchFamily="34" charset="-122"/>
                        <a:cs typeface="+mn-cs"/>
                      </a:endParaRPr>
                    </a:p>
                  </a:txBody>
                  <a:tcPr marL="121920" marR="0" marT="76200" marB="76200" anchor="ctr"/>
                </a:tc>
                <a:extLst>
                  <a:ext uri="{0D108BD9-81ED-4DB2-BD59-A6C34878D82A}">
                    <a16:rowId xmlns:a16="http://schemas.microsoft.com/office/drawing/2014/main" val="10004"/>
                  </a:ext>
                </a:extLst>
              </a:tr>
            </a:tbl>
          </a:graphicData>
        </a:graphic>
      </p:graphicFrame>
      <p:sp>
        <p:nvSpPr>
          <p:cNvPr id="15" name="矩形 4">
            <a:extLst>
              <a:ext uri="{FF2B5EF4-FFF2-40B4-BE49-F238E27FC236}">
                <a16:creationId xmlns:a16="http://schemas.microsoft.com/office/drawing/2014/main" id="{288F1A8C-E61D-22B6-40F2-BF777F09EF6E}"/>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cxnSp>
        <p:nvCxnSpPr>
          <p:cNvPr id="16" name="直接连接符 15">
            <a:extLst>
              <a:ext uri="{FF2B5EF4-FFF2-40B4-BE49-F238E27FC236}">
                <a16:creationId xmlns:a16="http://schemas.microsoft.com/office/drawing/2014/main" id="{E07FA764-8458-B28C-403A-2CC880CC68BA}"/>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034BEECB-543C-FFA1-AD9B-9C4CF1B7217E}"/>
              </a:ext>
            </a:extLst>
          </p:cNvPr>
          <p:cNvSpPr/>
          <p:nvPr/>
        </p:nvSpPr>
        <p:spPr>
          <a:xfrm>
            <a:off x="4933648"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cxnSp>
        <p:nvCxnSpPr>
          <p:cNvPr id="18" name="直接连接符 17">
            <a:extLst>
              <a:ext uri="{FF2B5EF4-FFF2-40B4-BE49-F238E27FC236}">
                <a16:creationId xmlns:a16="http://schemas.microsoft.com/office/drawing/2014/main" id="{03FDD7BE-CA88-D391-12F1-628365E399CF}"/>
              </a:ext>
            </a:extLst>
          </p:cNvPr>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6">
            <a:extLst>
              <a:ext uri="{FF2B5EF4-FFF2-40B4-BE49-F238E27FC236}">
                <a16:creationId xmlns:a16="http://schemas.microsoft.com/office/drawing/2014/main" id="{FD4D0417-00A2-4AA9-B59C-4517E1E80B4D}"/>
              </a:ext>
            </a:extLst>
          </p:cNvPr>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20" name="TextBox 7">
            <a:extLst>
              <a:ext uri="{FF2B5EF4-FFF2-40B4-BE49-F238E27FC236}">
                <a16:creationId xmlns:a16="http://schemas.microsoft.com/office/drawing/2014/main" id="{16640C7F-6F1E-6C10-9066-3E3EA1790055}"/>
              </a:ext>
            </a:extLst>
          </p:cNvPr>
          <p:cNvSpPr txBox="1"/>
          <p:nvPr/>
        </p:nvSpPr>
        <p:spPr>
          <a:xfrm>
            <a:off x="5076749" y="215904"/>
            <a:ext cx="1344000" cy="404714"/>
          </a:xfrm>
          <a:prstGeom prst="rect">
            <a:avLst/>
          </a:prstGeom>
          <a:noFill/>
        </p:spPr>
        <p:txBody>
          <a:bodyPr wrap="square" lIns="0" tIns="48000" rIns="0" bIns="48000" rtlCol="0">
            <a:spAutoFit/>
          </a:bodyPr>
          <a:lstStyle/>
          <a:p>
            <a:pPr algn="ctr"/>
            <a:r>
              <a:rPr lang="zh-CN" altLang="en-US" sz="2000" b="1">
                <a:solidFill>
                  <a:schemeClr val="bg1"/>
                </a:solidFill>
                <a:latin typeface="Arial" panose="020B0604020202020204" pitchFamily="34" charset="0"/>
                <a:ea typeface="微软雅黑" panose="020B0503020204020204" pitchFamily="34" charset="-122"/>
              </a:rPr>
              <a:t>项目目标</a:t>
            </a:r>
            <a:endParaRPr lang="zh-CN" altLang="en-US" sz="2000" b="1" dirty="0">
              <a:solidFill>
                <a:schemeClr val="bg1"/>
              </a:solidFill>
              <a:latin typeface="Arial" panose="020B0604020202020204" pitchFamily="34" charset="0"/>
              <a:ea typeface="微软雅黑" panose="020B0503020204020204" pitchFamily="34" charset="-122"/>
            </a:endParaRPr>
          </a:p>
        </p:txBody>
      </p:sp>
      <p:sp>
        <p:nvSpPr>
          <p:cNvPr id="21" name="TextBox 9">
            <a:extLst>
              <a:ext uri="{FF2B5EF4-FFF2-40B4-BE49-F238E27FC236}">
                <a16:creationId xmlns:a16="http://schemas.microsoft.com/office/drawing/2014/main" id="{F53AC457-2A26-3169-31D7-A5D3A372073E}"/>
              </a:ext>
            </a:extLst>
          </p:cNvPr>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a:solidFill>
                  <a:schemeClr val="bg1">
                    <a:lumMod val="50000"/>
                  </a:schemeClr>
                </a:solidFill>
                <a:latin typeface="Arial" panose="020B0604020202020204" pitchFamily="34" charset="0"/>
                <a:ea typeface="微软雅黑" panose="020B0503020204020204" pitchFamily="34" charset="-122"/>
                <a:sym typeface="+mn-ea"/>
              </a:rPr>
              <a:t>项目实</a:t>
            </a: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现</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sp>
        <p:nvSpPr>
          <p:cNvPr id="32" name="TextBox 10">
            <a:extLst>
              <a:ext uri="{FF2B5EF4-FFF2-40B4-BE49-F238E27FC236}">
                <a16:creationId xmlns:a16="http://schemas.microsoft.com/office/drawing/2014/main" id="{AE09127F-C074-0BB7-85A1-722F3649EA7C}"/>
              </a:ext>
            </a:extLst>
          </p:cNvPr>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项目测试</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sp>
        <p:nvSpPr>
          <p:cNvPr id="33" name="TextBox 11">
            <a:extLst>
              <a:ext uri="{FF2B5EF4-FFF2-40B4-BE49-F238E27FC236}">
                <a16:creationId xmlns:a16="http://schemas.microsoft.com/office/drawing/2014/main" id="{3FF623EB-2948-7049-D6E2-8CE165A945C9}"/>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项目总结</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cxnSp>
        <p:nvCxnSpPr>
          <p:cNvPr id="36" name="直接连接符 35">
            <a:extLst>
              <a:ext uri="{FF2B5EF4-FFF2-40B4-BE49-F238E27FC236}">
                <a16:creationId xmlns:a16="http://schemas.microsoft.com/office/drawing/2014/main" id="{71295906-1EC9-1621-30F0-D05D79D0F5F5}"/>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1AE2CCC3-1054-6676-37E4-F4178DB1904C}"/>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8" name="图片 37">
            <a:extLst>
              <a:ext uri="{FF2B5EF4-FFF2-40B4-BE49-F238E27FC236}">
                <a16:creationId xmlns:a16="http://schemas.microsoft.com/office/drawing/2014/main" id="{86454F67-2785-47C6-09A3-7106746020CF}"/>
              </a:ext>
            </a:extLst>
          </p:cNvPr>
          <p:cNvPicPr>
            <a:picLocks noChangeAspect="1"/>
          </p:cNvPicPr>
          <p:nvPr/>
        </p:nvPicPr>
        <p:blipFill rotWithShape="1">
          <a:blip r:embed="rId3"/>
          <a:srcRect t="29956" r="-277"/>
          <a:stretch>
            <a:fillRect/>
          </a:stretch>
        </p:blipFill>
        <p:spPr>
          <a:xfrm>
            <a:off x="195620" y="89117"/>
            <a:ext cx="2766644" cy="61376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p:cTn id="11" dur="500" fill="hold"/>
                                        <p:tgtEl>
                                          <p:spTgt spid="20"/>
                                        </p:tgtEl>
                                        <p:attrNameLst>
                                          <p:attrName>ppt_w</p:attrName>
                                        </p:attrNameLst>
                                      </p:cBhvr>
                                      <p:tavLst>
                                        <p:tav tm="0">
                                          <p:val>
                                            <p:fltVal val="0"/>
                                          </p:val>
                                        </p:tav>
                                        <p:tav tm="100000">
                                          <p:val>
                                            <p:strVal val="#ppt_w"/>
                                          </p:val>
                                        </p:tav>
                                      </p:tavLst>
                                    </p:anim>
                                    <p:anim calcmode="lin" valueType="num">
                                      <p:cBhvr>
                                        <p:cTn id="12" dur="500" fill="hold"/>
                                        <p:tgtEl>
                                          <p:spTgt spid="20"/>
                                        </p:tgtEl>
                                        <p:attrNameLst>
                                          <p:attrName>ppt_h</p:attrName>
                                        </p:attrNameLst>
                                      </p:cBhvr>
                                      <p:tavLst>
                                        <p:tav tm="0">
                                          <p:val>
                                            <p:fltVal val="0"/>
                                          </p:val>
                                        </p:tav>
                                        <p:tav tm="100000">
                                          <p:val>
                                            <p:strVal val="#ppt_h"/>
                                          </p:val>
                                        </p:tav>
                                      </p:tavLst>
                                    </p:anim>
                                    <p:animEffect transition="in" filter="fade">
                                      <p:cBhvr>
                                        <p:cTn id="1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9EF4AF3-A949-AA13-103E-6EECCC93E268}"/>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AA07CCFF-1D79-C1D7-7DA9-4BE55E713544}"/>
              </a:ext>
            </a:extLst>
          </p:cNvPr>
          <p:cNvSpPr/>
          <p:nvPr/>
        </p:nvSpPr>
        <p:spPr>
          <a:xfrm rot="5400000">
            <a:off x="4227759" y="-4227756"/>
            <a:ext cx="3736490" cy="1219200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Songti SC" panose="02010600040101010101" pitchFamily="2" charset="-122"/>
              <a:ea typeface="Songti SC" panose="02010600040101010101" pitchFamily="2" charset="-122"/>
            </a:endParaRPr>
          </a:p>
        </p:txBody>
      </p:sp>
      <p:grpSp>
        <p:nvGrpSpPr>
          <p:cNvPr id="5" name="组合 4">
            <a:extLst>
              <a:ext uri="{FF2B5EF4-FFF2-40B4-BE49-F238E27FC236}">
                <a16:creationId xmlns:a16="http://schemas.microsoft.com/office/drawing/2014/main" id="{D4F33949-2545-967E-CA93-A82AB0B3F144}"/>
              </a:ext>
            </a:extLst>
          </p:cNvPr>
          <p:cNvGrpSpPr/>
          <p:nvPr/>
        </p:nvGrpSpPr>
        <p:grpSpPr>
          <a:xfrm>
            <a:off x="4919877" y="2920080"/>
            <a:ext cx="2352246" cy="1642832"/>
            <a:chOff x="5127859" y="2518592"/>
            <a:chExt cx="1936282" cy="1723208"/>
          </a:xfrm>
        </p:grpSpPr>
        <p:sp>
          <p:nvSpPr>
            <p:cNvPr id="6" name="任意多边形 5">
              <a:extLst>
                <a:ext uri="{FF2B5EF4-FFF2-40B4-BE49-F238E27FC236}">
                  <a16:creationId xmlns:a16="http://schemas.microsoft.com/office/drawing/2014/main" id="{79CF96B9-03FF-9F4D-BB72-E518262C9B82}"/>
                </a:ext>
              </a:extLst>
            </p:cNvPr>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b="1">
                <a:latin typeface="Songti SC" panose="02010600040101010101" pitchFamily="2" charset="-122"/>
                <a:ea typeface="Songti SC" panose="02010600040101010101" pitchFamily="2" charset="-122"/>
              </a:endParaRPr>
            </a:p>
          </p:txBody>
        </p:sp>
        <p:sp>
          <p:nvSpPr>
            <p:cNvPr id="7" name="任意多边形 6">
              <a:extLst>
                <a:ext uri="{FF2B5EF4-FFF2-40B4-BE49-F238E27FC236}">
                  <a16:creationId xmlns:a16="http://schemas.microsoft.com/office/drawing/2014/main" id="{32B8B8D0-4823-2724-D7F9-EA285CFB3409}"/>
                </a:ext>
              </a:extLst>
            </p:cNvPr>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b="1">
                <a:latin typeface="Songti SC" panose="02010600040101010101" pitchFamily="2" charset="-122"/>
                <a:ea typeface="Songti SC" panose="02010600040101010101" pitchFamily="2" charset="-122"/>
              </a:endParaRPr>
            </a:p>
          </p:txBody>
        </p:sp>
      </p:grpSp>
      <p:sp>
        <p:nvSpPr>
          <p:cNvPr id="8" name="文本框 7">
            <a:extLst>
              <a:ext uri="{FF2B5EF4-FFF2-40B4-BE49-F238E27FC236}">
                <a16:creationId xmlns:a16="http://schemas.microsoft.com/office/drawing/2014/main" id="{136AA12A-C7E4-F592-39C1-65EF5974D296}"/>
              </a:ext>
            </a:extLst>
          </p:cNvPr>
          <p:cNvSpPr txBox="1"/>
          <p:nvPr/>
        </p:nvSpPr>
        <p:spPr>
          <a:xfrm>
            <a:off x="5321588" y="3413325"/>
            <a:ext cx="1723549" cy="646331"/>
          </a:xfrm>
          <a:prstGeom prst="rect">
            <a:avLst/>
          </a:prstGeom>
          <a:noFill/>
        </p:spPr>
        <p:txBody>
          <a:bodyPr wrap="none" rtlCol="0">
            <a:spAutoFit/>
          </a:bodyPr>
          <a:lstStyle/>
          <a:p>
            <a:r>
              <a:rPr lang="en-US" altLang="zh-CN" sz="3600" b="1" dirty="0">
                <a:solidFill>
                  <a:schemeClr val="bg1"/>
                </a:solidFill>
                <a:latin typeface="Arial" panose="020B0604020202020204" pitchFamily="34" charset="0"/>
                <a:ea typeface="微软雅黑" panose="020B0503020204020204" pitchFamily="34" charset="-122"/>
              </a:rPr>
              <a:t>Part</a:t>
            </a:r>
            <a:r>
              <a:rPr lang="en-US" altLang="zh-CN" sz="3600" b="1">
                <a:solidFill>
                  <a:schemeClr val="bg1"/>
                </a:solidFill>
                <a:latin typeface="Arial" panose="020B0604020202020204" pitchFamily="34" charset="0"/>
                <a:ea typeface="微软雅黑" panose="020B0503020204020204" pitchFamily="34" charset="-122"/>
              </a:rPr>
              <a:t>.03</a:t>
            </a:r>
            <a:endParaRPr lang="en-US" altLang="zh-CN" sz="3600" b="1" dirty="0">
              <a:solidFill>
                <a:schemeClr val="bg1"/>
              </a:solidFill>
              <a:latin typeface="Arial" panose="020B0604020202020204" pitchFamily="34" charset="0"/>
              <a:ea typeface="微软雅黑" panose="020B0503020204020204" pitchFamily="34" charset="-122"/>
            </a:endParaRPr>
          </a:p>
        </p:txBody>
      </p:sp>
      <p:sp>
        <p:nvSpPr>
          <p:cNvPr id="9" name="文本框 8">
            <a:extLst>
              <a:ext uri="{FF2B5EF4-FFF2-40B4-BE49-F238E27FC236}">
                <a16:creationId xmlns:a16="http://schemas.microsoft.com/office/drawing/2014/main" id="{79D70CBF-02FC-689A-475A-3137E761EE40}"/>
              </a:ext>
            </a:extLst>
          </p:cNvPr>
          <p:cNvSpPr txBox="1"/>
          <p:nvPr/>
        </p:nvSpPr>
        <p:spPr>
          <a:xfrm>
            <a:off x="3327400" y="4946424"/>
            <a:ext cx="5537198" cy="830997"/>
          </a:xfrm>
          <a:prstGeom prst="rect">
            <a:avLst/>
          </a:prstGeom>
          <a:noFill/>
          <a:ln>
            <a:noFill/>
          </a:ln>
        </p:spPr>
        <p:txBody>
          <a:bodyPr wrap="square" rtlCol="0">
            <a:spAutoFit/>
          </a:bodyPr>
          <a:lstStyle/>
          <a:p>
            <a:pPr algn="ctr"/>
            <a:r>
              <a:rPr lang="zh-CN" altLang="en-US" sz="4800" b="1" spc="600">
                <a:solidFill>
                  <a:schemeClr val="accent6"/>
                </a:solidFill>
                <a:latin typeface="Arial" panose="020B0604020202020204" pitchFamily="34" charset="0"/>
                <a:ea typeface="微软雅黑" panose="020B0503020204020204" pitchFamily="34" charset="-122"/>
              </a:rPr>
              <a:t>项目实现</a:t>
            </a:r>
            <a:endParaRPr lang="zh-CN" altLang="en-US" sz="4800" b="1" spc="600" dirty="0">
              <a:solidFill>
                <a:schemeClr val="accent6"/>
              </a:solidFill>
              <a:latin typeface="Arial" panose="020B0604020202020204" pitchFamily="34" charset="0"/>
              <a:ea typeface="微软雅黑" panose="020B0503020204020204" pitchFamily="34" charset="-122"/>
            </a:endParaRPr>
          </a:p>
        </p:txBody>
      </p:sp>
      <p:pic>
        <p:nvPicPr>
          <p:cNvPr id="10" name="图片 9">
            <a:extLst>
              <a:ext uri="{FF2B5EF4-FFF2-40B4-BE49-F238E27FC236}">
                <a16:creationId xmlns:a16="http://schemas.microsoft.com/office/drawing/2014/main" id="{36142000-0554-DAE3-CDBE-EDE65A5EC9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0390" y="1516741"/>
            <a:ext cx="3582844" cy="657673"/>
          </a:xfrm>
          <a:prstGeom prst="rect">
            <a:avLst/>
          </a:prstGeom>
        </p:spPr>
      </p:pic>
    </p:spTree>
    <p:extLst>
      <p:ext uri="{BB962C8B-B14F-4D97-AF65-F5344CB8AC3E}">
        <p14:creationId xmlns:p14="http://schemas.microsoft.com/office/powerpoint/2010/main" val="40527444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4" fill="hold" nodeType="afterEffect" p14:presetBounceEnd="40000">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14:bounceEnd="40000">
                                          <p:cBhvr additive="base">
                                            <p:cTn id="12" dur="750" fill="hold"/>
                                            <p:tgtEl>
                                              <p:spTgt spid="5"/>
                                            </p:tgtEl>
                                            <p:attrNameLst>
                                              <p:attrName>ppt_x</p:attrName>
                                            </p:attrNameLst>
                                          </p:cBhvr>
                                          <p:tavLst>
                                            <p:tav tm="0">
                                              <p:val>
                                                <p:strVal val="#ppt_x"/>
                                              </p:val>
                                            </p:tav>
                                            <p:tav tm="100000">
                                              <p:val>
                                                <p:strVal val="#ppt_x"/>
                                              </p:val>
                                            </p:tav>
                                          </p:tavLst>
                                        </p:anim>
                                        <p:anim calcmode="lin" valueType="num" p14:bounceEnd="40000">
                                          <p:cBhvr additive="base">
                                            <p:cTn id="13" dur="7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2500"/>
                                </p:stCondLst>
                                <p:childTnLst>
                                  <p:par>
                                    <p:cTn id="21" presetID="50" presetClass="entr" presetSubtype="0" decel="1000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strVal val="#ppt_w+.3"/>
                                              </p:val>
                                            </p:tav>
                                            <p:tav tm="100000">
                                              <p:val>
                                                <p:strVal val="#ppt_w"/>
                                              </p:val>
                                            </p:tav>
                                          </p:tavLst>
                                        </p:anim>
                                        <p:anim calcmode="lin" valueType="num">
                                          <p:cBhvr>
                                            <p:cTn id="24" dur="1000" fill="hold"/>
                                            <p:tgtEl>
                                              <p:spTgt spid="9"/>
                                            </p:tgtEl>
                                            <p:attrNameLst>
                                              <p:attrName>ppt_h</p:attrName>
                                            </p:attrNameLst>
                                          </p:cBhvr>
                                          <p:tavLst>
                                            <p:tav tm="0">
                                              <p:val>
                                                <p:strVal val="#ppt_h"/>
                                              </p:val>
                                            </p:tav>
                                            <p:tav tm="100000">
                                              <p:val>
                                                <p:strVal val="#ppt_h"/>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750" fill="hold"/>
                                            <p:tgtEl>
                                              <p:spTgt spid="5"/>
                                            </p:tgtEl>
                                            <p:attrNameLst>
                                              <p:attrName>ppt_x</p:attrName>
                                            </p:attrNameLst>
                                          </p:cBhvr>
                                          <p:tavLst>
                                            <p:tav tm="0">
                                              <p:val>
                                                <p:strVal val="#ppt_x"/>
                                              </p:val>
                                            </p:tav>
                                            <p:tav tm="100000">
                                              <p:val>
                                                <p:strVal val="#ppt_x"/>
                                              </p:val>
                                            </p:tav>
                                          </p:tavLst>
                                        </p:anim>
                                        <p:anim calcmode="lin" valueType="num">
                                          <p:cBhvr additive="base">
                                            <p:cTn id="13" dur="7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2500"/>
                                </p:stCondLst>
                                <p:childTnLst>
                                  <p:par>
                                    <p:cTn id="21" presetID="50" presetClass="entr" presetSubtype="0" decel="1000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strVal val="#ppt_w+.3"/>
                                              </p:val>
                                            </p:tav>
                                            <p:tav tm="100000">
                                              <p:val>
                                                <p:strVal val="#ppt_w"/>
                                              </p:val>
                                            </p:tav>
                                          </p:tavLst>
                                        </p:anim>
                                        <p:anim calcmode="lin" valueType="num">
                                          <p:cBhvr>
                                            <p:cTn id="24" dur="1000" fill="hold"/>
                                            <p:tgtEl>
                                              <p:spTgt spid="9"/>
                                            </p:tgtEl>
                                            <p:attrNameLst>
                                              <p:attrName>ppt_h</p:attrName>
                                            </p:attrNameLst>
                                          </p:cBhvr>
                                          <p:tavLst>
                                            <p:tav tm="0">
                                              <p:val>
                                                <p:strVal val="#ppt_h"/>
                                              </p:val>
                                            </p:tav>
                                            <p:tav tm="100000">
                                              <p:val>
                                                <p:strVal val="#ppt_h"/>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p:bldLst>
      </p:timing>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 name="TextBox 6"/>
          <p:cNvSpPr txBox="1"/>
          <p:nvPr/>
        </p:nvSpPr>
        <p:spPr>
          <a:xfrm>
            <a:off x="687774" y="987974"/>
            <a:ext cx="2949197" cy="527825"/>
          </a:xfrm>
          <a:prstGeom prst="rect">
            <a:avLst/>
          </a:prstGeom>
          <a:noFill/>
        </p:spPr>
        <p:txBody>
          <a:bodyPr wrap="square" lIns="0" tIns="48000" rIns="0" bIns="48000" rtlCol="0">
            <a:spAutoFit/>
          </a:bodyPr>
          <a:lstStyle/>
          <a:p>
            <a:pPr algn="ctr"/>
            <a:r>
              <a:rPr lang="en-US" altLang="zh-CN" sz="2800" b="1" dirty="0">
                <a:solidFill>
                  <a:schemeClr val="tx1">
                    <a:lumMod val="65000"/>
                    <a:lumOff val="35000"/>
                  </a:schemeClr>
                </a:solidFill>
                <a:latin typeface="Arial" panose="020B0604020202020204" pitchFamily="34" charset="0"/>
                <a:ea typeface="微软雅黑" panose="020B0503020204020204" pitchFamily="34" charset="-122"/>
              </a:rPr>
              <a:t>3</a:t>
            </a: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.1 </a:t>
            </a:r>
            <a:r>
              <a:rPr lang="zh-CN" altLang="en-US" sz="2800" b="1" dirty="0">
                <a:solidFill>
                  <a:schemeClr val="tx1">
                    <a:lumMod val="65000"/>
                    <a:lumOff val="35000"/>
                  </a:schemeClr>
                </a:solidFill>
                <a:latin typeface="Arial" panose="020B0604020202020204" pitchFamily="34" charset="0"/>
                <a:ea typeface="微软雅黑" panose="020B0503020204020204" pitchFamily="34" charset="-122"/>
              </a:rPr>
              <a:t>系统整体架构</a:t>
            </a:r>
          </a:p>
        </p:txBody>
      </p:sp>
      <p:graphicFrame>
        <p:nvGraphicFramePr>
          <p:cNvPr id="3" name="表格 2"/>
          <p:cNvGraphicFramePr/>
          <p:nvPr>
            <p:custDataLst>
              <p:tags r:id="rId1"/>
            </p:custDataLst>
            <p:extLst>
              <p:ext uri="{D42A27DB-BD31-4B8C-83A1-F6EECF244321}">
                <p14:modId xmlns:p14="http://schemas.microsoft.com/office/powerpoint/2010/main" val="4027977390"/>
              </p:ext>
            </p:extLst>
          </p:nvPr>
        </p:nvGraphicFramePr>
        <p:xfrm>
          <a:off x="7046720" y="1397946"/>
          <a:ext cx="4969766" cy="4245607"/>
        </p:xfrm>
        <a:graphic>
          <a:graphicData uri="http://schemas.openxmlformats.org/drawingml/2006/table">
            <a:tbl>
              <a:tblPr firstRow="1" bandRow="1">
                <a:tableStyleId>{93296810-A885-4BE3-A3E7-6D5BEEA58F35}</a:tableStyleId>
              </a:tblPr>
              <a:tblGrid>
                <a:gridCol w="1300516">
                  <a:extLst>
                    <a:ext uri="{9D8B030D-6E8A-4147-A177-3AD203B41FA5}">
                      <a16:colId xmlns:a16="http://schemas.microsoft.com/office/drawing/2014/main" val="20000"/>
                    </a:ext>
                  </a:extLst>
                </a:gridCol>
                <a:gridCol w="3669250">
                  <a:extLst>
                    <a:ext uri="{9D8B030D-6E8A-4147-A177-3AD203B41FA5}">
                      <a16:colId xmlns:a16="http://schemas.microsoft.com/office/drawing/2014/main" val="20001"/>
                    </a:ext>
                  </a:extLst>
                </a:gridCol>
              </a:tblGrid>
              <a:tr h="500027">
                <a:tc>
                  <a:txBody>
                    <a:bodyPr/>
                    <a:lstStyle/>
                    <a:p>
                      <a:pPr algn="ctr">
                        <a:lnSpc>
                          <a:spcPct val="150000"/>
                        </a:lnSpc>
                      </a:pPr>
                      <a:r>
                        <a:rPr lang="zh-CN" altLang="en-US" sz="1800" b="1" i="0">
                          <a:solidFill>
                            <a:schemeClr val="bg1"/>
                          </a:solidFill>
                          <a:latin typeface="Arial" panose="020B0604020202020204" pitchFamily="34" charset="0"/>
                          <a:ea typeface="微软雅黑" panose="020B0503020204020204" pitchFamily="34" charset="-122"/>
                        </a:rPr>
                        <a:t>层级</a:t>
                      </a:r>
                    </a:p>
                  </a:txBody>
                  <a:tcPr marL="0" marR="122237" marT="76517" marB="76517" anchor="ctr"/>
                </a:tc>
                <a:tc>
                  <a:txBody>
                    <a:bodyPr/>
                    <a:lstStyle/>
                    <a:p>
                      <a:pPr algn="ctr">
                        <a:lnSpc>
                          <a:spcPct val="150000"/>
                        </a:lnSpc>
                      </a:pPr>
                      <a:r>
                        <a:rPr lang="zh-CN" altLang="en-US" sz="1800" b="1" i="0">
                          <a:solidFill>
                            <a:schemeClr val="bg1"/>
                          </a:solidFill>
                          <a:latin typeface="Arial" panose="020B0604020202020204" pitchFamily="34" charset="0"/>
                          <a:ea typeface="微软雅黑" panose="020B0503020204020204" pitchFamily="34" charset="-122"/>
                        </a:rPr>
                        <a:t>功能</a:t>
                      </a:r>
                    </a:p>
                  </a:txBody>
                  <a:tcPr marL="122237" marR="122237" marT="76517" marB="76517" anchor="ctr"/>
                </a:tc>
                <a:extLst>
                  <a:ext uri="{0D108BD9-81ED-4DB2-BD59-A6C34878D82A}">
                    <a16:rowId xmlns:a16="http://schemas.microsoft.com/office/drawing/2014/main" val="10000"/>
                  </a:ext>
                </a:extLst>
              </a:tr>
              <a:tr h="818542">
                <a:tc>
                  <a:txBody>
                    <a:bodyPr/>
                    <a:lstStyle/>
                    <a:p>
                      <a:pPr algn="ctr">
                        <a:lnSpc>
                          <a:spcPct val="150000"/>
                        </a:lnSpc>
                      </a:pPr>
                      <a:r>
                        <a:rPr lang="zh-CN" altLang="en-US" sz="1600" b="1" i="0">
                          <a:solidFill>
                            <a:schemeClr val="tx1"/>
                          </a:solidFill>
                          <a:latin typeface="Arial" panose="020B0604020202020204" pitchFamily="34" charset="0"/>
                          <a:ea typeface="微软雅黑" panose="020B0503020204020204" pitchFamily="34" charset="-122"/>
                        </a:rPr>
                        <a:t>推理执行层</a:t>
                      </a:r>
                    </a:p>
                  </a:txBody>
                  <a:tcPr marL="0" marR="122237" marT="76517" marB="76517" anchor="ctr"/>
                </a:tc>
                <a:tc>
                  <a:txBody>
                    <a:bodyPr/>
                    <a:lstStyle/>
                    <a:p>
                      <a:pPr algn="ctr">
                        <a:lnSpc>
                          <a:spcPct val="150000"/>
                        </a:lnSpc>
                      </a:pPr>
                      <a:r>
                        <a:rPr lang="zh-CN" altLang="en-US" sz="1600" b="1" i="0">
                          <a:solidFill>
                            <a:schemeClr val="tx1"/>
                          </a:solidFill>
                          <a:latin typeface="Arial" panose="020B0604020202020204" pitchFamily="34" charset="0"/>
                          <a:ea typeface="微软雅黑" panose="020B0503020204020204" pitchFamily="34" charset="-122"/>
                        </a:rPr>
                        <a:t>完成大语言模型</a:t>
                      </a:r>
                      <a:r>
                        <a:rPr lang="zh-CN" altLang="en-US" sz="1600" b="1" i="0">
                          <a:solidFill>
                            <a:srgbClr val="FF0000"/>
                          </a:solidFill>
                          <a:latin typeface="Arial" panose="020B0604020202020204" pitchFamily="34" charset="0"/>
                          <a:ea typeface="微软雅黑" panose="020B0503020204020204" pitchFamily="34" charset="-122"/>
                        </a:rPr>
                        <a:t>前向计算</a:t>
                      </a:r>
                      <a:r>
                        <a:rPr lang="zh-CN" altLang="en-US" sz="1600" b="1" i="0">
                          <a:solidFill>
                            <a:schemeClr val="tx1"/>
                          </a:solidFill>
                          <a:latin typeface="Arial" panose="020B0604020202020204" pitchFamily="34" charset="0"/>
                          <a:ea typeface="微软雅黑" panose="020B0503020204020204" pitchFamily="34" charset="-122"/>
                        </a:rPr>
                        <a:t>流程</a:t>
                      </a:r>
                      <a:r>
                        <a:rPr lang="zh-CN" altLang="en-US" sz="1600" b="1" i="0" kern="1200">
                          <a:solidFill>
                            <a:schemeClr val="tx1"/>
                          </a:solidFill>
                          <a:latin typeface="Arial" panose="020B0604020202020204" pitchFamily="34" charset="0"/>
                          <a:ea typeface="微软雅黑" panose="020B0503020204020204" pitchFamily="34" charset="-122"/>
                          <a:cs typeface="+mn-cs"/>
                        </a:rPr>
                        <a:t>，并为</a:t>
                      </a:r>
                      <a:endParaRPr lang="en-US" altLang="zh-CN" sz="1600" b="1" i="0" kern="1200">
                        <a:solidFill>
                          <a:schemeClr val="tx1"/>
                        </a:solidFill>
                        <a:latin typeface="Arial" panose="020B0604020202020204" pitchFamily="34" charset="0"/>
                        <a:ea typeface="微软雅黑" panose="020B0503020204020204" pitchFamily="34" charset="-122"/>
                        <a:cs typeface="+mn-cs"/>
                      </a:endParaRPr>
                    </a:p>
                    <a:p>
                      <a:pPr algn="ctr">
                        <a:lnSpc>
                          <a:spcPct val="150000"/>
                        </a:lnSpc>
                      </a:pPr>
                      <a:r>
                        <a:rPr lang="zh-CN" altLang="zh-CN" sz="1600" b="1" i="0" kern="1200">
                          <a:solidFill>
                            <a:schemeClr val="tx1"/>
                          </a:solidFill>
                          <a:latin typeface="Arial" panose="020B0604020202020204" pitchFamily="34" charset="0"/>
                          <a:ea typeface="微软雅黑" panose="020B0503020204020204" pitchFamily="34" charset="-122"/>
                          <a:cs typeface="+mn-cs"/>
                        </a:rPr>
                        <a:t>调度</a:t>
                      </a:r>
                      <a:r>
                        <a:rPr lang="zh-CN" altLang="en-US" sz="1600" b="1" i="0" kern="1200">
                          <a:solidFill>
                            <a:schemeClr val="tx1"/>
                          </a:solidFill>
                          <a:latin typeface="Arial" panose="020B0604020202020204" pitchFamily="34" charset="0"/>
                          <a:ea typeface="微软雅黑" panose="020B0503020204020204" pitchFamily="34" charset="-122"/>
                          <a:cs typeface="+mn-cs"/>
                        </a:rPr>
                        <a:t>层</a:t>
                      </a:r>
                      <a:r>
                        <a:rPr lang="zh-CN" altLang="zh-CN" sz="1600" b="1" i="0" kern="1200">
                          <a:solidFill>
                            <a:schemeClr val="tx1"/>
                          </a:solidFill>
                          <a:latin typeface="Arial" panose="020B0604020202020204" pitchFamily="34" charset="0"/>
                          <a:ea typeface="微软雅黑" panose="020B0503020204020204" pitchFamily="34" charset="-122"/>
                          <a:cs typeface="+mn-cs"/>
                        </a:rPr>
                        <a:t>提供模型</a:t>
                      </a:r>
                      <a:r>
                        <a:rPr lang="zh-CN" altLang="en-US" sz="1600" b="1" i="0" kern="1200">
                          <a:solidFill>
                            <a:schemeClr val="tx1"/>
                          </a:solidFill>
                          <a:latin typeface="Arial" panose="020B0604020202020204" pitchFamily="34" charset="0"/>
                          <a:ea typeface="微软雅黑" panose="020B0503020204020204" pitchFamily="34" charset="-122"/>
                          <a:cs typeface="+mn-cs"/>
                        </a:rPr>
                        <a:t>访问的相关</a:t>
                      </a:r>
                      <a:r>
                        <a:rPr lang="zh-CN" altLang="zh-CN" sz="1600" b="1" i="0" kern="1200">
                          <a:solidFill>
                            <a:schemeClr val="tx1"/>
                          </a:solidFill>
                          <a:latin typeface="Arial" panose="020B0604020202020204" pitchFamily="34" charset="0"/>
                          <a:ea typeface="微软雅黑" panose="020B0503020204020204" pitchFamily="34" charset="-122"/>
                          <a:cs typeface="+mn-cs"/>
                        </a:rPr>
                        <a:t>信息</a:t>
                      </a:r>
                      <a:endParaRPr lang="zh-CN" altLang="en-US" sz="1600" b="1" i="0" kern="1200">
                        <a:solidFill>
                          <a:schemeClr val="tx1"/>
                        </a:solidFill>
                        <a:latin typeface="Arial" panose="020B0604020202020204" pitchFamily="34" charset="0"/>
                        <a:ea typeface="微软雅黑" panose="020B0503020204020204" pitchFamily="34" charset="-122"/>
                        <a:cs typeface="+mn-cs"/>
                      </a:endParaRPr>
                    </a:p>
                  </a:txBody>
                  <a:tcPr marL="122237" marR="0" marT="76517" marB="76517" anchor="ctr"/>
                </a:tc>
                <a:extLst>
                  <a:ext uri="{0D108BD9-81ED-4DB2-BD59-A6C34878D82A}">
                    <a16:rowId xmlns:a16="http://schemas.microsoft.com/office/drawing/2014/main" val="10001"/>
                  </a:ext>
                </a:extLst>
              </a:tr>
              <a:tr h="818542">
                <a:tc>
                  <a:txBody>
                    <a:bodyPr/>
                    <a:lstStyle/>
                    <a:p>
                      <a:pPr algn="ctr">
                        <a:lnSpc>
                          <a:spcPct val="150000"/>
                        </a:lnSpc>
                      </a:pPr>
                      <a:r>
                        <a:rPr lang="zh-CN" altLang="en-US" sz="1600" b="1" i="0">
                          <a:solidFill>
                            <a:srgbClr val="FF0000"/>
                          </a:solidFill>
                          <a:latin typeface="Arial" panose="020B0604020202020204" pitchFamily="34" charset="0"/>
                          <a:ea typeface="微软雅黑" panose="020B0503020204020204" pitchFamily="34" charset="-122"/>
                        </a:rPr>
                        <a:t>全局控制与调度层</a:t>
                      </a:r>
                    </a:p>
                  </a:txBody>
                  <a:tcPr marL="0" marR="122237" marT="76517" marB="76517" anchor="ctr"/>
                </a:tc>
                <a:tc>
                  <a:txBody>
                    <a:bodyPr/>
                    <a:lstStyle/>
                    <a:p>
                      <a:pPr algn="ctr">
                        <a:lnSpc>
                          <a:spcPct val="150000"/>
                        </a:lnSpc>
                      </a:pPr>
                      <a:r>
                        <a:rPr lang="zh-CN" altLang="en-US" sz="1600" b="1" i="0">
                          <a:solidFill>
                            <a:schemeClr val="tx1"/>
                          </a:solidFill>
                          <a:latin typeface="Arial" panose="020B0604020202020204" pitchFamily="34" charset="0"/>
                          <a:ea typeface="微软雅黑" panose="020B0503020204020204" pitchFamily="34" charset="-122"/>
                        </a:rPr>
                        <a:t>将模型访问信息转换为</a:t>
                      </a:r>
                      <a:r>
                        <a:rPr lang="zh-CN" altLang="en-US" sz="1600" b="1" i="0">
                          <a:solidFill>
                            <a:srgbClr val="FF0000"/>
                          </a:solidFill>
                          <a:latin typeface="Arial" panose="020B0604020202020204" pitchFamily="34" charset="0"/>
                          <a:ea typeface="微软雅黑" panose="020B0503020204020204" pitchFamily="34" charset="-122"/>
                        </a:rPr>
                        <a:t>具体资</a:t>
                      </a:r>
                    </a:p>
                    <a:p>
                      <a:pPr algn="ctr">
                        <a:lnSpc>
                          <a:spcPct val="150000"/>
                        </a:lnSpc>
                      </a:pPr>
                      <a:r>
                        <a:rPr lang="zh-CN" altLang="en-US" sz="1600" b="1" i="0">
                          <a:solidFill>
                            <a:srgbClr val="FF0000"/>
                          </a:solidFill>
                          <a:latin typeface="Arial" panose="020B0604020202020204" pitchFamily="34" charset="0"/>
                          <a:ea typeface="微软雅黑" panose="020B0503020204020204" pitchFamily="34" charset="-122"/>
                        </a:rPr>
                        <a:t>源调度安排</a:t>
                      </a:r>
                      <a:r>
                        <a:rPr lang="zh-CN" altLang="en-US" sz="1600" b="1" i="0">
                          <a:solidFill>
                            <a:schemeClr val="tx1"/>
                          </a:solidFill>
                          <a:latin typeface="Arial" panose="020B0604020202020204" pitchFamily="34" charset="0"/>
                          <a:ea typeface="微软雅黑" panose="020B0503020204020204" pitchFamily="34" charset="-122"/>
                        </a:rPr>
                        <a:t>，实现从应用层请求</a:t>
                      </a:r>
                      <a:endParaRPr lang="en-US" altLang="zh-CN" sz="1600" b="1" i="0">
                        <a:solidFill>
                          <a:schemeClr val="tx1"/>
                        </a:solidFill>
                        <a:latin typeface="Arial" panose="020B0604020202020204" pitchFamily="34" charset="0"/>
                        <a:ea typeface="微软雅黑" panose="020B0503020204020204" pitchFamily="34" charset="-122"/>
                      </a:endParaRPr>
                    </a:p>
                    <a:p>
                      <a:pPr algn="ctr">
                        <a:lnSpc>
                          <a:spcPct val="150000"/>
                        </a:lnSpc>
                      </a:pPr>
                      <a:r>
                        <a:rPr lang="zh-CN" altLang="en-US" sz="1600" b="1" i="0">
                          <a:solidFill>
                            <a:schemeClr val="tx1"/>
                          </a:solidFill>
                          <a:latin typeface="Arial" panose="020B0604020202020204" pitchFamily="34" charset="0"/>
                          <a:ea typeface="微软雅黑" panose="020B0503020204020204" pitchFamily="34" charset="-122"/>
                        </a:rPr>
                        <a:t>到底层内存操作的映射</a:t>
                      </a:r>
                    </a:p>
                  </a:txBody>
                  <a:tcPr marL="122237" marR="0" marT="76517" marB="76517" anchor="ctr"/>
                </a:tc>
                <a:extLst>
                  <a:ext uri="{0D108BD9-81ED-4DB2-BD59-A6C34878D82A}">
                    <a16:rowId xmlns:a16="http://schemas.microsoft.com/office/drawing/2014/main" val="10002"/>
                  </a:ext>
                </a:extLst>
              </a:tr>
              <a:tr h="818542">
                <a:tc>
                  <a:txBody>
                    <a:bodyPr/>
                    <a:lstStyle/>
                    <a:p>
                      <a:pPr algn="ctr">
                        <a:lnSpc>
                          <a:spcPct val="150000"/>
                        </a:lnSpc>
                      </a:pPr>
                      <a:r>
                        <a:rPr lang="zh-CN" altLang="en-US" sz="1600" b="1" i="0">
                          <a:solidFill>
                            <a:srgbClr val="FF0000"/>
                          </a:solidFill>
                          <a:latin typeface="Arial" panose="020B0604020202020204" pitchFamily="34" charset="0"/>
                          <a:ea typeface="微软雅黑" panose="020B0503020204020204" pitchFamily="34" charset="-122"/>
                        </a:rPr>
                        <a:t>内存管理层</a:t>
                      </a:r>
                    </a:p>
                  </a:txBody>
                  <a:tcPr marL="0" marR="122237" marT="76517" marB="76517" anchor="ctr"/>
                </a:tc>
                <a:tc>
                  <a:txBody>
                    <a:bodyPr/>
                    <a:lstStyle/>
                    <a:p>
                      <a:pPr algn="ctr">
                        <a:lnSpc>
                          <a:spcPct val="150000"/>
                        </a:lnSpc>
                      </a:pPr>
                      <a:r>
                        <a:rPr lang="zh-CN" altLang="en-US" sz="1600" b="1" i="0">
                          <a:solidFill>
                            <a:schemeClr val="tx1"/>
                          </a:solidFill>
                          <a:latin typeface="Arial" panose="020B0604020202020204" pitchFamily="34" charset="0"/>
                          <a:ea typeface="微软雅黑" panose="020B0503020204020204" pitchFamily="34" charset="-122"/>
                        </a:rPr>
                        <a:t>根据不同数据类型设计不同的管理后端，实现</a:t>
                      </a:r>
                      <a:r>
                        <a:rPr lang="zh-CN" altLang="en-US" sz="1600" b="1" i="0">
                          <a:solidFill>
                            <a:srgbClr val="FF0000"/>
                          </a:solidFill>
                          <a:latin typeface="Arial" panose="020B0604020202020204" pitchFamily="34" charset="0"/>
                          <a:ea typeface="微软雅黑" panose="020B0503020204020204" pitchFamily="34" charset="-122"/>
                        </a:rPr>
                        <a:t>结构感知</a:t>
                      </a:r>
                      <a:r>
                        <a:rPr lang="zh-CN" altLang="en-US" sz="1600" b="1" i="0">
                          <a:solidFill>
                            <a:schemeClr val="tx1"/>
                          </a:solidFill>
                          <a:latin typeface="Arial" panose="020B0604020202020204" pitchFamily="34" charset="0"/>
                          <a:ea typeface="微软雅黑" panose="020B0503020204020204" pitchFamily="34" charset="-122"/>
                        </a:rPr>
                        <a:t>的数据驻留控制</a:t>
                      </a:r>
                      <a:endParaRPr lang="en-US" altLang="zh-CN" sz="1600" b="1" i="0">
                        <a:solidFill>
                          <a:schemeClr val="tx1"/>
                        </a:solidFill>
                        <a:latin typeface="Arial" panose="020B0604020202020204" pitchFamily="34" charset="0"/>
                        <a:ea typeface="微软雅黑" panose="020B0503020204020204" pitchFamily="34" charset="-122"/>
                      </a:endParaRPr>
                    </a:p>
                  </a:txBody>
                  <a:tcPr marL="122237" marR="0" marT="76517" marB="76517" anchor="ctr"/>
                </a:tc>
                <a:extLst>
                  <a:ext uri="{0D108BD9-81ED-4DB2-BD59-A6C34878D82A}">
                    <a16:rowId xmlns:a16="http://schemas.microsoft.com/office/drawing/2014/main" val="10003"/>
                  </a:ext>
                </a:extLst>
              </a:tr>
              <a:tr h="818542">
                <a:tc>
                  <a:txBody>
                    <a:bodyPr/>
                    <a:lstStyle/>
                    <a:p>
                      <a:pPr algn="ctr">
                        <a:lnSpc>
                          <a:spcPct val="150000"/>
                        </a:lnSpc>
                      </a:pPr>
                      <a:r>
                        <a:rPr lang="zh-CN" altLang="en-US" sz="1600" b="1" i="0">
                          <a:solidFill>
                            <a:schemeClr val="tx1"/>
                          </a:solidFill>
                          <a:latin typeface="Arial" panose="020B0604020202020204" pitchFamily="34" charset="0"/>
                          <a:ea typeface="微软雅黑" panose="020B0503020204020204" pitchFamily="34" charset="-122"/>
                        </a:rPr>
                        <a:t>虚拟内存与存储层</a:t>
                      </a:r>
                    </a:p>
                  </a:txBody>
                  <a:tcPr marL="0" marR="122237" marT="76517" marB="76517" anchor="ctr"/>
                </a:tc>
                <a:tc>
                  <a:txBody>
                    <a:bodyPr/>
                    <a:lstStyle/>
                    <a:p>
                      <a:pPr marL="0" algn="ctr" defTabSz="914400" rtl="0" eaLnBrk="1" latinLnBrk="0" hangingPunct="1">
                        <a:lnSpc>
                          <a:spcPct val="150000"/>
                        </a:lnSpc>
                      </a:pPr>
                      <a:r>
                        <a:rPr lang="zh-CN" altLang="en-US" sz="1600" b="1" i="0" kern="1200">
                          <a:solidFill>
                            <a:schemeClr val="tx1"/>
                          </a:solidFill>
                          <a:latin typeface="Arial" panose="020B0604020202020204" pitchFamily="34" charset="0"/>
                          <a:ea typeface="微软雅黑" panose="020B0503020204020204" pitchFamily="34" charset="-122"/>
                          <a:cs typeface="+mn-cs"/>
                        </a:rPr>
                        <a:t>通过</a:t>
                      </a:r>
                      <a:r>
                        <a:rPr lang="zh-CN" altLang="en-US" sz="1600" b="1" i="0" kern="1200">
                          <a:solidFill>
                            <a:srgbClr val="FF0000"/>
                          </a:solidFill>
                          <a:latin typeface="Arial" panose="020B0604020202020204" pitchFamily="34" charset="0"/>
                          <a:ea typeface="微软雅黑" panose="020B0503020204020204" pitchFamily="34" charset="-122"/>
                          <a:cs typeface="+mn-cs"/>
                        </a:rPr>
                        <a:t>操作系统虚拟内存机制</a:t>
                      </a:r>
                      <a:r>
                        <a:rPr lang="zh-CN" altLang="en-US" sz="1600" b="1" i="0" kern="1200">
                          <a:solidFill>
                            <a:schemeClr val="tx1"/>
                          </a:solidFill>
                          <a:latin typeface="Arial" panose="020B0604020202020204" pitchFamily="34" charset="0"/>
                          <a:ea typeface="微软雅黑" panose="020B0503020204020204" pitchFamily="34" charset="-122"/>
                          <a:cs typeface="+mn-cs"/>
                        </a:rPr>
                        <a:t>，实现</a:t>
                      </a:r>
                      <a:r>
                        <a:rPr lang="zh-CN" altLang="zh-CN" sz="1600" b="1" i="0" kern="1200">
                          <a:solidFill>
                            <a:schemeClr val="tx1"/>
                          </a:solidFill>
                          <a:latin typeface="Arial" panose="020B0604020202020204" pitchFamily="34" charset="0"/>
                          <a:ea typeface="微软雅黑" panose="020B0503020204020204" pitchFamily="34" charset="-122"/>
                          <a:cs typeface="+mn-cs"/>
                        </a:rPr>
                        <a:t>对</a:t>
                      </a:r>
                      <a:endParaRPr lang="en-US" altLang="zh-CN" sz="1600" b="1" i="0" kern="1200">
                        <a:solidFill>
                          <a:schemeClr val="tx1"/>
                        </a:solidFill>
                        <a:latin typeface="Arial" panose="020B0604020202020204" pitchFamily="34" charset="0"/>
                        <a:ea typeface="微软雅黑" panose="020B0503020204020204" pitchFamily="34" charset="-122"/>
                        <a:cs typeface="+mn-cs"/>
                      </a:endParaRPr>
                    </a:p>
                    <a:p>
                      <a:pPr marL="0" algn="ctr" defTabSz="914400" rtl="0" eaLnBrk="1" latinLnBrk="0" hangingPunct="1">
                        <a:lnSpc>
                          <a:spcPct val="150000"/>
                        </a:lnSpc>
                      </a:pPr>
                      <a:r>
                        <a:rPr lang="zh-CN" altLang="zh-CN" sz="1600" b="1" i="0" kern="1200">
                          <a:solidFill>
                            <a:schemeClr val="tx1"/>
                          </a:solidFill>
                          <a:latin typeface="Arial" panose="020B0604020202020204" pitchFamily="34" charset="0"/>
                          <a:ea typeface="微软雅黑" panose="020B0503020204020204" pitchFamily="34" charset="-122"/>
                          <a:cs typeface="+mn-cs"/>
                        </a:rPr>
                        <a:t>数据加载、释放和迁移的精细控制</a:t>
                      </a:r>
                      <a:endParaRPr lang="en-US" altLang="zh-CN" sz="1600" b="1" i="0" kern="1200">
                        <a:solidFill>
                          <a:schemeClr val="tx1"/>
                        </a:solidFill>
                        <a:latin typeface="Arial" panose="020B0604020202020204" pitchFamily="34" charset="0"/>
                        <a:ea typeface="微软雅黑" panose="020B0503020204020204" pitchFamily="34" charset="-122"/>
                        <a:cs typeface="+mn-cs"/>
                      </a:endParaRPr>
                    </a:p>
                  </a:txBody>
                  <a:tcPr marL="122237" marR="0" marT="76517" marB="76517" anchor="ctr"/>
                </a:tc>
                <a:extLst>
                  <a:ext uri="{0D108BD9-81ED-4DB2-BD59-A6C34878D82A}">
                    <a16:rowId xmlns:a16="http://schemas.microsoft.com/office/drawing/2014/main" val="1593729482"/>
                  </a:ext>
                </a:extLst>
              </a:tr>
            </a:tbl>
          </a:graphicData>
        </a:graphic>
      </p:graphicFrame>
      <p:sp>
        <p:nvSpPr>
          <p:cNvPr id="4" name="文本框 3"/>
          <p:cNvSpPr txBox="1"/>
          <p:nvPr/>
        </p:nvSpPr>
        <p:spPr>
          <a:xfrm>
            <a:off x="547969" y="5735408"/>
            <a:ext cx="11304496" cy="987963"/>
          </a:xfrm>
          <a:prstGeom prst="rect">
            <a:avLst/>
          </a:prstGeom>
        </p:spPr>
        <p:txBody>
          <a:bodyPr wrap="square">
            <a:spAutoFit/>
          </a:bodyPr>
          <a:lstStyle/>
          <a:p>
            <a:pPr algn="ctr">
              <a:lnSpc>
                <a:spcPct val="90000"/>
              </a:lnSpc>
              <a:spcBef>
                <a:spcPts val="900"/>
              </a:spcBef>
              <a:spcAft>
                <a:spcPts val="900"/>
              </a:spcAft>
            </a:pPr>
            <a:r>
              <a:rPr lang="zh-CN" altLang="en-US" sz="2400" b="1">
                <a:latin typeface="Arial" panose="020B0604020202020204" pitchFamily="34" charset="0"/>
                <a:ea typeface="微软雅黑" panose="020B0503020204020204" pitchFamily="34" charset="-122"/>
              </a:rPr>
              <a:t>采用</a:t>
            </a:r>
            <a:r>
              <a:rPr lang="zh-CN" altLang="en-US" sz="2400" b="1">
                <a:solidFill>
                  <a:srgbClr val="FF0000"/>
                </a:solidFill>
                <a:latin typeface="Arial" panose="020B0604020202020204" pitchFamily="34" charset="0"/>
                <a:ea typeface="微软雅黑" panose="020B0503020204020204" pitchFamily="34" charset="-122"/>
              </a:rPr>
              <a:t>分层架构设计</a:t>
            </a:r>
            <a:endParaRPr lang="en-US" altLang="zh-CN" sz="2400" b="1">
              <a:solidFill>
                <a:srgbClr val="FF0000"/>
              </a:solidFill>
              <a:latin typeface="Arial" panose="020B0604020202020204" pitchFamily="34" charset="0"/>
              <a:ea typeface="微软雅黑" panose="020B0503020204020204" pitchFamily="34" charset="-122"/>
            </a:endParaRPr>
          </a:p>
          <a:p>
            <a:pPr algn="ctr">
              <a:lnSpc>
                <a:spcPct val="90000"/>
              </a:lnSpc>
              <a:spcBef>
                <a:spcPts val="900"/>
              </a:spcBef>
              <a:spcAft>
                <a:spcPts val="900"/>
              </a:spcAft>
            </a:pPr>
            <a:r>
              <a:rPr lang="zh-CN" altLang="zh-CN" sz="2400" b="1">
                <a:solidFill>
                  <a:srgbClr val="FF0000"/>
                </a:solidFill>
                <a:latin typeface="Arial" panose="020B0604020202020204" pitchFamily="34" charset="0"/>
                <a:ea typeface="微软雅黑" panose="020B0503020204020204" pitchFamily="34" charset="-122"/>
              </a:rPr>
              <a:t>统一协调</a:t>
            </a:r>
            <a:r>
              <a:rPr lang="en-US" altLang="zh-CN" sz="2400" b="1">
                <a:solidFill>
                  <a:srgbClr val="FF0000"/>
                </a:solidFill>
                <a:latin typeface="Arial" panose="020B0604020202020204" pitchFamily="34" charset="0"/>
                <a:ea typeface="微软雅黑" panose="020B0503020204020204" pitchFamily="34" charset="-122"/>
              </a:rPr>
              <a:t> </a:t>
            </a:r>
            <a:r>
              <a:rPr lang="zh-CN" altLang="zh-CN" sz="2400" b="1">
                <a:latin typeface="Arial" panose="020B0604020202020204" pitchFamily="34" charset="0"/>
                <a:ea typeface="微软雅黑" panose="020B0503020204020204" pitchFamily="34" charset="-122"/>
              </a:rPr>
              <a:t>Dense</a:t>
            </a:r>
            <a:r>
              <a:rPr lang="en-US" altLang="zh-CN" sz="2400" b="1">
                <a:latin typeface="Arial" panose="020B0604020202020204" pitchFamily="34" charset="0"/>
                <a:ea typeface="微软雅黑" panose="020B0503020204020204" pitchFamily="34" charset="-122"/>
              </a:rPr>
              <a:t>/MoE </a:t>
            </a:r>
            <a:r>
              <a:rPr lang="zh-CN" altLang="zh-CN" sz="2400" b="1">
                <a:latin typeface="Arial" panose="020B0604020202020204" pitchFamily="34" charset="0"/>
                <a:ea typeface="微软雅黑" panose="020B0503020204020204" pitchFamily="34" charset="-122"/>
              </a:rPr>
              <a:t>权重与KV Cache的驻留、迁移与回收</a:t>
            </a:r>
            <a:endParaRPr lang="en-US" altLang="zh-CN" sz="2400" b="1">
              <a:latin typeface="Arial" panose="020B0604020202020204" pitchFamily="34" charset="0"/>
              <a:ea typeface="微软雅黑" panose="020B0503020204020204" pitchFamily="34" charset="-122"/>
            </a:endParaRPr>
          </a:p>
        </p:txBody>
      </p:sp>
      <p:sp>
        <p:nvSpPr>
          <p:cNvPr id="2" name="矩形 4">
            <a:extLst>
              <a:ext uri="{FF2B5EF4-FFF2-40B4-BE49-F238E27FC236}">
                <a16:creationId xmlns:a16="http://schemas.microsoft.com/office/drawing/2014/main" id="{CDD11CC1-E9EA-7CD4-236E-AA42EC84E96C}"/>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5" name="矩形 4">
            <a:extLst>
              <a:ext uri="{FF2B5EF4-FFF2-40B4-BE49-F238E27FC236}">
                <a16:creationId xmlns:a16="http://schemas.microsoft.com/office/drawing/2014/main" id="{12209271-0A47-59DF-CBF7-8CB26F53606E}"/>
              </a:ext>
            </a:extLst>
          </p:cNvPr>
          <p:cNvSpPr/>
          <p:nvPr/>
        </p:nvSpPr>
        <p:spPr>
          <a:xfrm>
            <a:off x="6563849" y="0"/>
            <a:ext cx="18449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cxnSp>
        <p:nvCxnSpPr>
          <p:cNvPr id="7" name="直接连接符 6">
            <a:extLst>
              <a:ext uri="{FF2B5EF4-FFF2-40B4-BE49-F238E27FC236}">
                <a16:creationId xmlns:a16="http://schemas.microsoft.com/office/drawing/2014/main" id="{23B6FAB3-083A-4F6D-5BDB-54FF4ED93D0C}"/>
              </a:ext>
            </a:extLst>
          </p:cNvPr>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6">
            <a:extLst>
              <a:ext uri="{FF2B5EF4-FFF2-40B4-BE49-F238E27FC236}">
                <a16:creationId xmlns:a16="http://schemas.microsoft.com/office/drawing/2014/main" id="{97BAEECF-5D01-6F9D-2D6B-1664E4E16F53}"/>
              </a:ext>
            </a:extLst>
          </p:cNvPr>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9" name="TextBox 7">
            <a:extLst>
              <a:ext uri="{FF2B5EF4-FFF2-40B4-BE49-F238E27FC236}">
                <a16:creationId xmlns:a16="http://schemas.microsoft.com/office/drawing/2014/main" id="{A18937C6-5EA3-AAB4-27AD-5801115ED627}"/>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1" name="TextBox 9">
            <a:extLst>
              <a:ext uri="{FF2B5EF4-FFF2-40B4-BE49-F238E27FC236}">
                <a16:creationId xmlns:a16="http://schemas.microsoft.com/office/drawing/2014/main" id="{AC2C492A-F021-60F0-8BB7-2C698278BA90}"/>
              </a:ext>
            </a:extLst>
          </p:cNvPr>
          <p:cNvSpPr txBox="1"/>
          <p:nvPr/>
        </p:nvSpPr>
        <p:spPr>
          <a:xfrm>
            <a:off x="6679507" y="193642"/>
            <a:ext cx="1613584" cy="404714"/>
          </a:xfrm>
          <a:prstGeom prst="rect">
            <a:avLst/>
          </a:prstGeom>
          <a:noFill/>
        </p:spPr>
        <p:txBody>
          <a:bodyPr wrap="square" lIns="0" tIns="48000" rIns="0" bIns="48000" rtlCol="0">
            <a:spAutoFit/>
          </a:bodyPr>
          <a:lstStyle/>
          <a:p>
            <a:pPr algn="ctr"/>
            <a:r>
              <a:rPr lang="zh-CN" altLang="en-US" sz="2000" b="1">
                <a:solidFill>
                  <a:schemeClr val="bg1"/>
                </a:solidFill>
                <a:latin typeface="Arial" panose="020B0604020202020204" pitchFamily="34" charset="0"/>
                <a:ea typeface="微软雅黑" panose="020B0503020204020204" pitchFamily="34" charset="-122"/>
              </a:rPr>
              <a:t>项目实</a:t>
            </a:r>
            <a:r>
              <a:rPr lang="zh-CN" altLang="en-US" sz="2000" b="1" dirty="0">
                <a:solidFill>
                  <a:schemeClr val="bg1"/>
                </a:solidFill>
                <a:latin typeface="Arial" panose="020B0604020202020204" pitchFamily="34" charset="0"/>
                <a:ea typeface="微软雅黑" panose="020B0503020204020204" pitchFamily="34" charset="-122"/>
              </a:rPr>
              <a:t>现</a:t>
            </a:r>
          </a:p>
        </p:txBody>
      </p:sp>
      <p:sp>
        <p:nvSpPr>
          <p:cNvPr id="12" name="TextBox 10">
            <a:extLst>
              <a:ext uri="{FF2B5EF4-FFF2-40B4-BE49-F238E27FC236}">
                <a16:creationId xmlns:a16="http://schemas.microsoft.com/office/drawing/2014/main" id="{1D56E8EB-0824-26CF-EB89-1717B687A200}"/>
              </a:ext>
            </a:extLst>
          </p:cNvPr>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项目测试</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sp>
        <p:nvSpPr>
          <p:cNvPr id="13" name="TextBox 11">
            <a:extLst>
              <a:ext uri="{FF2B5EF4-FFF2-40B4-BE49-F238E27FC236}">
                <a16:creationId xmlns:a16="http://schemas.microsoft.com/office/drawing/2014/main" id="{8541DC27-3B8A-6A21-9481-A1556C4E8C0B}"/>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项目总结</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cxnSp>
        <p:nvCxnSpPr>
          <p:cNvPr id="14" name="直接连接符 13">
            <a:extLst>
              <a:ext uri="{FF2B5EF4-FFF2-40B4-BE49-F238E27FC236}">
                <a16:creationId xmlns:a16="http://schemas.microsoft.com/office/drawing/2014/main" id="{F3605A1E-EA4C-CC63-DAB0-F3AADD1C3743}"/>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706048A2-8614-3E77-9199-82DD0A2D71AF}"/>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图片 16">
            <a:extLst>
              <a:ext uri="{FF2B5EF4-FFF2-40B4-BE49-F238E27FC236}">
                <a16:creationId xmlns:a16="http://schemas.microsoft.com/office/drawing/2014/main" id="{A04C7D16-B934-88B3-C858-22A991E7838E}"/>
              </a:ext>
            </a:extLst>
          </p:cNvPr>
          <p:cNvPicPr>
            <a:picLocks noChangeAspect="1"/>
          </p:cNvPicPr>
          <p:nvPr/>
        </p:nvPicPr>
        <p:blipFill rotWithShape="1">
          <a:blip r:embed="rId4"/>
          <a:srcRect t="29956" r="-277"/>
          <a:stretch>
            <a:fillRect/>
          </a:stretch>
        </p:blipFill>
        <p:spPr>
          <a:xfrm>
            <a:off x="195620" y="89117"/>
            <a:ext cx="2766644" cy="613765"/>
          </a:xfrm>
          <a:prstGeom prst="rect">
            <a:avLst/>
          </a:prstGeom>
        </p:spPr>
      </p:pic>
      <p:pic>
        <p:nvPicPr>
          <p:cNvPr id="15" name="图片 14">
            <a:extLst>
              <a:ext uri="{FF2B5EF4-FFF2-40B4-BE49-F238E27FC236}">
                <a16:creationId xmlns:a16="http://schemas.microsoft.com/office/drawing/2014/main" id="{EAF63201-931B-AB36-73EF-2B742D5148F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75788" y="1663673"/>
            <a:ext cx="6442755" cy="393259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D9C4994-048C-E9E6-6114-299AF8C63A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033" y="1940075"/>
            <a:ext cx="7185508" cy="3022121"/>
          </a:xfrm>
          <a:prstGeom prst="rect">
            <a:avLst/>
          </a:prstGeom>
        </p:spPr>
      </p:pic>
      <p:sp>
        <p:nvSpPr>
          <p:cNvPr id="35" name="TextBox 6"/>
          <p:cNvSpPr txBox="1"/>
          <p:nvPr/>
        </p:nvSpPr>
        <p:spPr>
          <a:xfrm>
            <a:off x="515908" y="1007903"/>
            <a:ext cx="3504545" cy="527825"/>
          </a:xfrm>
          <a:prstGeom prst="rect">
            <a:avLst/>
          </a:prstGeom>
          <a:noFill/>
        </p:spPr>
        <p:txBody>
          <a:bodyPr wrap="square" lIns="0" tIns="48000" rIns="0" bIns="48000" rtlCol="0">
            <a:spAutoFit/>
          </a:bodyPr>
          <a:lstStyle/>
          <a:p>
            <a:pPr algn="ct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3.2 </a:t>
            </a:r>
            <a:r>
              <a:rPr lang="en-US" altLang="zh-CN" sz="2800" b="1" dirty="0">
                <a:solidFill>
                  <a:schemeClr val="tx1">
                    <a:lumMod val="65000"/>
                    <a:lumOff val="35000"/>
                  </a:schemeClr>
                </a:solidFill>
                <a:latin typeface="Arial" panose="020B0604020202020204" pitchFamily="34" charset="0"/>
                <a:ea typeface="微软雅黑" panose="020B0503020204020204" pitchFamily="34" charset="-122"/>
              </a:rPr>
              <a:t>Dense</a:t>
            </a:r>
            <a:r>
              <a:rPr lang="zh-CN" altLang="en-US" sz="2800" b="1" dirty="0">
                <a:solidFill>
                  <a:schemeClr val="tx1">
                    <a:lumMod val="65000"/>
                    <a:lumOff val="35000"/>
                  </a:schemeClr>
                </a:solidFill>
                <a:latin typeface="Arial" panose="020B0604020202020204" pitchFamily="34" charset="0"/>
                <a:ea typeface="微软雅黑" panose="020B0503020204020204" pitchFamily="34" charset="-122"/>
              </a:rPr>
              <a:t> </a:t>
            </a: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Flex</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 模块</a:t>
            </a:r>
            <a:endParaRPr lang="zh-CN" altLang="en-US" sz="28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4" name="矩形 4">
            <a:extLst>
              <a:ext uri="{FF2B5EF4-FFF2-40B4-BE49-F238E27FC236}">
                <a16:creationId xmlns:a16="http://schemas.microsoft.com/office/drawing/2014/main" id="{98D353A6-788A-5E95-6755-3B885548C65D}"/>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5" name="矩形 4">
            <a:extLst>
              <a:ext uri="{FF2B5EF4-FFF2-40B4-BE49-F238E27FC236}">
                <a16:creationId xmlns:a16="http://schemas.microsoft.com/office/drawing/2014/main" id="{E54F834E-12C3-7BAA-FBED-DE74E75495B3}"/>
              </a:ext>
            </a:extLst>
          </p:cNvPr>
          <p:cNvSpPr/>
          <p:nvPr/>
        </p:nvSpPr>
        <p:spPr>
          <a:xfrm>
            <a:off x="6563849" y="0"/>
            <a:ext cx="18449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cxnSp>
        <p:nvCxnSpPr>
          <p:cNvPr id="7" name="直接连接符 6">
            <a:extLst>
              <a:ext uri="{FF2B5EF4-FFF2-40B4-BE49-F238E27FC236}">
                <a16:creationId xmlns:a16="http://schemas.microsoft.com/office/drawing/2014/main" id="{B6A53339-7118-3CF2-9F9F-61128B7C683E}"/>
              </a:ext>
            </a:extLst>
          </p:cNvPr>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6">
            <a:extLst>
              <a:ext uri="{FF2B5EF4-FFF2-40B4-BE49-F238E27FC236}">
                <a16:creationId xmlns:a16="http://schemas.microsoft.com/office/drawing/2014/main" id="{4776D302-2659-2B1F-40B0-86E97B0B09BC}"/>
              </a:ext>
            </a:extLst>
          </p:cNvPr>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0" name="TextBox 7">
            <a:extLst>
              <a:ext uri="{FF2B5EF4-FFF2-40B4-BE49-F238E27FC236}">
                <a16:creationId xmlns:a16="http://schemas.microsoft.com/office/drawing/2014/main" id="{4B33D847-216B-8ED4-1D20-CFAE5B4F1413}"/>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1" name="TextBox 9">
            <a:extLst>
              <a:ext uri="{FF2B5EF4-FFF2-40B4-BE49-F238E27FC236}">
                <a16:creationId xmlns:a16="http://schemas.microsoft.com/office/drawing/2014/main" id="{F8D3AF97-8675-91A9-AD09-380D1046B6F4}"/>
              </a:ext>
            </a:extLst>
          </p:cNvPr>
          <p:cNvSpPr txBox="1"/>
          <p:nvPr/>
        </p:nvSpPr>
        <p:spPr>
          <a:xfrm>
            <a:off x="6679507" y="193642"/>
            <a:ext cx="1613584" cy="404714"/>
          </a:xfrm>
          <a:prstGeom prst="rect">
            <a:avLst/>
          </a:prstGeom>
          <a:noFill/>
        </p:spPr>
        <p:txBody>
          <a:bodyPr wrap="square" lIns="0" tIns="48000" rIns="0" bIns="48000" rtlCol="0">
            <a:spAutoFit/>
          </a:bodyPr>
          <a:lstStyle/>
          <a:p>
            <a:pPr algn="ctr"/>
            <a:r>
              <a:rPr lang="zh-CN" altLang="en-US" sz="2000" b="1">
                <a:solidFill>
                  <a:schemeClr val="bg1"/>
                </a:solidFill>
                <a:latin typeface="Arial" panose="020B0604020202020204" pitchFamily="34" charset="0"/>
                <a:ea typeface="微软雅黑" panose="020B0503020204020204" pitchFamily="34" charset="-122"/>
              </a:rPr>
              <a:t>项目实</a:t>
            </a:r>
            <a:r>
              <a:rPr lang="zh-CN" altLang="en-US" sz="2000" b="1" dirty="0">
                <a:solidFill>
                  <a:schemeClr val="bg1"/>
                </a:solidFill>
                <a:latin typeface="Arial" panose="020B0604020202020204" pitchFamily="34" charset="0"/>
                <a:ea typeface="微软雅黑" panose="020B0503020204020204" pitchFamily="34" charset="-122"/>
              </a:rPr>
              <a:t>现</a:t>
            </a:r>
          </a:p>
        </p:txBody>
      </p:sp>
      <p:sp>
        <p:nvSpPr>
          <p:cNvPr id="12" name="TextBox 10">
            <a:extLst>
              <a:ext uri="{FF2B5EF4-FFF2-40B4-BE49-F238E27FC236}">
                <a16:creationId xmlns:a16="http://schemas.microsoft.com/office/drawing/2014/main" id="{ADFE440C-87E3-F2C5-8276-B4F5039EA6EB}"/>
              </a:ext>
            </a:extLst>
          </p:cNvPr>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项目测试</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sp>
        <p:nvSpPr>
          <p:cNvPr id="13" name="TextBox 11">
            <a:extLst>
              <a:ext uri="{FF2B5EF4-FFF2-40B4-BE49-F238E27FC236}">
                <a16:creationId xmlns:a16="http://schemas.microsoft.com/office/drawing/2014/main" id="{8654ED64-2B08-9A3A-32AF-003DF963BDBA}"/>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项目总结</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cxnSp>
        <p:nvCxnSpPr>
          <p:cNvPr id="14" name="直接连接符 13">
            <a:extLst>
              <a:ext uri="{FF2B5EF4-FFF2-40B4-BE49-F238E27FC236}">
                <a16:creationId xmlns:a16="http://schemas.microsoft.com/office/drawing/2014/main" id="{56416443-DEE9-21F3-4791-80101E44560E}"/>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E23C24AB-8E51-699A-988D-CEC7C384F1A7}"/>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8" name="图片 17">
            <a:extLst>
              <a:ext uri="{FF2B5EF4-FFF2-40B4-BE49-F238E27FC236}">
                <a16:creationId xmlns:a16="http://schemas.microsoft.com/office/drawing/2014/main" id="{1EB74174-3FF6-6447-1461-02708A7DA15C}"/>
              </a:ext>
            </a:extLst>
          </p:cNvPr>
          <p:cNvPicPr>
            <a:picLocks noChangeAspect="1"/>
          </p:cNvPicPr>
          <p:nvPr/>
        </p:nvPicPr>
        <p:blipFill rotWithShape="1">
          <a:blip r:embed="rId4"/>
          <a:srcRect t="29956" r="-277"/>
          <a:stretch>
            <a:fillRect/>
          </a:stretch>
        </p:blipFill>
        <p:spPr>
          <a:xfrm>
            <a:off x="195620" y="89117"/>
            <a:ext cx="2766644" cy="613765"/>
          </a:xfrm>
          <a:prstGeom prst="rect">
            <a:avLst/>
          </a:prstGeom>
        </p:spPr>
      </p:pic>
      <p:sp>
        <p:nvSpPr>
          <p:cNvPr id="20" name="文本框 19">
            <a:extLst>
              <a:ext uri="{FF2B5EF4-FFF2-40B4-BE49-F238E27FC236}">
                <a16:creationId xmlns:a16="http://schemas.microsoft.com/office/drawing/2014/main" id="{2F333EDC-EB34-A64B-8961-E90298CD8181}"/>
              </a:ext>
            </a:extLst>
          </p:cNvPr>
          <p:cNvSpPr txBox="1"/>
          <p:nvPr/>
        </p:nvSpPr>
        <p:spPr>
          <a:xfrm>
            <a:off x="6096000" y="906966"/>
            <a:ext cx="4826174" cy="5044068"/>
          </a:xfrm>
          <a:prstGeom prst="rect">
            <a:avLst/>
          </a:prstGeom>
        </p:spPr>
        <p:txBody>
          <a:bodyPr>
            <a:noAutofit/>
          </a:bodyPr>
          <a:lstStyle/>
          <a:p>
            <a:pPr>
              <a:spcBef>
                <a:spcPts val="900"/>
              </a:spcBef>
              <a:spcAft>
                <a:spcPts val="900"/>
              </a:spcAft>
            </a:pPr>
            <a:endParaRPr lang="en-US" altLang="zh-CN" sz="2000" b="1">
              <a:latin typeface="Arial" panose="020B0604020202020204" pitchFamily="34" charset="0"/>
              <a:ea typeface="微软雅黑" panose="020B0503020204020204" pitchFamily="34" charset="-122"/>
              <a:cs typeface="黑体" panose="02010609060101010101" charset="-122"/>
            </a:endParaRPr>
          </a:p>
        </p:txBody>
      </p:sp>
      <p:sp>
        <p:nvSpPr>
          <p:cNvPr id="23" name="文本框 22">
            <a:extLst>
              <a:ext uri="{FF2B5EF4-FFF2-40B4-BE49-F238E27FC236}">
                <a16:creationId xmlns:a16="http://schemas.microsoft.com/office/drawing/2014/main" id="{21513335-FA36-3384-A615-7C30B619E61C}"/>
              </a:ext>
            </a:extLst>
          </p:cNvPr>
          <p:cNvSpPr txBox="1"/>
          <p:nvPr/>
        </p:nvSpPr>
        <p:spPr>
          <a:xfrm>
            <a:off x="7355541" y="2011972"/>
            <a:ext cx="4498000" cy="3722321"/>
          </a:xfrm>
          <a:prstGeom prst="rect">
            <a:avLst/>
          </a:prstGeom>
        </p:spPr>
        <p:txBody>
          <a:bodyPr>
            <a:noAutofit/>
          </a:bodyPr>
          <a:lstStyle/>
          <a:p>
            <a:pPr>
              <a:spcBef>
                <a:spcPts val="900"/>
              </a:spcBef>
              <a:spcAft>
                <a:spcPts val="900"/>
              </a:spcAft>
            </a:pPr>
            <a:r>
              <a:rPr lang="zh-CN" altLang="en-US" sz="2000" b="1">
                <a:latin typeface="Arial" panose="020B0604020202020204" pitchFamily="34" charset="0"/>
                <a:ea typeface="微软雅黑" panose="020B0503020204020204" pitchFamily="34" charset="-122"/>
                <a:cs typeface="黑体" panose="02010609060101010101" charset="-122"/>
              </a:rPr>
              <a:t>显式控制的层级权重工作集：</a:t>
            </a:r>
          </a:p>
          <a:p>
            <a:pPr marL="342900" indent="-342900">
              <a:spcBef>
                <a:spcPct val="0"/>
              </a:spcBef>
              <a:spcAft>
                <a:spcPct val="0"/>
              </a:spcAft>
              <a:buFont typeface="Wingdings" pitchFamily="2" charset="2"/>
              <a:buChar char="n"/>
            </a:pPr>
            <a:r>
              <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rPr>
              <a:t>Layer Ring</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（环形缓冲区）：</a:t>
            </a:r>
            <a:endPar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endParaRPr>
          </a:p>
          <a:p>
            <a:pPr>
              <a:spcBef>
                <a:spcPct val="0"/>
              </a:spcBef>
              <a:spcAft>
                <a:spcPct val="0"/>
              </a:spcAft>
            </a:pPr>
            <a:r>
              <a:rPr lang="zh-CN" altLang="en-US" sz="2000" b="1">
                <a:latin typeface="Arial" panose="020B0604020202020204" pitchFamily="34" charset="0"/>
                <a:ea typeface="微软雅黑" panose="020B0503020204020204" pitchFamily="34" charset="-122"/>
                <a:cs typeface="黑体" panose="02010609060101010101" charset="-122"/>
              </a:rPr>
              <a:t>固定匿名 </a:t>
            </a:r>
            <a:r>
              <a:rPr lang="en-US" altLang="zh-CN" sz="2000" b="1">
                <a:latin typeface="Arial" panose="020B0604020202020204" pitchFamily="34" charset="0"/>
                <a:ea typeface="微软雅黑" panose="020B0503020204020204" pitchFamily="34" charset="-122"/>
                <a:cs typeface="黑体" panose="02010609060101010101" charset="-122"/>
              </a:rPr>
              <a:t>Slot </a:t>
            </a:r>
            <a:r>
              <a:rPr lang="zh-CN" altLang="en-US" sz="2000" b="1">
                <a:latin typeface="Arial" panose="020B0604020202020204" pitchFamily="34" charset="0"/>
                <a:ea typeface="微软雅黑" panose="020B0503020204020204" pitchFamily="34" charset="-122"/>
                <a:cs typeface="黑体" panose="02010609060101010101" charset="-122"/>
              </a:rPr>
              <a:t>循环复用，仅保持当前计算附近的 </a:t>
            </a:r>
            <a:r>
              <a:rPr lang="en-US" altLang="zh-CN" sz="2000" b="1">
                <a:latin typeface="Arial" panose="020B0604020202020204" pitchFamily="34" charset="0"/>
                <a:ea typeface="微软雅黑" panose="020B0503020204020204" pitchFamily="34" charset="-122"/>
                <a:cs typeface="黑体" panose="02010609060101010101" charset="-122"/>
              </a:rPr>
              <a:t>Layer </a:t>
            </a:r>
            <a:r>
              <a:rPr lang="zh-CN" altLang="en-US" sz="2000" b="1">
                <a:latin typeface="Arial" panose="020B0604020202020204" pitchFamily="34" charset="0"/>
                <a:ea typeface="微软雅黑" panose="020B0503020204020204" pitchFamily="34" charset="-122"/>
                <a:cs typeface="黑体" panose="02010609060101010101" charset="-122"/>
              </a:rPr>
              <a:t>驻留。</a:t>
            </a:r>
          </a:p>
          <a:p>
            <a:pPr marL="342900" indent="-342900">
              <a:spcBef>
                <a:spcPct val="0"/>
              </a:spcBef>
              <a:spcAft>
                <a:spcPct val="0"/>
              </a:spcAft>
              <a:buFont typeface="Wingdings" pitchFamily="2" charset="2"/>
              <a:buChar char="n"/>
            </a:pPr>
            <a:r>
              <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rPr>
              <a:t>Prefetch</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（权重预取）：</a:t>
            </a:r>
            <a:endPar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endParaRPr>
          </a:p>
          <a:p>
            <a:pPr>
              <a:spcBef>
                <a:spcPct val="0"/>
              </a:spcBef>
              <a:spcAft>
                <a:spcPct val="0"/>
              </a:spcAft>
            </a:pPr>
            <a:r>
              <a:rPr lang="zh-CN" altLang="en-US" sz="2000" b="1">
                <a:latin typeface="Arial" panose="020B0604020202020204" pitchFamily="34" charset="0"/>
                <a:ea typeface="微软雅黑" panose="020B0503020204020204" pitchFamily="34" charset="-122"/>
              </a:rPr>
              <a:t>根据当前 </a:t>
            </a:r>
            <a:r>
              <a:rPr lang="en-US" altLang="zh-CN" sz="2000" b="1">
                <a:latin typeface="Arial" panose="020B0604020202020204" pitchFamily="34" charset="0"/>
                <a:ea typeface="微软雅黑" panose="020B0503020204020204" pitchFamily="34" charset="-122"/>
              </a:rPr>
              <a:t>Layer </a:t>
            </a:r>
            <a:r>
              <a:rPr lang="zh-CN" altLang="en-US" sz="2000" b="1">
                <a:latin typeface="Arial" panose="020B0604020202020204" pitchFamily="34" charset="0"/>
                <a:ea typeface="微软雅黑" panose="020B0503020204020204" pitchFamily="34" charset="-122"/>
              </a:rPr>
              <a:t>预取后续权重，后台 </a:t>
            </a:r>
            <a:r>
              <a:rPr lang="en-US" altLang="zh-CN" sz="2000" b="1">
                <a:latin typeface="Arial" panose="020B0604020202020204" pitchFamily="34" charset="0"/>
                <a:ea typeface="微软雅黑" panose="020B0503020204020204" pitchFamily="34" charset="-122"/>
              </a:rPr>
              <a:t>I/O </a:t>
            </a:r>
            <a:r>
              <a:rPr lang="zh-CN" altLang="en-US" sz="2000" b="1">
                <a:latin typeface="Arial" panose="020B0604020202020204" pitchFamily="34" charset="0"/>
                <a:ea typeface="微软雅黑" panose="020B0503020204020204" pitchFamily="34" charset="-122"/>
              </a:rPr>
              <a:t>提前完成数据准备，实现</a:t>
            </a:r>
            <a:r>
              <a:rPr lang="zh-CN" altLang="en-US" sz="2000" b="1">
                <a:latin typeface="Arial" panose="020B0604020202020204" pitchFamily="34" charset="0"/>
                <a:ea typeface="微软雅黑" panose="020B0503020204020204" pitchFamily="34" charset="-122"/>
                <a:cs typeface="黑体" panose="02010609060101010101" charset="-122"/>
              </a:rPr>
              <a:t>计算与 </a:t>
            </a:r>
            <a:r>
              <a:rPr lang="en-US" altLang="zh-CN" sz="2000" b="1">
                <a:latin typeface="Arial" panose="020B0604020202020204" pitchFamily="34" charset="0"/>
                <a:ea typeface="微软雅黑" panose="020B0503020204020204" pitchFamily="34" charset="-122"/>
                <a:cs typeface="黑体" panose="02010609060101010101" charset="-122"/>
              </a:rPr>
              <a:t>I/O </a:t>
            </a:r>
            <a:r>
              <a:rPr lang="zh-CN" altLang="en-US" sz="2000" b="1">
                <a:latin typeface="Arial" panose="020B0604020202020204" pitchFamily="34" charset="0"/>
                <a:ea typeface="微软雅黑" panose="020B0503020204020204" pitchFamily="34" charset="-122"/>
                <a:cs typeface="黑体" panose="02010609060101010101" charset="-122"/>
              </a:rPr>
              <a:t>重叠。</a:t>
            </a:r>
            <a:endParaRPr lang="zh-CN" altLang="en-US" sz="2000" b="1">
              <a:latin typeface="Arial" panose="020B0604020202020204" pitchFamily="34" charset="0"/>
              <a:ea typeface="微软雅黑" panose="020B0503020204020204" pitchFamily="34" charset="-122"/>
            </a:endParaRPr>
          </a:p>
          <a:p>
            <a:pPr marL="342900" indent="-342900">
              <a:spcBef>
                <a:spcPct val="0"/>
              </a:spcBef>
              <a:spcAft>
                <a:spcPct val="0"/>
              </a:spcAft>
              <a:buFont typeface="Wingdings" pitchFamily="2" charset="2"/>
              <a:buChar char="n"/>
            </a:pPr>
            <a:r>
              <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rPr>
              <a:t>Reclaim / Pin</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（权重释放</a:t>
            </a:r>
            <a:r>
              <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rPr>
              <a:t>/</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锁定）：</a:t>
            </a:r>
            <a:endPar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endParaRPr>
          </a:p>
          <a:p>
            <a:pPr>
              <a:spcBef>
                <a:spcPct val="0"/>
              </a:spcBef>
              <a:spcAft>
                <a:spcPct val="0"/>
              </a:spcAft>
            </a:pPr>
            <a:r>
              <a:rPr lang="zh-CN" altLang="en-US" sz="2000" b="1">
                <a:latin typeface="Arial" panose="020B0604020202020204" pitchFamily="34" charset="0"/>
                <a:ea typeface="微软雅黑" panose="020B0503020204020204" pitchFamily="34" charset="-122"/>
                <a:cs typeface="黑体" panose="02010609060101010101" charset="-122"/>
              </a:rPr>
              <a:t>动态调整工作集，低收益 </a:t>
            </a:r>
            <a:r>
              <a:rPr lang="en-US" altLang="zh-CN" sz="2000" b="1">
                <a:latin typeface="Arial" panose="020B0604020202020204" pitchFamily="34" charset="0"/>
                <a:ea typeface="微软雅黑" panose="020B0503020204020204" pitchFamily="34" charset="-122"/>
                <a:cs typeface="黑体" panose="02010609060101010101" charset="-122"/>
              </a:rPr>
              <a:t>Layer </a:t>
            </a:r>
            <a:r>
              <a:rPr lang="zh-CN" altLang="en-US" sz="2000" b="1">
                <a:latin typeface="Arial" panose="020B0604020202020204" pitchFamily="34" charset="0"/>
                <a:ea typeface="微软雅黑" panose="020B0503020204020204" pitchFamily="34" charset="-122"/>
                <a:cs typeface="黑体" panose="02010609060101010101" charset="-122"/>
              </a:rPr>
              <a:t>清理回收，高价值 </a:t>
            </a:r>
            <a:r>
              <a:rPr lang="en-US" altLang="zh-CN" sz="2000" b="1">
                <a:latin typeface="Arial" panose="020B0604020202020204" pitchFamily="34" charset="0"/>
                <a:ea typeface="微软雅黑" panose="020B0503020204020204" pitchFamily="34" charset="-122"/>
                <a:cs typeface="黑体" panose="02010609060101010101" charset="-122"/>
              </a:rPr>
              <a:t>Tensor </a:t>
            </a:r>
            <a:r>
              <a:rPr lang="zh-CN" altLang="en-US" sz="2000" b="1">
                <a:latin typeface="Arial" panose="020B0604020202020204" pitchFamily="34" charset="0"/>
                <a:ea typeface="微软雅黑" panose="020B0503020204020204" pitchFamily="34" charset="-122"/>
                <a:cs typeface="黑体" panose="02010609060101010101" charset="-122"/>
              </a:rPr>
              <a:t>按预算保持驻留。</a:t>
            </a:r>
          </a:p>
        </p:txBody>
      </p:sp>
      <p:sp>
        <p:nvSpPr>
          <p:cNvPr id="32" name="文本框 31">
            <a:extLst>
              <a:ext uri="{FF2B5EF4-FFF2-40B4-BE49-F238E27FC236}">
                <a16:creationId xmlns:a16="http://schemas.microsoft.com/office/drawing/2014/main" id="{200C74E8-24FD-0F10-C78E-9950BA9D2690}"/>
              </a:ext>
            </a:extLst>
          </p:cNvPr>
          <p:cNvSpPr txBox="1"/>
          <p:nvPr/>
        </p:nvSpPr>
        <p:spPr>
          <a:xfrm>
            <a:off x="-251477" y="5120037"/>
            <a:ext cx="8028528" cy="830997"/>
          </a:xfrm>
          <a:prstGeom prst="rect">
            <a:avLst/>
          </a:prstGeom>
          <a:noFill/>
        </p:spPr>
        <p:txBody>
          <a:bodyPr wrap="square" rtlCol="0">
            <a:spAutoFit/>
          </a:bodyPr>
          <a:lstStyle/>
          <a:p>
            <a:pPr algn="ctr"/>
            <a:r>
              <a:rPr lang="zh-CN" altLang="en-US" sz="2400" b="1">
                <a:solidFill>
                  <a:srgbClr val="FF0000"/>
                </a:solidFill>
                <a:latin typeface="Arial" panose="020B0604020202020204" pitchFamily="34" charset="0"/>
                <a:ea typeface="微软雅黑" panose="020B0503020204020204" pitchFamily="34" charset="-122"/>
              </a:rPr>
              <a:t>核心思想：</a:t>
            </a:r>
            <a:r>
              <a:rPr lang="zh-CN" altLang="en-US" sz="2400" b="1">
                <a:latin typeface="Arial" panose="020B0604020202020204" pitchFamily="34" charset="0"/>
                <a:ea typeface="微软雅黑" panose="020B0503020204020204" pitchFamily="34" charset="-122"/>
              </a:rPr>
              <a:t>动态维护有限规模的</a:t>
            </a:r>
            <a:r>
              <a:rPr lang="en-US" altLang="zh-CN" sz="2400" b="1">
                <a:latin typeface="Arial" panose="020B0604020202020204" pitchFamily="34" charset="0"/>
                <a:ea typeface="微软雅黑" panose="020B0503020204020204" pitchFamily="34" charset="-122"/>
              </a:rPr>
              <a:t>Layer </a:t>
            </a:r>
            <a:r>
              <a:rPr lang="zh-CN" altLang="en-US" sz="2400" b="1">
                <a:latin typeface="Arial" panose="020B0604020202020204" pitchFamily="34" charset="0"/>
                <a:ea typeface="微软雅黑" panose="020B0503020204020204" pitchFamily="34" charset="-122"/>
              </a:rPr>
              <a:t>驻留窗口，</a:t>
            </a:r>
            <a:endParaRPr lang="en-US" altLang="zh-CN" sz="2400" b="1">
              <a:latin typeface="Arial" panose="020B0604020202020204" pitchFamily="34" charset="0"/>
              <a:ea typeface="微软雅黑" panose="020B0503020204020204" pitchFamily="34" charset="-122"/>
            </a:endParaRPr>
          </a:p>
          <a:p>
            <a:r>
              <a:rPr lang="zh-CN" altLang="en-US" sz="2400" b="1">
                <a:latin typeface="Arial" panose="020B0604020202020204" pitchFamily="34" charset="0"/>
                <a:ea typeface="微软雅黑" panose="020B0503020204020204" pitchFamily="34" charset="-122"/>
              </a:rPr>
              <a:t>                         降低权重常驻内存占用</a:t>
            </a:r>
            <a:endParaRPr lang="en-US" altLang="zh-CN" sz="2400" b="1">
              <a:latin typeface="Arial" panose="020B0604020202020204" pitchFamily="34" charset="0"/>
              <a:ea typeface="微软雅黑" panose="020B0503020204020204" pitchFamily="34"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165F98E-6D8C-B929-9055-89F61CBCEA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799411"/>
            <a:ext cx="7160449" cy="3786421"/>
          </a:xfrm>
          <a:prstGeom prst="rect">
            <a:avLst/>
          </a:prstGeom>
        </p:spPr>
      </p:pic>
      <p:sp>
        <p:nvSpPr>
          <p:cNvPr id="35" name="TextBox 6"/>
          <p:cNvSpPr txBox="1"/>
          <p:nvPr/>
        </p:nvSpPr>
        <p:spPr>
          <a:xfrm>
            <a:off x="304800" y="1033543"/>
            <a:ext cx="3858409" cy="527825"/>
          </a:xfrm>
          <a:prstGeom prst="rect">
            <a:avLst/>
          </a:prstGeom>
          <a:noFill/>
        </p:spPr>
        <p:txBody>
          <a:bodyPr wrap="square" lIns="0" tIns="48000" rIns="0" bIns="48000" rtlCol="0">
            <a:spAutoFit/>
          </a:bodyPr>
          <a:lstStyle/>
          <a:p>
            <a:pPr algn="ct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3.3</a:t>
            </a:r>
            <a:r>
              <a:rPr lang="en" altLang="zh-CN" sz="2400" b="1">
                <a:solidFill>
                  <a:schemeClr val="tx1">
                    <a:lumMod val="65000"/>
                    <a:lumOff val="35000"/>
                  </a:schemeClr>
                </a:solidFill>
                <a:latin typeface="Arial" panose="020B0604020202020204" pitchFamily="34" charset="0"/>
                <a:ea typeface="微软雅黑" panose="020B0503020204020204" pitchFamily="34" charset="-122"/>
              </a:rPr>
              <a:t> </a:t>
            </a:r>
            <a:r>
              <a:rPr lang="en" altLang="zh-CN" sz="2800" b="1" dirty="0">
                <a:solidFill>
                  <a:schemeClr val="tx1">
                    <a:lumMod val="65000"/>
                    <a:lumOff val="35000"/>
                  </a:schemeClr>
                </a:solidFill>
                <a:latin typeface="Arial" panose="020B0604020202020204" pitchFamily="34" charset="0"/>
                <a:ea typeface="微软雅黑" panose="020B0503020204020204" pitchFamily="34" charset="-122"/>
              </a:rPr>
              <a:t>MoE </a:t>
            </a:r>
            <a:r>
              <a:rPr lang="en" altLang="zh-CN" sz="2800" b="1">
                <a:solidFill>
                  <a:schemeClr val="tx1">
                    <a:lumMod val="65000"/>
                    <a:lumOff val="35000"/>
                  </a:schemeClr>
                </a:solidFill>
                <a:latin typeface="Arial" panose="020B0604020202020204" pitchFamily="34" charset="0"/>
                <a:ea typeface="微软雅黑" panose="020B0503020204020204" pitchFamily="34" charset="-122"/>
              </a:rPr>
              <a:t>Buffer </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模块</a:t>
            </a:r>
            <a:endParaRPr lang="zh-CN" altLang="en-US" sz="24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2" name="文本框 1"/>
          <p:cNvSpPr txBox="1"/>
          <p:nvPr/>
        </p:nvSpPr>
        <p:spPr>
          <a:xfrm>
            <a:off x="7270961" y="1528840"/>
            <a:ext cx="4826174" cy="5044068"/>
          </a:xfrm>
          <a:prstGeom prst="rect">
            <a:avLst/>
          </a:prstGeom>
        </p:spPr>
        <p:txBody>
          <a:bodyPr>
            <a:noAutofit/>
          </a:bodyPr>
          <a:lstStyle/>
          <a:p>
            <a:pPr>
              <a:spcBef>
                <a:spcPts val="900"/>
              </a:spcBef>
              <a:spcAft>
                <a:spcPts val="900"/>
              </a:spcAft>
            </a:pPr>
            <a:r>
              <a:rPr lang="zh-CN" altLang="en-US" sz="2000" b="1">
                <a:latin typeface="Arial" panose="020B0604020202020204" pitchFamily="34" charset="0"/>
                <a:ea typeface="微软雅黑" panose="020B0503020204020204" pitchFamily="34" charset="-122"/>
                <a:cs typeface="黑体" panose="02010609060101010101" charset="-122"/>
              </a:rPr>
              <a:t>稀疏专家的动态 </a:t>
            </a:r>
            <a:r>
              <a:rPr lang="en" altLang="zh-CN" sz="2000" b="1">
                <a:latin typeface="Arial" panose="020B0604020202020204" pitchFamily="34" charset="0"/>
                <a:ea typeface="微软雅黑" panose="020B0503020204020204" pitchFamily="34" charset="-122"/>
                <a:cs typeface="黑体" panose="02010609060101010101" charset="-122"/>
              </a:rPr>
              <a:t>Working Set</a:t>
            </a:r>
            <a:r>
              <a:rPr lang="zh-CN" altLang="en-US" sz="2000" b="1">
                <a:latin typeface="Arial" panose="020B0604020202020204" pitchFamily="34" charset="0"/>
                <a:ea typeface="微软雅黑" panose="020B0503020204020204" pitchFamily="34" charset="-122"/>
                <a:cs typeface="黑体" panose="02010609060101010101" charset="-122"/>
              </a:rPr>
              <a:t>：</a:t>
            </a:r>
          </a:p>
          <a:p>
            <a:pPr marL="342900" indent="-342900">
              <a:spcBef>
                <a:spcPct val="0"/>
              </a:spcBef>
              <a:spcAft>
                <a:spcPct val="0"/>
              </a:spcAft>
              <a:buFont typeface="Wingdings" pitchFamily="2" charset="2"/>
              <a:buChar char="n"/>
            </a:pPr>
            <a:r>
              <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rPr>
              <a:t>ExpertGroup</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（专家工作集）：</a:t>
            </a:r>
            <a:endPar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endParaRPr>
          </a:p>
          <a:p>
            <a:pPr>
              <a:spcBef>
                <a:spcPct val="0"/>
              </a:spcBef>
              <a:spcAft>
                <a:spcPct val="0"/>
              </a:spcAft>
            </a:pPr>
            <a:r>
              <a:rPr lang="zh-CN" altLang="en-US" sz="2000" b="1">
                <a:latin typeface="Arial" panose="020B0604020202020204" pitchFamily="34" charset="0"/>
                <a:ea typeface="微软雅黑" panose="020B0503020204020204" pitchFamily="34" charset="-122"/>
                <a:cs typeface="黑体" panose="02010609060101010101" charset="-122"/>
              </a:rPr>
              <a:t>以 </a:t>
            </a:r>
            <a:r>
              <a:rPr lang="en-US" altLang="zh-CN" sz="2000" b="1">
                <a:latin typeface="Arial" panose="020B0604020202020204" pitchFamily="34" charset="0"/>
                <a:ea typeface="微软雅黑" panose="020B0503020204020204" pitchFamily="34" charset="-122"/>
                <a:cs typeface="黑体" panose="02010609060101010101" charset="-122"/>
              </a:rPr>
              <a:t>(Layer, Expert) </a:t>
            </a:r>
            <a:r>
              <a:rPr lang="zh-CN" altLang="en-US" sz="2000" b="1">
                <a:latin typeface="Arial" panose="020B0604020202020204" pitchFamily="34" charset="0"/>
                <a:ea typeface="微软雅黑" panose="020B0503020204020204" pitchFamily="34" charset="-122"/>
                <a:cs typeface="黑体" panose="02010609060101010101" charset="-122"/>
              </a:rPr>
              <a:t>为管理粒度，</a:t>
            </a:r>
            <a:r>
              <a:rPr lang="en-US" altLang="zh-CN" sz="2000" b="1">
                <a:latin typeface="Arial" panose="020B0604020202020204" pitchFamily="34" charset="0"/>
                <a:ea typeface="微软雅黑" panose="020B0503020204020204" pitchFamily="34" charset="-122"/>
                <a:cs typeface="黑体" panose="02010609060101010101" charset="-122"/>
              </a:rPr>
              <a:t>Expert Slice </a:t>
            </a:r>
            <a:r>
              <a:rPr lang="zh-CN" altLang="en-US" sz="2000" b="1">
                <a:latin typeface="Arial" panose="020B0604020202020204" pitchFamily="34" charset="0"/>
                <a:ea typeface="微软雅黑" panose="020B0503020204020204" pitchFamily="34" charset="-122"/>
                <a:cs typeface="黑体" panose="02010609060101010101" charset="-122"/>
              </a:rPr>
              <a:t>独立加载、命中与驱逐。</a:t>
            </a:r>
            <a:endParaRPr lang="en-US" altLang="zh-CN" sz="2000" b="1">
              <a:latin typeface="Arial" panose="020B0604020202020204" pitchFamily="34" charset="0"/>
              <a:ea typeface="微软雅黑" panose="020B0503020204020204" pitchFamily="34" charset="-122"/>
              <a:cs typeface="黑体" panose="02010609060101010101" charset="-122"/>
            </a:endParaRPr>
          </a:p>
          <a:p>
            <a:pPr marL="342900" indent="-342900">
              <a:spcBef>
                <a:spcPct val="0"/>
              </a:spcBef>
              <a:spcAft>
                <a:spcPct val="0"/>
              </a:spcAft>
              <a:buFont typeface="Wingdings" pitchFamily="2" charset="2"/>
              <a:buChar char="n"/>
            </a:pPr>
            <a:r>
              <a:rPr lang="en" altLang="zh-CN" sz="2000" b="1">
                <a:solidFill>
                  <a:srgbClr val="FF0000"/>
                </a:solidFill>
                <a:latin typeface="Arial" panose="020B0604020202020204" pitchFamily="34" charset="0"/>
                <a:ea typeface="微软雅黑" panose="020B0503020204020204" pitchFamily="34" charset="-122"/>
                <a:cs typeface="黑体" panose="02010609060101010101" charset="-122"/>
              </a:rPr>
              <a:t>Working Set</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（冷热分层专家）</a:t>
            </a:r>
            <a:r>
              <a:rPr lang="zh-CN" altLang="en" sz="2000" b="1">
                <a:solidFill>
                  <a:srgbClr val="FF0000"/>
                </a:solidFill>
                <a:latin typeface="Arial" panose="020B0604020202020204" pitchFamily="34" charset="0"/>
                <a:ea typeface="微软雅黑" panose="020B0503020204020204" pitchFamily="34" charset="-122"/>
                <a:cs typeface="黑体" panose="02010609060101010101" charset="-122"/>
              </a:rPr>
              <a:t>：</a:t>
            </a:r>
            <a:endPar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endParaRPr>
          </a:p>
          <a:p>
            <a:pPr>
              <a:spcBef>
                <a:spcPct val="0"/>
              </a:spcBef>
              <a:spcAft>
                <a:spcPct val="0"/>
              </a:spcAft>
            </a:pPr>
            <a:r>
              <a:rPr lang="zh-CN" altLang="en-US" sz="2000" b="1">
                <a:latin typeface="Arial" panose="020B0604020202020204" pitchFamily="34" charset="0"/>
                <a:ea typeface="微软雅黑" panose="020B0503020204020204" pitchFamily="34" charset="-122"/>
                <a:cs typeface="黑体" panose="02010609060101010101" charset="-122"/>
              </a:rPr>
              <a:t>热点专家动态保留，</a:t>
            </a:r>
            <a:r>
              <a:rPr lang="zh-CN" altLang="en-US" sz="2000" b="1">
                <a:latin typeface="Arial" panose="020B0604020202020204" pitchFamily="34" charset="0"/>
                <a:ea typeface="微软雅黑" panose="020B0503020204020204" pitchFamily="34" charset="-122"/>
              </a:rPr>
              <a:t>当前激活 </a:t>
            </a:r>
            <a:r>
              <a:rPr lang="en-US" altLang="zh-CN" sz="2000" b="1">
                <a:latin typeface="Arial" panose="020B0604020202020204" pitchFamily="34" charset="0"/>
                <a:ea typeface="微软雅黑" panose="020B0503020204020204" pitchFamily="34" charset="-122"/>
              </a:rPr>
              <a:t>+ </a:t>
            </a:r>
            <a:r>
              <a:rPr lang="zh-CN" altLang="en-US" sz="2000" b="1">
                <a:latin typeface="Arial" panose="020B0604020202020204" pitchFamily="34" charset="0"/>
                <a:ea typeface="微软雅黑" panose="020B0503020204020204" pitchFamily="34" charset="-122"/>
              </a:rPr>
              <a:t>预测候选 </a:t>
            </a:r>
            <a:r>
              <a:rPr lang="en-US" altLang="zh-CN" sz="2000" b="1">
                <a:latin typeface="Arial" panose="020B0604020202020204" pitchFamily="34" charset="0"/>
                <a:ea typeface="微软雅黑" panose="020B0503020204020204" pitchFamily="34" charset="-122"/>
              </a:rPr>
              <a:t>+ </a:t>
            </a:r>
            <a:r>
              <a:rPr lang="zh-CN" altLang="en-US" sz="2000" b="1">
                <a:latin typeface="Arial" panose="020B0604020202020204" pitchFamily="34" charset="0"/>
                <a:ea typeface="微软雅黑" panose="020B0503020204020204" pitchFamily="34" charset="-122"/>
              </a:rPr>
              <a:t>历史高频 </a:t>
            </a:r>
            <a:r>
              <a:rPr lang="en-US" altLang="zh-CN" sz="2000" b="1">
                <a:latin typeface="Arial" panose="020B0604020202020204" pitchFamily="34" charset="0"/>
                <a:ea typeface="微软雅黑" panose="020B0503020204020204" pitchFamily="34" charset="-122"/>
              </a:rPr>
              <a:t>Expert </a:t>
            </a:r>
            <a:r>
              <a:rPr lang="zh-CN" altLang="en-US" sz="2000" b="1">
                <a:latin typeface="Arial" panose="020B0604020202020204" pitchFamily="34" charset="0"/>
                <a:ea typeface="微软雅黑" panose="020B0503020204020204" pitchFamily="34" charset="-122"/>
              </a:rPr>
              <a:t>共同构成有限工作集。</a:t>
            </a:r>
            <a:endParaRPr lang="en-US" altLang="zh-CN" sz="2000" b="1">
              <a:latin typeface="Arial" panose="020B0604020202020204" pitchFamily="34" charset="0"/>
              <a:ea typeface="微软雅黑" panose="020B0503020204020204" pitchFamily="34" charset="-122"/>
            </a:endParaRPr>
          </a:p>
          <a:p>
            <a:pPr marL="342900" indent="-342900">
              <a:spcBef>
                <a:spcPct val="0"/>
              </a:spcBef>
              <a:spcAft>
                <a:spcPct val="0"/>
              </a:spcAft>
              <a:buFont typeface="Wingdings" pitchFamily="2" charset="2"/>
              <a:buChar char="n"/>
            </a:pPr>
            <a:r>
              <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rPr>
              <a:t>Admission Prefetch</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（专家预取）：</a:t>
            </a:r>
            <a:endPar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endParaRPr>
          </a:p>
          <a:p>
            <a:pPr>
              <a:spcBef>
                <a:spcPct val="0"/>
              </a:spcBef>
              <a:spcAft>
                <a:spcPct val="0"/>
              </a:spcAft>
            </a:pPr>
            <a:r>
              <a:rPr lang="en-US" altLang="zh-CN" sz="2000" b="1">
                <a:latin typeface="Arial" panose="020B0604020202020204" pitchFamily="34" charset="0"/>
                <a:ea typeface="微软雅黑" panose="020B0503020204020204" pitchFamily="34" charset="-122"/>
                <a:cs typeface="黑体" panose="02010609060101010101" charset="-122"/>
              </a:rPr>
              <a:t>CLG / EAM / CCT </a:t>
            </a:r>
            <a:r>
              <a:rPr lang="zh-CN" altLang="en-US" sz="2000" b="1">
                <a:latin typeface="Arial" panose="020B0604020202020204" pitchFamily="34" charset="0"/>
                <a:ea typeface="微软雅黑" panose="020B0503020204020204" pitchFamily="34" charset="-122"/>
                <a:cs typeface="黑体" panose="02010609060101010101" charset="-122"/>
              </a:rPr>
              <a:t>生成预测专家候选，</a:t>
            </a:r>
            <a:r>
              <a:rPr lang="en-US" altLang="zh-CN" sz="2000" b="1">
                <a:latin typeface="Arial" panose="020B0604020202020204" pitchFamily="34" charset="0"/>
                <a:ea typeface="微软雅黑" panose="020B0503020204020204" pitchFamily="34" charset="-122"/>
                <a:cs typeface="黑体" panose="02010609060101010101" charset="-122"/>
              </a:rPr>
              <a:t>Ranked Prefetch </a:t>
            </a:r>
            <a:r>
              <a:rPr lang="zh-CN" altLang="en-US" sz="2000" b="1">
                <a:latin typeface="Arial" panose="020B0604020202020204" pitchFamily="34" charset="0"/>
                <a:ea typeface="微软雅黑" panose="020B0503020204020204" pitchFamily="34" charset="-122"/>
                <a:cs typeface="黑体" panose="02010609060101010101" charset="-122"/>
              </a:rPr>
              <a:t>按概率与收益排序，优先加载高价值 </a:t>
            </a:r>
            <a:r>
              <a:rPr lang="en-US" altLang="zh-CN" sz="2000" b="1">
                <a:latin typeface="Arial" panose="020B0604020202020204" pitchFamily="34" charset="0"/>
                <a:ea typeface="微软雅黑" panose="020B0503020204020204" pitchFamily="34" charset="-122"/>
                <a:cs typeface="黑体" panose="02010609060101010101" charset="-122"/>
              </a:rPr>
              <a:t>Expert</a:t>
            </a:r>
            <a:r>
              <a:rPr lang="zh-CN" altLang="en-US" sz="2000" b="1">
                <a:latin typeface="Arial" panose="020B0604020202020204" pitchFamily="34" charset="0"/>
                <a:ea typeface="微软雅黑" panose="020B0503020204020204" pitchFamily="34" charset="-122"/>
                <a:cs typeface="黑体" panose="02010609060101010101" charset="-122"/>
              </a:rPr>
              <a:t>。</a:t>
            </a:r>
            <a:endParaRPr lang="en" altLang="zh-CN" sz="2000" b="1">
              <a:latin typeface="Arial" panose="020B0604020202020204" pitchFamily="34" charset="0"/>
              <a:ea typeface="微软雅黑" panose="020B0503020204020204" pitchFamily="34" charset="-122"/>
              <a:cs typeface="黑体" panose="02010609060101010101" charset="-122"/>
            </a:endParaRPr>
          </a:p>
          <a:p>
            <a:pPr marL="342900" indent="-342900">
              <a:spcBef>
                <a:spcPct val="0"/>
              </a:spcBef>
              <a:spcAft>
                <a:spcPct val="0"/>
              </a:spcAft>
              <a:buFont typeface="Wingdings" pitchFamily="2" charset="2"/>
              <a:buChar char="n"/>
            </a:pPr>
            <a:r>
              <a:rPr lang="en" altLang="zh-CN" sz="2000" b="1">
                <a:solidFill>
                  <a:srgbClr val="FF0000"/>
                </a:solidFill>
                <a:latin typeface="Arial" panose="020B0604020202020204" pitchFamily="34" charset="0"/>
                <a:ea typeface="微软雅黑" panose="020B0503020204020204" pitchFamily="34" charset="-122"/>
                <a:cs typeface="黑体" panose="02010609060101010101" charset="-122"/>
              </a:rPr>
              <a:t>Eviction </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（专家淘汰）</a:t>
            </a:r>
            <a:r>
              <a:rPr lang="zh-CN" altLang="en" sz="2000" b="1">
                <a:solidFill>
                  <a:srgbClr val="FF0000"/>
                </a:solidFill>
                <a:latin typeface="Arial" panose="020B0604020202020204" pitchFamily="34" charset="0"/>
                <a:ea typeface="微软雅黑" panose="020B0503020204020204" pitchFamily="34" charset="-122"/>
                <a:cs typeface="黑体" panose="02010609060101010101" charset="-122"/>
              </a:rPr>
              <a:t>：</a:t>
            </a:r>
            <a:endParaRPr lang="en-US" altLang="zh-CN" sz="2000" b="1">
              <a:latin typeface="Arial" panose="020B0604020202020204" pitchFamily="34" charset="0"/>
              <a:ea typeface="微软雅黑" panose="020B0503020204020204" pitchFamily="34" charset="-122"/>
              <a:cs typeface="黑体" panose="02010609060101010101" charset="-122"/>
            </a:endParaRPr>
          </a:p>
          <a:p>
            <a:pPr>
              <a:spcBef>
                <a:spcPct val="0"/>
              </a:spcBef>
              <a:spcAft>
                <a:spcPct val="0"/>
              </a:spcAft>
            </a:pPr>
            <a:r>
              <a:rPr lang="zh-CN" altLang="en-US" sz="2000" b="1">
                <a:latin typeface="Arial" panose="020B0604020202020204" pitchFamily="34" charset="0"/>
                <a:ea typeface="微软雅黑" panose="020B0503020204020204" pitchFamily="34" charset="-122"/>
                <a:cs typeface="黑体" panose="02010609060101010101" charset="-122"/>
              </a:rPr>
              <a:t>低收益 </a:t>
            </a:r>
            <a:r>
              <a:rPr lang="en-US" altLang="zh-CN" sz="2000" b="1">
                <a:latin typeface="Arial" panose="020B0604020202020204" pitchFamily="34" charset="0"/>
                <a:ea typeface="微软雅黑" panose="020B0503020204020204" pitchFamily="34" charset="-122"/>
                <a:cs typeface="黑体" panose="02010609060101010101" charset="-122"/>
              </a:rPr>
              <a:t>ExpertGroup </a:t>
            </a:r>
            <a:r>
              <a:rPr lang="zh-CN" altLang="en-US" sz="2000" b="1">
                <a:latin typeface="Arial" panose="020B0604020202020204" pitchFamily="34" charset="0"/>
                <a:ea typeface="微软雅黑" panose="020B0503020204020204" pitchFamily="34" charset="-122"/>
                <a:cs typeface="黑体" panose="02010609060101010101" charset="-122"/>
              </a:rPr>
              <a:t>优先驱逐，动态调整 </a:t>
            </a:r>
            <a:r>
              <a:rPr lang="en-US" altLang="zh-CN" sz="2000" b="1">
                <a:latin typeface="Arial" panose="020B0604020202020204" pitchFamily="34" charset="0"/>
                <a:ea typeface="微软雅黑" panose="020B0503020204020204" pitchFamily="34" charset="-122"/>
                <a:cs typeface="黑体" panose="02010609060101010101" charset="-122"/>
              </a:rPr>
              <a:t>Buffer </a:t>
            </a:r>
            <a:r>
              <a:rPr lang="zh-CN" altLang="en-US" sz="2000" b="1">
                <a:latin typeface="Arial" panose="020B0604020202020204" pitchFamily="34" charset="0"/>
                <a:ea typeface="微软雅黑" panose="020B0503020204020204" pitchFamily="34" charset="-122"/>
                <a:cs typeface="黑体" panose="02010609060101010101" charset="-122"/>
              </a:rPr>
              <a:t>预算，抑制低预算下的反复驱逐与重载。</a:t>
            </a:r>
            <a:endParaRPr lang="en-US" altLang="zh-CN" sz="2000" b="1">
              <a:latin typeface="Arial" panose="020B0604020202020204" pitchFamily="34" charset="0"/>
              <a:ea typeface="微软雅黑" panose="020B0503020204020204" pitchFamily="34" charset="-122"/>
              <a:cs typeface="黑体" panose="02010609060101010101" charset="-122"/>
            </a:endParaRPr>
          </a:p>
        </p:txBody>
      </p:sp>
      <p:sp>
        <p:nvSpPr>
          <p:cNvPr id="4" name="文本框 3">
            <a:extLst>
              <a:ext uri="{FF2B5EF4-FFF2-40B4-BE49-F238E27FC236}">
                <a16:creationId xmlns:a16="http://schemas.microsoft.com/office/drawing/2014/main" id="{6AA71A75-0CD3-881A-0846-069F34AA31E7}"/>
              </a:ext>
            </a:extLst>
          </p:cNvPr>
          <p:cNvSpPr txBox="1"/>
          <p:nvPr/>
        </p:nvSpPr>
        <p:spPr>
          <a:xfrm>
            <a:off x="-780672" y="5672061"/>
            <a:ext cx="8922722" cy="830997"/>
          </a:xfrm>
          <a:prstGeom prst="rect">
            <a:avLst/>
          </a:prstGeom>
          <a:noFill/>
        </p:spPr>
        <p:txBody>
          <a:bodyPr wrap="square" rtlCol="0">
            <a:spAutoFit/>
          </a:bodyPr>
          <a:lstStyle/>
          <a:p>
            <a:pPr algn="ctr"/>
            <a:r>
              <a:rPr lang="zh-CN" altLang="en-US" sz="2400" b="1">
                <a:solidFill>
                  <a:srgbClr val="FF0000"/>
                </a:solidFill>
                <a:latin typeface="Arial" panose="020B0604020202020204" pitchFamily="34" charset="0"/>
                <a:ea typeface="微软雅黑" panose="020B0503020204020204" pitchFamily="34" charset="-122"/>
              </a:rPr>
              <a:t>核心思想：</a:t>
            </a:r>
            <a:r>
              <a:rPr lang="zh-CN" altLang="en-US" sz="2400" b="1">
                <a:latin typeface="Arial" panose="020B0604020202020204" pitchFamily="34" charset="0"/>
                <a:ea typeface="微软雅黑" panose="020B0503020204020204" pitchFamily="34" charset="-122"/>
              </a:rPr>
              <a:t>让当前最有价值的 </a:t>
            </a:r>
            <a:r>
              <a:rPr lang="en" altLang="zh-CN" sz="2400" b="1">
                <a:latin typeface="Arial" panose="020B0604020202020204" pitchFamily="34" charset="0"/>
                <a:ea typeface="微软雅黑" panose="020B0503020204020204" pitchFamily="34" charset="-122"/>
              </a:rPr>
              <a:t>Expert </a:t>
            </a:r>
            <a:r>
              <a:rPr lang="zh-CN" altLang="en-US" sz="2400" b="1">
                <a:latin typeface="Arial" panose="020B0604020202020204" pitchFamily="34" charset="0"/>
                <a:ea typeface="微软雅黑" panose="020B0503020204020204" pitchFamily="34" charset="-122"/>
              </a:rPr>
              <a:t>驻留，</a:t>
            </a:r>
            <a:endParaRPr lang="en-US" altLang="zh-CN" sz="2400" b="1">
              <a:latin typeface="Arial" panose="020B0604020202020204" pitchFamily="34" charset="0"/>
              <a:ea typeface="微软雅黑" panose="020B0503020204020204" pitchFamily="34" charset="-122"/>
            </a:endParaRPr>
          </a:p>
          <a:p>
            <a:pPr algn="ctr"/>
            <a:r>
              <a:rPr lang="zh-CN" altLang="en-US" sz="2400" b="1">
                <a:latin typeface="Arial" panose="020B0604020202020204" pitchFamily="34" charset="0"/>
                <a:ea typeface="微软雅黑" panose="020B0503020204020204" pitchFamily="34" charset="-122"/>
              </a:rPr>
              <a:t>避免低预算下反复驱逐 </a:t>
            </a:r>
            <a:r>
              <a:rPr lang="en" altLang="zh-CN" sz="2400" b="1">
                <a:latin typeface="Arial" panose="020B0604020202020204" pitchFamily="34" charset="0"/>
                <a:ea typeface="微软雅黑" panose="020B0503020204020204" pitchFamily="34" charset="-122"/>
              </a:rPr>
              <a:t>/ </a:t>
            </a:r>
            <a:r>
              <a:rPr lang="zh-CN" altLang="en-US" sz="2400" b="1">
                <a:latin typeface="Arial" panose="020B0604020202020204" pitchFamily="34" charset="0"/>
                <a:ea typeface="微软雅黑" panose="020B0503020204020204" pitchFamily="34" charset="-122"/>
              </a:rPr>
              <a:t>重载形成 </a:t>
            </a:r>
            <a:r>
              <a:rPr lang="en" altLang="zh-CN" sz="2400" b="1">
                <a:latin typeface="Arial" panose="020B0604020202020204" pitchFamily="34" charset="0"/>
                <a:ea typeface="微软雅黑" panose="020B0503020204020204" pitchFamily="34" charset="-122"/>
              </a:rPr>
              <a:t>I/O </a:t>
            </a:r>
            <a:r>
              <a:rPr lang="zh-CN" altLang="en-US" sz="2400" b="1">
                <a:latin typeface="Arial" panose="020B0604020202020204" pitchFamily="34" charset="0"/>
                <a:ea typeface="微软雅黑" panose="020B0503020204020204" pitchFamily="34" charset="-122"/>
              </a:rPr>
              <a:t>延迟</a:t>
            </a:r>
            <a:endParaRPr lang="en-US" altLang="zh-CN" sz="2400" b="1">
              <a:latin typeface="Arial" panose="020B0604020202020204" pitchFamily="34" charset="0"/>
              <a:ea typeface="微软雅黑" panose="020B0503020204020204" pitchFamily="34" charset="-122"/>
            </a:endParaRPr>
          </a:p>
        </p:txBody>
      </p:sp>
      <p:sp>
        <p:nvSpPr>
          <p:cNvPr id="8" name="矩形 4">
            <a:extLst>
              <a:ext uri="{FF2B5EF4-FFF2-40B4-BE49-F238E27FC236}">
                <a16:creationId xmlns:a16="http://schemas.microsoft.com/office/drawing/2014/main" id="{538D8D87-026E-5C94-047D-E630D80F1356}"/>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9" name="矩形 8">
            <a:extLst>
              <a:ext uri="{FF2B5EF4-FFF2-40B4-BE49-F238E27FC236}">
                <a16:creationId xmlns:a16="http://schemas.microsoft.com/office/drawing/2014/main" id="{5537B019-7323-9A8F-9C17-F95E91E7F0F4}"/>
              </a:ext>
            </a:extLst>
          </p:cNvPr>
          <p:cNvSpPr/>
          <p:nvPr/>
        </p:nvSpPr>
        <p:spPr>
          <a:xfrm>
            <a:off x="6563849" y="0"/>
            <a:ext cx="18449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cxnSp>
        <p:nvCxnSpPr>
          <p:cNvPr id="10" name="直接连接符 9">
            <a:extLst>
              <a:ext uri="{FF2B5EF4-FFF2-40B4-BE49-F238E27FC236}">
                <a16:creationId xmlns:a16="http://schemas.microsoft.com/office/drawing/2014/main" id="{12A39AB3-5AB6-AF84-7334-2BD15A8E481A}"/>
              </a:ext>
            </a:extLst>
          </p:cNvPr>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6">
            <a:extLst>
              <a:ext uri="{FF2B5EF4-FFF2-40B4-BE49-F238E27FC236}">
                <a16:creationId xmlns:a16="http://schemas.microsoft.com/office/drawing/2014/main" id="{B71E5978-FFAA-0822-81A6-816696A7E19A}"/>
              </a:ext>
            </a:extLst>
          </p:cNvPr>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2" name="TextBox 7">
            <a:extLst>
              <a:ext uri="{FF2B5EF4-FFF2-40B4-BE49-F238E27FC236}">
                <a16:creationId xmlns:a16="http://schemas.microsoft.com/office/drawing/2014/main" id="{B3A9E700-3B5C-A605-32BB-8A783B66E5AF}"/>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3" name="TextBox 9">
            <a:extLst>
              <a:ext uri="{FF2B5EF4-FFF2-40B4-BE49-F238E27FC236}">
                <a16:creationId xmlns:a16="http://schemas.microsoft.com/office/drawing/2014/main" id="{FC1188A8-4989-DAD0-4BCC-AD11C0A8315B}"/>
              </a:ext>
            </a:extLst>
          </p:cNvPr>
          <p:cNvSpPr txBox="1"/>
          <p:nvPr/>
        </p:nvSpPr>
        <p:spPr>
          <a:xfrm>
            <a:off x="6679507" y="193642"/>
            <a:ext cx="1613584" cy="404714"/>
          </a:xfrm>
          <a:prstGeom prst="rect">
            <a:avLst/>
          </a:prstGeom>
          <a:noFill/>
        </p:spPr>
        <p:txBody>
          <a:bodyPr wrap="square" lIns="0" tIns="48000" rIns="0" bIns="48000" rtlCol="0">
            <a:spAutoFit/>
          </a:bodyPr>
          <a:lstStyle/>
          <a:p>
            <a:pPr algn="ctr"/>
            <a:r>
              <a:rPr lang="zh-CN" altLang="en-US" sz="2000" b="1">
                <a:solidFill>
                  <a:schemeClr val="bg1"/>
                </a:solidFill>
                <a:latin typeface="Arial" panose="020B0604020202020204" pitchFamily="34" charset="0"/>
                <a:ea typeface="微软雅黑" panose="020B0503020204020204" pitchFamily="34" charset="-122"/>
              </a:rPr>
              <a:t>项目实</a:t>
            </a:r>
            <a:r>
              <a:rPr lang="zh-CN" altLang="en-US" sz="2000" b="1" dirty="0">
                <a:solidFill>
                  <a:schemeClr val="bg1"/>
                </a:solidFill>
                <a:latin typeface="Arial" panose="020B0604020202020204" pitchFamily="34" charset="0"/>
                <a:ea typeface="微软雅黑" panose="020B0503020204020204" pitchFamily="34" charset="-122"/>
              </a:rPr>
              <a:t>现</a:t>
            </a:r>
          </a:p>
        </p:txBody>
      </p:sp>
      <p:sp>
        <p:nvSpPr>
          <p:cNvPr id="14" name="TextBox 10">
            <a:extLst>
              <a:ext uri="{FF2B5EF4-FFF2-40B4-BE49-F238E27FC236}">
                <a16:creationId xmlns:a16="http://schemas.microsoft.com/office/drawing/2014/main" id="{6F5EB8FA-4919-375A-F475-BCAFD248023B}"/>
              </a:ext>
            </a:extLst>
          </p:cNvPr>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项目测试</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sp>
        <p:nvSpPr>
          <p:cNvPr id="17" name="TextBox 11">
            <a:extLst>
              <a:ext uri="{FF2B5EF4-FFF2-40B4-BE49-F238E27FC236}">
                <a16:creationId xmlns:a16="http://schemas.microsoft.com/office/drawing/2014/main" id="{D7EEF66D-22F9-71FC-2843-98094C343C58}"/>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项目总结</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cxnSp>
        <p:nvCxnSpPr>
          <p:cNvPr id="18" name="直接连接符 17">
            <a:extLst>
              <a:ext uri="{FF2B5EF4-FFF2-40B4-BE49-F238E27FC236}">
                <a16:creationId xmlns:a16="http://schemas.microsoft.com/office/drawing/2014/main" id="{FEE79661-B8DF-BB6F-2FDA-D98967F42D23}"/>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5B910DC7-9318-C305-A79D-EB3FD8C362D7}"/>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 name="图片 19">
            <a:extLst>
              <a:ext uri="{FF2B5EF4-FFF2-40B4-BE49-F238E27FC236}">
                <a16:creationId xmlns:a16="http://schemas.microsoft.com/office/drawing/2014/main" id="{93FA546D-3124-CB59-1611-56D728B7A8D1}"/>
              </a:ext>
            </a:extLst>
          </p:cNvPr>
          <p:cNvPicPr>
            <a:picLocks noChangeAspect="1"/>
          </p:cNvPicPr>
          <p:nvPr/>
        </p:nvPicPr>
        <p:blipFill rotWithShape="1">
          <a:blip r:embed="rId4"/>
          <a:srcRect t="29956" r="-277"/>
          <a:stretch>
            <a:fillRect/>
          </a:stretch>
        </p:blipFill>
        <p:spPr>
          <a:xfrm>
            <a:off x="195620" y="89117"/>
            <a:ext cx="2766644" cy="613765"/>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p:cTn id="11" dur="500" fill="hold"/>
                                        <p:tgtEl>
                                          <p:spTgt spid="13"/>
                                        </p:tgtEl>
                                        <p:attrNameLst>
                                          <p:attrName>ppt_w</p:attrName>
                                        </p:attrNameLst>
                                      </p:cBhvr>
                                      <p:tavLst>
                                        <p:tav tm="0">
                                          <p:val>
                                            <p:fltVal val="0"/>
                                          </p:val>
                                        </p:tav>
                                        <p:tav tm="100000">
                                          <p:val>
                                            <p:strVal val="#ppt_w"/>
                                          </p:val>
                                        </p:tav>
                                      </p:tavLst>
                                    </p:anim>
                                    <p:anim calcmode="lin" valueType="num">
                                      <p:cBhvr>
                                        <p:cTn id="12" dur="500" fill="hold"/>
                                        <p:tgtEl>
                                          <p:spTgt spid="13"/>
                                        </p:tgtEl>
                                        <p:attrNameLst>
                                          <p:attrName>ppt_h</p:attrName>
                                        </p:attrNameLst>
                                      </p:cBhvr>
                                      <p:tavLst>
                                        <p:tav tm="0">
                                          <p:val>
                                            <p:fltVal val="0"/>
                                          </p:val>
                                        </p:tav>
                                        <p:tav tm="100000">
                                          <p:val>
                                            <p:strVal val="#ppt_h"/>
                                          </p:val>
                                        </p:tav>
                                      </p:tavLst>
                                    </p:anim>
                                    <p:animEffect transition="in" filter="fade">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7BBF222-B418-0DE7-CA6D-A28C1C9FE0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7844" y="1852135"/>
            <a:ext cx="6971292" cy="3227481"/>
          </a:xfrm>
          <a:prstGeom prst="rect">
            <a:avLst/>
          </a:prstGeom>
        </p:spPr>
      </p:pic>
      <p:sp>
        <p:nvSpPr>
          <p:cNvPr id="35" name="TextBox 6"/>
          <p:cNvSpPr txBox="1"/>
          <p:nvPr/>
        </p:nvSpPr>
        <p:spPr>
          <a:xfrm>
            <a:off x="616857" y="1058155"/>
            <a:ext cx="4289171" cy="527825"/>
          </a:xfrm>
          <a:prstGeom prst="rect">
            <a:avLst/>
          </a:prstGeom>
          <a:noFill/>
        </p:spPr>
        <p:txBody>
          <a:bodyPr wrap="square" lIns="0" tIns="48000" rIns="0" bIns="48000" rtlCol="0">
            <a:spAutoFit/>
          </a:bodyPr>
          <a:lstStyle/>
          <a:p>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3.4</a:t>
            </a:r>
            <a:r>
              <a:rPr lang="en-US" altLang="zh-CN" sz="2400" b="1">
                <a:solidFill>
                  <a:schemeClr val="tx1">
                    <a:lumMod val="65000"/>
                    <a:lumOff val="35000"/>
                  </a:schemeClr>
                </a:solidFill>
                <a:latin typeface="Arial" panose="020B0604020202020204" pitchFamily="34" charset="0"/>
                <a:ea typeface="微软雅黑" panose="020B0503020204020204" pitchFamily="34" charset="-122"/>
              </a:rPr>
              <a:t> </a:t>
            </a: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KV Controller </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模块</a:t>
            </a:r>
            <a:endParaRPr lang="zh-CN" altLang="en-US" sz="24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4" name="文本框 3"/>
          <p:cNvSpPr txBox="1"/>
          <p:nvPr/>
        </p:nvSpPr>
        <p:spPr>
          <a:xfrm>
            <a:off x="7305556" y="1736631"/>
            <a:ext cx="4833848" cy="3901068"/>
          </a:xfrm>
          <a:prstGeom prst="rect">
            <a:avLst/>
          </a:prstGeom>
        </p:spPr>
        <p:txBody>
          <a:bodyPr wrap="square">
            <a:spAutoFit/>
          </a:bodyPr>
          <a:lstStyle/>
          <a:p>
            <a:pPr marL="0" indent="0">
              <a:spcBef>
                <a:spcPts val="900"/>
              </a:spcBef>
              <a:spcAft>
                <a:spcPts val="900"/>
              </a:spcAft>
            </a:pPr>
            <a:r>
              <a:rPr lang="zh-CN" altLang="en-US" sz="2000" b="1">
                <a:latin typeface="Arial" panose="020B0604020202020204" pitchFamily="34" charset="0"/>
                <a:ea typeface="微软雅黑" panose="020B0503020204020204" pitchFamily="34" charset="-122"/>
                <a:cs typeface="黑体" panose="02010609060101010101" charset="-122"/>
              </a:rPr>
              <a:t>基于 </a:t>
            </a:r>
            <a:r>
              <a:rPr lang="en-US" altLang="zh-CN" sz="2000" b="1">
                <a:latin typeface="Arial" panose="020B0604020202020204" pitchFamily="34" charset="0"/>
                <a:ea typeface="微软雅黑" panose="020B0503020204020204" pitchFamily="34" charset="-122"/>
                <a:cs typeface="黑体" panose="02010609060101010101" charset="-122"/>
              </a:rPr>
              <a:t>Block </a:t>
            </a:r>
            <a:r>
              <a:rPr lang="zh-CN" altLang="en-US" sz="2000" b="1">
                <a:latin typeface="Arial" panose="020B0604020202020204" pitchFamily="34" charset="0"/>
                <a:ea typeface="微软雅黑" panose="020B0503020204020204" pitchFamily="34" charset="-122"/>
                <a:cs typeface="黑体" panose="02010609060101010101" charset="-122"/>
              </a:rPr>
              <a:t>的</a:t>
            </a:r>
            <a:r>
              <a:rPr lang="en-US" altLang="zh-CN" sz="2000" b="1">
                <a:latin typeface="Arial" panose="020B0604020202020204" pitchFamily="34" charset="0"/>
                <a:ea typeface="微软雅黑" panose="020B0503020204020204" pitchFamily="34" charset="-122"/>
                <a:cs typeface="黑体" panose="02010609060101010101" charset="-122"/>
              </a:rPr>
              <a:t>KV</a:t>
            </a:r>
            <a:r>
              <a:rPr lang="zh-CN" altLang="en-US" sz="2000" b="1">
                <a:latin typeface="Arial" panose="020B0604020202020204" pitchFamily="34" charset="0"/>
                <a:ea typeface="微软雅黑" panose="020B0503020204020204" pitchFamily="34" charset="-122"/>
                <a:cs typeface="黑体" panose="02010609060101010101" charset="-122"/>
              </a:rPr>
              <a:t>生命周期管理：</a:t>
            </a:r>
          </a:p>
          <a:p>
            <a:pPr marL="342900" indent="-342900">
              <a:spcBef>
                <a:spcPct val="0"/>
              </a:spcBef>
              <a:spcAft>
                <a:spcPct val="0"/>
              </a:spcAft>
              <a:buFont typeface="Wingdings" pitchFamily="2" charset="2"/>
              <a:buChar char="n"/>
            </a:pP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生命周期解耦：</a:t>
            </a:r>
            <a:r>
              <a:rPr lang="zh-CN" altLang="en-US" sz="2000" b="1">
                <a:latin typeface="Arial" panose="020B0604020202020204" pitchFamily="34" charset="0"/>
                <a:ea typeface="微软雅黑" panose="020B0503020204020204" pitchFamily="34" charset="-122"/>
                <a:cs typeface="黑体" panose="02010609060101010101" charset="-122"/>
              </a:rPr>
              <a:t>逻辑历史 ≠ 物理驻留</a:t>
            </a:r>
            <a:endParaRPr lang="en-US" altLang="zh-CN" sz="2000" b="1">
              <a:latin typeface="Arial" panose="020B0604020202020204" pitchFamily="34" charset="0"/>
              <a:ea typeface="微软雅黑" panose="020B0503020204020204" pitchFamily="34" charset="-122"/>
              <a:cs typeface="黑体" panose="02010609060101010101" charset="-122"/>
            </a:endParaRPr>
          </a:p>
          <a:p>
            <a:pPr>
              <a:spcBef>
                <a:spcPct val="0"/>
              </a:spcBef>
              <a:spcAft>
                <a:spcPct val="0"/>
              </a:spcAft>
            </a:pPr>
            <a:r>
              <a:rPr lang="zh-CN" altLang="en-US" sz="2000" b="1">
                <a:latin typeface="Arial" panose="020B0604020202020204" pitchFamily="34" charset="0"/>
                <a:ea typeface="微软雅黑" panose="020B0503020204020204" pitchFamily="34" charset="-122"/>
                <a:cs typeface="黑体" panose="02010609060101010101" charset="-122"/>
              </a:rPr>
              <a:t>以 </a:t>
            </a:r>
            <a:r>
              <a:rPr lang="en-US" altLang="zh-CN" sz="2000" b="1">
                <a:latin typeface="Arial" panose="020B0604020202020204" pitchFamily="34" charset="0"/>
                <a:ea typeface="微软雅黑" panose="020B0503020204020204" pitchFamily="34" charset="-122"/>
                <a:cs typeface="黑体" panose="02010609060101010101" charset="-122"/>
              </a:rPr>
              <a:t>Block </a:t>
            </a:r>
            <a:r>
              <a:rPr lang="zh-CN" altLang="en-US" sz="2000" b="1">
                <a:latin typeface="Arial" panose="020B0604020202020204" pitchFamily="34" charset="0"/>
                <a:ea typeface="微软雅黑" panose="020B0503020204020204" pitchFamily="34" charset="-122"/>
                <a:cs typeface="黑体" panose="02010609060101010101" charset="-122"/>
              </a:rPr>
              <a:t>为物理管理粒度，将 </a:t>
            </a:r>
            <a:r>
              <a:rPr lang="en-US" altLang="zh-CN" sz="2000" b="1">
                <a:latin typeface="Arial" panose="020B0604020202020204" pitchFamily="34" charset="0"/>
                <a:ea typeface="微软雅黑" panose="020B0503020204020204" pitchFamily="34" charset="-122"/>
                <a:cs typeface="黑体" panose="02010609060101010101" charset="-122"/>
              </a:rPr>
              <a:t>Session </a:t>
            </a:r>
            <a:r>
              <a:rPr lang="zh-CN" altLang="en-US" sz="2000" b="1">
                <a:latin typeface="Arial" panose="020B0604020202020204" pitchFamily="34" charset="0"/>
                <a:ea typeface="微软雅黑" panose="020B0503020204020204" pitchFamily="34" charset="-122"/>
                <a:cs typeface="黑体" panose="02010609060101010101" charset="-122"/>
              </a:rPr>
              <a:t>生命周期与 </a:t>
            </a:r>
            <a:r>
              <a:rPr lang="en-US" altLang="zh-CN" sz="2000" b="1">
                <a:latin typeface="Arial" panose="020B0604020202020204" pitchFamily="34" charset="0"/>
                <a:ea typeface="微软雅黑" panose="020B0503020204020204" pitchFamily="34" charset="-122"/>
                <a:cs typeface="黑体" panose="02010609060101010101" charset="-122"/>
              </a:rPr>
              <a:t>KV </a:t>
            </a:r>
            <a:r>
              <a:rPr lang="zh-CN" altLang="en-US" sz="2000" b="1">
                <a:latin typeface="Arial" panose="020B0604020202020204" pitchFamily="34" charset="0"/>
                <a:ea typeface="微软雅黑" panose="020B0503020204020204" pitchFamily="34" charset="-122"/>
                <a:cs typeface="黑体" panose="02010609060101010101" charset="-122"/>
              </a:rPr>
              <a:t>物理状态分离。</a:t>
            </a:r>
            <a:endParaRPr lang="en-US" altLang="zh-CN" sz="2000" b="1">
              <a:latin typeface="Arial" panose="020B0604020202020204" pitchFamily="34" charset="0"/>
              <a:ea typeface="微软雅黑" panose="020B0503020204020204" pitchFamily="34" charset="-122"/>
              <a:cs typeface="黑体" panose="02010609060101010101" charset="-122"/>
            </a:endParaRPr>
          </a:p>
          <a:p>
            <a:pPr marL="342900" indent="-342900">
              <a:spcBef>
                <a:spcPct val="0"/>
              </a:spcBef>
              <a:spcAft>
                <a:spcPct val="0"/>
              </a:spcAft>
              <a:buFont typeface="Wingdings" pitchFamily="2" charset="2"/>
              <a:buChar char="n"/>
            </a:pPr>
            <a:r>
              <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rPr>
              <a:t>RELEASE</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（释放）：</a:t>
            </a:r>
            <a:endPar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endParaRPr>
          </a:p>
          <a:p>
            <a:pPr>
              <a:spcBef>
                <a:spcPct val="0"/>
              </a:spcBef>
              <a:spcAft>
                <a:spcPct val="0"/>
              </a:spcAft>
            </a:pPr>
            <a:r>
              <a:rPr lang="zh-CN" altLang="en-US" sz="2000" b="1">
                <a:latin typeface="Arial" panose="020B0604020202020204" pitchFamily="34" charset="0"/>
                <a:ea typeface="微软雅黑" panose="020B0503020204020204" pitchFamily="34" charset="-122"/>
                <a:cs typeface="黑体" panose="02010609060101010101" charset="-122"/>
              </a:rPr>
              <a:t>无价值</a:t>
            </a:r>
            <a:r>
              <a:rPr lang="en-US" altLang="zh-CN" sz="2000" b="1">
                <a:latin typeface="Arial" panose="020B0604020202020204" pitchFamily="34" charset="0"/>
                <a:ea typeface="微软雅黑" panose="020B0503020204020204" pitchFamily="34" charset="-122"/>
                <a:cs typeface="黑体" panose="02010609060101010101" charset="-122"/>
              </a:rPr>
              <a:t> KV </a:t>
            </a:r>
            <a:r>
              <a:rPr lang="zh-CN" altLang="en-US" sz="2000" b="1">
                <a:latin typeface="Arial" panose="020B0604020202020204" pitchFamily="34" charset="0"/>
                <a:ea typeface="微软雅黑" panose="020B0503020204020204" pitchFamily="34" charset="-122"/>
                <a:cs typeface="黑体" panose="02010609060101010101" charset="-122"/>
              </a:rPr>
              <a:t>直接释放物理页，无需写入 。</a:t>
            </a:r>
            <a:endParaRPr lang="en-US" altLang="zh-CN" sz="2000" b="1">
              <a:latin typeface="Arial" panose="020B0604020202020204" pitchFamily="34" charset="0"/>
              <a:ea typeface="微软雅黑" panose="020B0503020204020204" pitchFamily="34" charset="-122"/>
              <a:cs typeface="黑体" panose="02010609060101010101" charset="-122"/>
            </a:endParaRPr>
          </a:p>
          <a:p>
            <a:pPr marL="342900" indent="-342900">
              <a:spcBef>
                <a:spcPct val="0"/>
              </a:spcBef>
              <a:spcAft>
                <a:spcPct val="0"/>
              </a:spcAft>
              <a:buFont typeface="Wingdings" pitchFamily="2" charset="2"/>
              <a:buChar char="n"/>
            </a:pPr>
            <a:r>
              <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rPr>
              <a:t>Swap</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（换出）：</a:t>
            </a:r>
            <a:endPar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endParaRPr>
          </a:p>
          <a:p>
            <a:pPr>
              <a:spcBef>
                <a:spcPct val="0"/>
              </a:spcBef>
              <a:spcAft>
                <a:spcPct val="0"/>
              </a:spcAft>
            </a:pPr>
            <a:r>
              <a:rPr lang="en-US" altLang="zh-CN" sz="2000" b="1">
                <a:latin typeface="Arial" panose="020B0604020202020204" pitchFamily="34" charset="0"/>
                <a:ea typeface="微软雅黑" panose="020B0503020204020204" pitchFamily="34" charset="-122"/>
                <a:cs typeface="黑体" panose="02010609060101010101" charset="-122"/>
              </a:rPr>
              <a:t>idle-live KV </a:t>
            </a:r>
            <a:r>
              <a:rPr lang="zh-CN" altLang="en-US" sz="2000" b="1">
                <a:latin typeface="Arial" panose="020B0604020202020204" pitchFamily="34" charset="0"/>
                <a:ea typeface="微软雅黑" panose="020B0503020204020204" pitchFamily="34" charset="-122"/>
                <a:cs typeface="黑体" panose="02010609060101010101" charset="-122"/>
              </a:rPr>
              <a:t>先完整写入后备存储空间的固定槽位，再释放 </a:t>
            </a:r>
            <a:r>
              <a:rPr lang="en-US" altLang="zh-CN" sz="2000" b="1">
                <a:latin typeface="Arial" panose="020B0604020202020204" pitchFamily="34" charset="0"/>
                <a:ea typeface="微软雅黑" panose="020B0503020204020204" pitchFamily="34" charset="-122"/>
                <a:cs typeface="黑体" panose="02010609060101010101" charset="-122"/>
              </a:rPr>
              <a:t>DRAM</a:t>
            </a:r>
            <a:r>
              <a:rPr lang="zh-CN" altLang="en-US" sz="2000" b="1">
                <a:latin typeface="Arial" panose="020B0604020202020204" pitchFamily="34" charset="0"/>
                <a:ea typeface="微软雅黑" panose="020B0503020204020204" pitchFamily="34" charset="-122"/>
                <a:cs typeface="黑体" panose="02010609060101010101" charset="-122"/>
              </a:rPr>
              <a:t>，后续仍可恢复。</a:t>
            </a:r>
            <a:endParaRPr lang="en-US" altLang="zh-CN" sz="2000" b="1">
              <a:latin typeface="Arial" panose="020B0604020202020204" pitchFamily="34" charset="0"/>
              <a:ea typeface="微软雅黑" panose="020B0503020204020204" pitchFamily="34" charset="-122"/>
              <a:cs typeface="黑体" panose="02010609060101010101" charset="-122"/>
            </a:endParaRPr>
          </a:p>
          <a:p>
            <a:pPr marL="342900" indent="-342900">
              <a:spcBef>
                <a:spcPct val="0"/>
              </a:spcBef>
              <a:spcAft>
                <a:spcPct val="0"/>
              </a:spcAft>
              <a:buFont typeface="Wingdings" pitchFamily="2" charset="2"/>
              <a:buChar char="n"/>
            </a:pPr>
            <a:r>
              <a:rPr lang="zh-CN" altLang="zh-CN" sz="2000" b="1">
                <a:solidFill>
                  <a:srgbClr val="FF0000"/>
                </a:solidFill>
                <a:latin typeface="Arial" panose="020B0604020202020204" pitchFamily="34" charset="0"/>
                <a:ea typeface="微软雅黑" panose="020B0503020204020204" pitchFamily="34" charset="-122"/>
              </a:rPr>
              <a:t>Restore</a:t>
            </a:r>
            <a:r>
              <a:rPr lang="zh-CN" altLang="en-US" sz="2000" b="1">
                <a:solidFill>
                  <a:srgbClr val="FF0000"/>
                </a:solidFill>
                <a:latin typeface="Arial" panose="020B0604020202020204" pitchFamily="34" charset="0"/>
                <a:ea typeface="微软雅黑" panose="020B0503020204020204" pitchFamily="34" charset="-122"/>
              </a:rPr>
              <a:t>（恢复）</a:t>
            </a:r>
            <a:r>
              <a:rPr lang="zh-CN" altLang="zh-CN" sz="2000" b="1">
                <a:solidFill>
                  <a:srgbClr val="FF0000"/>
                </a:solidFill>
                <a:latin typeface="Arial" panose="020B0604020202020204" pitchFamily="34" charset="0"/>
                <a:ea typeface="微软雅黑" panose="020B0503020204020204" pitchFamily="34" charset="-122"/>
              </a:rPr>
              <a:t>：</a:t>
            </a:r>
            <a:endParaRPr lang="en-US" altLang="zh-CN" sz="2000" b="1">
              <a:latin typeface="Arial" panose="020B0604020202020204" pitchFamily="34" charset="0"/>
              <a:ea typeface="微软雅黑" panose="020B0503020204020204" pitchFamily="34" charset="-122"/>
            </a:endParaRPr>
          </a:p>
          <a:p>
            <a:pPr>
              <a:spcBef>
                <a:spcPct val="0"/>
              </a:spcBef>
              <a:spcAft>
                <a:spcPct val="0"/>
              </a:spcAft>
            </a:pPr>
            <a:r>
              <a:rPr lang="zh-CN" altLang="en-US" sz="2000" b="1">
                <a:latin typeface="Arial" panose="020B0604020202020204" pitchFamily="34" charset="0"/>
                <a:ea typeface="微软雅黑" panose="020B0503020204020204" pitchFamily="34" charset="-122"/>
                <a:cs typeface="黑体" panose="02010609060101010101" charset="-122"/>
              </a:rPr>
              <a:t>重访会话时执行 </a:t>
            </a:r>
            <a:r>
              <a:rPr lang="en-US" altLang="zh-CN" sz="2000" b="1">
                <a:latin typeface="Arial" panose="020B0604020202020204" pitchFamily="34" charset="0"/>
                <a:ea typeface="微软雅黑" panose="020B0503020204020204" pitchFamily="34" charset="-122"/>
                <a:cs typeface="黑体" panose="02010609060101010101" charset="-122"/>
              </a:rPr>
              <a:t>KV </a:t>
            </a:r>
            <a:r>
              <a:rPr lang="zh-CN" altLang="en-US" sz="2000" b="1">
                <a:latin typeface="Arial" panose="020B0604020202020204" pitchFamily="34" charset="0"/>
                <a:ea typeface="微软雅黑" panose="020B0503020204020204" pitchFamily="34" charset="-122"/>
                <a:cs typeface="黑体" panose="02010609060101010101" charset="-122"/>
              </a:rPr>
              <a:t>预取</a:t>
            </a:r>
            <a:r>
              <a:rPr lang="en-US" altLang="zh-CN" sz="2000" b="1">
                <a:latin typeface="Arial" panose="020B0604020202020204" pitchFamily="34" charset="0"/>
                <a:ea typeface="微软雅黑" panose="020B0503020204020204" pitchFamily="34" charset="-122"/>
                <a:cs typeface="黑体" panose="02010609060101010101" charset="-122"/>
              </a:rPr>
              <a:t>/ </a:t>
            </a:r>
            <a:r>
              <a:rPr lang="zh-CN" altLang="en-US" sz="2000" b="1">
                <a:latin typeface="Arial" panose="020B0604020202020204" pitchFamily="34" charset="0"/>
                <a:ea typeface="微软雅黑" panose="020B0503020204020204" pitchFamily="34" charset="-122"/>
                <a:cs typeface="黑体" panose="02010609060101010101" charset="-122"/>
              </a:rPr>
              <a:t>重载，完整恢复所需 </a:t>
            </a:r>
            <a:r>
              <a:rPr lang="en-US" altLang="zh-CN" sz="2000" b="1">
                <a:latin typeface="Arial" panose="020B0604020202020204" pitchFamily="34" charset="0"/>
                <a:ea typeface="微软雅黑" panose="020B0503020204020204" pitchFamily="34" charset="-122"/>
                <a:cs typeface="黑体" panose="02010609060101010101" charset="-122"/>
              </a:rPr>
              <a:t>KV </a:t>
            </a:r>
            <a:r>
              <a:rPr lang="zh-CN" altLang="en-US" sz="2000" b="1">
                <a:latin typeface="Arial" panose="020B0604020202020204" pitchFamily="34" charset="0"/>
                <a:ea typeface="微软雅黑" panose="020B0503020204020204" pitchFamily="34" charset="-122"/>
                <a:cs typeface="黑体" panose="02010609060101010101" charset="-122"/>
              </a:rPr>
              <a:t>后才允许计算继续。</a:t>
            </a:r>
            <a:endParaRPr lang="en-US" altLang="zh-CN" sz="2000" b="1">
              <a:latin typeface="Arial" panose="020B0604020202020204" pitchFamily="34" charset="0"/>
              <a:ea typeface="微软雅黑" panose="020B0503020204020204" pitchFamily="34" charset="-122"/>
              <a:cs typeface="黑体" panose="02010609060101010101" charset="-122"/>
            </a:endParaRPr>
          </a:p>
        </p:txBody>
      </p:sp>
      <p:sp>
        <p:nvSpPr>
          <p:cNvPr id="2" name="矩形 4">
            <a:extLst>
              <a:ext uri="{FF2B5EF4-FFF2-40B4-BE49-F238E27FC236}">
                <a16:creationId xmlns:a16="http://schemas.microsoft.com/office/drawing/2014/main" id="{81493B01-F920-5FAE-D508-A2EE90B35E1A}"/>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5" name="矩形 4">
            <a:extLst>
              <a:ext uri="{FF2B5EF4-FFF2-40B4-BE49-F238E27FC236}">
                <a16:creationId xmlns:a16="http://schemas.microsoft.com/office/drawing/2014/main" id="{EAA9D6F8-3AE3-2EF7-E51E-D3394DAC2C5F}"/>
              </a:ext>
            </a:extLst>
          </p:cNvPr>
          <p:cNvSpPr/>
          <p:nvPr/>
        </p:nvSpPr>
        <p:spPr>
          <a:xfrm>
            <a:off x="6563849" y="0"/>
            <a:ext cx="18449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cxnSp>
        <p:nvCxnSpPr>
          <p:cNvPr id="6" name="直接连接符 5">
            <a:extLst>
              <a:ext uri="{FF2B5EF4-FFF2-40B4-BE49-F238E27FC236}">
                <a16:creationId xmlns:a16="http://schemas.microsoft.com/office/drawing/2014/main" id="{45FE4DC7-6550-FE04-C98E-854CAB2B6DC0}"/>
              </a:ext>
            </a:extLst>
          </p:cNvPr>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6">
            <a:extLst>
              <a:ext uri="{FF2B5EF4-FFF2-40B4-BE49-F238E27FC236}">
                <a16:creationId xmlns:a16="http://schemas.microsoft.com/office/drawing/2014/main" id="{7D6A3C9D-F815-A28C-02F5-7325CCC37725}"/>
              </a:ext>
            </a:extLst>
          </p:cNvPr>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1" name="TextBox 7">
            <a:extLst>
              <a:ext uri="{FF2B5EF4-FFF2-40B4-BE49-F238E27FC236}">
                <a16:creationId xmlns:a16="http://schemas.microsoft.com/office/drawing/2014/main" id="{0274EA00-59FC-16CA-5FCA-8E7F4D4EA8F2}"/>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2" name="TextBox 9">
            <a:extLst>
              <a:ext uri="{FF2B5EF4-FFF2-40B4-BE49-F238E27FC236}">
                <a16:creationId xmlns:a16="http://schemas.microsoft.com/office/drawing/2014/main" id="{8212176F-78BC-BCED-CD3F-70974D1F22CD}"/>
              </a:ext>
            </a:extLst>
          </p:cNvPr>
          <p:cNvSpPr txBox="1"/>
          <p:nvPr/>
        </p:nvSpPr>
        <p:spPr>
          <a:xfrm>
            <a:off x="6679507" y="193642"/>
            <a:ext cx="1613584" cy="404714"/>
          </a:xfrm>
          <a:prstGeom prst="rect">
            <a:avLst/>
          </a:prstGeom>
          <a:noFill/>
        </p:spPr>
        <p:txBody>
          <a:bodyPr wrap="square" lIns="0" tIns="48000" rIns="0" bIns="48000" rtlCol="0">
            <a:spAutoFit/>
          </a:bodyPr>
          <a:lstStyle/>
          <a:p>
            <a:pPr algn="ctr"/>
            <a:r>
              <a:rPr lang="zh-CN" altLang="en-US" sz="2000" b="1">
                <a:solidFill>
                  <a:schemeClr val="bg1"/>
                </a:solidFill>
                <a:latin typeface="Arial" panose="020B0604020202020204" pitchFamily="34" charset="0"/>
                <a:ea typeface="微软雅黑" panose="020B0503020204020204" pitchFamily="34" charset="-122"/>
              </a:rPr>
              <a:t>项目实</a:t>
            </a:r>
            <a:r>
              <a:rPr lang="zh-CN" altLang="en-US" sz="2000" b="1" dirty="0">
                <a:solidFill>
                  <a:schemeClr val="bg1"/>
                </a:solidFill>
                <a:latin typeface="Arial" panose="020B0604020202020204" pitchFamily="34" charset="0"/>
                <a:ea typeface="微软雅黑" panose="020B0503020204020204" pitchFamily="34" charset="-122"/>
              </a:rPr>
              <a:t>现</a:t>
            </a:r>
          </a:p>
        </p:txBody>
      </p:sp>
      <p:sp>
        <p:nvSpPr>
          <p:cNvPr id="13" name="TextBox 10">
            <a:extLst>
              <a:ext uri="{FF2B5EF4-FFF2-40B4-BE49-F238E27FC236}">
                <a16:creationId xmlns:a16="http://schemas.microsoft.com/office/drawing/2014/main" id="{DECE2E7B-F9CC-6531-1B3E-A8CF044F4A6A}"/>
              </a:ext>
            </a:extLst>
          </p:cNvPr>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项目测试</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sp>
        <p:nvSpPr>
          <p:cNvPr id="14" name="TextBox 11">
            <a:extLst>
              <a:ext uri="{FF2B5EF4-FFF2-40B4-BE49-F238E27FC236}">
                <a16:creationId xmlns:a16="http://schemas.microsoft.com/office/drawing/2014/main" id="{7F38AEF4-5DF7-24B3-60B7-6D9C94733F43}"/>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项目总结</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cxnSp>
        <p:nvCxnSpPr>
          <p:cNvPr id="17" name="直接连接符 16">
            <a:extLst>
              <a:ext uri="{FF2B5EF4-FFF2-40B4-BE49-F238E27FC236}">
                <a16:creationId xmlns:a16="http://schemas.microsoft.com/office/drawing/2014/main" id="{A5760354-042D-9F8D-2E7F-B6C3E1D44F0F}"/>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CEB936D1-578E-1FFB-E1DA-ADEB68920080}"/>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9" name="图片 18">
            <a:extLst>
              <a:ext uri="{FF2B5EF4-FFF2-40B4-BE49-F238E27FC236}">
                <a16:creationId xmlns:a16="http://schemas.microsoft.com/office/drawing/2014/main" id="{0E231168-8F97-0202-0EC7-1FACFB8E6268}"/>
              </a:ext>
            </a:extLst>
          </p:cNvPr>
          <p:cNvPicPr>
            <a:picLocks noChangeAspect="1"/>
          </p:cNvPicPr>
          <p:nvPr/>
        </p:nvPicPr>
        <p:blipFill rotWithShape="1">
          <a:blip r:embed="rId4"/>
          <a:srcRect t="29956" r="-277"/>
          <a:stretch>
            <a:fillRect/>
          </a:stretch>
        </p:blipFill>
        <p:spPr>
          <a:xfrm>
            <a:off x="195620" y="89117"/>
            <a:ext cx="2766644" cy="613765"/>
          </a:xfrm>
          <a:prstGeom prst="rect">
            <a:avLst/>
          </a:prstGeom>
        </p:spPr>
      </p:pic>
      <p:sp>
        <p:nvSpPr>
          <p:cNvPr id="24" name="文本框 23">
            <a:extLst>
              <a:ext uri="{FF2B5EF4-FFF2-40B4-BE49-F238E27FC236}">
                <a16:creationId xmlns:a16="http://schemas.microsoft.com/office/drawing/2014/main" id="{5B627837-F566-2A03-7236-13D50A9BA775}"/>
              </a:ext>
            </a:extLst>
          </p:cNvPr>
          <p:cNvSpPr txBox="1"/>
          <p:nvPr/>
        </p:nvSpPr>
        <p:spPr>
          <a:xfrm>
            <a:off x="147960" y="5457813"/>
            <a:ext cx="6987195" cy="830997"/>
          </a:xfrm>
          <a:prstGeom prst="rect">
            <a:avLst/>
          </a:prstGeom>
          <a:noFill/>
        </p:spPr>
        <p:txBody>
          <a:bodyPr wrap="square" rtlCol="0">
            <a:spAutoFit/>
          </a:bodyPr>
          <a:lstStyle/>
          <a:p>
            <a:pPr algn="ctr"/>
            <a:r>
              <a:rPr lang="zh-CN" altLang="en-US" sz="2400" b="1">
                <a:solidFill>
                  <a:srgbClr val="FF0000"/>
                </a:solidFill>
                <a:latin typeface="Arial" panose="020B0604020202020204" pitchFamily="34" charset="0"/>
                <a:ea typeface="微软雅黑" panose="020B0503020204020204" pitchFamily="34" charset="-122"/>
              </a:rPr>
              <a:t>核心思想：</a:t>
            </a:r>
            <a:r>
              <a:rPr lang="zh-CN" altLang="en-US" sz="2400" b="1">
                <a:latin typeface="Arial" panose="020B0604020202020204" pitchFamily="34" charset="0"/>
                <a:ea typeface="微软雅黑" panose="020B0503020204020204" pitchFamily="34" charset="-122"/>
              </a:rPr>
              <a:t>有价值 </a:t>
            </a:r>
            <a:r>
              <a:rPr lang="en-US" altLang="zh-CN" sz="2400" b="1">
                <a:latin typeface="Arial" panose="020B0604020202020204" pitchFamily="34" charset="0"/>
                <a:ea typeface="微软雅黑" panose="020B0503020204020204" pitchFamily="34" charset="-122"/>
              </a:rPr>
              <a:t>KV </a:t>
            </a:r>
            <a:r>
              <a:rPr lang="zh-CN" altLang="en-US" sz="2400" b="1">
                <a:latin typeface="Arial" panose="020B0604020202020204" pitchFamily="34" charset="0"/>
                <a:ea typeface="微软雅黑" panose="020B0503020204020204" pitchFamily="34" charset="-122"/>
              </a:rPr>
              <a:t>按需换出、无价值 </a:t>
            </a:r>
            <a:r>
              <a:rPr lang="en-US" altLang="zh-CN" sz="2400" b="1">
                <a:latin typeface="Arial" panose="020B0604020202020204" pitchFamily="34" charset="0"/>
                <a:ea typeface="微软雅黑" panose="020B0503020204020204" pitchFamily="34" charset="-122"/>
              </a:rPr>
              <a:t>KV </a:t>
            </a:r>
            <a:r>
              <a:rPr lang="zh-CN" altLang="en-US" sz="2400" b="1">
                <a:latin typeface="Arial" panose="020B0604020202020204" pitchFamily="34" charset="0"/>
                <a:ea typeface="微软雅黑" panose="020B0503020204020204" pitchFamily="34" charset="-122"/>
              </a:rPr>
              <a:t>直接回收，避免长上下文下 </a:t>
            </a:r>
            <a:r>
              <a:rPr lang="en-US" altLang="zh-CN" sz="2400" b="1">
                <a:latin typeface="Arial" panose="020B0604020202020204" pitchFamily="34" charset="0"/>
                <a:ea typeface="微软雅黑" panose="020B0503020204020204" pitchFamily="34" charset="-122"/>
              </a:rPr>
              <a:t>KV </a:t>
            </a:r>
            <a:r>
              <a:rPr lang="zh-CN" altLang="en-US" sz="2400" b="1">
                <a:latin typeface="Arial" panose="020B0604020202020204" pitchFamily="34" charset="0"/>
                <a:ea typeface="微软雅黑" panose="020B0503020204020204" pitchFamily="34" charset="-122"/>
              </a:rPr>
              <a:t>无限膨胀挤占内存</a:t>
            </a:r>
            <a:endParaRPr lang="en-US" altLang="zh-CN" sz="2400" b="1">
              <a:latin typeface="Arial" panose="020B0604020202020204" pitchFamily="34" charset="0"/>
              <a:ea typeface="微软雅黑" panose="020B0503020204020204" pitchFamily="34"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62E06-24EE-C2C2-7932-0BFAB7A7B5E2}"/>
            </a:ext>
          </a:extLst>
        </p:cNvPr>
        <p:cNvGrpSpPr/>
        <p:nvPr/>
      </p:nvGrpSpPr>
      <p:grpSpPr>
        <a:xfrm>
          <a:off x="0" y="0"/>
          <a:ext cx="0" cy="0"/>
          <a:chOff x="0" y="0"/>
          <a:chExt cx="0" cy="0"/>
        </a:xfrm>
      </p:grpSpPr>
      <p:sp>
        <p:nvSpPr>
          <p:cNvPr id="35" name="TextBox 6">
            <a:extLst>
              <a:ext uri="{FF2B5EF4-FFF2-40B4-BE49-F238E27FC236}">
                <a16:creationId xmlns:a16="http://schemas.microsoft.com/office/drawing/2014/main" id="{0774B36B-5A71-6AF7-887B-AE42A5DC11BE}"/>
              </a:ext>
            </a:extLst>
          </p:cNvPr>
          <p:cNvSpPr txBox="1"/>
          <p:nvPr/>
        </p:nvSpPr>
        <p:spPr>
          <a:xfrm>
            <a:off x="442686" y="1012143"/>
            <a:ext cx="5975008" cy="527825"/>
          </a:xfrm>
          <a:prstGeom prst="rect">
            <a:avLst/>
          </a:prstGeom>
          <a:noFill/>
        </p:spPr>
        <p:txBody>
          <a:bodyPr wrap="square" lIns="0" tIns="48000" rIns="0" bIns="48000" rtlCol="0">
            <a:spAutoFit/>
          </a:bodyPr>
          <a:lstStyle/>
          <a:p>
            <a:pPr algn="ct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3.5 Global Memory Governor </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模块</a:t>
            </a:r>
            <a:endParaRPr lang="zh-CN" altLang="en-US" sz="2800" b="1" dirty="0">
              <a:solidFill>
                <a:schemeClr val="tx1">
                  <a:lumMod val="65000"/>
                  <a:lumOff val="35000"/>
                </a:schemeClr>
              </a:solidFill>
              <a:latin typeface="Arial" panose="020B0604020202020204" pitchFamily="34" charset="0"/>
              <a:ea typeface="微软雅黑" panose="020B0503020204020204" pitchFamily="34" charset="-122"/>
            </a:endParaRPr>
          </a:p>
        </p:txBody>
      </p:sp>
      <p:pic>
        <p:nvPicPr>
          <p:cNvPr id="7" name="图片 6">
            <a:extLst>
              <a:ext uri="{FF2B5EF4-FFF2-40B4-BE49-F238E27FC236}">
                <a16:creationId xmlns:a16="http://schemas.microsoft.com/office/drawing/2014/main" id="{CB8944BD-B427-9B56-38C9-7798157BBC19}"/>
              </a:ext>
            </a:extLst>
          </p:cNvPr>
          <p:cNvPicPr>
            <a:picLocks noChangeAspect="1"/>
          </p:cNvPicPr>
          <p:nvPr/>
        </p:nvPicPr>
        <p:blipFill>
          <a:blip r:embed="rId3"/>
          <a:stretch>
            <a:fillRect/>
          </a:stretch>
        </p:blipFill>
        <p:spPr>
          <a:xfrm>
            <a:off x="141845" y="1971428"/>
            <a:ext cx="7007508" cy="3255110"/>
          </a:xfrm>
          <a:prstGeom prst="rect">
            <a:avLst/>
          </a:prstGeom>
        </p:spPr>
      </p:pic>
      <p:sp>
        <p:nvSpPr>
          <p:cNvPr id="3" name="矩形 4">
            <a:extLst>
              <a:ext uri="{FF2B5EF4-FFF2-40B4-BE49-F238E27FC236}">
                <a16:creationId xmlns:a16="http://schemas.microsoft.com/office/drawing/2014/main" id="{16CC803A-EE34-CCFC-4A7F-031DE925FBF3}"/>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4" name="矩形 3">
            <a:extLst>
              <a:ext uri="{FF2B5EF4-FFF2-40B4-BE49-F238E27FC236}">
                <a16:creationId xmlns:a16="http://schemas.microsoft.com/office/drawing/2014/main" id="{1B3FDB79-150D-6C0A-ACC6-C64D343F379F}"/>
              </a:ext>
            </a:extLst>
          </p:cNvPr>
          <p:cNvSpPr/>
          <p:nvPr/>
        </p:nvSpPr>
        <p:spPr>
          <a:xfrm>
            <a:off x="6563849" y="0"/>
            <a:ext cx="18449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cxnSp>
        <p:nvCxnSpPr>
          <p:cNvPr id="6" name="直接连接符 5">
            <a:extLst>
              <a:ext uri="{FF2B5EF4-FFF2-40B4-BE49-F238E27FC236}">
                <a16:creationId xmlns:a16="http://schemas.microsoft.com/office/drawing/2014/main" id="{B7A8EB2F-67A6-BDCC-2F07-3D9E098BC8D1}"/>
              </a:ext>
            </a:extLst>
          </p:cNvPr>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6">
            <a:extLst>
              <a:ext uri="{FF2B5EF4-FFF2-40B4-BE49-F238E27FC236}">
                <a16:creationId xmlns:a16="http://schemas.microsoft.com/office/drawing/2014/main" id="{ECADDFFF-E885-4926-CAB9-B0D409E3B316}"/>
              </a:ext>
            </a:extLst>
          </p:cNvPr>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0" name="TextBox 7">
            <a:extLst>
              <a:ext uri="{FF2B5EF4-FFF2-40B4-BE49-F238E27FC236}">
                <a16:creationId xmlns:a16="http://schemas.microsoft.com/office/drawing/2014/main" id="{AC26BD4A-43C1-891E-DF72-7E127FF0162A}"/>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1" name="TextBox 9">
            <a:extLst>
              <a:ext uri="{FF2B5EF4-FFF2-40B4-BE49-F238E27FC236}">
                <a16:creationId xmlns:a16="http://schemas.microsoft.com/office/drawing/2014/main" id="{B7E78A61-2988-0292-AD59-3295B9ECEAE2}"/>
              </a:ext>
            </a:extLst>
          </p:cNvPr>
          <p:cNvSpPr txBox="1"/>
          <p:nvPr/>
        </p:nvSpPr>
        <p:spPr>
          <a:xfrm>
            <a:off x="6679507" y="193642"/>
            <a:ext cx="1613584" cy="404714"/>
          </a:xfrm>
          <a:prstGeom prst="rect">
            <a:avLst/>
          </a:prstGeom>
          <a:noFill/>
        </p:spPr>
        <p:txBody>
          <a:bodyPr wrap="square" lIns="0" tIns="48000" rIns="0" bIns="48000" rtlCol="0">
            <a:spAutoFit/>
          </a:bodyPr>
          <a:lstStyle/>
          <a:p>
            <a:pPr algn="ctr"/>
            <a:r>
              <a:rPr lang="zh-CN" altLang="en-US" sz="2000" b="1">
                <a:solidFill>
                  <a:schemeClr val="bg1"/>
                </a:solidFill>
                <a:latin typeface="Arial" panose="020B0604020202020204" pitchFamily="34" charset="0"/>
                <a:ea typeface="微软雅黑" panose="020B0503020204020204" pitchFamily="34" charset="-122"/>
              </a:rPr>
              <a:t>项目实</a:t>
            </a:r>
            <a:r>
              <a:rPr lang="zh-CN" altLang="en-US" sz="2000" b="1" dirty="0">
                <a:solidFill>
                  <a:schemeClr val="bg1"/>
                </a:solidFill>
                <a:latin typeface="Arial" panose="020B0604020202020204" pitchFamily="34" charset="0"/>
                <a:ea typeface="微软雅黑" panose="020B0503020204020204" pitchFamily="34" charset="-122"/>
              </a:rPr>
              <a:t>现</a:t>
            </a:r>
          </a:p>
        </p:txBody>
      </p:sp>
      <p:sp>
        <p:nvSpPr>
          <p:cNvPr id="12" name="TextBox 10">
            <a:extLst>
              <a:ext uri="{FF2B5EF4-FFF2-40B4-BE49-F238E27FC236}">
                <a16:creationId xmlns:a16="http://schemas.microsoft.com/office/drawing/2014/main" id="{FCE9A186-B523-0FCF-ECE8-D15FA46D3758}"/>
              </a:ext>
            </a:extLst>
          </p:cNvPr>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项目测试</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sp>
        <p:nvSpPr>
          <p:cNvPr id="13" name="TextBox 11">
            <a:extLst>
              <a:ext uri="{FF2B5EF4-FFF2-40B4-BE49-F238E27FC236}">
                <a16:creationId xmlns:a16="http://schemas.microsoft.com/office/drawing/2014/main" id="{107B05D2-E7DB-4A00-DFD2-81EFA2A28D0A}"/>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项目总结</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cxnSp>
        <p:nvCxnSpPr>
          <p:cNvPr id="14" name="直接连接符 13">
            <a:extLst>
              <a:ext uri="{FF2B5EF4-FFF2-40B4-BE49-F238E27FC236}">
                <a16:creationId xmlns:a16="http://schemas.microsoft.com/office/drawing/2014/main" id="{594BBF55-DFA0-517A-70C0-45AE4B22C5F5}"/>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2CF437D6-821C-9BF5-5D44-7F9EDFC838FB}"/>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图片 16">
            <a:extLst>
              <a:ext uri="{FF2B5EF4-FFF2-40B4-BE49-F238E27FC236}">
                <a16:creationId xmlns:a16="http://schemas.microsoft.com/office/drawing/2014/main" id="{52F60304-25E6-BEB1-7EFB-989A04FDE6CF}"/>
              </a:ext>
            </a:extLst>
          </p:cNvPr>
          <p:cNvPicPr>
            <a:picLocks noChangeAspect="1"/>
          </p:cNvPicPr>
          <p:nvPr/>
        </p:nvPicPr>
        <p:blipFill rotWithShape="1">
          <a:blip r:embed="rId4"/>
          <a:srcRect t="29956" r="-277"/>
          <a:stretch>
            <a:fillRect/>
          </a:stretch>
        </p:blipFill>
        <p:spPr>
          <a:xfrm>
            <a:off x="195620" y="89117"/>
            <a:ext cx="2766644" cy="613765"/>
          </a:xfrm>
          <a:prstGeom prst="rect">
            <a:avLst/>
          </a:prstGeom>
        </p:spPr>
      </p:pic>
      <p:sp>
        <p:nvSpPr>
          <p:cNvPr id="32" name="文本框 31">
            <a:extLst>
              <a:ext uri="{FF2B5EF4-FFF2-40B4-BE49-F238E27FC236}">
                <a16:creationId xmlns:a16="http://schemas.microsoft.com/office/drawing/2014/main" id="{679E7518-9EA4-862E-6AD7-BC9B3728C634}"/>
              </a:ext>
            </a:extLst>
          </p:cNvPr>
          <p:cNvSpPr txBox="1"/>
          <p:nvPr/>
        </p:nvSpPr>
        <p:spPr>
          <a:xfrm>
            <a:off x="7149353" y="1491785"/>
            <a:ext cx="4894687" cy="4824398"/>
          </a:xfrm>
          <a:prstGeom prst="rect">
            <a:avLst/>
          </a:prstGeom>
        </p:spPr>
        <p:txBody>
          <a:bodyPr wrap="square">
            <a:spAutoFit/>
          </a:bodyPr>
          <a:lstStyle/>
          <a:p>
            <a:pPr marL="0" indent="0">
              <a:spcBef>
                <a:spcPts val="900"/>
              </a:spcBef>
              <a:spcAft>
                <a:spcPts val="900"/>
              </a:spcAft>
            </a:pPr>
            <a:r>
              <a:rPr lang="zh-CN" altLang="en-US" sz="2000" b="1">
                <a:latin typeface="Arial" panose="020B0604020202020204" pitchFamily="34" charset="0"/>
                <a:ea typeface="微软雅黑" panose="020B0503020204020204" pitchFamily="34" charset="-122"/>
                <a:cs typeface="黑体" panose="02010609060101010101" charset="-122"/>
              </a:rPr>
              <a:t>基于全局的跨模块内存协调与再分配：</a:t>
            </a:r>
          </a:p>
          <a:p>
            <a:pPr marL="342900" indent="-342900">
              <a:spcBef>
                <a:spcPct val="0"/>
              </a:spcBef>
              <a:spcAft>
                <a:spcPct val="0"/>
              </a:spcAft>
              <a:buFont typeface="Wingdings" pitchFamily="2" charset="2"/>
              <a:buChar char="n"/>
            </a:pPr>
            <a:r>
              <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rPr>
              <a:t>Pressure Gate</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（控制平面）：</a:t>
            </a:r>
            <a:endPar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endParaRPr>
          </a:p>
          <a:p>
            <a:pPr>
              <a:spcBef>
                <a:spcPct val="0"/>
              </a:spcBef>
              <a:spcAft>
                <a:spcPct val="0"/>
              </a:spcAft>
            </a:pPr>
            <a:r>
              <a:rPr lang="zh-CN" altLang="zh-CN" sz="2000" b="1">
                <a:latin typeface="Arial" panose="020B0604020202020204" pitchFamily="34" charset="0"/>
                <a:ea typeface="微软雅黑" panose="020B0503020204020204" pitchFamily="34" charset="-122"/>
              </a:rPr>
              <a:t>划分三级动作门控，</a:t>
            </a:r>
            <a:r>
              <a:rPr lang="zh-CN" altLang="en-US" sz="2000" b="1">
                <a:latin typeface="Arial" panose="020B0604020202020204" pitchFamily="34" charset="0"/>
                <a:ea typeface="微软雅黑" panose="020B0503020204020204" pitchFamily="34" charset="-122"/>
              </a:rPr>
              <a:t>由当前</a:t>
            </a:r>
            <a:r>
              <a:rPr lang="zh-CN" altLang="en-US" sz="2000" b="1">
                <a:latin typeface="Arial" panose="020B0604020202020204" pitchFamily="34" charset="0"/>
                <a:ea typeface="微软雅黑" panose="020B0503020204020204" pitchFamily="34" charset="-122"/>
                <a:cs typeface="黑体" panose="02010609060101010101" charset="-122"/>
              </a:rPr>
              <a:t>内存状态动态决定允许执行的动作类型</a:t>
            </a:r>
            <a:endParaRPr lang="en-US" altLang="zh-CN" sz="2000" b="1">
              <a:latin typeface="Arial" panose="020B0604020202020204" pitchFamily="34" charset="0"/>
              <a:ea typeface="微软雅黑" panose="020B0503020204020204" pitchFamily="34" charset="-122"/>
              <a:cs typeface="黑体" panose="02010609060101010101" charset="-122"/>
            </a:endParaRPr>
          </a:p>
          <a:p>
            <a:pPr marL="342900" indent="-342900">
              <a:spcBef>
                <a:spcPct val="0"/>
              </a:spcBef>
              <a:spcAft>
                <a:spcPct val="0"/>
              </a:spcAft>
              <a:buFont typeface="Wingdings" pitchFamily="2" charset="2"/>
              <a:buChar char="n"/>
            </a:pPr>
            <a:r>
              <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rPr>
              <a:t>Auction Select</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（回收排序）：</a:t>
            </a:r>
            <a:endPar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endParaRPr>
          </a:p>
          <a:p>
            <a:pPr>
              <a:spcBef>
                <a:spcPct val="0"/>
              </a:spcBef>
              <a:spcAft>
                <a:spcPct val="0"/>
              </a:spcAft>
            </a:pPr>
            <a:r>
              <a:rPr lang="zh-CN" altLang="en-US" sz="2000" b="1">
                <a:latin typeface="Arial" panose="020B0604020202020204" pitchFamily="34" charset="0"/>
                <a:ea typeface="微软雅黑" panose="020B0503020204020204" pitchFamily="34" charset="-122"/>
                <a:cs typeface="黑体" panose="02010609060101010101" charset="-122"/>
              </a:rPr>
              <a:t>将跨模块资源统一为候选结构体并按</a:t>
            </a:r>
            <a:r>
              <a:rPr lang="en-US" altLang="zh-CN" sz="2000" b="1">
                <a:latin typeface="Arial" panose="020B0604020202020204" pitchFamily="34" charset="0"/>
                <a:ea typeface="微软雅黑" panose="020B0503020204020204" pitchFamily="34" charset="-122"/>
                <a:cs typeface="黑体" panose="02010609060101010101" charset="-122"/>
              </a:rPr>
              <a:t>ROI</a:t>
            </a:r>
            <a:r>
              <a:rPr lang="zh-CN" altLang="en-US" sz="2000" b="1">
                <a:latin typeface="Arial" panose="020B0604020202020204" pitchFamily="34" charset="0"/>
                <a:ea typeface="微软雅黑" panose="020B0503020204020204" pitchFamily="34" charset="-122"/>
                <a:cs typeface="黑体" panose="02010609060101010101" charset="-122"/>
              </a:rPr>
              <a:t>排序，按效用从高到低累计执行回收。</a:t>
            </a:r>
            <a:endPar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endParaRPr>
          </a:p>
          <a:p>
            <a:pPr marL="342900" indent="-342900">
              <a:spcBef>
                <a:spcPct val="0"/>
              </a:spcBef>
              <a:spcAft>
                <a:spcPct val="0"/>
              </a:spcAft>
              <a:buFont typeface="Wingdings" pitchFamily="2" charset="2"/>
              <a:buChar char="n"/>
            </a:pPr>
            <a:r>
              <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rPr>
              <a:t>Unified Prefetch</a:t>
            </a:r>
            <a:r>
              <a:rPr lang="zh-CN" altLang="en-US" sz="2000" b="1">
                <a:solidFill>
                  <a:srgbClr val="FF0000"/>
                </a:solidFill>
                <a:latin typeface="Arial" panose="020B0604020202020204" pitchFamily="34" charset="0"/>
                <a:ea typeface="微软雅黑" panose="020B0503020204020204" pitchFamily="34" charset="-122"/>
                <a:cs typeface="黑体" panose="02010609060101010101" charset="-122"/>
              </a:rPr>
              <a:t>（跨模块预算分配）：</a:t>
            </a:r>
            <a:endPar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endParaRPr>
          </a:p>
          <a:p>
            <a:pPr>
              <a:spcBef>
                <a:spcPct val="0"/>
              </a:spcBef>
              <a:spcAft>
                <a:spcPct val="0"/>
              </a:spcAft>
            </a:pPr>
            <a:r>
              <a:rPr lang="zh-CN" altLang="en-US" sz="2000" b="1">
                <a:latin typeface="Arial" panose="020B0604020202020204" pitchFamily="34" charset="0"/>
                <a:ea typeface="微软雅黑" panose="020B0503020204020204" pitchFamily="34" charset="-122"/>
                <a:cs typeface="黑体" panose="02010609060101010101" charset="-122"/>
              </a:rPr>
              <a:t>维护全局预取预算，其中</a:t>
            </a:r>
            <a:r>
              <a:rPr lang="en-US" altLang="zh-CN" sz="2000" b="1">
                <a:latin typeface="Arial" panose="020B0604020202020204" pitchFamily="34" charset="0"/>
                <a:ea typeface="微软雅黑" panose="020B0503020204020204" pitchFamily="34" charset="-122"/>
                <a:cs typeface="黑体" panose="02010609060101010101" charset="-122"/>
              </a:rPr>
              <a:t>KV Resume</a:t>
            </a:r>
            <a:r>
              <a:rPr lang="zh-CN" altLang="en-US" sz="2000" b="1">
                <a:latin typeface="Arial" panose="020B0604020202020204" pitchFamily="34" charset="0"/>
                <a:ea typeface="微软雅黑" panose="020B0503020204020204" pitchFamily="34" charset="-122"/>
                <a:cs typeface="黑体" panose="02010609060101010101" charset="-122"/>
              </a:rPr>
              <a:t>享有最高优先级，剩余预算动态分配给</a:t>
            </a:r>
            <a:r>
              <a:rPr lang="en-US" altLang="zh-CN" sz="2000" b="1">
                <a:latin typeface="Arial" panose="020B0604020202020204" pitchFamily="34" charset="0"/>
                <a:ea typeface="微软雅黑" panose="020B0503020204020204" pitchFamily="34" charset="-122"/>
                <a:cs typeface="黑体" panose="02010609060101010101" charset="-122"/>
              </a:rPr>
              <a:t>Dense Flex</a:t>
            </a:r>
            <a:r>
              <a:rPr lang="zh-CN" altLang="en-US" sz="2000" b="1">
                <a:latin typeface="Arial" panose="020B0604020202020204" pitchFamily="34" charset="0"/>
                <a:ea typeface="微软雅黑" panose="020B0503020204020204" pitchFamily="34" charset="-122"/>
                <a:cs typeface="黑体" panose="02010609060101010101" charset="-122"/>
              </a:rPr>
              <a:t>与</a:t>
            </a:r>
            <a:r>
              <a:rPr lang="en-US" altLang="zh-CN" sz="2000" b="1">
                <a:latin typeface="Arial" panose="020B0604020202020204" pitchFamily="34" charset="0"/>
                <a:ea typeface="微软雅黑" panose="020B0503020204020204" pitchFamily="34" charset="-122"/>
                <a:cs typeface="黑体" panose="02010609060101010101" charset="-122"/>
              </a:rPr>
              <a:t>MoE Buffer</a:t>
            </a:r>
            <a:r>
              <a:rPr lang="zh-CN" altLang="en-US" sz="2000" b="1">
                <a:latin typeface="Arial" panose="020B0604020202020204" pitchFamily="34" charset="0"/>
                <a:ea typeface="微软雅黑" panose="020B0503020204020204" pitchFamily="34" charset="-122"/>
                <a:cs typeface="黑体" panose="02010609060101010101" charset="-122"/>
              </a:rPr>
              <a:t>。</a:t>
            </a:r>
            <a:endPar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endParaRPr>
          </a:p>
          <a:p>
            <a:pPr marL="342900" indent="-342900">
              <a:spcBef>
                <a:spcPct val="0"/>
              </a:spcBef>
              <a:spcAft>
                <a:spcPct val="0"/>
              </a:spcAft>
              <a:buFont typeface="Wingdings" pitchFamily="2" charset="2"/>
              <a:buChar char="n"/>
            </a:pPr>
            <a:r>
              <a:rPr lang="en-US" altLang="zh-CN" sz="2000" b="1">
                <a:solidFill>
                  <a:srgbClr val="FF0000"/>
                </a:solidFill>
                <a:latin typeface="Arial" panose="020B0604020202020204" pitchFamily="34" charset="0"/>
                <a:ea typeface="微软雅黑" panose="020B0503020204020204" pitchFamily="34" charset="-122"/>
              </a:rPr>
              <a:t>Reallocation Credit</a:t>
            </a:r>
            <a:r>
              <a:rPr lang="zh-CN" altLang="en-US" sz="2000" b="1">
                <a:solidFill>
                  <a:srgbClr val="FF0000"/>
                </a:solidFill>
                <a:latin typeface="Arial" panose="020B0604020202020204" pitchFamily="34" charset="0"/>
                <a:ea typeface="微软雅黑" panose="020B0503020204020204" pitchFamily="34" charset="-122"/>
              </a:rPr>
              <a:t>（额度更新）：</a:t>
            </a:r>
            <a:endParaRPr lang="en-US" altLang="zh-CN" sz="2000" b="1">
              <a:solidFill>
                <a:srgbClr val="FF0000"/>
              </a:solidFill>
              <a:latin typeface="Arial" panose="020B0604020202020204" pitchFamily="34" charset="0"/>
              <a:ea typeface="微软雅黑" panose="020B0503020204020204" pitchFamily="34" charset="-122"/>
              <a:cs typeface="黑体" panose="02010609060101010101" charset="-122"/>
            </a:endParaRPr>
          </a:p>
          <a:p>
            <a:pPr>
              <a:spcBef>
                <a:spcPct val="0"/>
              </a:spcBef>
              <a:spcAft>
                <a:spcPct val="0"/>
              </a:spcAft>
            </a:pPr>
            <a:r>
              <a:rPr lang="zh-CN" altLang="en-US" sz="2000" b="1">
                <a:latin typeface="Arial" panose="020B0604020202020204" pitchFamily="34" charset="0"/>
                <a:ea typeface="微软雅黑" panose="020B0503020204020204" pitchFamily="34" charset="-122"/>
                <a:cs typeface="黑体" panose="02010609060101010101" charset="-122"/>
              </a:rPr>
              <a:t>将实际物理内存释放量经衰减核算为可再分配额度，按比例分流至</a:t>
            </a:r>
            <a:r>
              <a:rPr lang="en-US" altLang="zh-CN" sz="2000" b="1">
                <a:latin typeface="Arial" panose="020B0604020202020204" pitchFamily="34" charset="0"/>
                <a:ea typeface="微软雅黑" panose="020B0503020204020204" pitchFamily="34" charset="-122"/>
                <a:cs typeface="黑体" panose="02010609060101010101" charset="-122"/>
              </a:rPr>
              <a:t>Dense Pin / MoE</a:t>
            </a:r>
            <a:r>
              <a:rPr lang="zh-CN" altLang="en-US" sz="2000" b="1">
                <a:latin typeface="Arial" panose="020B0604020202020204" pitchFamily="34" charset="0"/>
                <a:ea typeface="微软雅黑" panose="020B0503020204020204" pitchFamily="34" charset="-122"/>
                <a:cs typeface="黑体" panose="02010609060101010101" charset="-122"/>
              </a:rPr>
              <a:t> </a:t>
            </a:r>
            <a:r>
              <a:rPr lang="en-US" altLang="zh-CN" sz="2000" b="1">
                <a:latin typeface="Arial" panose="020B0604020202020204" pitchFamily="34" charset="0"/>
                <a:ea typeface="微软雅黑" panose="020B0503020204020204" pitchFamily="34" charset="-122"/>
                <a:cs typeface="黑体" panose="02010609060101010101" charset="-122"/>
              </a:rPr>
              <a:t>Buffer </a:t>
            </a:r>
            <a:r>
              <a:rPr lang="zh-CN" altLang="en-US" sz="2000" b="1">
                <a:latin typeface="Arial" panose="020B0604020202020204" pitchFamily="34" charset="0"/>
                <a:ea typeface="微软雅黑" panose="020B0503020204020204" pitchFamily="34" charset="-122"/>
                <a:cs typeface="黑体" panose="02010609060101010101" charset="-122"/>
              </a:rPr>
              <a:t>与</a:t>
            </a:r>
            <a:r>
              <a:rPr lang="en-US" altLang="zh-CN" sz="2000" b="1">
                <a:latin typeface="Arial" panose="020B0604020202020204" pitchFamily="34" charset="0"/>
                <a:ea typeface="微软雅黑" panose="020B0503020204020204" pitchFamily="34" charset="-122"/>
                <a:cs typeface="黑体" panose="02010609060101010101" charset="-122"/>
              </a:rPr>
              <a:t>KV Cache</a:t>
            </a:r>
            <a:r>
              <a:rPr lang="zh-CN" altLang="en-US" sz="2000" b="1">
                <a:latin typeface="Arial" panose="020B0604020202020204" pitchFamily="34" charset="0"/>
                <a:ea typeface="微软雅黑" panose="020B0503020204020204" pitchFamily="34" charset="-122"/>
                <a:cs typeface="黑体" panose="02010609060101010101" charset="-122"/>
              </a:rPr>
              <a:t>，形成系统闭环。</a:t>
            </a:r>
          </a:p>
        </p:txBody>
      </p:sp>
      <p:sp>
        <p:nvSpPr>
          <p:cNvPr id="36" name="文本框 35">
            <a:extLst>
              <a:ext uri="{FF2B5EF4-FFF2-40B4-BE49-F238E27FC236}">
                <a16:creationId xmlns:a16="http://schemas.microsoft.com/office/drawing/2014/main" id="{AF1E95CA-15E8-B4E4-759D-7B09E1E420F3}"/>
              </a:ext>
            </a:extLst>
          </p:cNvPr>
          <p:cNvSpPr txBox="1"/>
          <p:nvPr/>
        </p:nvSpPr>
        <p:spPr>
          <a:xfrm>
            <a:off x="147960" y="5457813"/>
            <a:ext cx="6987195" cy="830997"/>
          </a:xfrm>
          <a:prstGeom prst="rect">
            <a:avLst/>
          </a:prstGeom>
          <a:noFill/>
        </p:spPr>
        <p:txBody>
          <a:bodyPr wrap="square" rtlCol="0">
            <a:spAutoFit/>
          </a:bodyPr>
          <a:lstStyle/>
          <a:p>
            <a:pPr algn="ctr"/>
            <a:r>
              <a:rPr lang="zh-CN" altLang="en-US" sz="2400" b="1">
                <a:solidFill>
                  <a:srgbClr val="FF0000"/>
                </a:solidFill>
                <a:latin typeface="Arial" panose="020B0604020202020204" pitchFamily="34" charset="0"/>
                <a:ea typeface="微软雅黑" panose="020B0503020204020204" pitchFamily="34" charset="-122"/>
              </a:rPr>
              <a:t>核心思想：</a:t>
            </a:r>
            <a:r>
              <a:rPr lang="zh-CN" altLang="en-US" sz="2400" b="1">
                <a:latin typeface="Arial" panose="020B0604020202020204" pitchFamily="34" charset="0"/>
                <a:ea typeface="微软雅黑" panose="020B0503020204020204" pitchFamily="34" charset="-122"/>
              </a:rPr>
              <a:t>以全局视角统一调度内存资源，形成“回收</a:t>
            </a:r>
            <a:r>
              <a:rPr lang="en-US" altLang="zh-CN" sz="2400" b="1">
                <a:latin typeface="Arial" panose="020B0604020202020204" pitchFamily="34" charset="0"/>
                <a:ea typeface="微软雅黑" panose="020B0503020204020204" pitchFamily="34" charset="-122"/>
              </a:rPr>
              <a:t>—</a:t>
            </a:r>
            <a:r>
              <a:rPr lang="zh-CN" altLang="en-US" sz="2400" b="1">
                <a:latin typeface="Arial" panose="020B0604020202020204" pitchFamily="34" charset="0"/>
                <a:ea typeface="微软雅黑" panose="020B0503020204020204" pitchFamily="34" charset="-122"/>
              </a:rPr>
              <a:t>分配</a:t>
            </a:r>
            <a:r>
              <a:rPr lang="en-US" altLang="zh-CN" sz="2400" b="1">
                <a:latin typeface="Arial" panose="020B0604020202020204" pitchFamily="34" charset="0"/>
                <a:ea typeface="微软雅黑" panose="020B0503020204020204" pitchFamily="34" charset="-122"/>
              </a:rPr>
              <a:t>—</a:t>
            </a:r>
            <a:r>
              <a:rPr lang="zh-CN" altLang="en-US" sz="2400" b="1">
                <a:latin typeface="Arial" panose="020B0604020202020204" pitchFamily="34" charset="0"/>
                <a:ea typeface="微软雅黑" panose="020B0503020204020204" pitchFamily="34" charset="-122"/>
              </a:rPr>
              <a:t>再回收”的良性循环</a:t>
            </a:r>
            <a:endParaRPr lang="en-US" altLang="zh-CN" sz="2400" b="1">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9210722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BCDF5E-33A6-DA79-D833-9E634254F0A5}"/>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D6771E00-06F3-2D9D-00E1-7D2A8CB8E3E0}"/>
              </a:ext>
            </a:extLst>
          </p:cNvPr>
          <p:cNvSpPr/>
          <p:nvPr/>
        </p:nvSpPr>
        <p:spPr>
          <a:xfrm rot="5400000">
            <a:off x="4227759" y="-4227756"/>
            <a:ext cx="3736490" cy="1219200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Songti SC" panose="02010600040101010101" pitchFamily="2" charset="-122"/>
              <a:ea typeface="Songti SC" panose="02010600040101010101" pitchFamily="2" charset="-122"/>
            </a:endParaRPr>
          </a:p>
        </p:txBody>
      </p:sp>
      <p:grpSp>
        <p:nvGrpSpPr>
          <p:cNvPr id="5" name="组合 4">
            <a:extLst>
              <a:ext uri="{FF2B5EF4-FFF2-40B4-BE49-F238E27FC236}">
                <a16:creationId xmlns:a16="http://schemas.microsoft.com/office/drawing/2014/main" id="{2E321145-F1C2-20E2-8AB7-D422E964E230}"/>
              </a:ext>
            </a:extLst>
          </p:cNvPr>
          <p:cNvGrpSpPr/>
          <p:nvPr/>
        </p:nvGrpSpPr>
        <p:grpSpPr>
          <a:xfrm>
            <a:off x="4919877" y="2920080"/>
            <a:ext cx="2352246" cy="1642832"/>
            <a:chOff x="5127859" y="2518592"/>
            <a:chExt cx="1936282" cy="1723208"/>
          </a:xfrm>
        </p:grpSpPr>
        <p:sp>
          <p:nvSpPr>
            <p:cNvPr id="6" name="任意多边形 5">
              <a:extLst>
                <a:ext uri="{FF2B5EF4-FFF2-40B4-BE49-F238E27FC236}">
                  <a16:creationId xmlns:a16="http://schemas.microsoft.com/office/drawing/2014/main" id="{E6CF3004-08C9-96BC-53BE-9B511397A200}"/>
                </a:ext>
              </a:extLst>
            </p:cNvPr>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b="1">
                <a:latin typeface="Songti SC" panose="02010600040101010101" pitchFamily="2" charset="-122"/>
                <a:ea typeface="Songti SC" panose="02010600040101010101" pitchFamily="2" charset="-122"/>
              </a:endParaRPr>
            </a:p>
          </p:txBody>
        </p:sp>
        <p:sp>
          <p:nvSpPr>
            <p:cNvPr id="7" name="任意多边形 6">
              <a:extLst>
                <a:ext uri="{FF2B5EF4-FFF2-40B4-BE49-F238E27FC236}">
                  <a16:creationId xmlns:a16="http://schemas.microsoft.com/office/drawing/2014/main" id="{3DBD3C45-BF90-1790-CCAA-3C0FC22856B2}"/>
                </a:ext>
              </a:extLst>
            </p:cNvPr>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b="1">
                <a:latin typeface="Songti SC" panose="02010600040101010101" pitchFamily="2" charset="-122"/>
                <a:ea typeface="Songti SC" panose="02010600040101010101" pitchFamily="2" charset="-122"/>
              </a:endParaRPr>
            </a:p>
          </p:txBody>
        </p:sp>
      </p:grpSp>
      <p:sp>
        <p:nvSpPr>
          <p:cNvPr id="8" name="文本框 7">
            <a:extLst>
              <a:ext uri="{FF2B5EF4-FFF2-40B4-BE49-F238E27FC236}">
                <a16:creationId xmlns:a16="http://schemas.microsoft.com/office/drawing/2014/main" id="{67F50891-7A19-96D5-C58B-3404400535C9}"/>
              </a:ext>
            </a:extLst>
          </p:cNvPr>
          <p:cNvSpPr txBox="1"/>
          <p:nvPr/>
        </p:nvSpPr>
        <p:spPr>
          <a:xfrm>
            <a:off x="5321588" y="3413325"/>
            <a:ext cx="1723549" cy="646331"/>
          </a:xfrm>
          <a:prstGeom prst="rect">
            <a:avLst/>
          </a:prstGeom>
          <a:noFill/>
        </p:spPr>
        <p:txBody>
          <a:bodyPr wrap="none" rtlCol="0">
            <a:spAutoFit/>
          </a:bodyPr>
          <a:lstStyle/>
          <a:p>
            <a:r>
              <a:rPr lang="en-US" altLang="zh-CN" sz="3600" b="1" dirty="0">
                <a:solidFill>
                  <a:schemeClr val="bg1"/>
                </a:solidFill>
                <a:latin typeface="Arial" panose="020B0604020202020204" pitchFamily="34" charset="0"/>
                <a:ea typeface="微软雅黑" panose="020B0503020204020204" pitchFamily="34" charset="-122"/>
              </a:rPr>
              <a:t>Part.04</a:t>
            </a:r>
          </a:p>
        </p:txBody>
      </p:sp>
      <p:sp>
        <p:nvSpPr>
          <p:cNvPr id="9" name="文本框 8">
            <a:extLst>
              <a:ext uri="{FF2B5EF4-FFF2-40B4-BE49-F238E27FC236}">
                <a16:creationId xmlns:a16="http://schemas.microsoft.com/office/drawing/2014/main" id="{9FFB82FF-5DE6-F441-9344-DE72D926227E}"/>
              </a:ext>
            </a:extLst>
          </p:cNvPr>
          <p:cNvSpPr txBox="1"/>
          <p:nvPr/>
        </p:nvSpPr>
        <p:spPr>
          <a:xfrm>
            <a:off x="3327400" y="4946424"/>
            <a:ext cx="5537198" cy="830997"/>
          </a:xfrm>
          <a:prstGeom prst="rect">
            <a:avLst/>
          </a:prstGeom>
          <a:noFill/>
          <a:ln>
            <a:noFill/>
          </a:ln>
        </p:spPr>
        <p:txBody>
          <a:bodyPr wrap="square" rtlCol="0">
            <a:spAutoFit/>
          </a:bodyPr>
          <a:lstStyle/>
          <a:p>
            <a:pPr algn="ctr"/>
            <a:r>
              <a:rPr lang="zh-CN" altLang="en-US" sz="4800" b="1" spc="600" dirty="0">
                <a:solidFill>
                  <a:schemeClr val="accent6"/>
                </a:solidFill>
                <a:latin typeface="Arial" panose="020B0604020202020204" pitchFamily="34" charset="0"/>
                <a:ea typeface="微软雅黑" panose="020B0503020204020204" pitchFamily="34" charset="-122"/>
              </a:rPr>
              <a:t>项目测试</a:t>
            </a:r>
          </a:p>
        </p:txBody>
      </p:sp>
      <p:pic>
        <p:nvPicPr>
          <p:cNvPr id="4" name="图片 3">
            <a:extLst>
              <a:ext uri="{FF2B5EF4-FFF2-40B4-BE49-F238E27FC236}">
                <a16:creationId xmlns:a16="http://schemas.microsoft.com/office/drawing/2014/main" id="{6A6F49D9-91D0-8398-E0CE-729E1FB9F0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0390" y="1516741"/>
            <a:ext cx="3582844" cy="657673"/>
          </a:xfrm>
          <a:prstGeom prst="rect">
            <a:avLst/>
          </a:prstGeom>
        </p:spPr>
      </p:pic>
    </p:spTree>
    <p:extLst>
      <p:ext uri="{BB962C8B-B14F-4D97-AF65-F5344CB8AC3E}">
        <p14:creationId xmlns:p14="http://schemas.microsoft.com/office/powerpoint/2010/main" val="5687542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4" fill="hold" nodeType="afterEffect" p14:presetBounceEnd="40000">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14:bounceEnd="40000">
                                          <p:cBhvr additive="base">
                                            <p:cTn id="12" dur="750" fill="hold"/>
                                            <p:tgtEl>
                                              <p:spTgt spid="5"/>
                                            </p:tgtEl>
                                            <p:attrNameLst>
                                              <p:attrName>ppt_x</p:attrName>
                                            </p:attrNameLst>
                                          </p:cBhvr>
                                          <p:tavLst>
                                            <p:tav tm="0">
                                              <p:val>
                                                <p:strVal val="#ppt_x"/>
                                              </p:val>
                                            </p:tav>
                                            <p:tav tm="100000">
                                              <p:val>
                                                <p:strVal val="#ppt_x"/>
                                              </p:val>
                                            </p:tav>
                                          </p:tavLst>
                                        </p:anim>
                                        <p:anim calcmode="lin" valueType="num" p14:bounceEnd="40000">
                                          <p:cBhvr additive="base">
                                            <p:cTn id="13" dur="7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2500"/>
                                </p:stCondLst>
                                <p:childTnLst>
                                  <p:par>
                                    <p:cTn id="21" presetID="50" presetClass="entr" presetSubtype="0" decel="1000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strVal val="#ppt_w+.3"/>
                                              </p:val>
                                            </p:tav>
                                            <p:tav tm="100000">
                                              <p:val>
                                                <p:strVal val="#ppt_w"/>
                                              </p:val>
                                            </p:tav>
                                          </p:tavLst>
                                        </p:anim>
                                        <p:anim calcmode="lin" valueType="num">
                                          <p:cBhvr>
                                            <p:cTn id="24" dur="1000" fill="hold"/>
                                            <p:tgtEl>
                                              <p:spTgt spid="9"/>
                                            </p:tgtEl>
                                            <p:attrNameLst>
                                              <p:attrName>ppt_h</p:attrName>
                                            </p:attrNameLst>
                                          </p:cBhvr>
                                          <p:tavLst>
                                            <p:tav tm="0">
                                              <p:val>
                                                <p:strVal val="#ppt_h"/>
                                              </p:val>
                                            </p:tav>
                                            <p:tav tm="100000">
                                              <p:val>
                                                <p:strVal val="#ppt_h"/>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750" fill="hold"/>
                                            <p:tgtEl>
                                              <p:spTgt spid="5"/>
                                            </p:tgtEl>
                                            <p:attrNameLst>
                                              <p:attrName>ppt_x</p:attrName>
                                            </p:attrNameLst>
                                          </p:cBhvr>
                                          <p:tavLst>
                                            <p:tav tm="0">
                                              <p:val>
                                                <p:strVal val="#ppt_x"/>
                                              </p:val>
                                            </p:tav>
                                            <p:tav tm="100000">
                                              <p:val>
                                                <p:strVal val="#ppt_x"/>
                                              </p:val>
                                            </p:tav>
                                          </p:tavLst>
                                        </p:anim>
                                        <p:anim calcmode="lin" valueType="num">
                                          <p:cBhvr additive="base">
                                            <p:cTn id="13" dur="7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2500"/>
                                </p:stCondLst>
                                <p:childTnLst>
                                  <p:par>
                                    <p:cTn id="21" presetID="50" presetClass="entr" presetSubtype="0" decel="1000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strVal val="#ppt_w+.3"/>
                                              </p:val>
                                            </p:tav>
                                            <p:tav tm="100000">
                                              <p:val>
                                                <p:strVal val="#ppt_w"/>
                                              </p:val>
                                            </p:tav>
                                          </p:tavLst>
                                        </p:anim>
                                        <p:anim calcmode="lin" valueType="num">
                                          <p:cBhvr>
                                            <p:cTn id="24" dur="1000" fill="hold"/>
                                            <p:tgtEl>
                                              <p:spTgt spid="9"/>
                                            </p:tgtEl>
                                            <p:attrNameLst>
                                              <p:attrName>ppt_h</p:attrName>
                                            </p:attrNameLst>
                                          </p:cBhvr>
                                          <p:tavLst>
                                            <p:tav tm="0">
                                              <p:val>
                                                <p:strVal val="#ppt_h"/>
                                              </p:val>
                                            </p:tav>
                                            <p:tav tm="100000">
                                              <p:val>
                                                <p:strVal val="#ppt_h"/>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p:bldLst>
      </p:timing>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24" name="矩形 23"/>
          <p:cNvSpPr/>
          <p:nvPr/>
        </p:nvSpPr>
        <p:spPr>
          <a:xfrm>
            <a:off x="8337248"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27" name="TextBox 7"/>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项目实</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rPr>
              <a:t>现</a:t>
            </a:r>
          </a:p>
        </p:txBody>
      </p:sp>
      <p:sp>
        <p:nvSpPr>
          <p:cNvPr id="29" name="TextBox 10"/>
          <p:cNvSpPr txBox="1"/>
          <p:nvPr/>
        </p:nvSpPr>
        <p:spPr>
          <a:xfrm>
            <a:off x="8480349" y="215904"/>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latin typeface="Arial" panose="020B0604020202020204" pitchFamily="34" charset="0"/>
                <a:ea typeface="微软雅黑" panose="020B0503020204020204" pitchFamily="34" charset="-122"/>
              </a:rPr>
              <a:t>项目测试</a:t>
            </a:r>
          </a:p>
        </p:txBody>
      </p:sp>
      <p:sp>
        <p:nvSpPr>
          <p:cNvPr id="30" name="TextBox 11"/>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项目总结</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sp>
        <p:nvSpPr>
          <p:cNvPr id="35" name="TextBox 6"/>
          <p:cNvSpPr txBox="1"/>
          <p:nvPr/>
        </p:nvSpPr>
        <p:spPr>
          <a:xfrm>
            <a:off x="540189" y="1040929"/>
            <a:ext cx="2280705" cy="527825"/>
          </a:xfrm>
          <a:prstGeom prst="rect">
            <a:avLst/>
          </a:prstGeom>
          <a:noFill/>
        </p:spPr>
        <p:txBody>
          <a:bodyPr wrap="square" lIns="0" tIns="48000" rIns="0" bIns="48000" rtlCol="0">
            <a:spAutoFit/>
          </a:bodyPr>
          <a:lstStyle/>
          <a:p>
            <a:pPr algn="ctr"/>
            <a:r>
              <a:rPr lang="en-US" altLang="zh-CN" sz="2800" b="1" dirty="0">
                <a:solidFill>
                  <a:schemeClr val="tx1">
                    <a:lumMod val="65000"/>
                    <a:lumOff val="35000"/>
                  </a:schemeClr>
                </a:solidFill>
                <a:latin typeface="Arial" panose="020B0604020202020204" pitchFamily="34" charset="0"/>
                <a:ea typeface="微软雅黑" panose="020B0503020204020204" pitchFamily="34" charset="-122"/>
              </a:rPr>
              <a:t>4.1 </a:t>
            </a:r>
            <a:r>
              <a:rPr lang="zh-CN" altLang="en-US" sz="2800" b="1" dirty="0">
                <a:solidFill>
                  <a:schemeClr val="tx1">
                    <a:lumMod val="65000"/>
                    <a:lumOff val="35000"/>
                  </a:schemeClr>
                </a:solidFill>
                <a:latin typeface="Arial" panose="020B0604020202020204" pitchFamily="34" charset="0"/>
                <a:ea typeface="微软雅黑" panose="020B0503020204020204" pitchFamily="34" charset="-122"/>
              </a:rPr>
              <a:t>测试环境</a:t>
            </a: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6E31DF09-41C0-E05F-88D8-FE43285C5777}"/>
              </a:ext>
            </a:extLst>
          </p:cNvPr>
          <p:cNvPicPr>
            <a:picLocks noChangeAspect="1"/>
          </p:cNvPicPr>
          <p:nvPr/>
        </p:nvPicPr>
        <p:blipFill rotWithShape="1">
          <a:blip r:embed="rId3"/>
          <a:srcRect t="29956" r="-277"/>
          <a:stretch>
            <a:fillRect/>
          </a:stretch>
        </p:blipFill>
        <p:spPr>
          <a:xfrm>
            <a:off x="195620" y="89117"/>
            <a:ext cx="2766644" cy="613765"/>
          </a:xfrm>
          <a:prstGeom prst="rect">
            <a:avLst/>
          </a:prstGeom>
        </p:spPr>
      </p:pic>
      <p:sp>
        <p:nvSpPr>
          <p:cNvPr id="4" name="文本框 3">
            <a:extLst>
              <a:ext uri="{FF2B5EF4-FFF2-40B4-BE49-F238E27FC236}">
                <a16:creationId xmlns:a16="http://schemas.microsoft.com/office/drawing/2014/main" id="{EF51E8B3-C307-C736-CB67-281C07C4D37E}"/>
              </a:ext>
            </a:extLst>
          </p:cNvPr>
          <p:cNvSpPr txBox="1"/>
          <p:nvPr/>
        </p:nvSpPr>
        <p:spPr>
          <a:xfrm>
            <a:off x="318534" y="1817683"/>
            <a:ext cx="5153351" cy="4121065"/>
          </a:xfrm>
          <a:prstGeom prst="rect">
            <a:avLst/>
          </a:prstGeom>
        </p:spPr>
        <p:txBody>
          <a:bodyPr wrap="square">
            <a:spAutoFit/>
          </a:bodyPr>
          <a:lstStyle/>
          <a:p>
            <a:pPr>
              <a:lnSpc>
                <a:spcPct val="120000"/>
              </a:lnSpc>
            </a:pPr>
            <a:r>
              <a:rPr lang="zh-CN" altLang="en-US" sz="2000" b="1">
                <a:latin typeface="Arial" panose="020B0604020202020204" pitchFamily="34" charset="0"/>
                <a:ea typeface="微软雅黑" panose="020B0503020204020204" pitchFamily="34" charset="-122"/>
              </a:rPr>
              <a:t>所有实验均在同一物理机和 </a:t>
            </a:r>
            <a:r>
              <a:rPr lang="en-US" altLang="zh-CN" sz="2000" b="1">
                <a:latin typeface="Arial" panose="020B0604020202020204" pitchFamily="34" charset="0"/>
                <a:ea typeface="微软雅黑" panose="020B0503020204020204" pitchFamily="34" charset="-122"/>
              </a:rPr>
              <a:t>SSD </a:t>
            </a:r>
            <a:r>
              <a:rPr lang="zh-CN" altLang="en-US" sz="2000" b="1">
                <a:latin typeface="Arial" panose="020B0604020202020204" pitchFamily="34" charset="0"/>
                <a:ea typeface="微软雅黑" panose="020B0503020204020204" pitchFamily="34" charset="-122"/>
              </a:rPr>
              <a:t>环境下进行，并通过 </a:t>
            </a:r>
            <a:r>
              <a:rPr lang="en-US" altLang="zh-CN" sz="2000" b="1">
                <a:latin typeface="Arial" panose="020B0604020202020204" pitchFamily="34" charset="0"/>
                <a:ea typeface="微软雅黑" panose="020B0503020204020204" pitchFamily="34" charset="-122"/>
              </a:rPr>
              <a:t>Linux </a:t>
            </a:r>
            <a:r>
              <a:rPr lang="zh-CN" altLang="en-US" sz="2000" b="1">
                <a:latin typeface="Arial" panose="020B0604020202020204" pitchFamily="34" charset="0"/>
                <a:ea typeface="微软雅黑" panose="020B0503020204020204" pitchFamily="34" charset="-122"/>
              </a:rPr>
              <a:t>内存限制机制设置不同内存上限，保证各方案对比条件一致。</a:t>
            </a:r>
            <a:endParaRPr lang="en-US" altLang="zh-CN" sz="2000" b="1">
              <a:latin typeface="Arial" panose="020B0604020202020204" pitchFamily="34" charset="0"/>
              <a:ea typeface="微软雅黑" panose="020B0503020204020204" pitchFamily="34" charset="-122"/>
            </a:endParaRPr>
          </a:p>
          <a:p>
            <a:pPr>
              <a:lnSpc>
                <a:spcPct val="120000"/>
              </a:lnSpc>
            </a:pPr>
            <a:endParaRPr lang="zh-CN" altLang="en-US" sz="2000" b="1">
              <a:latin typeface="Arial" panose="020B0604020202020204" pitchFamily="34" charset="0"/>
              <a:ea typeface="微软雅黑" panose="020B0503020204020204" pitchFamily="34" charset="-122"/>
            </a:endParaRPr>
          </a:p>
          <a:p>
            <a:pPr>
              <a:lnSpc>
                <a:spcPct val="120000"/>
              </a:lnSpc>
            </a:pPr>
            <a:r>
              <a:rPr lang="zh-CN" altLang="en-US" sz="2000" b="1">
                <a:latin typeface="Arial" panose="020B0604020202020204" pitchFamily="34" charset="0"/>
                <a:ea typeface="微软雅黑" panose="020B0503020204020204" pitchFamily="34" charset="-122"/>
              </a:rPr>
              <a:t>测试覆盖 </a:t>
            </a:r>
            <a:r>
              <a:rPr lang="en-US" altLang="zh-CN" sz="2000" b="1">
                <a:latin typeface="Arial" panose="020B0604020202020204" pitchFamily="34" charset="0"/>
                <a:ea typeface="微软雅黑" panose="020B0503020204020204" pitchFamily="34" charset="-122"/>
              </a:rPr>
              <a:t>Dense </a:t>
            </a:r>
            <a:r>
              <a:rPr lang="zh-CN" altLang="en-US" sz="2000" b="1">
                <a:latin typeface="Arial" panose="020B0604020202020204" pitchFamily="34" charset="0"/>
                <a:ea typeface="微软雅黑" panose="020B0503020204020204" pitchFamily="34" charset="-122"/>
              </a:rPr>
              <a:t>权重、</a:t>
            </a:r>
            <a:r>
              <a:rPr lang="en-US" altLang="zh-CN" sz="2000" b="1">
                <a:latin typeface="Arial" panose="020B0604020202020204" pitchFamily="34" charset="0"/>
                <a:ea typeface="微软雅黑" panose="020B0503020204020204" pitchFamily="34" charset="-122"/>
              </a:rPr>
              <a:t>MoE </a:t>
            </a:r>
            <a:r>
              <a:rPr lang="zh-CN" altLang="en-US" sz="2000" b="1">
                <a:latin typeface="Arial" panose="020B0604020202020204" pitchFamily="34" charset="0"/>
                <a:ea typeface="微软雅黑" panose="020B0503020204020204" pitchFamily="34" charset="-122"/>
              </a:rPr>
              <a:t>专家、</a:t>
            </a:r>
            <a:r>
              <a:rPr lang="en-US" altLang="zh-CN" sz="2000" b="1">
                <a:latin typeface="Arial" panose="020B0604020202020204" pitchFamily="34" charset="0"/>
                <a:ea typeface="微软雅黑" panose="020B0503020204020204" pitchFamily="34" charset="-122"/>
              </a:rPr>
              <a:t>KV Cache </a:t>
            </a:r>
            <a:r>
              <a:rPr lang="zh-CN" altLang="en-US" sz="2000" b="1">
                <a:latin typeface="Arial" panose="020B0604020202020204" pitchFamily="34" charset="0"/>
                <a:ea typeface="微软雅黑" panose="020B0503020204020204" pitchFamily="34" charset="-122"/>
              </a:rPr>
              <a:t>与全局调度，重点验证：</a:t>
            </a:r>
            <a:br>
              <a:rPr lang="zh-CN" altLang="en-US" sz="2000" b="1">
                <a:latin typeface="Arial" panose="020B0604020202020204" pitchFamily="34" charset="0"/>
                <a:ea typeface="微软雅黑" panose="020B0503020204020204" pitchFamily="34" charset="-122"/>
              </a:rPr>
            </a:br>
            <a:r>
              <a:rPr lang="en-US" altLang="zh-CN" sz="2000" b="1">
                <a:latin typeface="Arial" panose="020B0604020202020204" pitchFamily="34" charset="0"/>
                <a:ea typeface="微软雅黑" panose="020B0503020204020204" pitchFamily="34" charset="-122"/>
              </a:rPr>
              <a:t>1. </a:t>
            </a:r>
            <a:r>
              <a:rPr lang="zh-CN" altLang="en-US" sz="2000" b="1">
                <a:latin typeface="Arial" panose="020B0604020202020204" pitchFamily="34" charset="0"/>
                <a:ea typeface="微软雅黑" panose="020B0503020204020204" pitchFamily="34" charset="-122"/>
              </a:rPr>
              <a:t>内存占用： 真实物理内存是否下降</a:t>
            </a:r>
            <a:br>
              <a:rPr lang="zh-CN" altLang="en-US" sz="2000" b="1">
                <a:latin typeface="Arial" panose="020B0604020202020204" pitchFamily="34" charset="0"/>
                <a:ea typeface="微软雅黑" panose="020B0503020204020204" pitchFamily="34" charset="-122"/>
              </a:rPr>
            </a:br>
            <a:r>
              <a:rPr lang="en-US" altLang="zh-CN" sz="2000" b="1">
                <a:latin typeface="Arial" panose="020B0604020202020204" pitchFamily="34" charset="0"/>
                <a:ea typeface="微软雅黑" panose="020B0503020204020204" pitchFamily="34" charset="-122"/>
              </a:rPr>
              <a:t>2. </a:t>
            </a:r>
            <a:r>
              <a:rPr lang="zh-CN" altLang="en-US" sz="2000" b="1">
                <a:latin typeface="Arial" panose="020B0604020202020204" pitchFamily="34" charset="0"/>
                <a:ea typeface="微软雅黑" panose="020B0503020204020204" pitchFamily="34" charset="-122"/>
              </a:rPr>
              <a:t>性能稳定性： 是否减少 </a:t>
            </a:r>
            <a:r>
              <a:rPr lang="en-US" altLang="zh-CN" sz="2000" b="1">
                <a:latin typeface="Arial" panose="020B0604020202020204" pitchFamily="34" charset="0"/>
                <a:ea typeface="微软雅黑" panose="020B0503020204020204" pitchFamily="34" charset="-122"/>
              </a:rPr>
              <a:t>I/O </a:t>
            </a:r>
            <a:r>
              <a:rPr lang="zh-CN" altLang="en-US" sz="2000" b="1">
                <a:latin typeface="Arial" panose="020B0604020202020204" pitchFamily="34" charset="0"/>
                <a:ea typeface="微软雅黑" panose="020B0503020204020204" pitchFamily="34" charset="-122"/>
              </a:rPr>
              <a:t>等待、保持吞吐并避免内存溢出</a:t>
            </a:r>
            <a:br>
              <a:rPr lang="zh-CN" altLang="en-US" sz="2000" b="1">
                <a:latin typeface="Arial" panose="020B0604020202020204" pitchFamily="34" charset="0"/>
                <a:ea typeface="微软雅黑" panose="020B0503020204020204" pitchFamily="34" charset="-122"/>
              </a:rPr>
            </a:br>
            <a:r>
              <a:rPr lang="en-US" altLang="zh-CN" sz="2000" b="1">
                <a:latin typeface="Arial" panose="020B0604020202020204" pitchFamily="34" charset="0"/>
                <a:ea typeface="微软雅黑" panose="020B0503020204020204" pitchFamily="34" charset="-122"/>
              </a:rPr>
              <a:t>3. </a:t>
            </a:r>
            <a:r>
              <a:rPr lang="zh-CN" altLang="en-US" sz="2000" b="1">
                <a:latin typeface="Arial" panose="020B0604020202020204" pitchFamily="34" charset="0"/>
                <a:ea typeface="微软雅黑" panose="020B0503020204020204" pitchFamily="34" charset="-122"/>
              </a:rPr>
              <a:t>计算正确性： 优化前后计算结果是否一致</a:t>
            </a:r>
          </a:p>
          <a:p>
            <a:pPr marL="457200" indent="-457200">
              <a:lnSpc>
                <a:spcPct val="120000"/>
              </a:lnSpc>
              <a:buFont typeface="+mj-lt"/>
              <a:buAutoNum type="arabicPeriod"/>
            </a:pPr>
            <a:endParaRPr lang="zh-CN" altLang="en-US" sz="2000" b="1">
              <a:latin typeface="Arial" panose="020B0604020202020204" pitchFamily="34" charset="0"/>
              <a:ea typeface="微软雅黑" panose="020B0503020204020204" pitchFamily="34" charset="-122"/>
            </a:endParaRPr>
          </a:p>
        </p:txBody>
      </p:sp>
      <p:graphicFrame>
        <p:nvGraphicFramePr>
          <p:cNvPr id="7" name="表格 6">
            <a:extLst>
              <a:ext uri="{FF2B5EF4-FFF2-40B4-BE49-F238E27FC236}">
                <a16:creationId xmlns:a16="http://schemas.microsoft.com/office/drawing/2014/main" id="{AA312815-29D8-F121-1527-61E31845016D}"/>
              </a:ext>
            </a:extLst>
          </p:cNvPr>
          <p:cNvGraphicFramePr/>
          <p:nvPr>
            <p:extLst>
              <p:ext uri="{D42A27DB-BD31-4B8C-83A1-F6EECF244321}">
                <p14:modId xmlns:p14="http://schemas.microsoft.com/office/powerpoint/2010/main" val="2158570630"/>
              </p:ext>
            </p:extLst>
          </p:nvPr>
        </p:nvGraphicFramePr>
        <p:xfrm>
          <a:off x="5571642" y="1442800"/>
          <a:ext cx="6301824" cy="4870829"/>
        </p:xfrm>
        <a:graphic>
          <a:graphicData uri="http://schemas.openxmlformats.org/drawingml/2006/table">
            <a:tbl>
              <a:tblPr firstRow="1" bandRow="1">
                <a:tableStyleId>{93296810-A885-4BE3-A3E7-6D5BEEA58F35}</a:tableStyleId>
              </a:tblPr>
              <a:tblGrid>
                <a:gridCol w="1567711">
                  <a:extLst>
                    <a:ext uri="{9D8B030D-6E8A-4147-A177-3AD203B41FA5}">
                      <a16:colId xmlns:a16="http://schemas.microsoft.com/office/drawing/2014/main" val="20000"/>
                    </a:ext>
                  </a:extLst>
                </a:gridCol>
                <a:gridCol w="4734113">
                  <a:extLst>
                    <a:ext uri="{9D8B030D-6E8A-4147-A177-3AD203B41FA5}">
                      <a16:colId xmlns:a16="http://schemas.microsoft.com/office/drawing/2014/main" val="20001"/>
                    </a:ext>
                  </a:extLst>
                </a:gridCol>
              </a:tblGrid>
              <a:tr h="510076">
                <a:tc>
                  <a:txBody>
                    <a:bodyPr/>
                    <a:lstStyle/>
                    <a:p>
                      <a:pPr>
                        <a:buNone/>
                      </a:pPr>
                      <a:r>
                        <a:rPr lang="zh-CN" sz="2000"/>
                        <a:t>环境指标</a:t>
                      </a:r>
                    </a:p>
                  </a:txBody>
                  <a:tcPr anchor="ctr"/>
                </a:tc>
                <a:tc>
                  <a:txBody>
                    <a:bodyPr/>
                    <a:lstStyle/>
                    <a:p>
                      <a:pPr>
                        <a:buNone/>
                      </a:pPr>
                      <a:r>
                        <a:rPr lang="zh-CN" sz="2000"/>
                        <a:t>环境参数</a:t>
                      </a:r>
                    </a:p>
                  </a:txBody>
                  <a:tcPr anchor="ctr"/>
                </a:tc>
                <a:extLst>
                  <a:ext uri="{0D108BD9-81ED-4DB2-BD59-A6C34878D82A}">
                    <a16:rowId xmlns:a16="http://schemas.microsoft.com/office/drawing/2014/main" val="10000"/>
                  </a:ext>
                </a:extLst>
              </a:tr>
              <a:tr h="510076">
                <a:tc>
                  <a:txBody>
                    <a:bodyPr/>
                    <a:lstStyle/>
                    <a:p>
                      <a:pPr>
                        <a:buNone/>
                      </a:pPr>
                      <a:r>
                        <a:rPr lang="zh-CN" sz="2000" b="1"/>
                        <a:t>系统环境</a:t>
                      </a:r>
                      <a:endParaRPr lang="zh-CN" sz="2000"/>
                    </a:p>
                  </a:txBody>
                  <a:tcPr anchor="ctr"/>
                </a:tc>
                <a:tc>
                  <a:txBody>
                    <a:bodyPr/>
                    <a:lstStyle/>
                    <a:p>
                      <a:pPr>
                        <a:buNone/>
                      </a:pPr>
                      <a:r>
                        <a:rPr lang="zh-CN" sz="2000"/>
                        <a:t>Ubuntu 22.04 / Linux 5.15.0+ / 物理机</a:t>
                      </a:r>
                    </a:p>
                  </a:txBody>
                  <a:tcPr anchor="ctr"/>
                </a:tc>
                <a:extLst>
                  <a:ext uri="{0D108BD9-81ED-4DB2-BD59-A6C34878D82A}">
                    <a16:rowId xmlns:a16="http://schemas.microsoft.com/office/drawing/2014/main" val="10001"/>
                  </a:ext>
                </a:extLst>
              </a:tr>
              <a:tr h="510076">
                <a:tc>
                  <a:txBody>
                    <a:bodyPr/>
                    <a:lstStyle/>
                    <a:p>
                      <a:pPr>
                        <a:buNone/>
                      </a:pPr>
                      <a:r>
                        <a:rPr lang="zh-CN" sz="2000" b="1"/>
                        <a:t>硬件配置</a:t>
                      </a:r>
                      <a:endParaRPr lang="zh-CN" sz="2000"/>
                    </a:p>
                  </a:txBody>
                  <a:tcPr anchor="ctr"/>
                </a:tc>
                <a:tc>
                  <a:txBody>
                    <a:bodyPr/>
                    <a:lstStyle/>
                    <a:p>
                      <a:pPr>
                        <a:buNone/>
                      </a:pPr>
                      <a:r>
                        <a:rPr lang="zh-CN" sz="2000"/>
                        <a:t>x86-64，8 核 / 23 GB 内存</a:t>
                      </a:r>
                    </a:p>
                  </a:txBody>
                  <a:tcPr anchor="ctr"/>
                </a:tc>
                <a:extLst>
                  <a:ext uri="{0D108BD9-81ED-4DB2-BD59-A6C34878D82A}">
                    <a16:rowId xmlns:a16="http://schemas.microsoft.com/office/drawing/2014/main" val="10002"/>
                  </a:ext>
                </a:extLst>
              </a:tr>
              <a:tr h="510076">
                <a:tc>
                  <a:txBody>
                    <a:bodyPr/>
                    <a:lstStyle/>
                    <a:p>
                      <a:pPr>
                        <a:buNone/>
                      </a:pPr>
                      <a:r>
                        <a:rPr lang="zh-CN" sz="2000" b="1"/>
                        <a:t>存储设备</a:t>
                      </a:r>
                      <a:endParaRPr lang="zh-CN" sz="2000"/>
                    </a:p>
                  </a:txBody>
                  <a:tcPr anchor="ctr"/>
                </a:tc>
                <a:tc>
                  <a:txBody>
                    <a:bodyPr/>
                    <a:lstStyle/>
                    <a:p>
                      <a:pPr>
                        <a:buNone/>
                      </a:pPr>
                      <a:r>
                        <a:rPr lang="zh-CN" sz="2000"/>
                        <a:t>SSD，顺序读速约 279 MB/s</a:t>
                      </a:r>
                    </a:p>
                  </a:txBody>
                  <a:tcPr anchor="ctr"/>
                </a:tc>
                <a:extLst>
                  <a:ext uri="{0D108BD9-81ED-4DB2-BD59-A6C34878D82A}">
                    <a16:rowId xmlns:a16="http://schemas.microsoft.com/office/drawing/2014/main" val="10003"/>
                  </a:ext>
                </a:extLst>
              </a:tr>
              <a:tr h="773483">
                <a:tc>
                  <a:txBody>
                    <a:bodyPr/>
                    <a:lstStyle/>
                    <a:p>
                      <a:pPr>
                        <a:buNone/>
                      </a:pPr>
                      <a:r>
                        <a:rPr lang="zh-CN" sz="2000" b="1" dirty="0"/>
                        <a:t>Dense 测试模型</a:t>
                      </a:r>
                      <a:endParaRPr lang="zh-CN" sz="2000" dirty="0"/>
                    </a:p>
                  </a:txBody>
                  <a:tcPr anchor="ctr"/>
                </a:tc>
                <a:tc>
                  <a:txBody>
                    <a:bodyPr/>
                    <a:lstStyle/>
                    <a:p>
                      <a:pPr>
                        <a:buNone/>
                      </a:pPr>
                      <a:r>
                        <a:rPr lang="zh-CN" sz="2000" dirty="0"/>
                        <a:t>Llama-3-8B-Instruct（Q4_K_M，约 4.58 GB）</a:t>
                      </a:r>
                    </a:p>
                  </a:txBody>
                  <a:tcPr anchor="ctr"/>
                </a:tc>
                <a:extLst>
                  <a:ext uri="{0D108BD9-81ED-4DB2-BD59-A6C34878D82A}">
                    <a16:rowId xmlns:a16="http://schemas.microsoft.com/office/drawing/2014/main" val="10004"/>
                  </a:ext>
                </a:extLst>
              </a:tr>
              <a:tr h="773483">
                <a:tc>
                  <a:txBody>
                    <a:bodyPr/>
                    <a:lstStyle/>
                    <a:p>
                      <a:pPr>
                        <a:buNone/>
                      </a:pPr>
                      <a:r>
                        <a:rPr lang="zh-CN" sz="2000" b="1" dirty="0"/>
                        <a:t>MoE 测试模型</a:t>
                      </a:r>
                      <a:endParaRPr lang="zh-CN" sz="2000" dirty="0"/>
                    </a:p>
                  </a:txBody>
                  <a:tcPr anchor="ctr"/>
                </a:tc>
                <a:tc>
                  <a:txBody>
                    <a:bodyPr/>
                    <a:lstStyle/>
                    <a:p>
                      <a:pPr>
                        <a:buNone/>
                      </a:pPr>
                      <a:r>
                        <a:rPr lang="zh-CN" sz="2000"/>
                        <a:t>Qwen1.5-MoE-A2.7B（20 专家，每次激活 4 个，Q4_K_M）</a:t>
                      </a:r>
                    </a:p>
                  </a:txBody>
                  <a:tcPr anchor="ctr"/>
                </a:tc>
                <a:extLst>
                  <a:ext uri="{0D108BD9-81ED-4DB2-BD59-A6C34878D82A}">
                    <a16:rowId xmlns:a16="http://schemas.microsoft.com/office/drawing/2014/main" val="10005"/>
                  </a:ext>
                </a:extLst>
              </a:tr>
              <a:tr h="510076">
                <a:tc>
                  <a:txBody>
                    <a:bodyPr/>
                    <a:lstStyle/>
                    <a:p>
                      <a:pPr>
                        <a:buNone/>
                      </a:pPr>
                      <a:r>
                        <a:rPr lang="zh-CN" sz="2000" b="1"/>
                        <a:t>内存限制</a:t>
                      </a:r>
                      <a:endParaRPr lang="zh-CN" sz="2000"/>
                    </a:p>
                  </a:txBody>
                  <a:tcPr anchor="ctr"/>
                </a:tc>
                <a:tc>
                  <a:txBody>
                    <a:bodyPr/>
                    <a:lstStyle/>
                    <a:p>
                      <a:pPr>
                        <a:buNone/>
                      </a:pPr>
                      <a:r>
                        <a:rPr lang="zh-CN" sz="2000" dirty="0"/>
                        <a:t>cgroup v2（memory.max）</a:t>
                      </a:r>
                    </a:p>
                  </a:txBody>
                  <a:tcPr anchor="ctr"/>
                </a:tc>
                <a:extLst>
                  <a:ext uri="{0D108BD9-81ED-4DB2-BD59-A6C34878D82A}">
                    <a16:rowId xmlns:a16="http://schemas.microsoft.com/office/drawing/2014/main" val="10006"/>
                  </a:ext>
                </a:extLst>
              </a:tr>
              <a:tr h="773483">
                <a:tc>
                  <a:txBody>
                    <a:bodyPr/>
                    <a:lstStyle/>
                    <a:p>
                      <a:pPr>
                        <a:buNone/>
                      </a:pPr>
                      <a:r>
                        <a:rPr lang="zh-CN" sz="2000" b="1"/>
                        <a:t>测试工具</a:t>
                      </a:r>
                      <a:endParaRPr lang="zh-CN" sz="2000"/>
                    </a:p>
                  </a:txBody>
                  <a:tcPr anchor="ctr"/>
                </a:tc>
                <a:tc>
                  <a:txBody>
                    <a:bodyPr/>
                    <a:lstStyle/>
                    <a:p>
                      <a:pPr>
                        <a:buNone/>
                      </a:pPr>
                      <a:r>
                        <a:rPr lang="zh-CN" sz="2000" dirty="0"/>
                        <a:t>llama-ben</a:t>
                      </a:r>
                      <a:r>
                        <a:rPr lang="zh-CN" sz="2000"/>
                        <a:t>ch / </a:t>
                      </a:r>
                      <a:r>
                        <a:rPr lang="zh-CN" altLang="en-US" sz="2000"/>
                        <a:t>正确性测试脚本</a:t>
                      </a:r>
                      <a:r>
                        <a:rPr lang="zh-CN" sz="2000"/>
                        <a:t> / KV 轨迹回放</a:t>
                      </a:r>
                      <a:endParaRPr lang="zh-CN" sz="2000" dirty="0"/>
                    </a:p>
                  </a:txBody>
                  <a:tcPr anchor="ct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par>
                                <p:cTn id="10" presetID="22" presetClass="entr" presetSubtype="8" fill="hold" grpId="0" nodeType="with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left)">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9B188-E30A-72A5-518E-72207E5A23A3}"/>
            </a:ext>
          </a:extLst>
        </p:cNvPr>
        <p:cNvGrpSpPr/>
        <p:nvPr/>
      </p:nvGrpSpPr>
      <p:grpSpPr>
        <a:xfrm>
          <a:off x="0" y="0"/>
          <a:ext cx="0" cy="0"/>
          <a:chOff x="0" y="0"/>
          <a:chExt cx="0" cy="0"/>
        </a:xfrm>
      </p:grpSpPr>
      <p:sp>
        <p:nvSpPr>
          <p:cNvPr id="35" name="TextBox 6">
            <a:extLst>
              <a:ext uri="{FF2B5EF4-FFF2-40B4-BE49-F238E27FC236}">
                <a16:creationId xmlns:a16="http://schemas.microsoft.com/office/drawing/2014/main" id="{EC0CB94E-E072-4701-A62A-AEF9C054C6D1}"/>
              </a:ext>
            </a:extLst>
          </p:cNvPr>
          <p:cNvSpPr txBox="1"/>
          <p:nvPr/>
        </p:nvSpPr>
        <p:spPr>
          <a:xfrm>
            <a:off x="413337" y="1007903"/>
            <a:ext cx="5637026" cy="958712"/>
          </a:xfrm>
          <a:prstGeom prst="rect">
            <a:avLst/>
          </a:prstGeom>
          <a:noFill/>
        </p:spPr>
        <p:txBody>
          <a:bodyPr wrap="square" lIns="0" tIns="48000" rIns="0" bIns="48000" rtlCol="0">
            <a:spAutoFit/>
          </a:bodyPr>
          <a:lstStyle/>
          <a:p>
            <a:pPr algn="ct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4.2.1</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 与原生 </a:t>
            </a: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llama.cpp </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框架对比</a:t>
            </a:r>
          </a:p>
          <a:p>
            <a:pPr algn="ctr"/>
            <a:endParaRPr lang="zh-CN" altLang="en-US" sz="28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3" name="矩形 4">
            <a:extLst>
              <a:ext uri="{FF2B5EF4-FFF2-40B4-BE49-F238E27FC236}">
                <a16:creationId xmlns:a16="http://schemas.microsoft.com/office/drawing/2014/main" id="{0ECCAD5A-3921-AA51-4A57-36806EF2DF06}"/>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5" name="矩形 4">
            <a:extLst>
              <a:ext uri="{FF2B5EF4-FFF2-40B4-BE49-F238E27FC236}">
                <a16:creationId xmlns:a16="http://schemas.microsoft.com/office/drawing/2014/main" id="{B877C31F-7722-838C-1705-2F6FC217B0B0}"/>
              </a:ext>
            </a:extLst>
          </p:cNvPr>
          <p:cNvSpPr/>
          <p:nvPr/>
        </p:nvSpPr>
        <p:spPr>
          <a:xfrm>
            <a:off x="8337248"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sp>
        <p:nvSpPr>
          <p:cNvPr id="7" name="TextBox 6">
            <a:extLst>
              <a:ext uri="{FF2B5EF4-FFF2-40B4-BE49-F238E27FC236}">
                <a16:creationId xmlns:a16="http://schemas.microsoft.com/office/drawing/2014/main" id="{7C0BF0A5-89ED-8F49-A344-6FD315506553}"/>
              </a:ext>
            </a:extLst>
          </p:cNvPr>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8" name="TextBox 7">
            <a:extLst>
              <a:ext uri="{FF2B5EF4-FFF2-40B4-BE49-F238E27FC236}">
                <a16:creationId xmlns:a16="http://schemas.microsoft.com/office/drawing/2014/main" id="{99D706B0-6D7B-B5F5-7E21-F7BFD0FBF01B}"/>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9" name="TextBox 9">
            <a:extLst>
              <a:ext uri="{FF2B5EF4-FFF2-40B4-BE49-F238E27FC236}">
                <a16:creationId xmlns:a16="http://schemas.microsoft.com/office/drawing/2014/main" id="{289B62BA-275D-10DF-7617-3772A5A9A115}"/>
              </a:ext>
            </a:extLst>
          </p:cNvPr>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项目实</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rPr>
              <a:t>现</a:t>
            </a:r>
          </a:p>
        </p:txBody>
      </p:sp>
      <p:sp>
        <p:nvSpPr>
          <p:cNvPr id="11" name="TextBox 10">
            <a:extLst>
              <a:ext uri="{FF2B5EF4-FFF2-40B4-BE49-F238E27FC236}">
                <a16:creationId xmlns:a16="http://schemas.microsoft.com/office/drawing/2014/main" id="{AE652FE3-572B-4417-39B6-8CEF1750BEE1}"/>
              </a:ext>
            </a:extLst>
          </p:cNvPr>
          <p:cNvSpPr txBox="1"/>
          <p:nvPr/>
        </p:nvSpPr>
        <p:spPr>
          <a:xfrm>
            <a:off x="8480349" y="215904"/>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latin typeface="Arial" panose="020B0604020202020204" pitchFamily="34" charset="0"/>
                <a:ea typeface="微软雅黑" panose="020B0503020204020204" pitchFamily="34" charset="-122"/>
              </a:rPr>
              <a:t>项目测试</a:t>
            </a:r>
          </a:p>
        </p:txBody>
      </p:sp>
      <p:sp>
        <p:nvSpPr>
          <p:cNvPr id="12" name="TextBox 11">
            <a:extLst>
              <a:ext uri="{FF2B5EF4-FFF2-40B4-BE49-F238E27FC236}">
                <a16:creationId xmlns:a16="http://schemas.microsoft.com/office/drawing/2014/main" id="{C6F2E566-7F8B-00F6-0A07-86CECE5A1034}"/>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项目总结</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cxnSp>
        <p:nvCxnSpPr>
          <p:cNvPr id="13" name="直接连接符 12">
            <a:extLst>
              <a:ext uri="{FF2B5EF4-FFF2-40B4-BE49-F238E27FC236}">
                <a16:creationId xmlns:a16="http://schemas.microsoft.com/office/drawing/2014/main" id="{FBDBF976-3D42-AA0A-F6B1-BEBADDAFF207}"/>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2B38E3C6-3C67-97D6-CE5C-53CFE7A67AF4}"/>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77328898-3D81-7A75-93CE-7BD0F241CDB6}"/>
              </a:ext>
            </a:extLst>
          </p:cNvPr>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9" name="图片 18">
            <a:extLst>
              <a:ext uri="{FF2B5EF4-FFF2-40B4-BE49-F238E27FC236}">
                <a16:creationId xmlns:a16="http://schemas.microsoft.com/office/drawing/2014/main" id="{F5028BE8-3671-6A35-4EE0-515B0FBF25BC}"/>
              </a:ext>
            </a:extLst>
          </p:cNvPr>
          <p:cNvPicPr>
            <a:picLocks noChangeAspect="1"/>
          </p:cNvPicPr>
          <p:nvPr/>
        </p:nvPicPr>
        <p:blipFill rotWithShape="1">
          <a:blip r:embed="rId3"/>
          <a:srcRect t="29956" r="-277"/>
          <a:stretch>
            <a:fillRect/>
          </a:stretch>
        </p:blipFill>
        <p:spPr>
          <a:xfrm>
            <a:off x="195620" y="89117"/>
            <a:ext cx="2766644" cy="613765"/>
          </a:xfrm>
          <a:prstGeom prst="rect">
            <a:avLst/>
          </a:prstGeom>
        </p:spPr>
      </p:pic>
      <p:pic>
        <p:nvPicPr>
          <p:cNvPr id="2" name="图片 1">
            <a:extLst>
              <a:ext uri="{FF2B5EF4-FFF2-40B4-BE49-F238E27FC236}">
                <a16:creationId xmlns:a16="http://schemas.microsoft.com/office/drawing/2014/main" id="{EB3DD61C-54FC-45BB-244B-BC4C0E808C3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4718949" y="2121588"/>
            <a:ext cx="6947934" cy="3594085"/>
          </a:xfrm>
          <a:prstGeom prst="rect">
            <a:avLst/>
          </a:prstGeom>
        </p:spPr>
      </p:pic>
      <p:sp>
        <p:nvSpPr>
          <p:cNvPr id="16" name="文本框 15">
            <a:extLst>
              <a:ext uri="{FF2B5EF4-FFF2-40B4-BE49-F238E27FC236}">
                <a16:creationId xmlns:a16="http://schemas.microsoft.com/office/drawing/2014/main" id="{10C6F865-2FAB-794B-8821-B8BEAE054815}"/>
              </a:ext>
            </a:extLst>
          </p:cNvPr>
          <p:cNvSpPr txBox="1"/>
          <p:nvPr/>
        </p:nvSpPr>
        <p:spPr>
          <a:xfrm>
            <a:off x="704813" y="1763415"/>
            <a:ext cx="3851329" cy="4708981"/>
          </a:xfrm>
          <a:prstGeom prst="rect">
            <a:avLst/>
          </a:prstGeom>
          <a:noFill/>
        </p:spPr>
        <p:txBody>
          <a:bodyPr wrap="square">
            <a:spAutoFit/>
          </a:bodyPr>
          <a:lstStyle/>
          <a:p>
            <a:r>
              <a:rPr lang="en-US" altLang="zh-CN" sz="2000" b="1"/>
              <a:t>Flex-OS </a:t>
            </a:r>
            <a:r>
              <a:rPr lang="zh-CN" altLang="en-US" sz="2000" b="1"/>
              <a:t>通过推理阶段动态调整数据驻留策略，在减少峰值内存的同时降低无效数据访问。</a:t>
            </a:r>
            <a:endParaRPr lang="en-US" altLang="zh-CN" sz="2000" b="1"/>
          </a:p>
          <a:p>
            <a:endParaRPr lang="en-US" altLang="zh-CN" sz="2000" b="1"/>
          </a:p>
          <a:p>
            <a:r>
              <a:rPr lang="zh-CN" altLang="en-US" sz="2000" b="1"/>
              <a:t>在相同 </a:t>
            </a:r>
            <a:r>
              <a:rPr lang="en-US" altLang="zh-CN" sz="2000" b="1"/>
              <a:t>3GB </a:t>
            </a:r>
            <a:r>
              <a:rPr lang="zh-CN" altLang="en-US" sz="2000" b="1"/>
              <a:t>内存配置下，</a:t>
            </a:r>
            <a:r>
              <a:rPr lang="en-US" altLang="zh-CN" sz="2000" b="1"/>
              <a:t>Flex-OS Dense </a:t>
            </a:r>
            <a:r>
              <a:rPr lang="zh-CN" altLang="en-US" sz="2000" b="1"/>
              <a:t>吞吐由 </a:t>
            </a:r>
            <a:r>
              <a:rPr lang="en-US" altLang="zh-CN" sz="2000" b="1"/>
              <a:t>3.090 tok/s </a:t>
            </a:r>
            <a:r>
              <a:rPr lang="zh-CN" altLang="en-US" sz="2000" b="1"/>
              <a:t>提升至 </a:t>
            </a:r>
            <a:r>
              <a:rPr lang="en-US" altLang="zh-CN" sz="2000" b="1"/>
              <a:t>4.727 tok/s</a:t>
            </a:r>
            <a:r>
              <a:rPr lang="zh-CN" altLang="en-US" sz="2000" b="1"/>
              <a:t>，提升</a:t>
            </a:r>
            <a:r>
              <a:rPr lang="en-US" altLang="zh-CN" sz="2000" b="1">
                <a:solidFill>
                  <a:srgbClr val="FF0000"/>
                </a:solidFill>
              </a:rPr>
              <a:t>53.07% </a:t>
            </a:r>
            <a:r>
              <a:rPr lang="zh-CN" altLang="en-US" sz="2000" b="1"/>
              <a:t>；</a:t>
            </a:r>
            <a:r>
              <a:rPr lang="en-US" altLang="zh-CN" sz="2000" b="1"/>
              <a:t>MoE </a:t>
            </a:r>
            <a:r>
              <a:rPr lang="zh-CN" altLang="en-US" sz="2000" b="1"/>
              <a:t>吞吐由 </a:t>
            </a:r>
            <a:r>
              <a:rPr lang="en-US" altLang="zh-CN" sz="2000" b="1"/>
              <a:t>7.339 tok/s </a:t>
            </a:r>
            <a:r>
              <a:rPr lang="zh-CN" altLang="en-US" sz="2000" b="1"/>
              <a:t>提升至 </a:t>
            </a:r>
            <a:r>
              <a:rPr lang="en-US" altLang="zh-CN" sz="2000" b="1"/>
              <a:t>11.463 tok/s</a:t>
            </a:r>
            <a:r>
              <a:rPr lang="zh-CN" altLang="en-US" sz="2000" b="1"/>
              <a:t>，提升 </a:t>
            </a:r>
            <a:r>
              <a:rPr lang="en-US" altLang="zh-CN" sz="2000" b="1">
                <a:solidFill>
                  <a:srgbClr val="FF0000"/>
                </a:solidFill>
              </a:rPr>
              <a:t>56.13% </a:t>
            </a:r>
            <a:r>
              <a:rPr lang="zh-CN" altLang="en-US" sz="2000" b="1"/>
              <a:t>。同时峰值 </a:t>
            </a:r>
            <a:r>
              <a:rPr lang="en-US" altLang="zh-CN" sz="2000" b="1"/>
              <a:t>RSS </a:t>
            </a:r>
            <a:r>
              <a:rPr lang="zh-CN" altLang="en-US" sz="2000" b="1"/>
              <a:t>分别降低 </a:t>
            </a:r>
            <a:r>
              <a:rPr lang="en-US" altLang="zh-CN" sz="2000" b="1">
                <a:solidFill>
                  <a:srgbClr val="FF0000"/>
                </a:solidFill>
              </a:rPr>
              <a:t>7.3% </a:t>
            </a:r>
            <a:r>
              <a:rPr lang="zh-CN" altLang="en-US" sz="2000" b="1"/>
              <a:t>和 </a:t>
            </a:r>
            <a:r>
              <a:rPr lang="en-US" altLang="zh-CN" sz="2000" b="1">
                <a:solidFill>
                  <a:srgbClr val="FF0000"/>
                </a:solidFill>
              </a:rPr>
              <a:t>30.2%</a:t>
            </a:r>
            <a:r>
              <a:rPr lang="zh-CN" altLang="en-US" sz="2000" b="1"/>
              <a:t>。</a:t>
            </a:r>
            <a:endParaRPr lang="en-US" altLang="zh-CN" sz="2000" b="1"/>
          </a:p>
          <a:p>
            <a:endParaRPr lang="en-US" altLang="zh-CN" sz="2000" b="1"/>
          </a:p>
          <a:p>
            <a:r>
              <a:rPr lang="zh-CN" altLang="en-US" sz="2000" b="1"/>
              <a:t>实验说明，针对 </a:t>
            </a:r>
            <a:r>
              <a:rPr lang="en-US" altLang="zh-CN" sz="2000" b="1"/>
              <a:t>LLM </a:t>
            </a:r>
            <a:r>
              <a:rPr lang="zh-CN" altLang="en-US" sz="2000" b="1"/>
              <a:t>可预测访问模式进行主动内存管理，能够同时提升推理效率与资源利用率。</a:t>
            </a:r>
            <a:endParaRPr lang="zh-CN" altLang="zh-CN" sz="2000" b="1" dirty="0"/>
          </a:p>
        </p:txBody>
      </p:sp>
    </p:spTree>
    <p:extLst>
      <p:ext uri="{BB962C8B-B14F-4D97-AF65-F5344CB8AC3E}">
        <p14:creationId xmlns:p14="http://schemas.microsoft.com/office/powerpoint/2010/main" val="13217622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3743D-388C-3F02-60C4-604EF311AD5E}"/>
            </a:ext>
          </a:extLst>
        </p:cNvPr>
        <p:cNvGrpSpPr/>
        <p:nvPr/>
      </p:nvGrpSpPr>
      <p:grpSpPr>
        <a:xfrm>
          <a:off x="0" y="0"/>
          <a:ext cx="0" cy="0"/>
          <a:chOff x="0" y="0"/>
          <a:chExt cx="0" cy="0"/>
        </a:xfrm>
      </p:grpSpPr>
      <p:sp>
        <p:nvSpPr>
          <p:cNvPr id="35" name="TextBox 6">
            <a:extLst>
              <a:ext uri="{FF2B5EF4-FFF2-40B4-BE49-F238E27FC236}">
                <a16:creationId xmlns:a16="http://schemas.microsoft.com/office/drawing/2014/main" id="{10240A3A-2E89-E4B3-AA08-716B739DE8E8}"/>
              </a:ext>
            </a:extLst>
          </p:cNvPr>
          <p:cNvSpPr txBox="1"/>
          <p:nvPr/>
        </p:nvSpPr>
        <p:spPr>
          <a:xfrm>
            <a:off x="560573" y="1007903"/>
            <a:ext cx="8112201" cy="958712"/>
          </a:xfrm>
          <a:prstGeom prst="rect">
            <a:avLst/>
          </a:prstGeom>
          <a:noFill/>
        </p:spPr>
        <p:txBody>
          <a:bodyPr wrap="square" lIns="0" tIns="48000" rIns="0" bIns="48000" rtlCol="0">
            <a:spAutoFit/>
          </a:bodyPr>
          <a:lstStyle/>
          <a:p>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4.2.2</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 与谷歌 </a:t>
            </a: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LiteRT-LM </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（不支持</a:t>
            </a: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MoE</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）框架对比</a:t>
            </a: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 </a:t>
            </a:r>
            <a:endParaRPr lang="zh-CN" altLang="en-US" sz="2800" b="1">
              <a:solidFill>
                <a:schemeClr val="tx1">
                  <a:lumMod val="65000"/>
                  <a:lumOff val="35000"/>
                </a:schemeClr>
              </a:solidFill>
              <a:latin typeface="Arial" panose="020B0604020202020204" pitchFamily="34" charset="0"/>
              <a:ea typeface="微软雅黑" panose="020B0503020204020204" pitchFamily="34" charset="-122"/>
            </a:endParaRPr>
          </a:p>
          <a:p>
            <a:endParaRPr lang="zh-CN" altLang="en-US" sz="28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3" name="矩形 4">
            <a:extLst>
              <a:ext uri="{FF2B5EF4-FFF2-40B4-BE49-F238E27FC236}">
                <a16:creationId xmlns:a16="http://schemas.microsoft.com/office/drawing/2014/main" id="{7D0BDBC2-1491-9FF5-EE01-9779D17CE18C}"/>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5" name="矩形 4">
            <a:extLst>
              <a:ext uri="{FF2B5EF4-FFF2-40B4-BE49-F238E27FC236}">
                <a16:creationId xmlns:a16="http://schemas.microsoft.com/office/drawing/2014/main" id="{E1416DAA-3E4A-D52D-B94C-27A16CCFD460}"/>
              </a:ext>
            </a:extLst>
          </p:cNvPr>
          <p:cNvSpPr/>
          <p:nvPr/>
        </p:nvSpPr>
        <p:spPr>
          <a:xfrm>
            <a:off x="8337248"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sp>
        <p:nvSpPr>
          <p:cNvPr id="7" name="TextBox 6">
            <a:extLst>
              <a:ext uri="{FF2B5EF4-FFF2-40B4-BE49-F238E27FC236}">
                <a16:creationId xmlns:a16="http://schemas.microsoft.com/office/drawing/2014/main" id="{81639AB5-A5EF-FED9-4020-B7F16325DDAD}"/>
              </a:ext>
            </a:extLst>
          </p:cNvPr>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8" name="TextBox 7">
            <a:extLst>
              <a:ext uri="{FF2B5EF4-FFF2-40B4-BE49-F238E27FC236}">
                <a16:creationId xmlns:a16="http://schemas.microsoft.com/office/drawing/2014/main" id="{C8155894-D776-AC71-B5AA-F2C4A298ADC4}"/>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9" name="TextBox 9">
            <a:extLst>
              <a:ext uri="{FF2B5EF4-FFF2-40B4-BE49-F238E27FC236}">
                <a16:creationId xmlns:a16="http://schemas.microsoft.com/office/drawing/2014/main" id="{6226F69A-185C-23AF-E431-AC7A854A1E39}"/>
              </a:ext>
            </a:extLst>
          </p:cNvPr>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项目实</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rPr>
              <a:t>现</a:t>
            </a:r>
          </a:p>
        </p:txBody>
      </p:sp>
      <p:sp>
        <p:nvSpPr>
          <p:cNvPr id="11" name="TextBox 10">
            <a:extLst>
              <a:ext uri="{FF2B5EF4-FFF2-40B4-BE49-F238E27FC236}">
                <a16:creationId xmlns:a16="http://schemas.microsoft.com/office/drawing/2014/main" id="{645616AC-765A-0243-4DE8-35CC7DC1BAAC}"/>
              </a:ext>
            </a:extLst>
          </p:cNvPr>
          <p:cNvSpPr txBox="1"/>
          <p:nvPr/>
        </p:nvSpPr>
        <p:spPr>
          <a:xfrm>
            <a:off x="8480349" y="215904"/>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latin typeface="Arial" panose="020B0604020202020204" pitchFamily="34" charset="0"/>
                <a:ea typeface="微软雅黑" panose="020B0503020204020204" pitchFamily="34" charset="-122"/>
              </a:rPr>
              <a:t>项目测试</a:t>
            </a:r>
          </a:p>
        </p:txBody>
      </p:sp>
      <p:sp>
        <p:nvSpPr>
          <p:cNvPr id="12" name="TextBox 11">
            <a:extLst>
              <a:ext uri="{FF2B5EF4-FFF2-40B4-BE49-F238E27FC236}">
                <a16:creationId xmlns:a16="http://schemas.microsoft.com/office/drawing/2014/main" id="{B1C98DEB-D3FE-6CD9-4D73-CBCC0A5DADED}"/>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项目总结</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cxnSp>
        <p:nvCxnSpPr>
          <p:cNvPr id="13" name="直接连接符 12">
            <a:extLst>
              <a:ext uri="{FF2B5EF4-FFF2-40B4-BE49-F238E27FC236}">
                <a16:creationId xmlns:a16="http://schemas.microsoft.com/office/drawing/2014/main" id="{8B6AB489-4271-140F-3AE3-62438C9BB947}"/>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19E399F1-09B2-3A72-94D3-D6377C2E2275}"/>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9D9C7814-DD0B-AEFE-8765-3D0754964047}"/>
              </a:ext>
            </a:extLst>
          </p:cNvPr>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9" name="图片 18">
            <a:extLst>
              <a:ext uri="{FF2B5EF4-FFF2-40B4-BE49-F238E27FC236}">
                <a16:creationId xmlns:a16="http://schemas.microsoft.com/office/drawing/2014/main" id="{1DB7A85F-A2E7-98F5-E477-C4B45870F3EC}"/>
              </a:ext>
            </a:extLst>
          </p:cNvPr>
          <p:cNvPicPr>
            <a:picLocks noChangeAspect="1"/>
          </p:cNvPicPr>
          <p:nvPr/>
        </p:nvPicPr>
        <p:blipFill rotWithShape="1">
          <a:blip r:embed="rId3"/>
          <a:srcRect t="29956" r="-277"/>
          <a:stretch>
            <a:fillRect/>
          </a:stretch>
        </p:blipFill>
        <p:spPr>
          <a:xfrm>
            <a:off x="195620" y="89117"/>
            <a:ext cx="2766644" cy="613765"/>
          </a:xfrm>
          <a:prstGeom prst="rect">
            <a:avLst/>
          </a:prstGeom>
        </p:spPr>
      </p:pic>
      <p:pic>
        <p:nvPicPr>
          <p:cNvPr id="2" name="图片 1">
            <a:extLst>
              <a:ext uri="{FF2B5EF4-FFF2-40B4-BE49-F238E27FC236}">
                <a16:creationId xmlns:a16="http://schemas.microsoft.com/office/drawing/2014/main" id="{9CF49272-3AAC-8464-E6F5-04BCF448D24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4690750" y="2054021"/>
            <a:ext cx="6968046" cy="3618753"/>
          </a:xfrm>
          <a:prstGeom prst="rect">
            <a:avLst/>
          </a:prstGeom>
        </p:spPr>
      </p:pic>
      <p:sp>
        <p:nvSpPr>
          <p:cNvPr id="16" name="文本框 15">
            <a:extLst>
              <a:ext uri="{FF2B5EF4-FFF2-40B4-BE49-F238E27FC236}">
                <a16:creationId xmlns:a16="http://schemas.microsoft.com/office/drawing/2014/main" id="{9A35AFBD-8187-94B2-5B0E-AD29CFE7C776}"/>
              </a:ext>
            </a:extLst>
          </p:cNvPr>
          <p:cNvSpPr txBox="1"/>
          <p:nvPr/>
        </p:nvSpPr>
        <p:spPr>
          <a:xfrm>
            <a:off x="704813" y="1695449"/>
            <a:ext cx="3851329" cy="4708981"/>
          </a:xfrm>
          <a:prstGeom prst="rect">
            <a:avLst/>
          </a:prstGeom>
          <a:noFill/>
        </p:spPr>
        <p:txBody>
          <a:bodyPr wrap="square">
            <a:spAutoFit/>
          </a:bodyPr>
          <a:lstStyle/>
          <a:p>
            <a:r>
              <a:rPr lang="zh-CN" altLang="en-US" sz="2000" b="1"/>
              <a:t>在 </a:t>
            </a:r>
            <a:r>
              <a:rPr lang="en-US" altLang="zh-CN" sz="2000" b="1"/>
              <a:t>3GB </a:t>
            </a:r>
            <a:r>
              <a:rPr lang="zh-CN" altLang="en-US" sz="2000" b="1"/>
              <a:t>内存约束下，</a:t>
            </a:r>
            <a:r>
              <a:rPr lang="en-US" altLang="zh-CN" sz="2000" b="1"/>
              <a:t>LiteRT-LM </a:t>
            </a:r>
            <a:r>
              <a:rPr lang="zh-CN" altLang="en-US" sz="2000" b="1"/>
              <a:t>仅能支持约束范围内的部分运行场景，在更低配置下出现 </a:t>
            </a:r>
            <a:r>
              <a:rPr lang="en-US" altLang="zh-CN" sz="2000" b="1"/>
              <a:t>OOM</a:t>
            </a:r>
            <a:r>
              <a:rPr lang="zh-CN" altLang="en-US" sz="2000" b="1"/>
              <a:t>；而 </a:t>
            </a:r>
            <a:r>
              <a:rPr lang="en-US" altLang="zh-CN" sz="2000" b="1"/>
              <a:t>Flex-OS </a:t>
            </a:r>
            <a:r>
              <a:rPr lang="zh-CN" altLang="en-US" sz="2000" b="1"/>
              <a:t>通过统一管理运行数据驻留，实现 </a:t>
            </a:r>
            <a:r>
              <a:rPr lang="en-US" altLang="zh-CN" sz="2000" b="1"/>
              <a:t>Dense </a:t>
            </a:r>
            <a:r>
              <a:rPr lang="zh-CN" altLang="en-US" sz="2000" b="1"/>
              <a:t>与 </a:t>
            </a:r>
            <a:r>
              <a:rPr lang="en-US" altLang="zh-CN" sz="2000" b="1"/>
              <a:t>MoE </a:t>
            </a:r>
            <a:r>
              <a:rPr lang="zh-CN" altLang="en-US" sz="2000" b="1"/>
              <a:t>模型在受限内存环境下稳定运行。</a:t>
            </a:r>
            <a:endParaRPr lang="en-US" altLang="zh-CN" sz="2000" b="1"/>
          </a:p>
          <a:p>
            <a:endParaRPr lang="en-US" altLang="zh-CN" sz="2000" b="1"/>
          </a:p>
          <a:p>
            <a:r>
              <a:rPr lang="zh-CN" altLang="en-US" sz="2000" b="1"/>
              <a:t>实验结果表明，</a:t>
            </a:r>
            <a:r>
              <a:rPr lang="en-US" altLang="zh-CN" sz="2000" b="1"/>
              <a:t>Flex-OS Dense </a:t>
            </a:r>
            <a:r>
              <a:rPr lang="zh-CN" altLang="en-US" sz="2000" b="1"/>
              <a:t>与 </a:t>
            </a:r>
            <a:r>
              <a:rPr lang="en-US" altLang="zh-CN" sz="2000" b="1"/>
              <a:t>MoE </a:t>
            </a:r>
            <a:r>
              <a:rPr lang="zh-CN" altLang="en-US" sz="2000" b="1"/>
              <a:t>均可在 </a:t>
            </a:r>
            <a:r>
              <a:rPr lang="en-US" altLang="zh-CN" sz="2000" b="1"/>
              <a:t>3GB </a:t>
            </a:r>
            <a:r>
              <a:rPr lang="zh-CN" altLang="en-US" sz="2000" b="1"/>
              <a:t>内存限制下完成推理，其中 </a:t>
            </a:r>
            <a:r>
              <a:rPr lang="en-US" altLang="zh-CN" sz="2000" b="1"/>
              <a:t>MoE </a:t>
            </a:r>
            <a:r>
              <a:rPr lang="zh-CN" altLang="en-US" sz="2000" b="1"/>
              <a:t>峰值 </a:t>
            </a:r>
            <a:r>
              <a:rPr lang="en-US" altLang="zh-CN" sz="2000" b="1"/>
              <a:t>RSS </a:t>
            </a:r>
            <a:r>
              <a:rPr lang="zh-CN" altLang="en-US" sz="2000" b="1"/>
              <a:t>仅约 </a:t>
            </a:r>
            <a:r>
              <a:rPr lang="en-US" altLang="zh-CN" sz="2000" b="1">
                <a:solidFill>
                  <a:srgbClr val="FF0000"/>
                </a:solidFill>
              </a:rPr>
              <a:t>1.91 GiB</a:t>
            </a:r>
            <a:r>
              <a:rPr lang="zh-CN" altLang="en-US" sz="2000" b="1"/>
              <a:t>。同时，</a:t>
            </a:r>
            <a:r>
              <a:rPr lang="en-US" altLang="zh-CN" sz="2000" b="1"/>
              <a:t>Flex-OS </a:t>
            </a:r>
            <a:r>
              <a:rPr lang="zh-CN" altLang="en-US" sz="2000" b="1"/>
              <a:t>在受限内存环境下仍保持较高推理吞吐，</a:t>
            </a:r>
            <a:r>
              <a:rPr lang="en-US" altLang="zh-CN" sz="2000" b="1"/>
              <a:t>Dense </a:t>
            </a:r>
            <a:r>
              <a:rPr lang="zh-CN" altLang="en-US" sz="2000" b="1"/>
              <a:t>与 </a:t>
            </a:r>
            <a:r>
              <a:rPr lang="en-US" altLang="zh-CN" sz="2000" b="1"/>
              <a:t>MoE </a:t>
            </a:r>
            <a:r>
              <a:rPr lang="zh-CN" altLang="en-US" sz="2000" b="1"/>
              <a:t>分别达到 </a:t>
            </a:r>
            <a:r>
              <a:rPr lang="en-US" altLang="zh-CN" sz="2000" b="1">
                <a:solidFill>
                  <a:srgbClr val="FF0000"/>
                </a:solidFill>
              </a:rPr>
              <a:t>4.727 tok/s </a:t>
            </a:r>
            <a:r>
              <a:rPr lang="zh-CN" altLang="en-US" sz="2000" b="1"/>
              <a:t>和 </a:t>
            </a:r>
            <a:r>
              <a:rPr lang="en-US" altLang="zh-CN" sz="2000" b="1">
                <a:solidFill>
                  <a:srgbClr val="FF0000"/>
                </a:solidFill>
              </a:rPr>
              <a:t>11.463 tok/s</a:t>
            </a:r>
            <a:r>
              <a:rPr lang="zh-CN" altLang="en-US" sz="2000" b="1"/>
              <a:t>。</a:t>
            </a:r>
            <a:endParaRPr lang="zh-CN" altLang="zh-CN" sz="2000" b="1" dirty="0"/>
          </a:p>
        </p:txBody>
      </p:sp>
    </p:spTree>
    <p:extLst>
      <p:ext uri="{BB962C8B-B14F-4D97-AF65-F5344CB8AC3E}">
        <p14:creationId xmlns:p14="http://schemas.microsoft.com/office/powerpoint/2010/main" val="13863807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 name="TextBox 6"/>
          <p:cNvSpPr txBox="1"/>
          <p:nvPr/>
        </p:nvSpPr>
        <p:spPr>
          <a:xfrm>
            <a:off x="632464" y="1077092"/>
            <a:ext cx="5116285" cy="527825"/>
          </a:xfrm>
          <a:prstGeom prst="rect">
            <a:avLst/>
          </a:prstGeom>
          <a:noFill/>
        </p:spPr>
        <p:txBody>
          <a:bodyPr wrap="square" lIns="0" tIns="48000" rIns="0" bIns="48000" rtlCol="0">
            <a:spAutoFit/>
          </a:bodyPr>
          <a:lstStyle/>
          <a:p>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4.3.1 </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消除冗余权重副本</a:t>
            </a:r>
            <a:endParaRPr lang="zh-CN" altLang="en-US" sz="28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3" name="矩形 4">
            <a:extLst>
              <a:ext uri="{FF2B5EF4-FFF2-40B4-BE49-F238E27FC236}">
                <a16:creationId xmlns:a16="http://schemas.microsoft.com/office/drawing/2014/main" id="{C513500C-3D9F-E402-04A5-79E4902CC329}"/>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5" name="矩形 4">
            <a:extLst>
              <a:ext uri="{FF2B5EF4-FFF2-40B4-BE49-F238E27FC236}">
                <a16:creationId xmlns:a16="http://schemas.microsoft.com/office/drawing/2014/main" id="{E01F5709-A61E-1AFC-2719-727C5BFB2B71}"/>
              </a:ext>
            </a:extLst>
          </p:cNvPr>
          <p:cNvSpPr/>
          <p:nvPr/>
        </p:nvSpPr>
        <p:spPr>
          <a:xfrm>
            <a:off x="8337248"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sp>
        <p:nvSpPr>
          <p:cNvPr id="6" name="TextBox 6">
            <a:extLst>
              <a:ext uri="{FF2B5EF4-FFF2-40B4-BE49-F238E27FC236}">
                <a16:creationId xmlns:a16="http://schemas.microsoft.com/office/drawing/2014/main" id="{7B8C36D9-4B0F-A4F0-5AFB-FED59FCCA8FD}"/>
              </a:ext>
            </a:extLst>
          </p:cNvPr>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7" name="TextBox 7">
            <a:extLst>
              <a:ext uri="{FF2B5EF4-FFF2-40B4-BE49-F238E27FC236}">
                <a16:creationId xmlns:a16="http://schemas.microsoft.com/office/drawing/2014/main" id="{C1735AEA-611C-EE70-E98E-D778276786CF}"/>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9" name="TextBox 9">
            <a:extLst>
              <a:ext uri="{FF2B5EF4-FFF2-40B4-BE49-F238E27FC236}">
                <a16:creationId xmlns:a16="http://schemas.microsoft.com/office/drawing/2014/main" id="{0C56DB91-9F31-6A97-D966-32C90CD071CB}"/>
              </a:ext>
            </a:extLst>
          </p:cNvPr>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项目实</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rPr>
              <a:t>现</a:t>
            </a:r>
          </a:p>
        </p:txBody>
      </p:sp>
      <p:sp>
        <p:nvSpPr>
          <p:cNvPr id="11" name="TextBox 10">
            <a:extLst>
              <a:ext uri="{FF2B5EF4-FFF2-40B4-BE49-F238E27FC236}">
                <a16:creationId xmlns:a16="http://schemas.microsoft.com/office/drawing/2014/main" id="{BCB51FA6-253C-6F28-BE61-1DF614C55381}"/>
              </a:ext>
            </a:extLst>
          </p:cNvPr>
          <p:cNvSpPr txBox="1"/>
          <p:nvPr/>
        </p:nvSpPr>
        <p:spPr>
          <a:xfrm>
            <a:off x="8480349" y="215904"/>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latin typeface="Arial" panose="020B0604020202020204" pitchFamily="34" charset="0"/>
                <a:ea typeface="微软雅黑" panose="020B0503020204020204" pitchFamily="34" charset="-122"/>
              </a:rPr>
              <a:t>项目测试</a:t>
            </a:r>
          </a:p>
        </p:txBody>
      </p:sp>
      <p:sp>
        <p:nvSpPr>
          <p:cNvPr id="12" name="TextBox 11">
            <a:extLst>
              <a:ext uri="{FF2B5EF4-FFF2-40B4-BE49-F238E27FC236}">
                <a16:creationId xmlns:a16="http://schemas.microsoft.com/office/drawing/2014/main" id="{F23FB154-F849-3FF8-7ACB-0C1E487814C3}"/>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项目总结</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cxnSp>
        <p:nvCxnSpPr>
          <p:cNvPr id="13" name="直接连接符 12">
            <a:extLst>
              <a:ext uri="{FF2B5EF4-FFF2-40B4-BE49-F238E27FC236}">
                <a16:creationId xmlns:a16="http://schemas.microsoft.com/office/drawing/2014/main" id="{363A0C51-403B-FDE6-659E-5EFA6C88162E}"/>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FA76D939-5BD5-E2C1-2513-0FFB0E267F29}"/>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F6C8215D-424D-A5C5-5982-E779A0E41062}"/>
              </a:ext>
            </a:extLst>
          </p:cNvPr>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9" name="图片 18">
            <a:extLst>
              <a:ext uri="{FF2B5EF4-FFF2-40B4-BE49-F238E27FC236}">
                <a16:creationId xmlns:a16="http://schemas.microsoft.com/office/drawing/2014/main" id="{6512B06F-C006-7402-97B9-AF3A4ACCE3C3}"/>
              </a:ext>
            </a:extLst>
          </p:cNvPr>
          <p:cNvPicPr>
            <a:picLocks noChangeAspect="1"/>
          </p:cNvPicPr>
          <p:nvPr/>
        </p:nvPicPr>
        <p:blipFill rotWithShape="1">
          <a:blip r:embed="rId3"/>
          <a:srcRect t="29956" r="-277"/>
          <a:stretch>
            <a:fillRect/>
          </a:stretch>
        </p:blipFill>
        <p:spPr>
          <a:xfrm>
            <a:off x="195620" y="89117"/>
            <a:ext cx="2766644" cy="613765"/>
          </a:xfrm>
          <a:prstGeom prst="rect">
            <a:avLst/>
          </a:prstGeom>
        </p:spPr>
      </p:pic>
      <p:sp>
        <p:nvSpPr>
          <p:cNvPr id="16" name="文本框 15">
            <a:extLst>
              <a:ext uri="{FF2B5EF4-FFF2-40B4-BE49-F238E27FC236}">
                <a16:creationId xmlns:a16="http://schemas.microsoft.com/office/drawing/2014/main" id="{DA8D4202-1BD6-558E-E65D-404321F9FF87}"/>
              </a:ext>
            </a:extLst>
          </p:cNvPr>
          <p:cNvSpPr txBox="1"/>
          <p:nvPr/>
        </p:nvSpPr>
        <p:spPr>
          <a:xfrm>
            <a:off x="537029" y="2091957"/>
            <a:ext cx="3528240" cy="2862322"/>
          </a:xfrm>
          <a:prstGeom prst="rect">
            <a:avLst/>
          </a:prstGeom>
          <a:noFill/>
        </p:spPr>
        <p:txBody>
          <a:bodyPr wrap="square">
            <a:spAutoFit/>
          </a:bodyPr>
          <a:lstStyle/>
          <a:p>
            <a:r>
              <a:rPr lang="zh-CN" altLang="zh-CN" sz="2000" b="1" dirty="0"/>
              <a:t>llama 原生权重路径会为计算布局生成额外的临时权重副本。在我们接管权重驻留后，这部分副本可以直接去除。</a:t>
            </a:r>
          </a:p>
          <a:p>
            <a:endParaRPr lang="en-US" altLang="zh-CN" sz="2000" b="1"/>
          </a:p>
          <a:p>
            <a:r>
              <a:rPr lang="zh-CN" altLang="zh-CN" sz="2000" b="1"/>
              <a:t>实</a:t>
            </a:r>
            <a:r>
              <a:rPr lang="zh-CN" altLang="zh-CN" sz="2000" b="1" dirty="0"/>
              <a:t>测 Dense 模型物理内存占用</a:t>
            </a:r>
            <a:r>
              <a:rPr lang="zh-CN" altLang="zh-CN" sz="2000" b="1" dirty="0">
                <a:solidFill>
                  <a:srgbClr val="FF0000"/>
                </a:solidFill>
              </a:rPr>
              <a:t>降低 41.3%</a:t>
            </a:r>
            <a:r>
              <a:rPr lang="zh-CN" altLang="zh-CN" sz="2000" b="1" dirty="0"/>
              <a:t>，MoE 模型</a:t>
            </a:r>
            <a:r>
              <a:rPr lang="zh-CN" altLang="zh-CN" sz="2000" b="1" dirty="0">
                <a:solidFill>
                  <a:srgbClr val="FF0000"/>
                </a:solidFill>
              </a:rPr>
              <a:t>降低 37.2%</a:t>
            </a:r>
            <a:r>
              <a:rPr lang="zh-CN" altLang="zh-CN" sz="2000" b="1" dirty="0"/>
              <a:t>，同时推理吞吐基本保持不变。</a:t>
            </a:r>
          </a:p>
        </p:txBody>
      </p:sp>
      <p:pic>
        <p:nvPicPr>
          <p:cNvPr id="17" name="图片 16">
            <a:extLst>
              <a:ext uri="{FF2B5EF4-FFF2-40B4-BE49-F238E27FC236}">
                <a16:creationId xmlns:a16="http://schemas.microsoft.com/office/drawing/2014/main" id="{9B65412F-7A83-4F1A-7314-B0143E7698A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4447934" y="2038139"/>
            <a:ext cx="7121528" cy="3742769"/>
          </a:xfrm>
          <a:prstGeom prst="rect">
            <a:avLst/>
          </a:prstGeom>
        </p:spPr>
      </p:pic>
      <p:sp>
        <p:nvSpPr>
          <p:cNvPr id="20" name="文本框 19">
            <a:extLst>
              <a:ext uri="{FF2B5EF4-FFF2-40B4-BE49-F238E27FC236}">
                <a16:creationId xmlns:a16="http://schemas.microsoft.com/office/drawing/2014/main" id="{08F8BBAA-F53A-92FA-2A18-D3522F56C7DF}"/>
              </a:ext>
            </a:extLst>
          </p:cNvPr>
          <p:cNvSpPr txBox="1"/>
          <p:nvPr/>
        </p:nvSpPr>
        <p:spPr>
          <a:xfrm>
            <a:off x="537029" y="4979654"/>
            <a:ext cx="3468606" cy="923330"/>
          </a:xfrm>
          <a:prstGeom prst="rect">
            <a:avLst/>
          </a:prstGeom>
          <a:noFill/>
        </p:spPr>
        <p:txBody>
          <a:bodyPr wrap="square" rtlCol="0">
            <a:spAutoFit/>
          </a:bodyPr>
          <a:lstStyle/>
          <a:p>
            <a:r>
              <a:rPr lang="zh-CN" altLang="zh-CN" b="1" dirty="0"/>
              <a:t>Repack：</a:t>
            </a:r>
            <a:r>
              <a:rPr lang="zh-CN" altLang="zh-CN" dirty="0"/>
              <a:t> llama.cpp 为适配计算布局产生的临时权重副本</a:t>
            </a:r>
            <a:br>
              <a:rPr lang="zh-CN" altLang="zh-CN" dirty="0"/>
            </a:br>
            <a:r>
              <a:rPr lang="zh-CN" altLang="zh-CN" b="1" dirty="0"/>
              <a:t>RSS：</a:t>
            </a:r>
            <a:r>
              <a:rPr lang="zh-CN" altLang="zh-CN" dirty="0"/>
              <a:t> 进程实际占用的物理内存</a:t>
            </a:r>
            <a:endParaRPr kumimoji="1" lang="zh-CN" alt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DEB26-0719-61BB-A656-89E56FD757A8}"/>
            </a:ext>
          </a:extLst>
        </p:cNvPr>
        <p:cNvGrpSpPr/>
        <p:nvPr/>
      </p:nvGrpSpPr>
      <p:grpSpPr>
        <a:xfrm>
          <a:off x="0" y="0"/>
          <a:ext cx="0" cy="0"/>
          <a:chOff x="0" y="0"/>
          <a:chExt cx="0" cy="0"/>
        </a:xfrm>
      </p:grpSpPr>
      <p:sp>
        <p:nvSpPr>
          <p:cNvPr id="35" name="TextBox 6">
            <a:extLst>
              <a:ext uri="{FF2B5EF4-FFF2-40B4-BE49-F238E27FC236}">
                <a16:creationId xmlns:a16="http://schemas.microsoft.com/office/drawing/2014/main" id="{36CB7374-61D7-E7D6-4B0E-BEF406BE438D}"/>
              </a:ext>
            </a:extLst>
          </p:cNvPr>
          <p:cNvSpPr txBox="1"/>
          <p:nvPr/>
        </p:nvSpPr>
        <p:spPr>
          <a:xfrm>
            <a:off x="560574" y="1007903"/>
            <a:ext cx="4955323" cy="958712"/>
          </a:xfrm>
          <a:prstGeom prst="rect">
            <a:avLst/>
          </a:prstGeom>
          <a:noFill/>
        </p:spPr>
        <p:txBody>
          <a:bodyPr wrap="square" lIns="0" tIns="48000" rIns="0" bIns="48000" rtlCol="0">
            <a:spAutoFit/>
          </a:bodyPr>
          <a:lstStyle/>
          <a:p>
            <a:pPr algn="ct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4.3.2</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 </a:t>
            </a: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Dense </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权重驻留机制测试</a:t>
            </a:r>
          </a:p>
          <a:p>
            <a:pPr algn="ctr"/>
            <a:endParaRPr lang="zh-CN" altLang="en-US" sz="28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3" name="矩形 4">
            <a:extLst>
              <a:ext uri="{FF2B5EF4-FFF2-40B4-BE49-F238E27FC236}">
                <a16:creationId xmlns:a16="http://schemas.microsoft.com/office/drawing/2014/main" id="{100F33F4-CF6B-8147-9595-B2F1FBD34EBE}"/>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5" name="矩形 4">
            <a:extLst>
              <a:ext uri="{FF2B5EF4-FFF2-40B4-BE49-F238E27FC236}">
                <a16:creationId xmlns:a16="http://schemas.microsoft.com/office/drawing/2014/main" id="{0A1D7F8A-528E-CD76-89DE-6E3D9888E443}"/>
              </a:ext>
            </a:extLst>
          </p:cNvPr>
          <p:cNvSpPr/>
          <p:nvPr/>
        </p:nvSpPr>
        <p:spPr>
          <a:xfrm>
            <a:off x="8337248"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sp>
        <p:nvSpPr>
          <p:cNvPr id="7" name="TextBox 6">
            <a:extLst>
              <a:ext uri="{FF2B5EF4-FFF2-40B4-BE49-F238E27FC236}">
                <a16:creationId xmlns:a16="http://schemas.microsoft.com/office/drawing/2014/main" id="{53240ADD-E140-4028-E406-4C58EF288F9A}"/>
              </a:ext>
            </a:extLst>
          </p:cNvPr>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8" name="TextBox 7">
            <a:extLst>
              <a:ext uri="{FF2B5EF4-FFF2-40B4-BE49-F238E27FC236}">
                <a16:creationId xmlns:a16="http://schemas.microsoft.com/office/drawing/2014/main" id="{D5C0680B-27ED-8615-4AD8-A9FDD139D4E7}"/>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9" name="TextBox 9">
            <a:extLst>
              <a:ext uri="{FF2B5EF4-FFF2-40B4-BE49-F238E27FC236}">
                <a16:creationId xmlns:a16="http://schemas.microsoft.com/office/drawing/2014/main" id="{32A60DBD-6CDE-580C-B10B-2B5382688157}"/>
              </a:ext>
            </a:extLst>
          </p:cNvPr>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项目实</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rPr>
              <a:t>现</a:t>
            </a:r>
          </a:p>
        </p:txBody>
      </p:sp>
      <p:sp>
        <p:nvSpPr>
          <p:cNvPr id="11" name="TextBox 10">
            <a:extLst>
              <a:ext uri="{FF2B5EF4-FFF2-40B4-BE49-F238E27FC236}">
                <a16:creationId xmlns:a16="http://schemas.microsoft.com/office/drawing/2014/main" id="{AD7FB4D0-D908-32AD-CF03-8C671D3C0859}"/>
              </a:ext>
            </a:extLst>
          </p:cNvPr>
          <p:cNvSpPr txBox="1"/>
          <p:nvPr/>
        </p:nvSpPr>
        <p:spPr>
          <a:xfrm>
            <a:off x="8480349" y="215904"/>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latin typeface="Arial" panose="020B0604020202020204" pitchFamily="34" charset="0"/>
                <a:ea typeface="微软雅黑" panose="020B0503020204020204" pitchFamily="34" charset="-122"/>
              </a:rPr>
              <a:t>项目测试</a:t>
            </a:r>
          </a:p>
        </p:txBody>
      </p:sp>
      <p:sp>
        <p:nvSpPr>
          <p:cNvPr id="12" name="TextBox 11">
            <a:extLst>
              <a:ext uri="{FF2B5EF4-FFF2-40B4-BE49-F238E27FC236}">
                <a16:creationId xmlns:a16="http://schemas.microsoft.com/office/drawing/2014/main" id="{28B34C65-2394-02C7-7B6A-1ABE1CE0C284}"/>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项目总结</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cxnSp>
        <p:nvCxnSpPr>
          <p:cNvPr id="13" name="直接连接符 12">
            <a:extLst>
              <a:ext uri="{FF2B5EF4-FFF2-40B4-BE49-F238E27FC236}">
                <a16:creationId xmlns:a16="http://schemas.microsoft.com/office/drawing/2014/main" id="{1919E216-AA24-CF6B-FAE6-61B00099E5AE}"/>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4663168E-496E-2831-C44C-15C6E658B955}"/>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5C44894D-AC3D-570C-E5E2-EBA5D1005788}"/>
              </a:ext>
            </a:extLst>
          </p:cNvPr>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9" name="图片 18">
            <a:extLst>
              <a:ext uri="{FF2B5EF4-FFF2-40B4-BE49-F238E27FC236}">
                <a16:creationId xmlns:a16="http://schemas.microsoft.com/office/drawing/2014/main" id="{6DB0A041-C644-2FA7-958B-AA7F1C169933}"/>
              </a:ext>
            </a:extLst>
          </p:cNvPr>
          <p:cNvPicPr>
            <a:picLocks noChangeAspect="1"/>
          </p:cNvPicPr>
          <p:nvPr/>
        </p:nvPicPr>
        <p:blipFill rotWithShape="1">
          <a:blip r:embed="rId3"/>
          <a:srcRect t="29956" r="-277"/>
          <a:stretch>
            <a:fillRect/>
          </a:stretch>
        </p:blipFill>
        <p:spPr>
          <a:xfrm>
            <a:off x="195620" y="89117"/>
            <a:ext cx="2766644" cy="613765"/>
          </a:xfrm>
          <a:prstGeom prst="rect">
            <a:avLst/>
          </a:prstGeom>
        </p:spPr>
      </p:pic>
      <p:pic>
        <p:nvPicPr>
          <p:cNvPr id="2" name="图片 1">
            <a:extLst>
              <a:ext uri="{FF2B5EF4-FFF2-40B4-BE49-F238E27FC236}">
                <a16:creationId xmlns:a16="http://schemas.microsoft.com/office/drawing/2014/main" id="{81C31A4B-6072-0186-54B6-05FA5BBE849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4990744" y="1768020"/>
            <a:ext cx="6496443" cy="4408648"/>
          </a:xfrm>
          <a:prstGeom prst="rect">
            <a:avLst/>
          </a:prstGeom>
        </p:spPr>
      </p:pic>
      <p:sp>
        <p:nvSpPr>
          <p:cNvPr id="16" name="文本框 15">
            <a:extLst>
              <a:ext uri="{FF2B5EF4-FFF2-40B4-BE49-F238E27FC236}">
                <a16:creationId xmlns:a16="http://schemas.microsoft.com/office/drawing/2014/main" id="{F7058793-439A-80F7-13A3-D22BCBC75CB6}"/>
              </a:ext>
            </a:extLst>
          </p:cNvPr>
          <p:cNvSpPr txBox="1"/>
          <p:nvPr/>
        </p:nvSpPr>
        <p:spPr>
          <a:xfrm>
            <a:off x="704813" y="2182518"/>
            <a:ext cx="3851329" cy="3477875"/>
          </a:xfrm>
          <a:prstGeom prst="rect">
            <a:avLst/>
          </a:prstGeom>
          <a:noFill/>
        </p:spPr>
        <p:txBody>
          <a:bodyPr wrap="square">
            <a:spAutoFit/>
          </a:bodyPr>
          <a:lstStyle/>
          <a:p>
            <a:r>
              <a:rPr lang="zh-CN" altLang="zh-CN" sz="2000" b="1" dirty="0"/>
              <a:t>Dense 模型按层顺序访问权重。内存不足时，部分权重无法持续驻留，会被反复从 SSD 读取，增加 I/O 等待。</a:t>
            </a:r>
          </a:p>
          <a:p>
            <a:endParaRPr lang="en-US" altLang="zh-CN" sz="2000" b="1"/>
          </a:p>
          <a:p>
            <a:r>
              <a:rPr lang="zh-CN" altLang="zh-CN" sz="2000" b="1"/>
              <a:t>我</a:t>
            </a:r>
            <a:r>
              <a:rPr lang="zh-CN" altLang="zh-CN" sz="2000" b="1" dirty="0"/>
              <a:t>们利用这一固定访问规律维护有限的层工作集，使当前需要的权重尽量保持驻留。实测权重读取量</a:t>
            </a:r>
            <a:r>
              <a:rPr lang="zh-CN" altLang="zh-CN" sz="2000" b="1" dirty="0">
                <a:solidFill>
                  <a:srgbClr val="FF0000"/>
                </a:solidFill>
              </a:rPr>
              <a:t>降低 77.2%</a:t>
            </a:r>
            <a:r>
              <a:rPr lang="zh-CN" altLang="zh-CN" sz="2000" b="1" dirty="0"/>
              <a:t>，I/O 等待</a:t>
            </a:r>
            <a:r>
              <a:rPr lang="zh-CN" altLang="zh-CN" sz="2000" b="1" dirty="0">
                <a:solidFill>
                  <a:srgbClr val="FF0000"/>
                </a:solidFill>
              </a:rPr>
              <a:t>降低 74.2%</a:t>
            </a:r>
            <a:r>
              <a:rPr lang="zh-CN" altLang="zh-CN" sz="2000" b="1" dirty="0"/>
              <a:t>，推理吞吐提升至原来的 </a:t>
            </a:r>
            <a:r>
              <a:rPr lang="zh-CN" altLang="zh-CN" sz="2000" b="1" dirty="0">
                <a:solidFill>
                  <a:srgbClr val="FF0000"/>
                </a:solidFill>
              </a:rPr>
              <a:t>2.93 倍</a:t>
            </a:r>
            <a:r>
              <a:rPr lang="zh-CN" altLang="zh-CN" sz="2000" b="1" dirty="0"/>
              <a:t>。</a:t>
            </a:r>
          </a:p>
        </p:txBody>
      </p:sp>
    </p:spTree>
    <p:extLst>
      <p:ext uri="{BB962C8B-B14F-4D97-AF65-F5344CB8AC3E}">
        <p14:creationId xmlns:p14="http://schemas.microsoft.com/office/powerpoint/2010/main" val="27682780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EE2DC-0887-834D-795E-36F00D8A8CD3}"/>
            </a:ext>
          </a:extLst>
        </p:cNvPr>
        <p:cNvGrpSpPr/>
        <p:nvPr/>
      </p:nvGrpSpPr>
      <p:grpSpPr>
        <a:xfrm>
          <a:off x="0" y="0"/>
          <a:ext cx="0" cy="0"/>
          <a:chOff x="0" y="0"/>
          <a:chExt cx="0" cy="0"/>
        </a:xfrm>
      </p:grpSpPr>
      <p:sp>
        <p:nvSpPr>
          <p:cNvPr id="35" name="TextBox 6">
            <a:extLst>
              <a:ext uri="{FF2B5EF4-FFF2-40B4-BE49-F238E27FC236}">
                <a16:creationId xmlns:a16="http://schemas.microsoft.com/office/drawing/2014/main" id="{051223FC-A1DD-F5F9-03B5-855BB1AC710A}"/>
              </a:ext>
            </a:extLst>
          </p:cNvPr>
          <p:cNvSpPr txBox="1"/>
          <p:nvPr/>
        </p:nvSpPr>
        <p:spPr>
          <a:xfrm>
            <a:off x="552848" y="1077092"/>
            <a:ext cx="4033666" cy="527825"/>
          </a:xfrm>
          <a:prstGeom prst="rect">
            <a:avLst/>
          </a:prstGeom>
          <a:noFill/>
        </p:spPr>
        <p:txBody>
          <a:bodyPr wrap="square" lIns="0" tIns="48000" rIns="0" bIns="48000" rtlCol="0">
            <a:spAutoFit/>
          </a:bodyPr>
          <a:lstStyle/>
          <a:p>
            <a:pPr algn="ct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4.3.3</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风险感知的权重锁定</a:t>
            </a:r>
          </a:p>
        </p:txBody>
      </p:sp>
      <p:sp>
        <p:nvSpPr>
          <p:cNvPr id="10" name="文本框 9">
            <a:extLst>
              <a:ext uri="{FF2B5EF4-FFF2-40B4-BE49-F238E27FC236}">
                <a16:creationId xmlns:a16="http://schemas.microsoft.com/office/drawing/2014/main" id="{086B2CA0-16F4-BFDD-872E-133A1916AD24}"/>
              </a:ext>
            </a:extLst>
          </p:cNvPr>
          <p:cNvSpPr txBox="1"/>
          <p:nvPr/>
        </p:nvSpPr>
        <p:spPr>
          <a:xfrm>
            <a:off x="552848" y="1890009"/>
            <a:ext cx="4671881" cy="4093428"/>
          </a:xfrm>
          <a:prstGeom prst="rect">
            <a:avLst/>
          </a:prstGeom>
          <a:noFill/>
        </p:spPr>
        <p:txBody>
          <a:bodyPr wrap="square">
            <a:spAutoFit/>
          </a:bodyPr>
          <a:lstStyle/>
          <a:p>
            <a:r>
              <a:rPr lang="zh-CN" altLang="en-US" sz="2000" b="1">
                <a:latin typeface="Arial" panose="020B0604020202020204" pitchFamily="34" charset="0"/>
                <a:ea typeface="微软雅黑" panose="020B0503020204020204" pitchFamily="34" charset="-122"/>
              </a:rPr>
              <a:t>增加权重驻留可以减少重复读盘，但也会占用更多运行时内存。内存限制较紧时，单纯扩大驻留范围反而可能导致内存溢出。</a:t>
            </a:r>
          </a:p>
          <a:p>
            <a:endParaRPr lang="en-US" altLang="zh-CN" sz="2000" b="1">
              <a:latin typeface="Arial" panose="020B0604020202020204" pitchFamily="34" charset="0"/>
              <a:ea typeface="微软雅黑" panose="020B0503020204020204" pitchFamily="34" charset="-122"/>
            </a:endParaRPr>
          </a:p>
          <a:p>
            <a:r>
              <a:rPr lang="zh-CN" altLang="en-US" sz="2000" b="1">
                <a:latin typeface="Arial" panose="020B0604020202020204" pitchFamily="34" charset="0"/>
                <a:ea typeface="微软雅黑" panose="020B0503020204020204" pitchFamily="34" charset="-122"/>
              </a:rPr>
              <a:t>在 </a:t>
            </a:r>
            <a:r>
              <a:rPr lang="en-US" altLang="zh-CN" sz="2000" b="1">
                <a:latin typeface="Arial" panose="020B0604020202020204" pitchFamily="34" charset="0"/>
                <a:ea typeface="微软雅黑" panose="020B0503020204020204" pitchFamily="34" charset="-122"/>
              </a:rPr>
              <a:t>2000 MB </a:t>
            </a:r>
            <a:r>
              <a:rPr lang="zh-CN" altLang="en-US" sz="2000" b="1">
                <a:latin typeface="Arial" panose="020B0604020202020204" pitchFamily="34" charset="0"/>
                <a:ea typeface="微软雅黑" panose="020B0503020204020204" pitchFamily="34" charset="-122"/>
              </a:rPr>
              <a:t>内存上限下，最大驻留策略 </a:t>
            </a:r>
            <a:r>
              <a:rPr lang="en-US" altLang="zh-CN" sz="2000" b="1">
                <a:latin typeface="Arial" panose="020B0604020202020204" pitchFamily="34" charset="0"/>
                <a:ea typeface="微软雅黑" panose="020B0503020204020204" pitchFamily="34" charset="-122"/>
              </a:rPr>
              <a:t>3/3 </a:t>
            </a:r>
            <a:r>
              <a:rPr lang="zh-CN" altLang="en-US" sz="2000" b="1">
                <a:latin typeface="Arial" panose="020B0604020202020204" pitchFamily="34" charset="0"/>
                <a:ea typeface="微软雅黑" panose="020B0503020204020204" pitchFamily="34" charset="-122"/>
              </a:rPr>
              <a:t>次发生内存溢出；风险感知策略能够</a:t>
            </a:r>
            <a:r>
              <a:rPr lang="zh-CN" altLang="en-US" sz="2000" b="1">
                <a:solidFill>
                  <a:srgbClr val="FF0000"/>
                </a:solidFill>
                <a:latin typeface="Arial" panose="020B0604020202020204" pitchFamily="34" charset="0"/>
                <a:ea typeface="微软雅黑" panose="020B0503020204020204" pitchFamily="34" charset="-122"/>
              </a:rPr>
              <a:t>稳定运行</a:t>
            </a:r>
            <a:r>
              <a:rPr lang="zh-CN" altLang="en-US" sz="2000" b="1">
                <a:latin typeface="Arial" panose="020B0604020202020204" pitchFamily="34" charset="0"/>
                <a:ea typeface="微软雅黑" panose="020B0503020204020204" pitchFamily="34" charset="-122"/>
              </a:rPr>
              <a:t>，并较原自动策略进一步减少</a:t>
            </a:r>
            <a:r>
              <a:rPr lang="zh-CN" altLang="en-US" sz="2000" b="1">
                <a:solidFill>
                  <a:srgbClr val="FF0000"/>
                </a:solidFill>
                <a:latin typeface="Arial" panose="020B0604020202020204" pitchFamily="34" charset="0"/>
                <a:ea typeface="微软雅黑" panose="020B0503020204020204" pitchFamily="34" charset="-122"/>
              </a:rPr>
              <a:t>约 </a:t>
            </a:r>
            <a:r>
              <a:rPr lang="en-US" altLang="zh-CN" sz="2000" b="1">
                <a:solidFill>
                  <a:srgbClr val="FF0000"/>
                </a:solidFill>
                <a:latin typeface="Arial" panose="020B0604020202020204" pitchFamily="34" charset="0"/>
                <a:ea typeface="微软雅黑" panose="020B0503020204020204" pitchFamily="34" charset="-122"/>
              </a:rPr>
              <a:t>300 MiB/Token </a:t>
            </a:r>
            <a:r>
              <a:rPr lang="zh-CN" altLang="en-US" sz="2000" b="1">
                <a:latin typeface="Arial" panose="020B0604020202020204" pitchFamily="34" charset="0"/>
                <a:ea typeface="微软雅黑" panose="020B0503020204020204" pitchFamily="34" charset="-122"/>
              </a:rPr>
              <a:t>的权重读取。</a:t>
            </a:r>
          </a:p>
          <a:p>
            <a:endParaRPr lang="en-US" altLang="zh-CN" sz="2000" b="1">
              <a:latin typeface="Arial" panose="020B0604020202020204" pitchFamily="34" charset="0"/>
              <a:ea typeface="微软雅黑" panose="020B0503020204020204" pitchFamily="34" charset="-122"/>
            </a:endParaRPr>
          </a:p>
          <a:p>
            <a:r>
              <a:rPr lang="zh-CN" altLang="en-US" sz="2000" b="1">
                <a:latin typeface="Arial" panose="020B0604020202020204" pitchFamily="34" charset="0"/>
                <a:ea typeface="微软雅黑" panose="020B0503020204020204" pitchFamily="34" charset="-122"/>
              </a:rPr>
              <a:t>因此，我们根据当前可用内存预留安全空间，在保证稳定运行的前提下尽量保留高价值权重。</a:t>
            </a:r>
          </a:p>
        </p:txBody>
      </p:sp>
      <p:pic>
        <p:nvPicPr>
          <p:cNvPr id="4" name="图片 3">
            <a:extLst>
              <a:ext uri="{FF2B5EF4-FFF2-40B4-BE49-F238E27FC236}">
                <a16:creationId xmlns:a16="http://schemas.microsoft.com/office/drawing/2014/main" id="{47E639C2-4893-A1C9-2D2A-790BE56A4B2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742909" y="1759808"/>
            <a:ext cx="5665320" cy="4318321"/>
          </a:xfrm>
          <a:prstGeom prst="rect">
            <a:avLst/>
          </a:prstGeom>
        </p:spPr>
      </p:pic>
      <p:sp>
        <p:nvSpPr>
          <p:cNvPr id="3" name="矩形 4">
            <a:extLst>
              <a:ext uri="{FF2B5EF4-FFF2-40B4-BE49-F238E27FC236}">
                <a16:creationId xmlns:a16="http://schemas.microsoft.com/office/drawing/2014/main" id="{B63F0977-F70F-605E-3BEE-DCE9F299A790}"/>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5" name="矩形 4">
            <a:extLst>
              <a:ext uri="{FF2B5EF4-FFF2-40B4-BE49-F238E27FC236}">
                <a16:creationId xmlns:a16="http://schemas.microsoft.com/office/drawing/2014/main" id="{48E75A1D-1979-9CD2-3F67-1604B393AC62}"/>
              </a:ext>
            </a:extLst>
          </p:cNvPr>
          <p:cNvSpPr/>
          <p:nvPr/>
        </p:nvSpPr>
        <p:spPr>
          <a:xfrm>
            <a:off x="8337248"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sp>
        <p:nvSpPr>
          <p:cNvPr id="7" name="TextBox 6">
            <a:extLst>
              <a:ext uri="{FF2B5EF4-FFF2-40B4-BE49-F238E27FC236}">
                <a16:creationId xmlns:a16="http://schemas.microsoft.com/office/drawing/2014/main" id="{8325EE81-A8CD-46FC-7B59-E5B7779B6D14}"/>
              </a:ext>
            </a:extLst>
          </p:cNvPr>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8" name="TextBox 7">
            <a:extLst>
              <a:ext uri="{FF2B5EF4-FFF2-40B4-BE49-F238E27FC236}">
                <a16:creationId xmlns:a16="http://schemas.microsoft.com/office/drawing/2014/main" id="{5A809F71-2185-52D0-58D7-4F5B0C8896F0}"/>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9" name="TextBox 9">
            <a:extLst>
              <a:ext uri="{FF2B5EF4-FFF2-40B4-BE49-F238E27FC236}">
                <a16:creationId xmlns:a16="http://schemas.microsoft.com/office/drawing/2014/main" id="{84D6BC5E-AD89-8A09-120E-1E5FAD24A81D}"/>
              </a:ext>
            </a:extLst>
          </p:cNvPr>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项目实</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rPr>
              <a:t>现</a:t>
            </a:r>
          </a:p>
        </p:txBody>
      </p:sp>
      <p:sp>
        <p:nvSpPr>
          <p:cNvPr id="11" name="TextBox 10">
            <a:extLst>
              <a:ext uri="{FF2B5EF4-FFF2-40B4-BE49-F238E27FC236}">
                <a16:creationId xmlns:a16="http://schemas.microsoft.com/office/drawing/2014/main" id="{B6AD1B8B-48A9-0D22-8A46-10C8A4213BB1}"/>
              </a:ext>
            </a:extLst>
          </p:cNvPr>
          <p:cNvSpPr txBox="1"/>
          <p:nvPr/>
        </p:nvSpPr>
        <p:spPr>
          <a:xfrm>
            <a:off x="8480349" y="215904"/>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latin typeface="Arial" panose="020B0604020202020204" pitchFamily="34" charset="0"/>
                <a:ea typeface="微软雅黑" panose="020B0503020204020204" pitchFamily="34" charset="-122"/>
              </a:rPr>
              <a:t>项目测试</a:t>
            </a:r>
          </a:p>
        </p:txBody>
      </p:sp>
      <p:sp>
        <p:nvSpPr>
          <p:cNvPr id="12" name="TextBox 11">
            <a:extLst>
              <a:ext uri="{FF2B5EF4-FFF2-40B4-BE49-F238E27FC236}">
                <a16:creationId xmlns:a16="http://schemas.microsoft.com/office/drawing/2014/main" id="{E4A4B5FF-5232-6F4A-F216-3E491D8755F5}"/>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项目总结</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cxnSp>
        <p:nvCxnSpPr>
          <p:cNvPr id="13" name="直接连接符 12">
            <a:extLst>
              <a:ext uri="{FF2B5EF4-FFF2-40B4-BE49-F238E27FC236}">
                <a16:creationId xmlns:a16="http://schemas.microsoft.com/office/drawing/2014/main" id="{A497E34A-2F72-54BB-F9A4-A0A7BE3181A6}"/>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BB72357C-CE35-C49F-8A5C-1D6570F0572B}"/>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DF585931-AED3-E892-3550-9F2E3BE1C4D4}"/>
              </a:ext>
            </a:extLst>
          </p:cNvPr>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9" name="图片 18">
            <a:extLst>
              <a:ext uri="{FF2B5EF4-FFF2-40B4-BE49-F238E27FC236}">
                <a16:creationId xmlns:a16="http://schemas.microsoft.com/office/drawing/2014/main" id="{B2BF7493-D03A-E987-BC05-C4F635814965}"/>
              </a:ext>
            </a:extLst>
          </p:cNvPr>
          <p:cNvPicPr>
            <a:picLocks noChangeAspect="1"/>
          </p:cNvPicPr>
          <p:nvPr/>
        </p:nvPicPr>
        <p:blipFill rotWithShape="1">
          <a:blip r:embed="rId4"/>
          <a:srcRect t="29956" r="-277"/>
          <a:stretch>
            <a:fillRect/>
          </a:stretch>
        </p:blipFill>
        <p:spPr>
          <a:xfrm>
            <a:off x="195620" y="89117"/>
            <a:ext cx="2766644" cy="613765"/>
          </a:xfrm>
          <a:prstGeom prst="rect">
            <a:avLst/>
          </a:prstGeom>
        </p:spPr>
      </p:pic>
    </p:spTree>
    <p:extLst>
      <p:ext uri="{BB962C8B-B14F-4D97-AF65-F5344CB8AC3E}">
        <p14:creationId xmlns:p14="http://schemas.microsoft.com/office/powerpoint/2010/main" val="20640014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 name="TextBox 6"/>
          <p:cNvSpPr txBox="1"/>
          <p:nvPr/>
        </p:nvSpPr>
        <p:spPr>
          <a:xfrm>
            <a:off x="486229" y="1122598"/>
            <a:ext cx="4499428" cy="527825"/>
          </a:xfrm>
          <a:prstGeom prst="rect">
            <a:avLst/>
          </a:prstGeom>
          <a:noFill/>
        </p:spPr>
        <p:txBody>
          <a:bodyPr wrap="square" lIns="0" tIns="48000" rIns="0" bIns="48000" rtlCol="0">
            <a:spAutoFit/>
          </a:bodyPr>
          <a:lstStyle/>
          <a:p>
            <a:pPr algn="ct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4.4.1 MoE </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专家工作集边界</a:t>
            </a:r>
            <a:endParaRPr lang="zh-CN" altLang="en-US" sz="2800" b="1" dirty="0">
              <a:solidFill>
                <a:schemeClr val="tx1">
                  <a:lumMod val="65000"/>
                  <a:lumOff val="35000"/>
                </a:schemeClr>
              </a:solidFill>
              <a:latin typeface="Arial" panose="020B0604020202020204" pitchFamily="34" charset="0"/>
              <a:ea typeface="微软雅黑" panose="020B0503020204020204" pitchFamily="34" charset="-122"/>
            </a:endParaRPr>
          </a:p>
        </p:txBody>
      </p:sp>
      <p:pic>
        <p:nvPicPr>
          <p:cNvPr id="4" name="图片 3">
            <a:extLst>
              <a:ext uri="{FF2B5EF4-FFF2-40B4-BE49-F238E27FC236}">
                <a16:creationId xmlns:a16="http://schemas.microsoft.com/office/drawing/2014/main" id="{37DD2430-770C-D0F0-7927-800680B025E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560064" y="1927272"/>
            <a:ext cx="5711566" cy="3944712"/>
          </a:xfrm>
          <a:prstGeom prst="rect">
            <a:avLst/>
          </a:prstGeom>
        </p:spPr>
      </p:pic>
      <p:sp>
        <p:nvSpPr>
          <p:cNvPr id="7" name="文本框 6">
            <a:extLst>
              <a:ext uri="{FF2B5EF4-FFF2-40B4-BE49-F238E27FC236}">
                <a16:creationId xmlns:a16="http://schemas.microsoft.com/office/drawing/2014/main" id="{C3BE69A9-E8D6-AA4E-6B1A-C74CC7FAD0AE}"/>
              </a:ext>
            </a:extLst>
          </p:cNvPr>
          <p:cNvSpPr txBox="1"/>
          <p:nvPr/>
        </p:nvSpPr>
        <p:spPr>
          <a:xfrm>
            <a:off x="661750" y="1852914"/>
            <a:ext cx="4499428" cy="4093428"/>
          </a:xfrm>
          <a:prstGeom prst="rect">
            <a:avLst/>
          </a:prstGeom>
          <a:noFill/>
        </p:spPr>
        <p:txBody>
          <a:bodyPr wrap="square">
            <a:spAutoFit/>
          </a:bodyPr>
          <a:lstStyle/>
          <a:p>
            <a:r>
              <a:rPr lang="en-US" altLang="zh-CN" sz="2000" b="1">
                <a:latin typeface="Arial" panose="020B0604020202020204" pitchFamily="34" charset="0"/>
                <a:ea typeface="微软雅黑" panose="020B0503020204020204" pitchFamily="34" charset="-122"/>
              </a:rPr>
              <a:t>MoE </a:t>
            </a:r>
            <a:r>
              <a:rPr lang="zh-CN" altLang="en-US" sz="2000" b="1">
                <a:latin typeface="Arial" panose="020B0604020202020204" pitchFamily="34" charset="0"/>
                <a:ea typeface="微软雅黑" panose="020B0503020204020204" pitchFamily="34" charset="-122"/>
              </a:rPr>
              <a:t>模型每次只激活少量专家，因此无需让全部专家长期占用内存。缓存较小时，活跃专家会被反复驱逐和重新读取，造成明显的 </a:t>
            </a:r>
            <a:r>
              <a:rPr lang="en-US" altLang="zh-CN" sz="2000" b="1">
                <a:latin typeface="Arial" panose="020B0604020202020204" pitchFamily="34" charset="0"/>
                <a:ea typeface="微软雅黑" panose="020B0503020204020204" pitchFamily="34" charset="-122"/>
              </a:rPr>
              <a:t>I/O </a:t>
            </a:r>
            <a:r>
              <a:rPr lang="zh-CN" altLang="en-US" sz="2000" b="1">
                <a:latin typeface="Arial" panose="020B0604020202020204" pitchFamily="34" charset="0"/>
                <a:ea typeface="微软雅黑" panose="020B0503020204020204" pitchFamily="34" charset="-122"/>
              </a:rPr>
              <a:t>抖动。</a:t>
            </a:r>
          </a:p>
          <a:p>
            <a:endParaRPr lang="en-US" altLang="zh-CN" sz="2000" b="1">
              <a:latin typeface="Arial" panose="020B0604020202020204" pitchFamily="34" charset="0"/>
              <a:ea typeface="微软雅黑" panose="020B0503020204020204" pitchFamily="34" charset="-122"/>
            </a:endParaRPr>
          </a:p>
          <a:p>
            <a:r>
              <a:rPr lang="zh-CN" altLang="en-US" sz="2000" b="1">
                <a:latin typeface="Arial" panose="020B0604020202020204" pitchFamily="34" charset="0"/>
                <a:ea typeface="微软雅黑" panose="020B0503020204020204" pitchFamily="34" charset="-122"/>
              </a:rPr>
              <a:t>当专家缓存增至约 </a:t>
            </a:r>
            <a:r>
              <a:rPr lang="en-US" altLang="zh-CN" sz="2000" b="1">
                <a:latin typeface="Arial" panose="020B0604020202020204" pitchFamily="34" charset="0"/>
                <a:ea typeface="微软雅黑" panose="020B0503020204020204" pitchFamily="34" charset="-122"/>
              </a:rPr>
              <a:t>2432 MB</a:t>
            </a:r>
            <a:r>
              <a:rPr lang="zh-CN" altLang="en-US" sz="2000" b="1">
                <a:latin typeface="Arial" panose="020B0604020202020204" pitchFamily="34" charset="0"/>
                <a:ea typeface="微软雅黑" panose="020B0503020204020204" pitchFamily="34" charset="-122"/>
              </a:rPr>
              <a:t>，驱逐次数由 </a:t>
            </a:r>
            <a:r>
              <a:rPr lang="en-US" altLang="zh-CN" sz="2000" b="1">
                <a:latin typeface="Arial" panose="020B0604020202020204" pitchFamily="34" charset="0"/>
                <a:ea typeface="微软雅黑" panose="020B0503020204020204" pitchFamily="34" charset="-122"/>
              </a:rPr>
              <a:t>7392 </a:t>
            </a:r>
            <a:r>
              <a:rPr lang="zh-CN" altLang="en-US" sz="2000" b="1">
                <a:latin typeface="Arial" panose="020B0604020202020204" pitchFamily="34" charset="0"/>
                <a:ea typeface="微软雅黑" panose="020B0503020204020204" pitchFamily="34" charset="-122"/>
              </a:rPr>
              <a:t>次</a:t>
            </a:r>
            <a:r>
              <a:rPr lang="zh-CN" altLang="en-US" sz="2000" b="1">
                <a:solidFill>
                  <a:srgbClr val="FF0000"/>
                </a:solidFill>
                <a:latin typeface="Arial" panose="020B0604020202020204" pitchFamily="34" charset="0"/>
                <a:ea typeface="微软雅黑" panose="020B0503020204020204" pitchFamily="34" charset="-122"/>
              </a:rPr>
              <a:t>降至 </a:t>
            </a:r>
            <a:r>
              <a:rPr lang="en-US" altLang="zh-CN" sz="2000" b="1">
                <a:solidFill>
                  <a:srgbClr val="FF0000"/>
                </a:solidFill>
                <a:latin typeface="Arial" panose="020B0604020202020204" pitchFamily="34" charset="0"/>
                <a:ea typeface="微软雅黑" panose="020B0503020204020204" pitchFamily="34" charset="-122"/>
              </a:rPr>
              <a:t>0</a:t>
            </a:r>
            <a:r>
              <a:rPr lang="zh-CN" altLang="en-US" sz="2000" b="1">
                <a:latin typeface="Arial" panose="020B0604020202020204" pitchFamily="34" charset="0"/>
                <a:ea typeface="微软雅黑" panose="020B0503020204020204" pitchFamily="34" charset="-122"/>
              </a:rPr>
              <a:t>，每 </a:t>
            </a:r>
            <a:r>
              <a:rPr lang="en-US" altLang="zh-CN" sz="2000" b="1">
                <a:latin typeface="Arial" panose="020B0604020202020204" pitchFamily="34" charset="0"/>
                <a:ea typeface="微软雅黑" panose="020B0503020204020204" pitchFamily="34" charset="-122"/>
              </a:rPr>
              <a:t>Token </a:t>
            </a:r>
            <a:r>
              <a:rPr lang="zh-CN" altLang="en-US" sz="2000" b="1">
                <a:latin typeface="Arial" panose="020B0604020202020204" pitchFamily="34" charset="0"/>
                <a:ea typeface="微软雅黑" panose="020B0503020204020204" pitchFamily="34" charset="-122"/>
              </a:rPr>
              <a:t>权重读取量由 </a:t>
            </a:r>
            <a:r>
              <a:rPr lang="en-US" altLang="zh-CN" sz="2000" b="1">
                <a:latin typeface="Arial" panose="020B0604020202020204" pitchFamily="34" charset="0"/>
                <a:ea typeface="微软雅黑" panose="020B0503020204020204" pitchFamily="34" charset="-122"/>
              </a:rPr>
              <a:t>598 MiB </a:t>
            </a:r>
            <a:r>
              <a:rPr lang="zh-CN" altLang="en-US" sz="2000" b="1">
                <a:solidFill>
                  <a:srgbClr val="FF0000"/>
                </a:solidFill>
                <a:latin typeface="Arial" panose="020B0604020202020204" pitchFamily="34" charset="0"/>
                <a:ea typeface="微软雅黑" panose="020B0503020204020204" pitchFamily="34" charset="-122"/>
              </a:rPr>
              <a:t>降至接近 </a:t>
            </a:r>
            <a:r>
              <a:rPr lang="en-US" altLang="zh-CN" sz="2000" b="1">
                <a:solidFill>
                  <a:srgbClr val="FF0000"/>
                </a:solidFill>
                <a:latin typeface="Arial" panose="020B0604020202020204" pitchFamily="34" charset="0"/>
                <a:ea typeface="微软雅黑" panose="020B0503020204020204" pitchFamily="34" charset="-122"/>
              </a:rPr>
              <a:t>0</a:t>
            </a:r>
            <a:r>
              <a:rPr lang="zh-CN" altLang="en-US" sz="2000" b="1">
                <a:latin typeface="Arial" panose="020B0604020202020204" pitchFamily="34" charset="0"/>
                <a:ea typeface="微软雅黑" panose="020B0503020204020204" pitchFamily="34" charset="-122"/>
              </a:rPr>
              <a:t>，吞吐由 </a:t>
            </a:r>
            <a:r>
              <a:rPr lang="en-US" altLang="zh-CN" sz="2000" b="1">
                <a:latin typeface="Arial" panose="020B0604020202020204" pitchFamily="34" charset="0"/>
                <a:ea typeface="微软雅黑" panose="020B0503020204020204" pitchFamily="34" charset="-122"/>
              </a:rPr>
              <a:t>1.97 tok/s</a:t>
            </a:r>
            <a:r>
              <a:rPr lang="zh-CN" altLang="en-US" sz="2000" b="1">
                <a:solidFill>
                  <a:srgbClr val="FF0000"/>
                </a:solidFill>
                <a:latin typeface="Arial" panose="020B0604020202020204" pitchFamily="34" charset="0"/>
                <a:ea typeface="微软雅黑" panose="020B0503020204020204" pitchFamily="34" charset="-122"/>
              </a:rPr>
              <a:t>提升至 </a:t>
            </a:r>
            <a:r>
              <a:rPr lang="en-US" altLang="zh-CN" sz="2000" b="1">
                <a:solidFill>
                  <a:srgbClr val="FF0000"/>
                </a:solidFill>
                <a:latin typeface="Arial" panose="020B0604020202020204" pitchFamily="34" charset="0"/>
                <a:ea typeface="微软雅黑" panose="020B0503020204020204" pitchFamily="34" charset="-122"/>
              </a:rPr>
              <a:t>11.57 tok/s</a:t>
            </a:r>
            <a:r>
              <a:rPr lang="zh-CN" altLang="en-US" sz="2000" b="1">
                <a:latin typeface="Arial" panose="020B0604020202020204" pitchFamily="34" charset="0"/>
                <a:ea typeface="微软雅黑" panose="020B0503020204020204" pitchFamily="34" charset="-122"/>
              </a:rPr>
              <a:t>。</a:t>
            </a:r>
          </a:p>
          <a:p>
            <a:endParaRPr lang="en-US" altLang="zh-CN" sz="2000" b="1">
              <a:latin typeface="Arial" panose="020B0604020202020204" pitchFamily="34" charset="0"/>
              <a:ea typeface="微软雅黑" panose="020B0503020204020204" pitchFamily="34" charset="-122"/>
            </a:endParaRPr>
          </a:p>
          <a:p>
            <a:r>
              <a:rPr lang="zh-CN" altLang="en-US" sz="2000" b="1">
                <a:latin typeface="Arial" panose="020B0604020202020204" pitchFamily="34" charset="0"/>
                <a:ea typeface="微软雅黑" panose="020B0503020204020204" pitchFamily="34" charset="-122"/>
              </a:rPr>
              <a:t>说明有限缓存只要覆盖主要活跃专家，就能基本消除重复读盘，无需缓存全部专家。</a:t>
            </a:r>
          </a:p>
        </p:txBody>
      </p:sp>
      <p:sp>
        <p:nvSpPr>
          <p:cNvPr id="6" name="矩形 4">
            <a:extLst>
              <a:ext uri="{FF2B5EF4-FFF2-40B4-BE49-F238E27FC236}">
                <a16:creationId xmlns:a16="http://schemas.microsoft.com/office/drawing/2014/main" id="{1FB40A0B-51D1-608C-19F2-A907A581B238}"/>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8" name="矩形 7">
            <a:extLst>
              <a:ext uri="{FF2B5EF4-FFF2-40B4-BE49-F238E27FC236}">
                <a16:creationId xmlns:a16="http://schemas.microsoft.com/office/drawing/2014/main" id="{A5083CAF-F513-ACE3-95A8-6D96593BC166}"/>
              </a:ext>
            </a:extLst>
          </p:cNvPr>
          <p:cNvSpPr/>
          <p:nvPr/>
        </p:nvSpPr>
        <p:spPr>
          <a:xfrm>
            <a:off x="8337248"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sp>
        <p:nvSpPr>
          <p:cNvPr id="9" name="TextBox 6">
            <a:extLst>
              <a:ext uri="{FF2B5EF4-FFF2-40B4-BE49-F238E27FC236}">
                <a16:creationId xmlns:a16="http://schemas.microsoft.com/office/drawing/2014/main" id="{2129B508-F34A-F316-3582-16F146B9C8C6}"/>
              </a:ext>
            </a:extLst>
          </p:cNvPr>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0" name="TextBox 7">
            <a:extLst>
              <a:ext uri="{FF2B5EF4-FFF2-40B4-BE49-F238E27FC236}">
                <a16:creationId xmlns:a16="http://schemas.microsoft.com/office/drawing/2014/main" id="{9AB9211E-C3A4-07B5-BD10-FAD1C9863C7F}"/>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1" name="TextBox 9">
            <a:extLst>
              <a:ext uri="{FF2B5EF4-FFF2-40B4-BE49-F238E27FC236}">
                <a16:creationId xmlns:a16="http://schemas.microsoft.com/office/drawing/2014/main" id="{710B03AE-3D63-C066-D284-EB8EE6FDD148}"/>
              </a:ext>
            </a:extLst>
          </p:cNvPr>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项目实</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rPr>
              <a:t>现</a:t>
            </a:r>
          </a:p>
        </p:txBody>
      </p:sp>
      <p:sp>
        <p:nvSpPr>
          <p:cNvPr id="12" name="TextBox 10">
            <a:extLst>
              <a:ext uri="{FF2B5EF4-FFF2-40B4-BE49-F238E27FC236}">
                <a16:creationId xmlns:a16="http://schemas.microsoft.com/office/drawing/2014/main" id="{E11AA5D7-3C2C-6904-590C-331BFFAA846D}"/>
              </a:ext>
            </a:extLst>
          </p:cNvPr>
          <p:cNvSpPr txBox="1"/>
          <p:nvPr/>
        </p:nvSpPr>
        <p:spPr>
          <a:xfrm>
            <a:off x="8480349" y="215904"/>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latin typeface="Arial" panose="020B0604020202020204" pitchFamily="34" charset="0"/>
                <a:ea typeface="微软雅黑" panose="020B0503020204020204" pitchFamily="34" charset="-122"/>
              </a:rPr>
              <a:t>项目测试</a:t>
            </a:r>
          </a:p>
        </p:txBody>
      </p:sp>
      <p:sp>
        <p:nvSpPr>
          <p:cNvPr id="13" name="TextBox 11">
            <a:extLst>
              <a:ext uri="{FF2B5EF4-FFF2-40B4-BE49-F238E27FC236}">
                <a16:creationId xmlns:a16="http://schemas.microsoft.com/office/drawing/2014/main" id="{E4B1F185-C590-E20F-BE5C-4CC34E0F1506}"/>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项目总结</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cxnSp>
        <p:nvCxnSpPr>
          <p:cNvPr id="14" name="直接连接符 13">
            <a:extLst>
              <a:ext uri="{FF2B5EF4-FFF2-40B4-BE49-F238E27FC236}">
                <a16:creationId xmlns:a16="http://schemas.microsoft.com/office/drawing/2014/main" id="{6822DB38-7AB7-99E4-5C8C-5CC4DECDD035}"/>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FBFB5272-7A92-CAA9-32BA-1F6C72E068A6}"/>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13D5A7DC-4B0D-CE97-3F10-05BD661EB66A}"/>
              </a:ext>
            </a:extLst>
          </p:cNvPr>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 name="图片 19">
            <a:extLst>
              <a:ext uri="{FF2B5EF4-FFF2-40B4-BE49-F238E27FC236}">
                <a16:creationId xmlns:a16="http://schemas.microsoft.com/office/drawing/2014/main" id="{DF1AB3DE-B74C-5F17-11CC-91DCC2EFDCD1}"/>
              </a:ext>
            </a:extLst>
          </p:cNvPr>
          <p:cNvPicPr>
            <a:picLocks noChangeAspect="1"/>
          </p:cNvPicPr>
          <p:nvPr/>
        </p:nvPicPr>
        <p:blipFill rotWithShape="1">
          <a:blip r:embed="rId4"/>
          <a:srcRect t="29956" r="-277"/>
          <a:stretch>
            <a:fillRect/>
          </a:stretch>
        </p:blipFill>
        <p:spPr>
          <a:xfrm>
            <a:off x="195620" y="89117"/>
            <a:ext cx="2766644" cy="613765"/>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C7E5E-7542-63D1-90F9-0A29DD2B6063}"/>
            </a:ext>
          </a:extLst>
        </p:cNvPr>
        <p:cNvGrpSpPr/>
        <p:nvPr/>
      </p:nvGrpSpPr>
      <p:grpSpPr>
        <a:xfrm>
          <a:off x="0" y="0"/>
          <a:ext cx="0" cy="0"/>
          <a:chOff x="0" y="0"/>
          <a:chExt cx="0" cy="0"/>
        </a:xfrm>
      </p:grpSpPr>
      <p:sp>
        <p:nvSpPr>
          <p:cNvPr id="35" name="TextBox 6">
            <a:extLst>
              <a:ext uri="{FF2B5EF4-FFF2-40B4-BE49-F238E27FC236}">
                <a16:creationId xmlns:a16="http://schemas.microsoft.com/office/drawing/2014/main" id="{F8E084C8-3647-4D45-8146-BB10691DC4A1}"/>
              </a:ext>
            </a:extLst>
          </p:cNvPr>
          <p:cNvSpPr txBox="1"/>
          <p:nvPr/>
        </p:nvSpPr>
        <p:spPr>
          <a:xfrm>
            <a:off x="665434" y="1031955"/>
            <a:ext cx="4593660" cy="527825"/>
          </a:xfrm>
          <a:prstGeom prst="rect">
            <a:avLst/>
          </a:prstGeom>
          <a:noFill/>
        </p:spPr>
        <p:txBody>
          <a:bodyPr wrap="square" lIns="0" tIns="48000" rIns="0" bIns="48000" rtlCol="0">
            <a:spAutoFit/>
          </a:bodyPr>
          <a:lstStyle/>
          <a:p>
            <a:pPr algn="ct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4.4.2 MoE </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专家缓存自动预算</a:t>
            </a:r>
            <a:endParaRPr lang="zh-CN" altLang="en-US" sz="2800" b="1" dirty="0">
              <a:solidFill>
                <a:schemeClr val="tx1">
                  <a:lumMod val="65000"/>
                  <a:lumOff val="35000"/>
                </a:schemeClr>
              </a:solidFill>
              <a:latin typeface="Arial" panose="020B0604020202020204" pitchFamily="34" charset="0"/>
              <a:ea typeface="微软雅黑" panose="020B0503020204020204" pitchFamily="34" charset="-122"/>
            </a:endParaRPr>
          </a:p>
        </p:txBody>
      </p:sp>
      <p:pic>
        <p:nvPicPr>
          <p:cNvPr id="7" name="图片 6">
            <a:extLst>
              <a:ext uri="{FF2B5EF4-FFF2-40B4-BE49-F238E27FC236}">
                <a16:creationId xmlns:a16="http://schemas.microsoft.com/office/drawing/2014/main" id="{16D95C31-D25F-2C24-5648-E4997E422AD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616184" y="2010254"/>
            <a:ext cx="6103132" cy="3818120"/>
          </a:xfrm>
          <a:prstGeom prst="rect">
            <a:avLst/>
          </a:prstGeom>
        </p:spPr>
      </p:pic>
      <p:sp>
        <p:nvSpPr>
          <p:cNvPr id="9" name="文本框 8">
            <a:extLst>
              <a:ext uri="{FF2B5EF4-FFF2-40B4-BE49-F238E27FC236}">
                <a16:creationId xmlns:a16="http://schemas.microsoft.com/office/drawing/2014/main" id="{AA43519E-66AE-C71F-848C-F0406A8F268C}"/>
              </a:ext>
            </a:extLst>
          </p:cNvPr>
          <p:cNvSpPr txBox="1"/>
          <p:nvPr/>
        </p:nvSpPr>
        <p:spPr>
          <a:xfrm>
            <a:off x="665433" y="1799735"/>
            <a:ext cx="4411315" cy="4401205"/>
          </a:xfrm>
          <a:prstGeom prst="rect">
            <a:avLst/>
          </a:prstGeom>
          <a:noFill/>
        </p:spPr>
        <p:txBody>
          <a:bodyPr wrap="square">
            <a:spAutoFit/>
          </a:bodyPr>
          <a:lstStyle/>
          <a:p>
            <a:r>
              <a:rPr lang="zh-CN" altLang="en-US" sz="2000" b="1">
                <a:latin typeface="Arial" panose="020B0604020202020204" pitchFamily="34" charset="0"/>
                <a:ea typeface="微软雅黑" panose="020B0503020204020204" pitchFamily="34" charset="-122"/>
              </a:rPr>
              <a:t>固定的专家缓存大小难以同时适应活跃专家规模和严格的内存上限。我们根据活跃专家规模、运行时固定内存和安全余量，自动计算可用的专家缓存预算。</a:t>
            </a:r>
          </a:p>
          <a:p>
            <a:endParaRPr lang="en-US" altLang="zh-CN" sz="2000" b="1">
              <a:latin typeface="Arial" panose="020B0604020202020204" pitchFamily="34" charset="0"/>
              <a:ea typeface="微软雅黑" panose="020B0503020204020204" pitchFamily="34" charset="-122"/>
            </a:endParaRPr>
          </a:p>
          <a:p>
            <a:r>
              <a:rPr lang="zh-CN" altLang="en-US" sz="2000" b="1">
                <a:latin typeface="Arial" panose="020B0604020202020204" pitchFamily="34" charset="0"/>
                <a:ea typeface="微软雅黑" panose="020B0503020204020204" pitchFamily="34" charset="-122"/>
              </a:rPr>
              <a:t>在 </a:t>
            </a:r>
            <a:r>
              <a:rPr lang="en-US" altLang="zh-CN" sz="2000" b="1">
                <a:latin typeface="Arial" panose="020B0604020202020204" pitchFamily="34" charset="0"/>
                <a:ea typeface="微软雅黑" panose="020B0503020204020204" pitchFamily="34" charset="-122"/>
              </a:rPr>
              <a:t>1500 MB </a:t>
            </a:r>
            <a:r>
              <a:rPr lang="zh-CN" altLang="en-US" sz="2000" b="1">
                <a:latin typeface="Arial" panose="020B0604020202020204" pitchFamily="34" charset="0"/>
                <a:ea typeface="微软雅黑" panose="020B0503020204020204" pitchFamily="34" charset="-122"/>
              </a:rPr>
              <a:t>内存上限下，四组固定预算共 </a:t>
            </a:r>
            <a:r>
              <a:rPr lang="en-US" altLang="zh-CN" sz="2000" b="1">
                <a:latin typeface="Arial" panose="020B0604020202020204" pitchFamily="34" charset="0"/>
                <a:ea typeface="微软雅黑" panose="020B0503020204020204" pitchFamily="34" charset="-122"/>
              </a:rPr>
              <a:t>12 </a:t>
            </a:r>
            <a:r>
              <a:rPr lang="zh-CN" altLang="en-US" sz="2000" b="1">
                <a:latin typeface="Arial" panose="020B0604020202020204" pitchFamily="34" charset="0"/>
                <a:ea typeface="微软雅黑" panose="020B0503020204020204" pitchFamily="34" charset="-122"/>
              </a:rPr>
              <a:t>次测试全部发生内存溢出；自动规划得到 </a:t>
            </a:r>
            <a:r>
              <a:rPr lang="en-US" altLang="zh-CN" sz="2000" b="1">
                <a:latin typeface="Arial" panose="020B0604020202020204" pitchFamily="34" charset="0"/>
                <a:ea typeface="微软雅黑" panose="020B0503020204020204" pitchFamily="34" charset="-122"/>
              </a:rPr>
              <a:t>836 MB </a:t>
            </a:r>
            <a:r>
              <a:rPr lang="zh-CN" altLang="en-US" sz="2000" b="1">
                <a:latin typeface="Arial" panose="020B0604020202020204" pitchFamily="34" charset="0"/>
                <a:ea typeface="微软雅黑" panose="020B0503020204020204" pitchFamily="34" charset="-122"/>
              </a:rPr>
              <a:t>后，</a:t>
            </a:r>
            <a:r>
              <a:rPr lang="en-US" altLang="zh-CN" sz="2000" b="1">
                <a:latin typeface="Arial" panose="020B0604020202020204" pitchFamily="34" charset="0"/>
                <a:ea typeface="微软雅黑" panose="020B0503020204020204" pitchFamily="34" charset="-122"/>
              </a:rPr>
              <a:t>3 </a:t>
            </a:r>
            <a:r>
              <a:rPr lang="zh-CN" altLang="en-US" sz="2000" b="1">
                <a:latin typeface="Arial" panose="020B0604020202020204" pitchFamily="34" charset="0"/>
                <a:ea typeface="微软雅黑" panose="020B0503020204020204" pitchFamily="34" charset="-122"/>
              </a:rPr>
              <a:t>次测试均</a:t>
            </a:r>
            <a:r>
              <a:rPr lang="zh-CN" altLang="en-US" sz="2000" b="1">
                <a:solidFill>
                  <a:srgbClr val="FF0000"/>
                </a:solidFill>
                <a:latin typeface="Arial" panose="020B0604020202020204" pitchFamily="34" charset="0"/>
                <a:ea typeface="微软雅黑" panose="020B0503020204020204" pitchFamily="34" charset="-122"/>
              </a:rPr>
              <a:t>稳定运行</a:t>
            </a:r>
            <a:r>
              <a:rPr lang="zh-CN" altLang="en-US" sz="2000" b="1">
                <a:latin typeface="Arial" panose="020B0604020202020204" pitchFamily="34" charset="0"/>
                <a:ea typeface="微软雅黑" panose="020B0503020204020204" pitchFamily="34" charset="-122"/>
              </a:rPr>
              <a:t>。</a:t>
            </a:r>
          </a:p>
          <a:p>
            <a:endParaRPr lang="en-US" altLang="zh-CN" sz="2000" b="1">
              <a:latin typeface="Arial" panose="020B0604020202020204" pitchFamily="34" charset="0"/>
              <a:ea typeface="微软雅黑" panose="020B0503020204020204" pitchFamily="34" charset="-122"/>
            </a:endParaRPr>
          </a:p>
          <a:p>
            <a:r>
              <a:rPr lang="zh-CN" altLang="en-US" sz="2000" b="1">
                <a:latin typeface="Arial" panose="020B0604020202020204" pitchFamily="34" charset="0"/>
                <a:ea typeface="微软雅黑" panose="020B0503020204020204" pitchFamily="34" charset="-122"/>
              </a:rPr>
              <a:t>说明专家缓存并非简单设置得更大或更小，而要根据整体内存约束规划可运行的预算。</a:t>
            </a:r>
          </a:p>
        </p:txBody>
      </p:sp>
      <p:sp>
        <p:nvSpPr>
          <p:cNvPr id="4" name="矩形 4">
            <a:extLst>
              <a:ext uri="{FF2B5EF4-FFF2-40B4-BE49-F238E27FC236}">
                <a16:creationId xmlns:a16="http://schemas.microsoft.com/office/drawing/2014/main" id="{62394F7B-702D-C66B-9F5C-6D647BE4F8ED}"/>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5" name="矩形 4">
            <a:extLst>
              <a:ext uri="{FF2B5EF4-FFF2-40B4-BE49-F238E27FC236}">
                <a16:creationId xmlns:a16="http://schemas.microsoft.com/office/drawing/2014/main" id="{9F2AEEE3-2FF4-BA9A-F4CC-DE271354C94B}"/>
              </a:ext>
            </a:extLst>
          </p:cNvPr>
          <p:cNvSpPr/>
          <p:nvPr/>
        </p:nvSpPr>
        <p:spPr>
          <a:xfrm>
            <a:off x="8337248"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sp>
        <p:nvSpPr>
          <p:cNvPr id="6" name="TextBox 6">
            <a:extLst>
              <a:ext uri="{FF2B5EF4-FFF2-40B4-BE49-F238E27FC236}">
                <a16:creationId xmlns:a16="http://schemas.microsoft.com/office/drawing/2014/main" id="{61B986F5-FD43-08AD-8931-37809A6ADF3C}"/>
              </a:ext>
            </a:extLst>
          </p:cNvPr>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8" name="TextBox 7">
            <a:extLst>
              <a:ext uri="{FF2B5EF4-FFF2-40B4-BE49-F238E27FC236}">
                <a16:creationId xmlns:a16="http://schemas.microsoft.com/office/drawing/2014/main" id="{05A6FB1D-33F2-1CBF-C179-2FC4D8B9492A}"/>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1" name="TextBox 9">
            <a:extLst>
              <a:ext uri="{FF2B5EF4-FFF2-40B4-BE49-F238E27FC236}">
                <a16:creationId xmlns:a16="http://schemas.microsoft.com/office/drawing/2014/main" id="{4FA9F98B-2FC0-7837-87F7-D178C8F48019}"/>
              </a:ext>
            </a:extLst>
          </p:cNvPr>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项目实</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rPr>
              <a:t>现</a:t>
            </a:r>
          </a:p>
        </p:txBody>
      </p:sp>
      <p:sp>
        <p:nvSpPr>
          <p:cNvPr id="12" name="TextBox 10">
            <a:extLst>
              <a:ext uri="{FF2B5EF4-FFF2-40B4-BE49-F238E27FC236}">
                <a16:creationId xmlns:a16="http://schemas.microsoft.com/office/drawing/2014/main" id="{A42B3AD0-D8EA-CF5F-7351-8685695DA9C6}"/>
              </a:ext>
            </a:extLst>
          </p:cNvPr>
          <p:cNvSpPr txBox="1"/>
          <p:nvPr/>
        </p:nvSpPr>
        <p:spPr>
          <a:xfrm>
            <a:off x="8480349" y="215904"/>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latin typeface="Arial" panose="020B0604020202020204" pitchFamily="34" charset="0"/>
                <a:ea typeface="微软雅黑" panose="020B0503020204020204" pitchFamily="34" charset="-122"/>
              </a:rPr>
              <a:t>项目测试</a:t>
            </a:r>
          </a:p>
        </p:txBody>
      </p:sp>
      <p:sp>
        <p:nvSpPr>
          <p:cNvPr id="13" name="TextBox 11">
            <a:extLst>
              <a:ext uri="{FF2B5EF4-FFF2-40B4-BE49-F238E27FC236}">
                <a16:creationId xmlns:a16="http://schemas.microsoft.com/office/drawing/2014/main" id="{E039282F-C258-8769-85F7-867D2ACC7A89}"/>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项目总结</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cxnSp>
        <p:nvCxnSpPr>
          <p:cNvPr id="14" name="直接连接符 13">
            <a:extLst>
              <a:ext uri="{FF2B5EF4-FFF2-40B4-BE49-F238E27FC236}">
                <a16:creationId xmlns:a16="http://schemas.microsoft.com/office/drawing/2014/main" id="{1973814E-E9AE-A6A1-DA44-446210BD7BCC}"/>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B0BFDFF8-5232-A7F1-6D89-A64F9DBB7083}"/>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ADCB4674-E750-C0FD-D923-12CBA97E58B9}"/>
              </a:ext>
            </a:extLst>
          </p:cNvPr>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 name="图片 19">
            <a:extLst>
              <a:ext uri="{FF2B5EF4-FFF2-40B4-BE49-F238E27FC236}">
                <a16:creationId xmlns:a16="http://schemas.microsoft.com/office/drawing/2014/main" id="{C0D5CB47-D485-3ED0-87AA-2C855E54F246}"/>
              </a:ext>
            </a:extLst>
          </p:cNvPr>
          <p:cNvPicPr>
            <a:picLocks noChangeAspect="1"/>
          </p:cNvPicPr>
          <p:nvPr/>
        </p:nvPicPr>
        <p:blipFill rotWithShape="1">
          <a:blip r:embed="rId4"/>
          <a:srcRect t="29956" r="-277"/>
          <a:stretch>
            <a:fillRect/>
          </a:stretch>
        </p:blipFill>
        <p:spPr>
          <a:xfrm>
            <a:off x="195620" y="89117"/>
            <a:ext cx="2766644" cy="613765"/>
          </a:xfrm>
          <a:prstGeom prst="rect">
            <a:avLst/>
          </a:prstGeom>
        </p:spPr>
      </p:pic>
    </p:spTree>
    <p:extLst>
      <p:ext uri="{BB962C8B-B14F-4D97-AF65-F5344CB8AC3E}">
        <p14:creationId xmlns:p14="http://schemas.microsoft.com/office/powerpoint/2010/main" val="26161904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4DE37-BC12-9275-95BD-5639BEC84E41}"/>
            </a:ext>
          </a:extLst>
        </p:cNvPr>
        <p:cNvGrpSpPr/>
        <p:nvPr/>
      </p:nvGrpSpPr>
      <p:grpSpPr>
        <a:xfrm>
          <a:off x="0" y="0"/>
          <a:ext cx="0" cy="0"/>
          <a:chOff x="0" y="0"/>
          <a:chExt cx="0" cy="0"/>
        </a:xfrm>
      </p:grpSpPr>
      <p:sp>
        <p:nvSpPr>
          <p:cNvPr id="35" name="TextBox 6">
            <a:extLst>
              <a:ext uri="{FF2B5EF4-FFF2-40B4-BE49-F238E27FC236}">
                <a16:creationId xmlns:a16="http://schemas.microsoft.com/office/drawing/2014/main" id="{C53DFA76-D147-ED97-36C6-100A3F345EB7}"/>
              </a:ext>
            </a:extLst>
          </p:cNvPr>
          <p:cNvSpPr txBox="1"/>
          <p:nvPr/>
        </p:nvSpPr>
        <p:spPr>
          <a:xfrm>
            <a:off x="646020" y="1077092"/>
            <a:ext cx="3867923" cy="527825"/>
          </a:xfrm>
          <a:prstGeom prst="rect">
            <a:avLst/>
          </a:prstGeom>
          <a:noFill/>
        </p:spPr>
        <p:txBody>
          <a:bodyPr wrap="square" lIns="0" tIns="48000" rIns="0" bIns="48000" rtlCol="0">
            <a:spAutoFit/>
          </a:bodyPr>
          <a:lstStyle/>
          <a:p>
            <a:pPr algn="ct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4.4.3 </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压力感知专家调度</a:t>
            </a:r>
            <a:endParaRPr lang="zh-CN" altLang="en-US" sz="2800" b="1" dirty="0">
              <a:solidFill>
                <a:schemeClr val="tx1">
                  <a:lumMod val="65000"/>
                  <a:lumOff val="35000"/>
                </a:schemeClr>
              </a:solidFill>
              <a:latin typeface="Arial" panose="020B0604020202020204" pitchFamily="34" charset="0"/>
              <a:ea typeface="微软雅黑" panose="020B0503020204020204" pitchFamily="34" charset="-122"/>
            </a:endParaRPr>
          </a:p>
        </p:txBody>
      </p:sp>
      <p:pic>
        <p:nvPicPr>
          <p:cNvPr id="5" name="图片 4">
            <a:extLst>
              <a:ext uri="{FF2B5EF4-FFF2-40B4-BE49-F238E27FC236}">
                <a16:creationId xmlns:a16="http://schemas.microsoft.com/office/drawing/2014/main" id="{A21B814C-96A6-8640-2A7F-D799972775F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450114" y="1817746"/>
            <a:ext cx="6076037" cy="3971298"/>
          </a:xfrm>
          <a:prstGeom prst="rect">
            <a:avLst/>
          </a:prstGeom>
        </p:spPr>
      </p:pic>
      <p:sp>
        <p:nvSpPr>
          <p:cNvPr id="7" name="文本框 6">
            <a:extLst>
              <a:ext uri="{FF2B5EF4-FFF2-40B4-BE49-F238E27FC236}">
                <a16:creationId xmlns:a16="http://schemas.microsoft.com/office/drawing/2014/main" id="{083C5E80-A453-E7FD-1F93-73DAF89C6E33}"/>
              </a:ext>
            </a:extLst>
          </p:cNvPr>
          <p:cNvSpPr txBox="1"/>
          <p:nvPr/>
        </p:nvSpPr>
        <p:spPr>
          <a:xfrm>
            <a:off x="677340" y="1995256"/>
            <a:ext cx="4256308" cy="3785652"/>
          </a:xfrm>
          <a:prstGeom prst="rect">
            <a:avLst/>
          </a:prstGeom>
          <a:noFill/>
        </p:spPr>
        <p:txBody>
          <a:bodyPr wrap="square">
            <a:spAutoFit/>
          </a:bodyPr>
          <a:lstStyle/>
          <a:p>
            <a:r>
              <a:rPr lang="zh-CN" altLang="en-US" sz="2000" b="1">
                <a:latin typeface="Arial" panose="020B0604020202020204" pitchFamily="34" charset="0"/>
                <a:ea typeface="微软雅黑" panose="020B0503020204020204" pitchFamily="34" charset="-122"/>
              </a:rPr>
              <a:t>固定的专家保护范围难以适应不同内存压力：保留过多会挤占内存，保留过少又容易反复驱逐热点专家。</a:t>
            </a:r>
            <a:endParaRPr lang="en-US" altLang="zh-CN" sz="2000" b="1">
              <a:latin typeface="Arial" panose="020B0604020202020204" pitchFamily="34" charset="0"/>
              <a:ea typeface="微软雅黑" panose="020B0503020204020204" pitchFamily="34" charset="-122"/>
            </a:endParaRPr>
          </a:p>
          <a:p>
            <a:endParaRPr lang="en-US" altLang="zh-CN" sz="2000" b="1">
              <a:latin typeface="Arial" panose="020B0604020202020204" pitchFamily="34" charset="0"/>
              <a:ea typeface="微软雅黑" panose="020B0503020204020204" pitchFamily="34" charset="-122"/>
            </a:endParaRPr>
          </a:p>
          <a:p>
            <a:r>
              <a:rPr lang="zh-CN" altLang="en-US" sz="2000" b="1">
                <a:latin typeface="Arial" panose="020B0604020202020204" pitchFamily="34" charset="0"/>
                <a:ea typeface="微软雅黑" panose="020B0503020204020204" pitchFamily="34" charset="-122"/>
              </a:rPr>
              <a:t>因此，我们根据实时内存压力动态调整专家保护范围。在 </a:t>
            </a:r>
            <a:r>
              <a:rPr lang="en-US" altLang="zh-CN" sz="2000" b="1">
                <a:latin typeface="Arial" panose="020B0604020202020204" pitchFamily="34" charset="0"/>
                <a:ea typeface="微软雅黑" panose="020B0503020204020204" pitchFamily="34" charset="-122"/>
              </a:rPr>
              <a:t>1500–2400 MB </a:t>
            </a:r>
            <a:r>
              <a:rPr lang="zh-CN" altLang="en-US" sz="2000" b="1">
                <a:latin typeface="Arial" panose="020B0604020202020204" pitchFamily="34" charset="0"/>
                <a:ea typeface="微软雅黑" panose="020B0503020204020204" pitchFamily="34" charset="-122"/>
              </a:rPr>
              <a:t>四档内存上限下，吞吐均</a:t>
            </a:r>
            <a:r>
              <a:rPr lang="zh-CN" altLang="en-US" sz="2000" b="1">
                <a:solidFill>
                  <a:srgbClr val="FF0000"/>
                </a:solidFill>
                <a:latin typeface="Arial" panose="020B0604020202020204" pitchFamily="34" charset="0"/>
                <a:ea typeface="微软雅黑" panose="020B0503020204020204" pitchFamily="34" charset="-122"/>
              </a:rPr>
              <a:t>高于</a:t>
            </a:r>
            <a:r>
              <a:rPr lang="zh-CN" altLang="en-US" sz="2000" b="1">
                <a:latin typeface="Arial" panose="020B0604020202020204" pitchFamily="34" charset="0"/>
                <a:ea typeface="微软雅黑" panose="020B0503020204020204" pitchFamily="34" charset="-122"/>
              </a:rPr>
              <a:t>关闭自适应策略，提升</a:t>
            </a:r>
            <a:r>
              <a:rPr lang="zh-CN" altLang="en-US" sz="2000" b="1">
                <a:solidFill>
                  <a:srgbClr val="FF0000"/>
                </a:solidFill>
                <a:latin typeface="Arial" panose="020B0604020202020204" pitchFamily="34" charset="0"/>
                <a:ea typeface="微软雅黑" panose="020B0503020204020204" pitchFamily="34" charset="-122"/>
              </a:rPr>
              <a:t>约 </a:t>
            </a:r>
            <a:r>
              <a:rPr lang="en-US" altLang="zh-CN" sz="2000" b="1">
                <a:solidFill>
                  <a:srgbClr val="FF0000"/>
                </a:solidFill>
                <a:latin typeface="Arial" panose="020B0604020202020204" pitchFamily="34" charset="0"/>
                <a:ea typeface="微软雅黑" panose="020B0503020204020204" pitchFamily="34" charset="-122"/>
              </a:rPr>
              <a:t>0.5%–1.6%</a:t>
            </a:r>
            <a:r>
              <a:rPr lang="zh-CN" altLang="en-US" sz="2000" b="1">
                <a:latin typeface="Arial" panose="020B0604020202020204" pitchFamily="34" charset="0"/>
                <a:ea typeface="微软雅黑" panose="020B0503020204020204" pitchFamily="34" charset="-122"/>
              </a:rPr>
              <a:t>。</a:t>
            </a:r>
          </a:p>
          <a:p>
            <a:endParaRPr lang="en-US" altLang="zh-CN" sz="2000" b="1">
              <a:latin typeface="Arial" panose="020B0604020202020204" pitchFamily="34" charset="0"/>
              <a:ea typeface="微软雅黑" panose="020B0503020204020204" pitchFamily="34" charset="-122"/>
            </a:endParaRPr>
          </a:p>
          <a:p>
            <a:r>
              <a:rPr lang="zh-CN" altLang="en-US" sz="2000" b="1">
                <a:latin typeface="Arial" panose="020B0604020202020204" pitchFamily="34" charset="0"/>
                <a:ea typeface="微软雅黑" panose="020B0503020204020204" pitchFamily="34" charset="-122"/>
              </a:rPr>
              <a:t>该策略的重点不是在单一内存条件下追求最高吞吐，而是在内存条件变化时保持稳定、持续的正向收益。</a:t>
            </a:r>
          </a:p>
        </p:txBody>
      </p:sp>
      <p:sp>
        <p:nvSpPr>
          <p:cNvPr id="4" name="矩形 4">
            <a:extLst>
              <a:ext uri="{FF2B5EF4-FFF2-40B4-BE49-F238E27FC236}">
                <a16:creationId xmlns:a16="http://schemas.microsoft.com/office/drawing/2014/main" id="{03A4509B-E6E0-8F2C-A67F-E2EC55BB9190}"/>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6" name="矩形 5">
            <a:extLst>
              <a:ext uri="{FF2B5EF4-FFF2-40B4-BE49-F238E27FC236}">
                <a16:creationId xmlns:a16="http://schemas.microsoft.com/office/drawing/2014/main" id="{0C46312B-920C-B3F7-B9BE-97BEFBEA00C6}"/>
              </a:ext>
            </a:extLst>
          </p:cNvPr>
          <p:cNvSpPr/>
          <p:nvPr/>
        </p:nvSpPr>
        <p:spPr>
          <a:xfrm>
            <a:off x="8337248"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sp>
        <p:nvSpPr>
          <p:cNvPr id="8" name="TextBox 6">
            <a:extLst>
              <a:ext uri="{FF2B5EF4-FFF2-40B4-BE49-F238E27FC236}">
                <a16:creationId xmlns:a16="http://schemas.microsoft.com/office/drawing/2014/main" id="{96B14F6E-63B7-0D46-1872-2A0981BFB4B1}"/>
              </a:ext>
            </a:extLst>
          </p:cNvPr>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9" name="TextBox 7">
            <a:extLst>
              <a:ext uri="{FF2B5EF4-FFF2-40B4-BE49-F238E27FC236}">
                <a16:creationId xmlns:a16="http://schemas.microsoft.com/office/drawing/2014/main" id="{284232A5-561A-6DA2-01F8-069C34EC410A}"/>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1" name="TextBox 9">
            <a:extLst>
              <a:ext uri="{FF2B5EF4-FFF2-40B4-BE49-F238E27FC236}">
                <a16:creationId xmlns:a16="http://schemas.microsoft.com/office/drawing/2014/main" id="{91EB0149-7473-D724-1192-B646C7B1A68D}"/>
              </a:ext>
            </a:extLst>
          </p:cNvPr>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项目实</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rPr>
              <a:t>现</a:t>
            </a:r>
          </a:p>
        </p:txBody>
      </p:sp>
      <p:sp>
        <p:nvSpPr>
          <p:cNvPr id="12" name="TextBox 10">
            <a:extLst>
              <a:ext uri="{FF2B5EF4-FFF2-40B4-BE49-F238E27FC236}">
                <a16:creationId xmlns:a16="http://schemas.microsoft.com/office/drawing/2014/main" id="{F8D2CA7E-6FF4-F278-DBBC-09610E05023C}"/>
              </a:ext>
            </a:extLst>
          </p:cNvPr>
          <p:cNvSpPr txBox="1"/>
          <p:nvPr/>
        </p:nvSpPr>
        <p:spPr>
          <a:xfrm>
            <a:off x="8480349" y="215904"/>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latin typeface="Arial" panose="020B0604020202020204" pitchFamily="34" charset="0"/>
                <a:ea typeface="微软雅黑" panose="020B0503020204020204" pitchFamily="34" charset="-122"/>
              </a:rPr>
              <a:t>项目测试</a:t>
            </a:r>
          </a:p>
        </p:txBody>
      </p:sp>
      <p:sp>
        <p:nvSpPr>
          <p:cNvPr id="13" name="TextBox 11">
            <a:extLst>
              <a:ext uri="{FF2B5EF4-FFF2-40B4-BE49-F238E27FC236}">
                <a16:creationId xmlns:a16="http://schemas.microsoft.com/office/drawing/2014/main" id="{84A765BF-F829-0EEF-20D8-FAF4DBA96464}"/>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项目总结</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cxnSp>
        <p:nvCxnSpPr>
          <p:cNvPr id="14" name="直接连接符 13">
            <a:extLst>
              <a:ext uri="{FF2B5EF4-FFF2-40B4-BE49-F238E27FC236}">
                <a16:creationId xmlns:a16="http://schemas.microsoft.com/office/drawing/2014/main" id="{4A727228-3A73-4F24-3E5E-87C17B9A46C2}"/>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4A6C8121-2BC6-49A3-8F2E-84A32EAD9C16}"/>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48999C7D-9CC8-7D7E-01EB-6A0FE754384D}"/>
              </a:ext>
            </a:extLst>
          </p:cNvPr>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 name="图片 19">
            <a:extLst>
              <a:ext uri="{FF2B5EF4-FFF2-40B4-BE49-F238E27FC236}">
                <a16:creationId xmlns:a16="http://schemas.microsoft.com/office/drawing/2014/main" id="{2B9118EF-48B7-AA5B-A0A0-595A9E5853E3}"/>
              </a:ext>
            </a:extLst>
          </p:cNvPr>
          <p:cNvPicPr>
            <a:picLocks noChangeAspect="1"/>
          </p:cNvPicPr>
          <p:nvPr/>
        </p:nvPicPr>
        <p:blipFill rotWithShape="1">
          <a:blip r:embed="rId4"/>
          <a:srcRect t="29956" r="-277"/>
          <a:stretch>
            <a:fillRect/>
          </a:stretch>
        </p:blipFill>
        <p:spPr>
          <a:xfrm>
            <a:off x="195620" y="89117"/>
            <a:ext cx="2766644" cy="613765"/>
          </a:xfrm>
          <a:prstGeom prst="rect">
            <a:avLst/>
          </a:prstGeom>
        </p:spPr>
      </p:pic>
    </p:spTree>
    <p:extLst>
      <p:ext uri="{BB962C8B-B14F-4D97-AF65-F5344CB8AC3E}">
        <p14:creationId xmlns:p14="http://schemas.microsoft.com/office/powerpoint/2010/main" val="13482966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2" grpId="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9841E828-BE9A-B1C7-9ACC-AB6B1F01986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496799" y="1804768"/>
            <a:ext cx="4890752" cy="3581095"/>
          </a:xfrm>
          <a:prstGeom prst="rect">
            <a:avLst/>
          </a:prstGeom>
        </p:spPr>
      </p:pic>
      <p:sp>
        <p:nvSpPr>
          <p:cNvPr id="8" name="文本框 7">
            <a:extLst>
              <a:ext uri="{FF2B5EF4-FFF2-40B4-BE49-F238E27FC236}">
                <a16:creationId xmlns:a16="http://schemas.microsoft.com/office/drawing/2014/main" id="{3FE7573F-ACCF-9F76-34E2-B9EBF416938A}"/>
              </a:ext>
            </a:extLst>
          </p:cNvPr>
          <p:cNvSpPr txBox="1"/>
          <p:nvPr/>
        </p:nvSpPr>
        <p:spPr>
          <a:xfrm>
            <a:off x="714666" y="5557245"/>
            <a:ext cx="10501409" cy="1015663"/>
          </a:xfrm>
          <a:prstGeom prst="rect">
            <a:avLst/>
          </a:prstGeom>
          <a:noFill/>
        </p:spPr>
        <p:txBody>
          <a:bodyPr wrap="square">
            <a:spAutoFit/>
          </a:bodyPr>
          <a:lstStyle/>
          <a:p>
            <a:r>
              <a:rPr lang="zh-CN" altLang="en-US" sz="2000" b="1">
                <a:latin typeface="Arial" panose="020B0604020202020204" pitchFamily="34" charset="0"/>
                <a:ea typeface="微软雅黑" panose="020B0503020204020204" pitchFamily="34" charset="-122"/>
              </a:rPr>
              <a:t>真实物理驻留可控： 目标预算从 </a:t>
            </a:r>
            <a:r>
              <a:rPr lang="en-US" altLang="zh-CN" sz="2000" b="1">
                <a:latin typeface="Arial" panose="020B0604020202020204" pitchFamily="34" charset="0"/>
                <a:ea typeface="微软雅黑" panose="020B0503020204020204" pitchFamily="34" charset="-122"/>
              </a:rPr>
              <a:t>2.5 GiB </a:t>
            </a:r>
            <a:r>
              <a:rPr lang="zh-CN" altLang="en-US" sz="2000" b="1">
                <a:latin typeface="Arial" panose="020B0604020202020204" pitchFamily="34" charset="0"/>
                <a:ea typeface="微软雅黑" panose="020B0503020204020204" pitchFamily="34" charset="-122"/>
              </a:rPr>
              <a:t>收紧到 </a:t>
            </a:r>
            <a:r>
              <a:rPr lang="en-US" altLang="zh-CN" sz="2000" b="1">
                <a:solidFill>
                  <a:srgbClr val="FF0000"/>
                </a:solidFill>
                <a:latin typeface="Arial" panose="020B0604020202020204" pitchFamily="34" charset="0"/>
                <a:ea typeface="微软雅黑" panose="020B0503020204020204" pitchFamily="34" charset="-122"/>
              </a:rPr>
              <a:t>0.25 GiB</a:t>
            </a:r>
            <a:r>
              <a:rPr lang="zh-CN" altLang="en-US" sz="2000" b="1">
                <a:latin typeface="Arial" panose="020B0604020202020204" pitchFamily="34" charset="0"/>
                <a:ea typeface="微软雅黑" panose="020B0503020204020204" pitchFamily="34" charset="-122"/>
              </a:rPr>
              <a:t>，实际驻留基本贴合目标。</a:t>
            </a:r>
            <a:br>
              <a:rPr lang="zh-CN" altLang="en-US" sz="2000" b="1">
                <a:latin typeface="Arial" panose="020B0604020202020204" pitchFamily="34" charset="0"/>
                <a:ea typeface="微软雅黑" panose="020B0503020204020204" pitchFamily="34" charset="-122"/>
              </a:rPr>
            </a:br>
            <a:r>
              <a:rPr lang="zh-CN" altLang="en-US" sz="2000" b="1">
                <a:latin typeface="Arial" panose="020B0604020202020204" pitchFamily="34" charset="0"/>
                <a:ea typeface="微软雅黑" panose="020B0503020204020204" pitchFamily="34" charset="-122"/>
              </a:rPr>
              <a:t>分层回收减少无效 </a:t>
            </a:r>
            <a:r>
              <a:rPr lang="en-US" altLang="zh-CN" sz="2000" b="1">
                <a:latin typeface="Arial" panose="020B0604020202020204" pitchFamily="34" charset="0"/>
                <a:ea typeface="微软雅黑" panose="020B0503020204020204" pitchFamily="34" charset="-122"/>
              </a:rPr>
              <a:t>I/O</a:t>
            </a:r>
            <a:r>
              <a:rPr lang="zh-CN" altLang="en-US" sz="2000" b="1">
                <a:latin typeface="Arial" panose="020B0604020202020204" pitchFamily="34" charset="0"/>
                <a:ea typeface="微软雅黑" panose="020B0503020204020204" pitchFamily="34" charset="-122"/>
              </a:rPr>
              <a:t>： 无后续价值的 </a:t>
            </a:r>
            <a:r>
              <a:rPr lang="en-US" altLang="zh-CN" sz="2000" b="1">
                <a:latin typeface="Arial" panose="020B0604020202020204" pitchFamily="34" charset="0"/>
                <a:ea typeface="微软雅黑" panose="020B0503020204020204" pitchFamily="34" charset="-122"/>
              </a:rPr>
              <a:t>KV </a:t>
            </a:r>
            <a:r>
              <a:rPr lang="zh-CN" altLang="en-US" sz="2000" b="1">
                <a:latin typeface="Arial" panose="020B0604020202020204" pitchFamily="34" charset="0"/>
                <a:ea typeface="微软雅黑" panose="020B0503020204020204" pitchFamily="34" charset="-122"/>
              </a:rPr>
              <a:t>优先直接释放；仍需恢复的 </a:t>
            </a:r>
            <a:r>
              <a:rPr lang="en-US" altLang="zh-CN" sz="2000" b="1">
                <a:latin typeface="Arial" panose="020B0604020202020204" pitchFamily="34" charset="0"/>
                <a:ea typeface="微软雅黑" panose="020B0503020204020204" pitchFamily="34" charset="-122"/>
              </a:rPr>
              <a:t>KV </a:t>
            </a:r>
            <a:r>
              <a:rPr lang="zh-CN" altLang="en-US" sz="2000" b="1">
                <a:latin typeface="Arial" panose="020B0604020202020204" pitchFamily="34" charset="0"/>
                <a:ea typeface="微软雅黑" panose="020B0503020204020204" pitchFamily="34" charset="-122"/>
              </a:rPr>
              <a:t>才写入后备存储。</a:t>
            </a:r>
            <a:br>
              <a:rPr lang="zh-CN" altLang="en-US" sz="2000" b="1">
                <a:latin typeface="Arial" panose="020B0604020202020204" pitchFamily="34" charset="0"/>
                <a:ea typeface="微软雅黑" panose="020B0503020204020204" pitchFamily="34" charset="-122"/>
              </a:rPr>
            </a:br>
            <a:r>
              <a:rPr lang="zh-CN" altLang="en-US" sz="2000" b="1">
                <a:latin typeface="Arial" panose="020B0604020202020204" pitchFamily="34" charset="0"/>
                <a:ea typeface="微软雅黑" panose="020B0503020204020204" pitchFamily="34" charset="-122"/>
              </a:rPr>
              <a:t>最严格目标下： </a:t>
            </a:r>
            <a:r>
              <a:rPr lang="en-US" altLang="zh-CN" sz="2000" b="1">
                <a:latin typeface="Arial" panose="020B0604020202020204" pitchFamily="34" charset="0"/>
                <a:ea typeface="微软雅黑" panose="020B0503020204020204" pitchFamily="34" charset="-122"/>
              </a:rPr>
              <a:t>KV </a:t>
            </a:r>
            <a:r>
              <a:rPr lang="zh-CN" altLang="en-US" sz="2000" b="1">
                <a:latin typeface="Arial" panose="020B0604020202020204" pitchFamily="34" charset="0"/>
                <a:ea typeface="微软雅黑" panose="020B0503020204020204" pitchFamily="34" charset="-122"/>
              </a:rPr>
              <a:t>物理驻留最低压至 </a:t>
            </a:r>
            <a:r>
              <a:rPr lang="en-US" altLang="zh-CN" sz="2000" b="1">
                <a:latin typeface="Arial" panose="020B0604020202020204" pitchFamily="34" charset="0"/>
                <a:ea typeface="微软雅黑" panose="020B0503020204020204" pitchFamily="34" charset="-122"/>
              </a:rPr>
              <a:t>0.247 GiB</a:t>
            </a:r>
            <a:r>
              <a:rPr lang="zh-CN" altLang="en-US" sz="2000" b="1">
                <a:latin typeface="Arial" panose="020B0604020202020204" pitchFamily="34" charset="0"/>
                <a:ea typeface="微软雅黑" panose="020B0503020204020204" pitchFamily="34" charset="-122"/>
              </a:rPr>
              <a:t>，最大降低</a:t>
            </a:r>
            <a:r>
              <a:rPr lang="zh-CN" altLang="en-US" sz="2000" b="1">
                <a:solidFill>
                  <a:srgbClr val="FF0000"/>
                </a:solidFill>
                <a:latin typeface="Arial" panose="020B0604020202020204" pitchFamily="34" charset="0"/>
                <a:ea typeface="微软雅黑" panose="020B0503020204020204" pitchFamily="34" charset="-122"/>
              </a:rPr>
              <a:t> </a:t>
            </a:r>
            <a:r>
              <a:rPr lang="en-US" altLang="zh-CN" sz="2000" b="1">
                <a:solidFill>
                  <a:srgbClr val="FF0000"/>
                </a:solidFill>
                <a:latin typeface="Arial" panose="020B0604020202020204" pitchFamily="34" charset="0"/>
                <a:ea typeface="微软雅黑" panose="020B0503020204020204" pitchFamily="34" charset="-122"/>
              </a:rPr>
              <a:t>91.8%</a:t>
            </a:r>
            <a:r>
              <a:rPr lang="zh-CN" altLang="en-US" sz="2000" b="1">
                <a:latin typeface="Arial" panose="020B0604020202020204" pitchFamily="34" charset="0"/>
                <a:ea typeface="微软雅黑" panose="020B0503020204020204" pitchFamily="34" charset="-122"/>
              </a:rPr>
              <a:t>。</a:t>
            </a:r>
          </a:p>
        </p:txBody>
      </p:sp>
      <p:sp>
        <p:nvSpPr>
          <p:cNvPr id="19" name="TextBox 6">
            <a:extLst>
              <a:ext uri="{FF2B5EF4-FFF2-40B4-BE49-F238E27FC236}">
                <a16:creationId xmlns:a16="http://schemas.microsoft.com/office/drawing/2014/main" id="{3BBFE682-7D3A-CA2E-D172-83C66ACAA3FA}"/>
              </a:ext>
            </a:extLst>
          </p:cNvPr>
          <p:cNvSpPr txBox="1"/>
          <p:nvPr/>
        </p:nvSpPr>
        <p:spPr>
          <a:xfrm>
            <a:off x="458771" y="1077092"/>
            <a:ext cx="5506600" cy="527825"/>
          </a:xfrm>
          <a:prstGeom prst="rect">
            <a:avLst/>
          </a:prstGeom>
          <a:noFill/>
        </p:spPr>
        <p:txBody>
          <a:bodyPr wrap="square" lIns="0" tIns="48000" rIns="0" bIns="48000" rtlCol="0">
            <a:spAutoFit/>
          </a:bodyPr>
          <a:lstStyle/>
          <a:p>
            <a:pPr algn="ct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4.5.1 KV </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真实物理驻留与分层回收</a:t>
            </a:r>
            <a:endParaRPr lang="zh-CN" altLang="en-US" sz="28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3" name="矩形 4">
            <a:extLst>
              <a:ext uri="{FF2B5EF4-FFF2-40B4-BE49-F238E27FC236}">
                <a16:creationId xmlns:a16="http://schemas.microsoft.com/office/drawing/2014/main" id="{BBF8CC21-86D7-5AB8-5813-42B7BFF888C4}"/>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4" name="矩形 3">
            <a:extLst>
              <a:ext uri="{FF2B5EF4-FFF2-40B4-BE49-F238E27FC236}">
                <a16:creationId xmlns:a16="http://schemas.microsoft.com/office/drawing/2014/main" id="{3186E823-A379-80C9-AD8A-8B548527CE0E}"/>
              </a:ext>
            </a:extLst>
          </p:cNvPr>
          <p:cNvSpPr/>
          <p:nvPr/>
        </p:nvSpPr>
        <p:spPr>
          <a:xfrm>
            <a:off x="8337248"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sp>
        <p:nvSpPr>
          <p:cNvPr id="5" name="TextBox 6">
            <a:extLst>
              <a:ext uri="{FF2B5EF4-FFF2-40B4-BE49-F238E27FC236}">
                <a16:creationId xmlns:a16="http://schemas.microsoft.com/office/drawing/2014/main" id="{BFE86B6B-4401-B549-2E25-E9666CE83476}"/>
              </a:ext>
            </a:extLst>
          </p:cNvPr>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7" name="TextBox 7">
            <a:extLst>
              <a:ext uri="{FF2B5EF4-FFF2-40B4-BE49-F238E27FC236}">
                <a16:creationId xmlns:a16="http://schemas.microsoft.com/office/drawing/2014/main" id="{7762CE3E-FA57-0463-5D31-96FDEC9A8DA0}"/>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9" name="TextBox 9">
            <a:extLst>
              <a:ext uri="{FF2B5EF4-FFF2-40B4-BE49-F238E27FC236}">
                <a16:creationId xmlns:a16="http://schemas.microsoft.com/office/drawing/2014/main" id="{10F31A2F-09D2-860F-4ED9-725059B79E34}"/>
              </a:ext>
            </a:extLst>
          </p:cNvPr>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项目实</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rPr>
              <a:t>现</a:t>
            </a:r>
          </a:p>
        </p:txBody>
      </p:sp>
      <p:sp>
        <p:nvSpPr>
          <p:cNvPr id="10" name="TextBox 10">
            <a:extLst>
              <a:ext uri="{FF2B5EF4-FFF2-40B4-BE49-F238E27FC236}">
                <a16:creationId xmlns:a16="http://schemas.microsoft.com/office/drawing/2014/main" id="{0DA08920-AF3D-04BD-DE8D-443DB8DDF444}"/>
              </a:ext>
            </a:extLst>
          </p:cNvPr>
          <p:cNvSpPr txBox="1"/>
          <p:nvPr/>
        </p:nvSpPr>
        <p:spPr>
          <a:xfrm>
            <a:off x="8480349" y="215904"/>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latin typeface="Arial" panose="020B0604020202020204" pitchFamily="34" charset="0"/>
                <a:ea typeface="微软雅黑" panose="020B0503020204020204" pitchFamily="34" charset="-122"/>
              </a:rPr>
              <a:t>项目测试</a:t>
            </a:r>
          </a:p>
        </p:txBody>
      </p:sp>
      <p:sp>
        <p:nvSpPr>
          <p:cNvPr id="11" name="TextBox 11">
            <a:extLst>
              <a:ext uri="{FF2B5EF4-FFF2-40B4-BE49-F238E27FC236}">
                <a16:creationId xmlns:a16="http://schemas.microsoft.com/office/drawing/2014/main" id="{11053B2A-24E1-7D74-F7EF-75D97EEE58EC}"/>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项目总结</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cxnSp>
        <p:nvCxnSpPr>
          <p:cNvPr id="12" name="直接连接符 11">
            <a:extLst>
              <a:ext uri="{FF2B5EF4-FFF2-40B4-BE49-F238E27FC236}">
                <a16:creationId xmlns:a16="http://schemas.microsoft.com/office/drawing/2014/main" id="{EFC4E90A-E43A-D3B4-9B77-1F0F152EB87A}"/>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300EB2B7-96B0-E864-4C2B-C8C0BBDEF071}"/>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A35E14F8-61B4-4C38-E50C-970BA24F1741}"/>
              </a:ext>
            </a:extLst>
          </p:cNvPr>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8" name="图片 17">
            <a:extLst>
              <a:ext uri="{FF2B5EF4-FFF2-40B4-BE49-F238E27FC236}">
                <a16:creationId xmlns:a16="http://schemas.microsoft.com/office/drawing/2014/main" id="{EAB93525-C8ED-9591-4DD3-95D41EB1B04A}"/>
              </a:ext>
            </a:extLst>
          </p:cNvPr>
          <p:cNvPicPr>
            <a:picLocks noChangeAspect="1"/>
          </p:cNvPicPr>
          <p:nvPr/>
        </p:nvPicPr>
        <p:blipFill rotWithShape="1">
          <a:blip r:embed="rId4"/>
          <a:srcRect t="29956" r="-277"/>
          <a:stretch>
            <a:fillRect/>
          </a:stretch>
        </p:blipFill>
        <p:spPr>
          <a:xfrm>
            <a:off x="195620" y="89117"/>
            <a:ext cx="2766644" cy="613765"/>
          </a:xfrm>
          <a:prstGeom prst="rect">
            <a:avLst/>
          </a:prstGeom>
        </p:spPr>
      </p:pic>
      <p:pic>
        <p:nvPicPr>
          <p:cNvPr id="15" name="图片 14">
            <a:extLst>
              <a:ext uri="{FF2B5EF4-FFF2-40B4-BE49-F238E27FC236}">
                <a16:creationId xmlns:a16="http://schemas.microsoft.com/office/drawing/2014/main" id="{DDA612CC-B75E-CFD9-12D3-E27D879F88D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87504" y="1804768"/>
            <a:ext cx="5608496" cy="3402907"/>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D501D-6CCA-33C6-5721-7202B6F211FF}"/>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8B2FF40A-5FBC-04B8-8BC5-538BC084BF3A}"/>
              </a:ext>
            </a:extLst>
          </p:cNvPr>
          <p:cNvSpPr txBox="1"/>
          <p:nvPr/>
        </p:nvSpPr>
        <p:spPr>
          <a:xfrm>
            <a:off x="799230" y="2012748"/>
            <a:ext cx="4433170" cy="3477875"/>
          </a:xfrm>
          <a:prstGeom prst="rect">
            <a:avLst/>
          </a:prstGeom>
          <a:noFill/>
        </p:spPr>
        <p:txBody>
          <a:bodyPr wrap="square">
            <a:spAutoFit/>
          </a:bodyPr>
          <a:lstStyle/>
          <a:p>
            <a:r>
              <a:rPr lang="zh-CN" altLang="en-US" sz="2000" b="1">
                <a:latin typeface="Arial" panose="020B0604020202020204" pitchFamily="34" charset="0"/>
                <a:ea typeface="微软雅黑" panose="020B0503020204020204" pitchFamily="34" charset="-122"/>
              </a:rPr>
              <a:t>物理驻留　</a:t>
            </a:r>
            <a:r>
              <a:rPr lang="en-US" altLang="zh-CN" sz="2000" b="1">
                <a:latin typeface="Arial" panose="020B0604020202020204" pitchFamily="34" charset="0"/>
                <a:ea typeface="微软雅黑" panose="020B0503020204020204" pitchFamily="34" charset="-122"/>
              </a:rPr>
              <a:t>0.996 → </a:t>
            </a:r>
            <a:r>
              <a:rPr lang="en-US" altLang="zh-CN" sz="2000" b="1">
                <a:solidFill>
                  <a:srgbClr val="FF0000"/>
                </a:solidFill>
                <a:latin typeface="Arial" panose="020B0604020202020204" pitchFamily="34" charset="0"/>
                <a:ea typeface="微软雅黑" panose="020B0503020204020204" pitchFamily="34" charset="-122"/>
              </a:rPr>
              <a:t>0.247 GiB</a:t>
            </a:r>
            <a:br>
              <a:rPr lang="en-US" altLang="zh-CN" sz="2000" b="1">
                <a:latin typeface="Arial" panose="020B0604020202020204" pitchFamily="34" charset="0"/>
                <a:ea typeface="微软雅黑" panose="020B0503020204020204" pitchFamily="34" charset="-122"/>
              </a:rPr>
            </a:br>
            <a:r>
              <a:rPr lang="zh-CN" altLang="en-US" sz="2000" b="1">
                <a:latin typeface="Arial" panose="020B0604020202020204" pitchFamily="34" charset="0"/>
                <a:ea typeface="微软雅黑" panose="020B0503020204020204" pitchFamily="34" charset="-122"/>
              </a:rPr>
              <a:t>恢复数据量　</a:t>
            </a:r>
            <a:r>
              <a:rPr lang="en-US" altLang="zh-CN" sz="2000" b="1">
                <a:latin typeface="Arial" panose="020B0604020202020204" pitchFamily="34" charset="0"/>
                <a:ea typeface="微软雅黑" panose="020B0503020204020204" pitchFamily="34" charset="-122"/>
              </a:rPr>
              <a:t>327 → </a:t>
            </a:r>
            <a:r>
              <a:rPr lang="en-US" altLang="zh-CN" sz="2000" b="1">
                <a:solidFill>
                  <a:srgbClr val="FF0000"/>
                </a:solidFill>
                <a:latin typeface="Arial" panose="020B0604020202020204" pitchFamily="34" charset="0"/>
                <a:ea typeface="微软雅黑" panose="020B0503020204020204" pitchFamily="34" charset="-122"/>
              </a:rPr>
              <a:t>1104 MiB</a:t>
            </a:r>
            <a:br>
              <a:rPr lang="en-US" altLang="zh-CN" sz="2000" b="1">
                <a:latin typeface="Arial" panose="020B0604020202020204" pitchFamily="34" charset="0"/>
                <a:ea typeface="微软雅黑" panose="020B0503020204020204" pitchFamily="34" charset="-122"/>
              </a:rPr>
            </a:br>
            <a:r>
              <a:rPr lang="zh-CN" altLang="en-US" sz="2000" b="1">
                <a:latin typeface="Arial" panose="020B0604020202020204" pitchFamily="34" charset="0"/>
                <a:ea typeface="微软雅黑" panose="020B0503020204020204" pitchFamily="34" charset="-122"/>
              </a:rPr>
              <a:t>恢复等待　</a:t>
            </a:r>
            <a:r>
              <a:rPr lang="en-US" altLang="zh-CN" sz="2000" b="1">
                <a:latin typeface="Arial" panose="020B0604020202020204" pitchFamily="34" charset="0"/>
                <a:ea typeface="微软雅黑" panose="020B0503020204020204" pitchFamily="34" charset="-122"/>
              </a:rPr>
              <a:t>190.4 → </a:t>
            </a:r>
            <a:r>
              <a:rPr lang="en-US" altLang="zh-CN" sz="2000" b="1">
                <a:solidFill>
                  <a:srgbClr val="FF0000"/>
                </a:solidFill>
                <a:latin typeface="Arial" panose="020B0604020202020204" pitchFamily="34" charset="0"/>
                <a:ea typeface="微软雅黑" panose="020B0503020204020204" pitchFamily="34" charset="-122"/>
              </a:rPr>
              <a:t>478.0 ms</a:t>
            </a:r>
          </a:p>
          <a:p>
            <a:endParaRPr lang="en-US" altLang="zh-CN" sz="2000" b="1">
              <a:latin typeface="Arial" panose="020B0604020202020204" pitchFamily="34" charset="0"/>
              <a:ea typeface="微软雅黑" panose="020B0503020204020204" pitchFamily="34" charset="-122"/>
            </a:endParaRPr>
          </a:p>
          <a:p>
            <a:r>
              <a:rPr lang="en-US" altLang="zh-CN" sz="2000" b="1">
                <a:latin typeface="Arial" panose="020B0604020202020204" pitchFamily="34" charset="0"/>
                <a:ea typeface="微软雅黑" panose="020B0503020204020204" pitchFamily="34" charset="-122"/>
              </a:rPr>
              <a:t>KV </a:t>
            </a:r>
            <a:r>
              <a:rPr lang="zh-CN" altLang="en-US" sz="2000" b="1">
                <a:latin typeface="Arial" panose="020B0604020202020204" pitchFamily="34" charset="0"/>
                <a:ea typeface="微软雅黑" panose="020B0503020204020204" pitchFamily="34" charset="-122"/>
              </a:rPr>
              <a:t>驻留压得越低，后续会话重访时需要恢复的数据越多，恢复等待也会随之增加。</a:t>
            </a:r>
            <a:endParaRPr lang="en-US" altLang="zh-CN" sz="2000" b="1">
              <a:latin typeface="Arial" panose="020B0604020202020204" pitchFamily="34" charset="0"/>
              <a:ea typeface="微软雅黑" panose="020B0503020204020204" pitchFamily="34" charset="-122"/>
            </a:endParaRPr>
          </a:p>
          <a:p>
            <a:endParaRPr lang="zh-CN" altLang="en-US" sz="2000" b="1">
              <a:latin typeface="Arial" panose="020B0604020202020204" pitchFamily="34" charset="0"/>
              <a:ea typeface="微软雅黑" panose="020B0503020204020204" pitchFamily="34" charset="-122"/>
            </a:endParaRPr>
          </a:p>
          <a:p>
            <a:r>
              <a:rPr lang="zh-CN" altLang="en-US" sz="2000" b="1">
                <a:latin typeface="Arial" panose="020B0604020202020204" pitchFamily="34" charset="0"/>
                <a:ea typeface="微软雅黑" panose="020B0503020204020204" pitchFamily="34" charset="-122"/>
              </a:rPr>
              <a:t>因此，</a:t>
            </a:r>
            <a:r>
              <a:rPr lang="en-US" altLang="zh-CN" sz="2000" b="1">
                <a:latin typeface="Arial" panose="020B0604020202020204" pitchFamily="34" charset="0"/>
                <a:ea typeface="微软雅黑" panose="020B0503020204020204" pitchFamily="34" charset="-122"/>
              </a:rPr>
              <a:t>KV </a:t>
            </a:r>
            <a:r>
              <a:rPr lang="zh-CN" altLang="en-US" sz="2000" b="1">
                <a:latin typeface="Arial" panose="020B0604020202020204" pitchFamily="34" charset="0"/>
                <a:ea typeface="微软雅黑" panose="020B0503020204020204" pitchFamily="34" charset="-122"/>
              </a:rPr>
              <a:t>管理不能只追求最低内存占用，还需要在物理内存节省与会话恢复代价之间选择合适的驻留预算。</a:t>
            </a:r>
          </a:p>
        </p:txBody>
      </p:sp>
      <p:pic>
        <p:nvPicPr>
          <p:cNvPr id="4" name="图片 3">
            <a:extLst>
              <a:ext uri="{FF2B5EF4-FFF2-40B4-BE49-F238E27FC236}">
                <a16:creationId xmlns:a16="http://schemas.microsoft.com/office/drawing/2014/main" id="{AE9C529C-090C-46CD-1193-43155F1B713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826916" y="1890009"/>
            <a:ext cx="5936913" cy="4140676"/>
          </a:xfrm>
          <a:prstGeom prst="rect">
            <a:avLst/>
          </a:prstGeom>
        </p:spPr>
      </p:pic>
      <p:sp>
        <p:nvSpPr>
          <p:cNvPr id="5" name="TextBox 6">
            <a:extLst>
              <a:ext uri="{FF2B5EF4-FFF2-40B4-BE49-F238E27FC236}">
                <a16:creationId xmlns:a16="http://schemas.microsoft.com/office/drawing/2014/main" id="{89F76CD5-ACB7-8CC8-0946-92A6DEC4C020}"/>
              </a:ext>
            </a:extLst>
          </p:cNvPr>
          <p:cNvSpPr txBox="1"/>
          <p:nvPr/>
        </p:nvSpPr>
        <p:spPr>
          <a:xfrm>
            <a:off x="560954" y="1077092"/>
            <a:ext cx="5535046" cy="527825"/>
          </a:xfrm>
          <a:prstGeom prst="rect">
            <a:avLst/>
          </a:prstGeom>
          <a:noFill/>
        </p:spPr>
        <p:txBody>
          <a:bodyPr wrap="square" lIns="0" tIns="48000" rIns="0" bIns="48000" rtlCol="0">
            <a:spAutoFit/>
          </a:bodyPr>
          <a:lstStyle/>
          <a:p>
            <a:pPr algn="ct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4.5.2 KV </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物理驻留与会话恢复代价</a:t>
            </a:r>
            <a:endParaRPr lang="zh-CN" altLang="en-US" sz="28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3" name="矩形 4">
            <a:extLst>
              <a:ext uri="{FF2B5EF4-FFF2-40B4-BE49-F238E27FC236}">
                <a16:creationId xmlns:a16="http://schemas.microsoft.com/office/drawing/2014/main" id="{D6ED7A2D-58D8-7065-57F5-516890A5F50B}"/>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7" name="矩形 6">
            <a:extLst>
              <a:ext uri="{FF2B5EF4-FFF2-40B4-BE49-F238E27FC236}">
                <a16:creationId xmlns:a16="http://schemas.microsoft.com/office/drawing/2014/main" id="{C181B167-381C-518E-8515-BE8FF0081CD6}"/>
              </a:ext>
            </a:extLst>
          </p:cNvPr>
          <p:cNvSpPr/>
          <p:nvPr/>
        </p:nvSpPr>
        <p:spPr>
          <a:xfrm>
            <a:off x="8337248"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sp>
        <p:nvSpPr>
          <p:cNvPr id="9" name="TextBox 6">
            <a:extLst>
              <a:ext uri="{FF2B5EF4-FFF2-40B4-BE49-F238E27FC236}">
                <a16:creationId xmlns:a16="http://schemas.microsoft.com/office/drawing/2014/main" id="{9263DD00-58FC-4A5C-4D05-0446E04CE3B2}"/>
              </a:ext>
            </a:extLst>
          </p:cNvPr>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0" name="TextBox 7">
            <a:extLst>
              <a:ext uri="{FF2B5EF4-FFF2-40B4-BE49-F238E27FC236}">
                <a16:creationId xmlns:a16="http://schemas.microsoft.com/office/drawing/2014/main" id="{C7BF10FA-875F-DDDB-D4B1-C457CEC5468E}"/>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1" name="TextBox 9">
            <a:extLst>
              <a:ext uri="{FF2B5EF4-FFF2-40B4-BE49-F238E27FC236}">
                <a16:creationId xmlns:a16="http://schemas.microsoft.com/office/drawing/2014/main" id="{E6105EC9-2C82-D44D-E131-B2E7FA6322AB}"/>
              </a:ext>
            </a:extLst>
          </p:cNvPr>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项目实</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rPr>
              <a:t>现</a:t>
            </a:r>
          </a:p>
        </p:txBody>
      </p:sp>
      <p:sp>
        <p:nvSpPr>
          <p:cNvPr id="12" name="TextBox 10">
            <a:extLst>
              <a:ext uri="{FF2B5EF4-FFF2-40B4-BE49-F238E27FC236}">
                <a16:creationId xmlns:a16="http://schemas.microsoft.com/office/drawing/2014/main" id="{F8DF980A-6D28-8438-9397-19CD77A1578B}"/>
              </a:ext>
            </a:extLst>
          </p:cNvPr>
          <p:cNvSpPr txBox="1"/>
          <p:nvPr/>
        </p:nvSpPr>
        <p:spPr>
          <a:xfrm>
            <a:off x="8480349" y="215904"/>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latin typeface="Arial" panose="020B0604020202020204" pitchFamily="34" charset="0"/>
                <a:ea typeface="微软雅黑" panose="020B0503020204020204" pitchFamily="34" charset="-122"/>
              </a:rPr>
              <a:t>项目测试</a:t>
            </a:r>
          </a:p>
        </p:txBody>
      </p:sp>
      <p:sp>
        <p:nvSpPr>
          <p:cNvPr id="13" name="TextBox 11">
            <a:extLst>
              <a:ext uri="{FF2B5EF4-FFF2-40B4-BE49-F238E27FC236}">
                <a16:creationId xmlns:a16="http://schemas.microsoft.com/office/drawing/2014/main" id="{F6F07BBC-ED60-D3EE-6CC0-AD09B7261F9F}"/>
              </a:ext>
            </a:extLst>
          </p:cNvPr>
          <p:cNvSpPr txBox="1"/>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Arial" panose="020B0604020202020204" pitchFamily="34" charset="0"/>
                <a:ea typeface="微软雅黑" panose="020B0503020204020204" pitchFamily="34" charset="-122"/>
                <a:sym typeface="+mn-ea"/>
              </a:rPr>
              <a:t>项目总结</a:t>
            </a:r>
            <a:endParaRPr lang="zh-CN" altLang="en-US" sz="1600" b="1" dirty="0">
              <a:solidFill>
                <a:schemeClr val="bg1">
                  <a:lumMod val="50000"/>
                </a:schemeClr>
              </a:solidFill>
              <a:latin typeface="Arial" panose="020B0604020202020204" pitchFamily="34" charset="0"/>
              <a:ea typeface="微软雅黑" panose="020B0503020204020204" pitchFamily="34" charset="-122"/>
            </a:endParaRPr>
          </a:p>
        </p:txBody>
      </p:sp>
      <p:cxnSp>
        <p:nvCxnSpPr>
          <p:cNvPr id="14" name="直接连接符 13">
            <a:extLst>
              <a:ext uri="{FF2B5EF4-FFF2-40B4-BE49-F238E27FC236}">
                <a16:creationId xmlns:a16="http://schemas.microsoft.com/office/drawing/2014/main" id="{6F9C0E0A-9D73-FE49-AA1D-89EA9EB7046D}"/>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E751BC14-2F87-03E7-33AD-2FB0D6619711}"/>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7E30B91F-BE34-A1C4-5259-3569DA037096}"/>
              </a:ext>
            </a:extLst>
          </p:cNvPr>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 name="图片 19">
            <a:extLst>
              <a:ext uri="{FF2B5EF4-FFF2-40B4-BE49-F238E27FC236}">
                <a16:creationId xmlns:a16="http://schemas.microsoft.com/office/drawing/2014/main" id="{C1914D71-74C7-1B10-EE05-ED4A8F164889}"/>
              </a:ext>
            </a:extLst>
          </p:cNvPr>
          <p:cNvPicPr>
            <a:picLocks noChangeAspect="1"/>
          </p:cNvPicPr>
          <p:nvPr/>
        </p:nvPicPr>
        <p:blipFill rotWithShape="1">
          <a:blip r:embed="rId4"/>
          <a:srcRect t="29956" r="-277"/>
          <a:stretch>
            <a:fillRect/>
          </a:stretch>
        </p:blipFill>
        <p:spPr>
          <a:xfrm>
            <a:off x="195620" y="89117"/>
            <a:ext cx="2766644" cy="613765"/>
          </a:xfrm>
          <a:prstGeom prst="rect">
            <a:avLst/>
          </a:prstGeom>
        </p:spPr>
      </p:pic>
    </p:spTree>
    <p:extLst>
      <p:ext uri="{BB962C8B-B14F-4D97-AF65-F5344CB8AC3E}">
        <p14:creationId xmlns:p14="http://schemas.microsoft.com/office/powerpoint/2010/main" val="20452268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2703276-BE52-10B1-565F-50306963B088}"/>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AB3C1424-BC54-4A9B-36B4-355300AF2E1B}"/>
              </a:ext>
            </a:extLst>
          </p:cNvPr>
          <p:cNvSpPr/>
          <p:nvPr/>
        </p:nvSpPr>
        <p:spPr>
          <a:xfrm rot="5400000">
            <a:off x="4227759" y="-4227756"/>
            <a:ext cx="3736490" cy="1219200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Songti SC" panose="02010600040101010101" pitchFamily="2" charset="-122"/>
              <a:ea typeface="Songti SC" panose="02010600040101010101" pitchFamily="2" charset="-122"/>
            </a:endParaRPr>
          </a:p>
        </p:txBody>
      </p:sp>
      <p:grpSp>
        <p:nvGrpSpPr>
          <p:cNvPr id="5" name="组合 4">
            <a:extLst>
              <a:ext uri="{FF2B5EF4-FFF2-40B4-BE49-F238E27FC236}">
                <a16:creationId xmlns:a16="http://schemas.microsoft.com/office/drawing/2014/main" id="{F9C8BA51-BDA7-1B33-5C92-4DDC22AB9F12}"/>
              </a:ext>
            </a:extLst>
          </p:cNvPr>
          <p:cNvGrpSpPr/>
          <p:nvPr/>
        </p:nvGrpSpPr>
        <p:grpSpPr>
          <a:xfrm>
            <a:off x="4919877" y="2920080"/>
            <a:ext cx="2352246" cy="1642832"/>
            <a:chOff x="5127859" y="2518592"/>
            <a:chExt cx="1936282" cy="1723208"/>
          </a:xfrm>
        </p:grpSpPr>
        <p:sp>
          <p:nvSpPr>
            <p:cNvPr id="6" name="任意多边形 5">
              <a:extLst>
                <a:ext uri="{FF2B5EF4-FFF2-40B4-BE49-F238E27FC236}">
                  <a16:creationId xmlns:a16="http://schemas.microsoft.com/office/drawing/2014/main" id="{B3371BA3-7566-0AA1-38AB-7D37B5C11E6B}"/>
                </a:ext>
              </a:extLst>
            </p:cNvPr>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b="1">
                <a:latin typeface="Songti SC" panose="02010600040101010101" pitchFamily="2" charset="-122"/>
                <a:ea typeface="Songti SC" panose="02010600040101010101" pitchFamily="2" charset="-122"/>
              </a:endParaRPr>
            </a:p>
          </p:txBody>
        </p:sp>
        <p:sp>
          <p:nvSpPr>
            <p:cNvPr id="7" name="任意多边形 6">
              <a:extLst>
                <a:ext uri="{FF2B5EF4-FFF2-40B4-BE49-F238E27FC236}">
                  <a16:creationId xmlns:a16="http://schemas.microsoft.com/office/drawing/2014/main" id="{EDCE6DE1-FE39-2D36-DE15-D2ADA66E398A}"/>
                </a:ext>
              </a:extLst>
            </p:cNvPr>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b="1">
                <a:latin typeface="Songti SC" panose="02010600040101010101" pitchFamily="2" charset="-122"/>
                <a:ea typeface="Songti SC" panose="02010600040101010101" pitchFamily="2" charset="-122"/>
              </a:endParaRPr>
            </a:p>
          </p:txBody>
        </p:sp>
      </p:grpSp>
      <p:sp>
        <p:nvSpPr>
          <p:cNvPr id="8" name="文本框 7">
            <a:extLst>
              <a:ext uri="{FF2B5EF4-FFF2-40B4-BE49-F238E27FC236}">
                <a16:creationId xmlns:a16="http://schemas.microsoft.com/office/drawing/2014/main" id="{07B6F792-A06E-72A5-E7D8-1E7E52F38DD9}"/>
              </a:ext>
            </a:extLst>
          </p:cNvPr>
          <p:cNvSpPr txBox="1"/>
          <p:nvPr/>
        </p:nvSpPr>
        <p:spPr>
          <a:xfrm>
            <a:off x="5321588" y="3416749"/>
            <a:ext cx="1723549" cy="646331"/>
          </a:xfrm>
          <a:prstGeom prst="rect">
            <a:avLst/>
          </a:prstGeom>
          <a:noFill/>
        </p:spPr>
        <p:txBody>
          <a:bodyPr wrap="none" rtlCol="0">
            <a:spAutoFit/>
          </a:bodyPr>
          <a:lstStyle/>
          <a:p>
            <a:r>
              <a:rPr lang="en-US" altLang="zh-CN" sz="3600" b="1" dirty="0">
                <a:solidFill>
                  <a:schemeClr val="bg1"/>
                </a:solidFill>
                <a:latin typeface="Arial" panose="020B0604020202020204" pitchFamily="34" charset="0"/>
                <a:ea typeface="微软雅黑" panose="020B0503020204020204" pitchFamily="34" charset="-122"/>
              </a:rPr>
              <a:t>Part.05</a:t>
            </a:r>
          </a:p>
        </p:txBody>
      </p:sp>
      <p:sp>
        <p:nvSpPr>
          <p:cNvPr id="9" name="文本框 8">
            <a:extLst>
              <a:ext uri="{FF2B5EF4-FFF2-40B4-BE49-F238E27FC236}">
                <a16:creationId xmlns:a16="http://schemas.microsoft.com/office/drawing/2014/main" id="{8293D329-A760-96F0-831B-F71651584972}"/>
              </a:ext>
            </a:extLst>
          </p:cNvPr>
          <p:cNvSpPr txBox="1"/>
          <p:nvPr/>
        </p:nvSpPr>
        <p:spPr>
          <a:xfrm>
            <a:off x="3327400" y="4962099"/>
            <a:ext cx="5537198" cy="830997"/>
          </a:xfrm>
          <a:prstGeom prst="rect">
            <a:avLst/>
          </a:prstGeom>
          <a:noFill/>
          <a:ln>
            <a:noFill/>
          </a:ln>
        </p:spPr>
        <p:txBody>
          <a:bodyPr wrap="square" rtlCol="0">
            <a:spAutoFit/>
          </a:bodyPr>
          <a:lstStyle/>
          <a:p>
            <a:pPr algn="ctr"/>
            <a:r>
              <a:rPr lang="zh-CN" altLang="en-US" sz="4800" b="1" spc="600" dirty="0">
                <a:solidFill>
                  <a:schemeClr val="accent6"/>
                </a:solidFill>
                <a:latin typeface="Arial" panose="020B0604020202020204" pitchFamily="34" charset="0"/>
                <a:ea typeface="微软雅黑" panose="020B0503020204020204" pitchFamily="34" charset="-122"/>
              </a:rPr>
              <a:t>项目总结</a:t>
            </a:r>
          </a:p>
        </p:txBody>
      </p:sp>
      <p:pic>
        <p:nvPicPr>
          <p:cNvPr id="4" name="图片 3">
            <a:extLst>
              <a:ext uri="{FF2B5EF4-FFF2-40B4-BE49-F238E27FC236}">
                <a16:creationId xmlns:a16="http://schemas.microsoft.com/office/drawing/2014/main" id="{ACE4D4B4-C102-44F0-F478-9F25F26F6E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0390" y="1516741"/>
            <a:ext cx="3582844" cy="657673"/>
          </a:xfrm>
          <a:prstGeom prst="rect">
            <a:avLst/>
          </a:prstGeom>
        </p:spPr>
      </p:pic>
    </p:spTree>
    <p:extLst>
      <p:ext uri="{BB962C8B-B14F-4D97-AF65-F5344CB8AC3E}">
        <p14:creationId xmlns:p14="http://schemas.microsoft.com/office/powerpoint/2010/main" val="17053068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4" fill="hold" nodeType="afterEffect" p14:presetBounceEnd="40000">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14:bounceEnd="40000">
                                          <p:cBhvr additive="base">
                                            <p:cTn id="12" dur="750" fill="hold"/>
                                            <p:tgtEl>
                                              <p:spTgt spid="5"/>
                                            </p:tgtEl>
                                            <p:attrNameLst>
                                              <p:attrName>ppt_x</p:attrName>
                                            </p:attrNameLst>
                                          </p:cBhvr>
                                          <p:tavLst>
                                            <p:tav tm="0">
                                              <p:val>
                                                <p:strVal val="#ppt_x"/>
                                              </p:val>
                                            </p:tav>
                                            <p:tav tm="100000">
                                              <p:val>
                                                <p:strVal val="#ppt_x"/>
                                              </p:val>
                                            </p:tav>
                                          </p:tavLst>
                                        </p:anim>
                                        <p:anim calcmode="lin" valueType="num" p14:bounceEnd="40000">
                                          <p:cBhvr additive="base">
                                            <p:cTn id="13" dur="7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2500"/>
                                </p:stCondLst>
                                <p:childTnLst>
                                  <p:par>
                                    <p:cTn id="21" presetID="50" presetClass="entr" presetSubtype="0" decel="1000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strVal val="#ppt_w+.3"/>
                                              </p:val>
                                            </p:tav>
                                            <p:tav tm="100000">
                                              <p:val>
                                                <p:strVal val="#ppt_w"/>
                                              </p:val>
                                            </p:tav>
                                          </p:tavLst>
                                        </p:anim>
                                        <p:anim calcmode="lin" valueType="num">
                                          <p:cBhvr>
                                            <p:cTn id="24" dur="1000" fill="hold"/>
                                            <p:tgtEl>
                                              <p:spTgt spid="9"/>
                                            </p:tgtEl>
                                            <p:attrNameLst>
                                              <p:attrName>ppt_h</p:attrName>
                                            </p:attrNameLst>
                                          </p:cBhvr>
                                          <p:tavLst>
                                            <p:tav tm="0">
                                              <p:val>
                                                <p:strVal val="#ppt_h"/>
                                              </p:val>
                                            </p:tav>
                                            <p:tav tm="100000">
                                              <p:val>
                                                <p:strVal val="#ppt_h"/>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750" fill="hold"/>
                                            <p:tgtEl>
                                              <p:spTgt spid="5"/>
                                            </p:tgtEl>
                                            <p:attrNameLst>
                                              <p:attrName>ppt_x</p:attrName>
                                            </p:attrNameLst>
                                          </p:cBhvr>
                                          <p:tavLst>
                                            <p:tav tm="0">
                                              <p:val>
                                                <p:strVal val="#ppt_x"/>
                                              </p:val>
                                            </p:tav>
                                            <p:tav tm="100000">
                                              <p:val>
                                                <p:strVal val="#ppt_x"/>
                                              </p:val>
                                            </p:tav>
                                          </p:tavLst>
                                        </p:anim>
                                        <p:anim calcmode="lin" valueType="num">
                                          <p:cBhvr additive="base">
                                            <p:cTn id="13" dur="7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2500"/>
                                </p:stCondLst>
                                <p:childTnLst>
                                  <p:par>
                                    <p:cTn id="21" presetID="50" presetClass="entr" presetSubtype="0" decel="1000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strVal val="#ppt_w+.3"/>
                                              </p:val>
                                            </p:tav>
                                            <p:tav tm="100000">
                                              <p:val>
                                                <p:strVal val="#ppt_w"/>
                                              </p:val>
                                            </p:tav>
                                          </p:tavLst>
                                        </p:anim>
                                        <p:anim calcmode="lin" valueType="num">
                                          <p:cBhvr>
                                            <p:cTn id="24" dur="1000" fill="hold"/>
                                            <p:tgtEl>
                                              <p:spTgt spid="9"/>
                                            </p:tgtEl>
                                            <p:attrNameLst>
                                              <p:attrName>ppt_h</p:attrName>
                                            </p:attrNameLst>
                                          </p:cBhvr>
                                          <p:tavLst>
                                            <p:tav tm="0">
                                              <p:val>
                                                <p:strVal val="#ppt_h"/>
                                              </p:val>
                                            </p:tav>
                                            <p:tav tm="100000">
                                              <p:val>
                                                <p:strVal val="#ppt_h"/>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p:bldLst>
      </p:timing>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4FDE3-13DE-58B9-5CC9-30AD605E8B5D}"/>
            </a:ext>
          </a:extLst>
        </p:cNvPr>
        <p:cNvGrpSpPr/>
        <p:nvPr/>
      </p:nvGrpSpPr>
      <p:grpSpPr>
        <a:xfrm>
          <a:off x="0" y="0"/>
          <a:ext cx="0" cy="0"/>
          <a:chOff x="0" y="0"/>
          <a:chExt cx="0" cy="0"/>
        </a:xfrm>
      </p:grpSpPr>
      <p:sp>
        <p:nvSpPr>
          <p:cNvPr id="22" name="矩形 4">
            <a:extLst>
              <a:ext uri="{FF2B5EF4-FFF2-40B4-BE49-F238E27FC236}">
                <a16:creationId xmlns:a16="http://schemas.microsoft.com/office/drawing/2014/main" id="{9D4C0FBB-F1EB-EFFC-2EF0-9B6AF548EBA1}"/>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24" name="矩形 23">
            <a:extLst>
              <a:ext uri="{FF2B5EF4-FFF2-40B4-BE49-F238E27FC236}">
                <a16:creationId xmlns:a16="http://schemas.microsoft.com/office/drawing/2014/main" id="{E4198956-07CF-7915-E464-97593FEB1286}"/>
              </a:ext>
            </a:extLst>
          </p:cNvPr>
          <p:cNvSpPr/>
          <p:nvPr/>
        </p:nvSpPr>
        <p:spPr>
          <a:xfrm>
            <a:off x="10003249"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sp>
        <p:nvSpPr>
          <p:cNvPr id="26" name="TextBox 6">
            <a:extLst>
              <a:ext uri="{FF2B5EF4-FFF2-40B4-BE49-F238E27FC236}">
                <a16:creationId xmlns:a16="http://schemas.microsoft.com/office/drawing/2014/main" id="{FE8C6A7B-5AC8-C6B6-10D3-79C4A2C52C30}"/>
              </a:ext>
            </a:extLst>
          </p:cNvPr>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28" name="TextBox 9">
            <a:extLst>
              <a:ext uri="{FF2B5EF4-FFF2-40B4-BE49-F238E27FC236}">
                <a16:creationId xmlns:a16="http://schemas.microsoft.com/office/drawing/2014/main" id="{278F7EBB-7B01-76E4-7103-BCFEEF03092A}"/>
              </a:ext>
            </a:extLst>
          </p:cNvPr>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项目实</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rPr>
              <a:t>现</a:t>
            </a:r>
          </a:p>
        </p:txBody>
      </p:sp>
      <p:sp>
        <p:nvSpPr>
          <p:cNvPr id="29" name="TextBox 10">
            <a:extLst>
              <a:ext uri="{FF2B5EF4-FFF2-40B4-BE49-F238E27FC236}">
                <a16:creationId xmlns:a16="http://schemas.microsoft.com/office/drawing/2014/main" id="{679B8EE6-F6CE-371E-BA9F-35F8BAD137FD}"/>
              </a:ext>
            </a:extLst>
          </p:cNvPr>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项目测试</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30" name="TextBox 11">
            <a:extLst>
              <a:ext uri="{FF2B5EF4-FFF2-40B4-BE49-F238E27FC236}">
                <a16:creationId xmlns:a16="http://schemas.microsoft.com/office/drawing/2014/main" id="{F1A977F2-C98A-4F41-9172-55E43830C4D5}"/>
              </a:ext>
            </a:extLst>
          </p:cNvPr>
          <p:cNvSpPr txBox="1"/>
          <p:nvPr/>
        </p:nvSpPr>
        <p:spPr>
          <a:xfrm>
            <a:off x="10182151" y="215903"/>
            <a:ext cx="1344000" cy="404714"/>
          </a:xfrm>
          <a:prstGeom prst="rect">
            <a:avLst/>
          </a:prstGeom>
          <a:noFill/>
        </p:spPr>
        <p:txBody>
          <a:bodyPr wrap="square" lIns="0" tIns="48000" rIns="0" bIns="48000" rtlCol="0">
            <a:spAutoFit/>
          </a:bodyPr>
          <a:lstStyle/>
          <a:p>
            <a:pPr algn="ctr"/>
            <a:r>
              <a:rPr lang="zh-CN" altLang="en-US" sz="2000" b="1">
                <a:solidFill>
                  <a:schemeClr val="bg1"/>
                </a:solidFill>
                <a:latin typeface="Arial" panose="020B0604020202020204" pitchFamily="34" charset="0"/>
                <a:ea typeface="微软雅黑" panose="020B0503020204020204" pitchFamily="34" charset="-122"/>
              </a:rPr>
              <a:t>项目总</a:t>
            </a:r>
            <a:r>
              <a:rPr lang="zh-CN" altLang="en-US" sz="2000" b="1" dirty="0">
                <a:solidFill>
                  <a:schemeClr val="bg1"/>
                </a:solidFill>
                <a:latin typeface="Arial" panose="020B0604020202020204" pitchFamily="34" charset="0"/>
                <a:ea typeface="微软雅黑" panose="020B0503020204020204" pitchFamily="34" charset="-122"/>
              </a:rPr>
              <a:t>结</a:t>
            </a:r>
          </a:p>
        </p:txBody>
      </p:sp>
      <p:sp>
        <p:nvSpPr>
          <p:cNvPr id="35" name="TextBox 6">
            <a:extLst>
              <a:ext uri="{FF2B5EF4-FFF2-40B4-BE49-F238E27FC236}">
                <a16:creationId xmlns:a16="http://schemas.microsoft.com/office/drawing/2014/main" id="{8C146649-6EBD-6C7F-43AF-85309FA57114}"/>
              </a:ext>
            </a:extLst>
          </p:cNvPr>
          <p:cNvSpPr txBox="1"/>
          <p:nvPr/>
        </p:nvSpPr>
        <p:spPr>
          <a:xfrm>
            <a:off x="608843" y="987974"/>
            <a:ext cx="2766106" cy="527825"/>
          </a:xfrm>
          <a:prstGeom prst="rect">
            <a:avLst/>
          </a:prstGeom>
          <a:noFill/>
        </p:spPr>
        <p:txBody>
          <a:bodyPr wrap="square" lIns="0" tIns="48000" rIns="0" bIns="48000" rtlCol="0">
            <a:spAutoFit/>
          </a:bodyPr>
          <a:lstStyle/>
          <a:p>
            <a:pPr algn="ctr"/>
            <a:r>
              <a:rPr lang="en-US" altLang="zh-CN" sz="2800" b="1" dirty="0">
                <a:solidFill>
                  <a:schemeClr val="tx1">
                    <a:lumMod val="65000"/>
                    <a:lumOff val="35000"/>
                  </a:schemeClr>
                </a:solidFill>
                <a:latin typeface="Arial" panose="020B0604020202020204" pitchFamily="34" charset="0"/>
                <a:ea typeface="微软雅黑" panose="020B0503020204020204" pitchFamily="34" charset="-122"/>
              </a:rPr>
              <a:t>5.1 </a:t>
            </a:r>
            <a:r>
              <a:rPr lang="zh-CN" altLang="en-US" sz="2800" b="1" dirty="0">
                <a:solidFill>
                  <a:schemeClr val="tx1">
                    <a:lumMod val="65000"/>
                    <a:lumOff val="35000"/>
                  </a:schemeClr>
                </a:solidFill>
                <a:latin typeface="Arial" panose="020B0604020202020204" pitchFamily="34" charset="0"/>
                <a:ea typeface="微软雅黑" panose="020B0503020204020204" pitchFamily="34" charset="-122"/>
              </a:rPr>
              <a:t>项目工作总结</a:t>
            </a:r>
          </a:p>
        </p:txBody>
      </p:sp>
      <p:cxnSp>
        <p:nvCxnSpPr>
          <p:cNvPr id="15" name="直接连接符 14">
            <a:extLst>
              <a:ext uri="{FF2B5EF4-FFF2-40B4-BE49-F238E27FC236}">
                <a16:creationId xmlns:a16="http://schemas.microsoft.com/office/drawing/2014/main" id="{B6BBA890-F101-C3C6-EE21-385E48FFFDC5}"/>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8EEA5E04-A605-68B5-26C0-7D85B4D17A43}"/>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29758A8B-8A92-DC51-F6DF-70EDD074ED6C}"/>
              </a:ext>
            </a:extLst>
          </p:cNvPr>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AD669F50-C74C-40EF-F261-D88BC15E494E}"/>
              </a:ext>
            </a:extLst>
          </p:cNvPr>
          <p:cNvCxnSpPr/>
          <p:nvPr/>
        </p:nvCxnSpPr>
        <p:spPr>
          <a:xfrm>
            <a:off x="8337248" y="31324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BCC3D4D1-E2B6-7698-D2E8-E6356913BB29}"/>
              </a:ext>
            </a:extLst>
          </p:cNvPr>
          <p:cNvPicPr>
            <a:picLocks noChangeAspect="1"/>
          </p:cNvPicPr>
          <p:nvPr/>
        </p:nvPicPr>
        <p:blipFill rotWithShape="1">
          <a:blip r:embed="rId3"/>
          <a:srcRect t="29956" r="-277"/>
          <a:stretch>
            <a:fillRect/>
          </a:stretch>
        </p:blipFill>
        <p:spPr>
          <a:xfrm>
            <a:off x="195620" y="89117"/>
            <a:ext cx="2766644" cy="613765"/>
          </a:xfrm>
          <a:prstGeom prst="rect">
            <a:avLst/>
          </a:prstGeom>
        </p:spPr>
      </p:pic>
      <p:graphicFrame>
        <p:nvGraphicFramePr>
          <p:cNvPr id="2" name="表格 1">
            <a:extLst>
              <a:ext uri="{FF2B5EF4-FFF2-40B4-BE49-F238E27FC236}">
                <a16:creationId xmlns:a16="http://schemas.microsoft.com/office/drawing/2014/main" id="{75E40B83-BFF2-EDE7-7722-A0FE94887E9E}"/>
              </a:ext>
            </a:extLst>
          </p:cNvPr>
          <p:cNvGraphicFramePr>
            <a:graphicFrameLocks noGrp="1"/>
          </p:cNvGraphicFramePr>
          <p:nvPr>
            <p:extLst>
              <p:ext uri="{D42A27DB-BD31-4B8C-83A1-F6EECF244321}">
                <p14:modId xmlns:p14="http://schemas.microsoft.com/office/powerpoint/2010/main" val="1782681547"/>
              </p:ext>
            </p:extLst>
          </p:nvPr>
        </p:nvGraphicFramePr>
        <p:xfrm>
          <a:off x="863937" y="1597015"/>
          <a:ext cx="10559713" cy="5080428"/>
        </p:xfrm>
        <a:graphic>
          <a:graphicData uri="http://schemas.openxmlformats.org/drawingml/2006/table">
            <a:tbl>
              <a:tblPr firstRow="1" bandRow="1">
                <a:tableStyleId>{93296810-A885-4BE3-A3E7-6D5BEEA58F35}</a:tableStyleId>
              </a:tblPr>
              <a:tblGrid>
                <a:gridCol w="2471881">
                  <a:extLst>
                    <a:ext uri="{9D8B030D-6E8A-4147-A177-3AD203B41FA5}">
                      <a16:colId xmlns:a16="http://schemas.microsoft.com/office/drawing/2014/main" val="2694015343"/>
                    </a:ext>
                  </a:extLst>
                </a:gridCol>
                <a:gridCol w="1860933">
                  <a:extLst>
                    <a:ext uri="{9D8B030D-6E8A-4147-A177-3AD203B41FA5}">
                      <a16:colId xmlns:a16="http://schemas.microsoft.com/office/drawing/2014/main" val="526344773"/>
                    </a:ext>
                  </a:extLst>
                </a:gridCol>
                <a:gridCol w="6226899">
                  <a:extLst>
                    <a:ext uri="{9D8B030D-6E8A-4147-A177-3AD203B41FA5}">
                      <a16:colId xmlns:a16="http://schemas.microsoft.com/office/drawing/2014/main" val="2319609107"/>
                    </a:ext>
                  </a:extLst>
                </a:gridCol>
              </a:tblGrid>
              <a:tr h="599868">
                <a:tc>
                  <a:txBody>
                    <a:bodyPr/>
                    <a:lstStyle/>
                    <a:p>
                      <a:pPr>
                        <a:buNone/>
                      </a:pPr>
                      <a:r>
                        <a:rPr lang="zh-CN" altLang="en-US" b="1" i="0">
                          <a:latin typeface="Arial" panose="020B0604020202020204" pitchFamily="34" charset="0"/>
                          <a:ea typeface="微软雅黑" panose="020B0503020204020204" pitchFamily="34" charset="-122"/>
                        </a:rPr>
                        <a:t>实现内容</a:t>
                      </a:r>
                      <a:endParaRPr lang="zh-CN" b="1" i="0">
                        <a:latin typeface="Arial" panose="020B0604020202020204" pitchFamily="34" charset="0"/>
                        <a:ea typeface="微软雅黑" panose="020B0503020204020204" pitchFamily="34" charset="-122"/>
                      </a:endParaRPr>
                    </a:p>
                  </a:txBody>
                  <a:tcPr anchor="ctr"/>
                </a:tc>
                <a:tc>
                  <a:txBody>
                    <a:bodyPr/>
                    <a:lstStyle/>
                    <a:p>
                      <a:pPr>
                        <a:buNone/>
                      </a:pPr>
                      <a:r>
                        <a:rPr lang="zh-CN" altLang="en-US" b="1" i="0">
                          <a:latin typeface="Arial" panose="020B0604020202020204" pitchFamily="34" charset="0"/>
                          <a:ea typeface="微软雅黑" panose="020B0503020204020204" pitchFamily="34" charset="-122"/>
                        </a:rPr>
                        <a:t>对应目标</a:t>
                      </a:r>
                      <a:endParaRPr lang="zh-CN" b="1" i="0">
                        <a:latin typeface="Arial" panose="020B0604020202020204" pitchFamily="34" charset="0"/>
                        <a:ea typeface="微软雅黑" panose="020B0503020204020204" pitchFamily="34" charset="-122"/>
                      </a:endParaRPr>
                    </a:p>
                  </a:txBody>
                  <a:tcPr anchor="ctr"/>
                </a:tc>
                <a:tc>
                  <a:txBody>
                    <a:bodyPr/>
                    <a:lstStyle/>
                    <a:p>
                      <a:pPr>
                        <a:buNone/>
                      </a:pPr>
                      <a:r>
                        <a:rPr lang="zh-CN" b="1" i="0">
                          <a:latin typeface="Arial" panose="020B0604020202020204" pitchFamily="34" charset="0"/>
                          <a:ea typeface="微软雅黑" panose="020B0503020204020204" pitchFamily="34" charset="-122"/>
                        </a:rPr>
                        <a:t>说明</a:t>
                      </a:r>
                    </a:p>
                  </a:txBody>
                  <a:tcPr anchor="ctr"/>
                </a:tc>
                <a:extLst>
                  <a:ext uri="{0D108BD9-81ED-4DB2-BD59-A6C34878D82A}">
                    <a16:rowId xmlns:a16="http://schemas.microsoft.com/office/drawing/2014/main" val="1024286106"/>
                  </a:ext>
                </a:extLst>
              </a:tr>
              <a:tr h="0">
                <a:tc>
                  <a:txBody>
                    <a:bodyPr/>
                    <a:lstStyle/>
                    <a:p>
                      <a:pPr>
                        <a:buNone/>
                      </a:pPr>
                      <a:r>
                        <a:rPr lang="zh-CN" altLang="en-US" b="1" i="0">
                          <a:latin typeface="Arial" panose="020B0604020202020204" pitchFamily="34" charset="0"/>
                          <a:ea typeface="微软雅黑" panose="020B0503020204020204" pitchFamily="34" charset="-122"/>
                        </a:rPr>
                        <a:t>基础运行环境搭建与</a:t>
                      </a:r>
                    </a:p>
                    <a:p>
                      <a:pPr>
                        <a:buNone/>
                      </a:pPr>
                      <a:r>
                        <a:rPr lang="en-US" altLang="zh-CN" b="1" i="0">
                          <a:latin typeface="Arial" panose="020B0604020202020204" pitchFamily="34" charset="0"/>
                          <a:ea typeface="微软雅黑" panose="020B0503020204020204" pitchFamily="34" charset="-122"/>
                        </a:rPr>
                        <a:t>LLM</a:t>
                      </a:r>
                      <a:r>
                        <a:rPr lang="zh-CN" altLang="en-US" b="1" i="0">
                          <a:latin typeface="Arial" panose="020B0604020202020204" pitchFamily="34" charset="0"/>
                          <a:ea typeface="微软雅黑" panose="020B0503020204020204" pitchFamily="34" charset="-122"/>
                        </a:rPr>
                        <a:t>访存特征分析</a:t>
                      </a:r>
                      <a:endParaRPr lang="zh-CN" b="1" i="0">
                        <a:latin typeface="Arial" panose="020B0604020202020204" pitchFamily="34" charset="0"/>
                        <a:ea typeface="微软雅黑" panose="020B0503020204020204" pitchFamily="34" charset="-122"/>
                      </a:endParaRPr>
                    </a:p>
                  </a:txBody>
                  <a:tcPr anchor="ctr"/>
                </a:tc>
                <a:tc>
                  <a:txBody>
                    <a:bodyPr/>
                    <a:lstStyle/>
                    <a:p>
                      <a:pPr>
                        <a:buNone/>
                      </a:pPr>
                      <a:r>
                        <a:rPr lang="zh-CN" altLang="en-US" b="1" i="0">
                          <a:latin typeface="Arial" panose="020B0604020202020204" pitchFamily="34" charset="0"/>
                          <a:ea typeface="微软雅黑" panose="020B0503020204020204" pitchFamily="34" charset="-122"/>
                        </a:rPr>
                        <a:t>目标</a:t>
                      </a:r>
                      <a:r>
                        <a:rPr lang="en-US" altLang="zh-CN" b="1" i="0">
                          <a:latin typeface="Arial" panose="020B0604020202020204" pitchFamily="34" charset="0"/>
                          <a:ea typeface="微软雅黑" panose="020B0503020204020204" pitchFamily="34" charset="-122"/>
                        </a:rPr>
                        <a:t>1</a:t>
                      </a:r>
                      <a:r>
                        <a:rPr lang="zh-CN" altLang="en-US" b="1" i="0">
                          <a:latin typeface="Arial" panose="020B0604020202020204" pitchFamily="34" charset="0"/>
                          <a:ea typeface="微软雅黑" panose="020B0503020204020204" pitchFamily="34" charset="-122"/>
                        </a:rPr>
                        <a:t>、</a:t>
                      </a:r>
                      <a:r>
                        <a:rPr lang="en-US" altLang="zh-CN" b="1" i="0">
                          <a:latin typeface="Arial" panose="020B0604020202020204" pitchFamily="34" charset="0"/>
                          <a:ea typeface="微软雅黑" panose="020B0503020204020204" pitchFamily="34" charset="-122"/>
                        </a:rPr>
                        <a:t>4</a:t>
                      </a:r>
                      <a:endParaRPr lang="zh-CN" b="1" i="0">
                        <a:latin typeface="Arial" panose="020B0604020202020204" pitchFamily="34" charset="0"/>
                        <a:ea typeface="微软雅黑" panose="020B0503020204020204" pitchFamily="34" charset="-122"/>
                      </a:endParaRPr>
                    </a:p>
                  </a:txBody>
                  <a:tcPr anchor="ctr"/>
                </a:tc>
                <a:tc>
                  <a:txBody>
                    <a:bodyPr/>
                    <a:lstStyle/>
                    <a:p>
                      <a:pPr>
                        <a:buNone/>
                      </a:pPr>
                      <a:r>
                        <a:rPr lang="zh-CN" altLang="en-US" b="1" i="0">
                          <a:latin typeface="Arial" panose="020B0604020202020204" pitchFamily="34" charset="0"/>
                          <a:ea typeface="微软雅黑" panose="020B0503020204020204" pitchFamily="34" charset="-122"/>
                        </a:rPr>
                        <a:t>完成 </a:t>
                      </a:r>
                      <a:r>
                        <a:rPr lang="en-US" altLang="zh-CN" b="1" i="0">
                          <a:latin typeface="Arial" panose="020B0604020202020204" pitchFamily="34" charset="0"/>
                          <a:ea typeface="微软雅黑" panose="020B0503020204020204" pitchFamily="34" charset="-122"/>
                        </a:rPr>
                        <a:t>llama.cpp </a:t>
                      </a:r>
                      <a:r>
                        <a:rPr lang="zh-CN" altLang="en-US" b="1" i="0">
                          <a:latin typeface="Arial" panose="020B0604020202020204" pitchFamily="34" charset="0"/>
                          <a:ea typeface="微软雅黑" panose="020B0503020204020204" pitchFamily="34" charset="-122"/>
                        </a:rPr>
                        <a:t>编译部署资源受限环境搭建，建立访存行</a:t>
                      </a:r>
                    </a:p>
                    <a:p>
                      <a:pPr>
                        <a:buNone/>
                      </a:pPr>
                      <a:r>
                        <a:rPr lang="zh-CN" altLang="en-US" b="1" i="0">
                          <a:latin typeface="Arial" panose="020B0604020202020204" pitchFamily="34" charset="0"/>
                          <a:ea typeface="微软雅黑" panose="020B0503020204020204" pitchFamily="34" charset="-122"/>
                        </a:rPr>
                        <a:t>为分析模型。</a:t>
                      </a:r>
                      <a:endParaRPr lang="zh-CN" b="1" i="0">
                        <a:latin typeface="Arial" panose="020B0604020202020204" pitchFamily="34" charset="0"/>
                        <a:ea typeface="微软雅黑" panose="020B0503020204020204" pitchFamily="34" charset="-122"/>
                      </a:endParaRPr>
                    </a:p>
                  </a:txBody>
                  <a:tcPr anchor="ctr"/>
                </a:tc>
                <a:extLst>
                  <a:ext uri="{0D108BD9-81ED-4DB2-BD59-A6C34878D82A}">
                    <a16:rowId xmlns:a16="http://schemas.microsoft.com/office/drawing/2014/main" val="2973521389"/>
                  </a:ext>
                </a:extLst>
              </a:tr>
              <a:tr h="0">
                <a:tc>
                  <a:txBody>
                    <a:bodyPr/>
                    <a:lstStyle/>
                    <a:p>
                      <a:pPr>
                        <a:buNone/>
                      </a:pPr>
                      <a:r>
                        <a:rPr lang="en-US" altLang="zh-CN" b="1" i="0">
                          <a:latin typeface="Arial" panose="020B0604020202020204" pitchFamily="34" charset="0"/>
                          <a:ea typeface="微软雅黑" panose="020B0503020204020204" pitchFamily="34" charset="-122"/>
                        </a:rPr>
                        <a:t>Dense Flex </a:t>
                      </a:r>
                      <a:r>
                        <a:rPr lang="zh-CN" altLang="en-US" b="1" i="0">
                          <a:latin typeface="Arial" panose="020B0604020202020204" pitchFamily="34" charset="0"/>
                          <a:ea typeface="微软雅黑" panose="020B0503020204020204" pitchFamily="34" charset="-122"/>
                        </a:rPr>
                        <a:t>权重</a:t>
                      </a:r>
                    </a:p>
                    <a:p>
                      <a:pPr>
                        <a:buNone/>
                      </a:pPr>
                      <a:r>
                        <a:rPr lang="zh-CN" altLang="en-US" b="1" i="0">
                          <a:latin typeface="Arial" panose="020B0604020202020204" pitchFamily="34" charset="0"/>
                          <a:ea typeface="微软雅黑" panose="020B0503020204020204" pitchFamily="34" charset="-122"/>
                        </a:rPr>
                        <a:t>管理模块</a:t>
                      </a:r>
                      <a:endParaRPr lang="zh-CN" b="1" i="0">
                        <a:latin typeface="Arial" panose="020B0604020202020204" pitchFamily="34" charset="0"/>
                        <a:ea typeface="微软雅黑" panose="020B0503020204020204" pitchFamily="34" charset="-122"/>
                      </a:endParaRPr>
                    </a:p>
                  </a:txBody>
                  <a:tcPr anchor="ctr"/>
                </a:tc>
                <a:tc>
                  <a:txBody>
                    <a:bodyPr/>
                    <a:lstStyle/>
                    <a:p>
                      <a:pPr>
                        <a:buNone/>
                      </a:pPr>
                      <a:r>
                        <a:rPr lang="zh-CN" altLang="en-US" b="1" i="0">
                          <a:latin typeface="Arial" panose="020B0604020202020204" pitchFamily="34" charset="0"/>
                          <a:ea typeface="微软雅黑" panose="020B0503020204020204" pitchFamily="34" charset="-122"/>
                        </a:rPr>
                        <a:t>目标</a:t>
                      </a:r>
                      <a:r>
                        <a:rPr lang="en-US" altLang="zh-CN" b="1" i="0">
                          <a:latin typeface="Arial" panose="020B0604020202020204" pitchFamily="34" charset="0"/>
                          <a:ea typeface="微软雅黑" panose="020B0503020204020204" pitchFamily="34" charset="-122"/>
                        </a:rPr>
                        <a:t>2</a:t>
                      </a:r>
                      <a:r>
                        <a:rPr lang="zh-CN" altLang="en-US" b="1" i="0">
                          <a:latin typeface="Arial" panose="020B0604020202020204" pitchFamily="34" charset="0"/>
                          <a:ea typeface="微软雅黑" panose="020B0503020204020204" pitchFamily="34" charset="-122"/>
                        </a:rPr>
                        <a:t>、</a:t>
                      </a:r>
                      <a:r>
                        <a:rPr lang="en-US" altLang="zh-CN" b="1" i="0">
                          <a:latin typeface="Arial" panose="020B0604020202020204" pitchFamily="34" charset="0"/>
                          <a:ea typeface="微软雅黑" panose="020B0503020204020204" pitchFamily="34" charset="-122"/>
                        </a:rPr>
                        <a:t>3</a:t>
                      </a:r>
                      <a:endParaRPr lang="zh-CN" b="1" i="0">
                        <a:latin typeface="Arial" panose="020B0604020202020204" pitchFamily="34" charset="0"/>
                        <a:ea typeface="微软雅黑" panose="020B0503020204020204" pitchFamily="34" charset="-122"/>
                      </a:endParaRPr>
                    </a:p>
                  </a:txBody>
                  <a:tcPr anchor="ctr"/>
                </a:tc>
                <a:tc>
                  <a:txBody>
                    <a:bodyPr/>
                    <a:lstStyle/>
                    <a:p>
                      <a:pPr>
                        <a:buNone/>
                      </a:pPr>
                      <a:r>
                        <a:rPr lang="zh-CN" altLang="en-US" b="1" i="0">
                          <a:latin typeface="Arial" panose="020B0604020202020204" pitchFamily="34" charset="0"/>
                          <a:ea typeface="微软雅黑" panose="020B0503020204020204" pitchFamily="34" charset="-122"/>
                        </a:rPr>
                        <a:t>面向 </a:t>
                      </a:r>
                      <a:r>
                        <a:rPr lang="en-US" altLang="zh-CN" b="1" i="0">
                          <a:latin typeface="Arial" panose="020B0604020202020204" pitchFamily="34" charset="0"/>
                          <a:ea typeface="微软雅黑" panose="020B0503020204020204" pitchFamily="34" charset="-122"/>
                        </a:rPr>
                        <a:t>Dense </a:t>
                      </a:r>
                      <a:r>
                        <a:rPr lang="zh-CN" altLang="en-US" b="1" i="0">
                          <a:latin typeface="Arial" panose="020B0604020202020204" pitchFamily="34" charset="0"/>
                          <a:ea typeface="微软雅黑" panose="020B0503020204020204" pitchFamily="34" charset="-122"/>
                        </a:rPr>
                        <a:t>模型实现层级权重流式管理，有效控制常驻权重集大小。</a:t>
                      </a:r>
                      <a:endParaRPr lang="zh-CN" b="1" i="0">
                        <a:latin typeface="Arial" panose="020B0604020202020204" pitchFamily="34" charset="0"/>
                        <a:ea typeface="微软雅黑" panose="020B0503020204020204" pitchFamily="34" charset="-122"/>
                      </a:endParaRPr>
                    </a:p>
                  </a:txBody>
                  <a:tcPr anchor="ctr"/>
                </a:tc>
                <a:extLst>
                  <a:ext uri="{0D108BD9-81ED-4DB2-BD59-A6C34878D82A}">
                    <a16:rowId xmlns:a16="http://schemas.microsoft.com/office/drawing/2014/main" val="1822358529"/>
                  </a:ext>
                </a:extLst>
              </a:tr>
              <a:tr h="0">
                <a:tc>
                  <a:txBody>
                    <a:bodyPr/>
                    <a:lstStyle/>
                    <a:p>
                      <a:pPr>
                        <a:buNone/>
                      </a:pPr>
                      <a:r>
                        <a:rPr lang="en-US" altLang="zh-CN" b="1" i="0">
                          <a:latin typeface="Arial" panose="020B0604020202020204" pitchFamily="34" charset="0"/>
                          <a:ea typeface="微软雅黑" panose="020B0503020204020204" pitchFamily="34" charset="-122"/>
                        </a:rPr>
                        <a:t>MoE Buffer </a:t>
                      </a:r>
                      <a:r>
                        <a:rPr lang="zh-CN" altLang="en-US" b="1" i="0">
                          <a:latin typeface="Arial" panose="020B0604020202020204" pitchFamily="34" charset="0"/>
                          <a:ea typeface="微软雅黑" panose="020B0503020204020204" pitchFamily="34" charset="-122"/>
                        </a:rPr>
                        <a:t>专家权重</a:t>
                      </a:r>
                    </a:p>
                    <a:p>
                      <a:pPr>
                        <a:buNone/>
                      </a:pPr>
                      <a:r>
                        <a:rPr lang="zh-CN" altLang="en-US" b="1" i="0">
                          <a:latin typeface="Arial" panose="020B0604020202020204" pitchFamily="34" charset="0"/>
                          <a:ea typeface="微软雅黑" panose="020B0503020204020204" pitchFamily="34" charset="-122"/>
                        </a:rPr>
                        <a:t>管理模块</a:t>
                      </a:r>
                      <a:endParaRPr lang="zh-CN" b="1" i="0">
                        <a:latin typeface="Arial" panose="020B0604020202020204" pitchFamily="34" charset="0"/>
                        <a:ea typeface="微软雅黑" panose="020B0503020204020204" pitchFamily="34" charset="-122"/>
                      </a:endParaRPr>
                    </a:p>
                  </a:txBody>
                  <a:tcPr anchor="ctr"/>
                </a:tc>
                <a:tc>
                  <a:txBody>
                    <a:bodyPr/>
                    <a:lstStyle/>
                    <a:p>
                      <a:pPr>
                        <a:buNone/>
                      </a:pPr>
                      <a:r>
                        <a:rPr lang="zh-CN" altLang="en-US" b="1" i="0">
                          <a:latin typeface="Arial" panose="020B0604020202020204" pitchFamily="34" charset="0"/>
                          <a:ea typeface="微软雅黑" panose="020B0503020204020204" pitchFamily="34" charset="-122"/>
                        </a:rPr>
                        <a:t>目标</a:t>
                      </a:r>
                      <a:r>
                        <a:rPr lang="en-US" altLang="zh-CN" b="1" i="0">
                          <a:latin typeface="Arial" panose="020B0604020202020204" pitchFamily="34" charset="0"/>
                          <a:ea typeface="微软雅黑" panose="020B0503020204020204" pitchFamily="34" charset="-122"/>
                        </a:rPr>
                        <a:t>2</a:t>
                      </a:r>
                      <a:r>
                        <a:rPr lang="zh-CN" altLang="en-US" b="1" i="0">
                          <a:latin typeface="Arial" panose="020B0604020202020204" pitchFamily="34" charset="0"/>
                          <a:ea typeface="微软雅黑" panose="020B0503020204020204" pitchFamily="34" charset="-122"/>
                        </a:rPr>
                        <a:t>、</a:t>
                      </a:r>
                      <a:r>
                        <a:rPr lang="en-US" altLang="zh-CN" b="1" i="0">
                          <a:latin typeface="Arial" panose="020B0604020202020204" pitchFamily="34" charset="0"/>
                          <a:ea typeface="微软雅黑" panose="020B0503020204020204" pitchFamily="34" charset="-122"/>
                        </a:rPr>
                        <a:t>3</a:t>
                      </a:r>
                      <a:endParaRPr lang="zh-CN" b="1" i="0">
                        <a:latin typeface="Arial" panose="020B0604020202020204" pitchFamily="34" charset="0"/>
                        <a:ea typeface="微软雅黑" panose="020B0503020204020204" pitchFamily="34" charset="-122"/>
                      </a:endParaRPr>
                    </a:p>
                  </a:txBody>
                  <a:tcPr anchor="ctr"/>
                </a:tc>
                <a:tc>
                  <a:txBody>
                    <a:bodyPr/>
                    <a:lstStyle/>
                    <a:p>
                      <a:pPr>
                        <a:buNone/>
                      </a:pPr>
                      <a:r>
                        <a:rPr lang="zh-CN" altLang="en-US" b="1" i="0">
                          <a:latin typeface="Arial" panose="020B0604020202020204" pitchFamily="34" charset="0"/>
                          <a:ea typeface="微软雅黑" panose="020B0503020204020204" pitchFamily="34" charset="-122"/>
                        </a:rPr>
                        <a:t>以单个专家权重为粒度构建组级工作单元，将 </a:t>
                      </a:r>
                      <a:r>
                        <a:rPr lang="en-US" altLang="zh-CN" b="1" i="0">
                          <a:latin typeface="Arial" panose="020B0604020202020204" pitchFamily="34" charset="0"/>
                          <a:ea typeface="微软雅黑" panose="020B0503020204020204" pitchFamily="34" charset="-122"/>
                        </a:rPr>
                        <a:t>MoE </a:t>
                      </a:r>
                      <a:r>
                        <a:rPr lang="zh-CN" altLang="en-US" b="1" i="0">
                          <a:latin typeface="Arial" panose="020B0604020202020204" pitchFamily="34" charset="0"/>
                          <a:ea typeface="微软雅黑" panose="020B0503020204020204" pitchFamily="34" charset="-122"/>
                        </a:rPr>
                        <a:t>模型的全局专家权重集转化为有限动态工作集。</a:t>
                      </a:r>
                      <a:endParaRPr lang="zh-CN" b="1" i="0">
                        <a:latin typeface="Arial" panose="020B0604020202020204" pitchFamily="34" charset="0"/>
                        <a:ea typeface="微软雅黑" panose="020B0503020204020204" pitchFamily="34" charset="-122"/>
                      </a:endParaRPr>
                    </a:p>
                  </a:txBody>
                  <a:tcPr anchor="ctr"/>
                </a:tc>
                <a:extLst>
                  <a:ext uri="{0D108BD9-81ED-4DB2-BD59-A6C34878D82A}">
                    <a16:rowId xmlns:a16="http://schemas.microsoft.com/office/drawing/2014/main" val="806921566"/>
                  </a:ext>
                </a:extLst>
              </a:tr>
              <a:tr h="0">
                <a:tc>
                  <a:txBody>
                    <a:bodyPr/>
                    <a:lstStyle/>
                    <a:p>
                      <a:pPr>
                        <a:buNone/>
                      </a:pPr>
                      <a:r>
                        <a:rPr lang="en-US" altLang="zh-CN" b="1" i="0">
                          <a:latin typeface="Arial" panose="020B0604020202020204" pitchFamily="34" charset="0"/>
                          <a:ea typeface="微软雅黑" panose="020B0503020204020204" pitchFamily="34" charset="-122"/>
                        </a:rPr>
                        <a:t>KV Controller </a:t>
                      </a:r>
                      <a:r>
                        <a:rPr lang="zh-CN" altLang="en-US" b="1" i="0">
                          <a:latin typeface="Arial" panose="020B0604020202020204" pitchFamily="34" charset="0"/>
                          <a:ea typeface="微软雅黑" panose="020B0503020204020204" pitchFamily="34" charset="-122"/>
                        </a:rPr>
                        <a:t>运行时</a:t>
                      </a:r>
                    </a:p>
                    <a:p>
                      <a:pPr>
                        <a:buNone/>
                      </a:pPr>
                      <a:r>
                        <a:rPr lang="zh-CN" altLang="en-US" b="1" i="0">
                          <a:latin typeface="Arial" panose="020B0604020202020204" pitchFamily="34" charset="0"/>
                          <a:ea typeface="微软雅黑" panose="020B0503020204020204" pitchFamily="34" charset="-122"/>
                        </a:rPr>
                        <a:t>管理模块</a:t>
                      </a:r>
                      <a:endParaRPr lang="zh-CN" b="1" i="0">
                        <a:latin typeface="Arial" panose="020B0604020202020204" pitchFamily="34" charset="0"/>
                        <a:ea typeface="微软雅黑" panose="020B0503020204020204" pitchFamily="34" charset="-122"/>
                      </a:endParaRPr>
                    </a:p>
                  </a:txBody>
                  <a:tcPr anchor="ctr"/>
                </a:tc>
                <a:tc>
                  <a:txBody>
                    <a:bodyPr/>
                    <a:lstStyle/>
                    <a:p>
                      <a:pPr>
                        <a:buNone/>
                      </a:pPr>
                      <a:r>
                        <a:rPr lang="zh-CN" altLang="en-US" b="1" i="0">
                          <a:latin typeface="Arial" panose="020B0604020202020204" pitchFamily="34" charset="0"/>
                          <a:ea typeface="微软雅黑" panose="020B0503020204020204" pitchFamily="34" charset="-122"/>
                        </a:rPr>
                        <a:t>目标</a:t>
                      </a:r>
                      <a:r>
                        <a:rPr lang="en-US" altLang="zh-CN" b="1" i="0">
                          <a:latin typeface="Arial" panose="020B0604020202020204" pitchFamily="34" charset="0"/>
                          <a:ea typeface="微软雅黑" panose="020B0503020204020204" pitchFamily="34" charset="-122"/>
                        </a:rPr>
                        <a:t>2</a:t>
                      </a:r>
                      <a:r>
                        <a:rPr lang="zh-CN" altLang="en-US" b="1" i="0">
                          <a:latin typeface="Arial" panose="020B0604020202020204" pitchFamily="34" charset="0"/>
                          <a:ea typeface="微软雅黑" panose="020B0503020204020204" pitchFamily="34" charset="-122"/>
                        </a:rPr>
                        <a:t>、</a:t>
                      </a:r>
                      <a:r>
                        <a:rPr lang="en-US" altLang="zh-CN" b="1" i="0">
                          <a:latin typeface="Arial" panose="020B0604020202020204" pitchFamily="34" charset="0"/>
                          <a:ea typeface="微软雅黑" panose="020B0503020204020204" pitchFamily="34" charset="-122"/>
                        </a:rPr>
                        <a:t>3</a:t>
                      </a:r>
                      <a:endParaRPr lang="zh-CN" b="1" i="0">
                        <a:latin typeface="Arial" panose="020B0604020202020204" pitchFamily="34" charset="0"/>
                        <a:ea typeface="微软雅黑" panose="020B0503020204020204" pitchFamily="34" charset="-122"/>
                      </a:endParaRPr>
                    </a:p>
                  </a:txBody>
                  <a:tcPr anchor="ctr"/>
                </a:tc>
                <a:tc>
                  <a:txBody>
                    <a:bodyPr/>
                    <a:lstStyle/>
                    <a:p>
                      <a:pPr>
                        <a:buNone/>
                      </a:pPr>
                      <a:r>
                        <a:rPr lang="zh-CN" altLang="en-US" b="1" i="0">
                          <a:latin typeface="Arial" panose="020B0604020202020204" pitchFamily="34" charset="0"/>
                          <a:ea typeface="微软雅黑" panose="020B0503020204020204" pitchFamily="34" charset="-122"/>
                        </a:rPr>
                        <a:t>实现 </a:t>
                      </a:r>
                      <a:r>
                        <a:rPr lang="en-US" altLang="zh-CN" b="1" i="0">
                          <a:latin typeface="Arial" panose="020B0604020202020204" pitchFamily="34" charset="0"/>
                          <a:ea typeface="微软雅黑" panose="020B0503020204020204" pitchFamily="34" charset="-122"/>
                        </a:rPr>
                        <a:t>KV </a:t>
                      </a:r>
                      <a:r>
                        <a:rPr lang="zh-CN" altLang="en-US" b="1" i="0">
                          <a:latin typeface="Arial" panose="020B0604020202020204" pitchFamily="34" charset="0"/>
                          <a:ea typeface="微软雅黑" panose="020B0503020204020204" pitchFamily="34" charset="-122"/>
                        </a:rPr>
                        <a:t>块常驻与可回收状态监测与转换，通过逻辑与物理驻留解耦降低长上下文内存占用。</a:t>
                      </a:r>
                      <a:endParaRPr lang="zh-CN" b="1" i="0">
                        <a:latin typeface="Arial" panose="020B0604020202020204" pitchFamily="34" charset="0"/>
                        <a:ea typeface="微软雅黑" panose="020B0503020204020204" pitchFamily="34" charset="-122"/>
                      </a:endParaRPr>
                    </a:p>
                  </a:txBody>
                  <a:tcPr anchor="ctr"/>
                </a:tc>
                <a:extLst>
                  <a:ext uri="{0D108BD9-81ED-4DB2-BD59-A6C34878D82A}">
                    <a16:rowId xmlns:a16="http://schemas.microsoft.com/office/drawing/2014/main" val="4046235437"/>
                  </a:ext>
                </a:extLst>
              </a:tr>
              <a:tr h="0">
                <a:tc>
                  <a:txBody>
                    <a:bodyPr/>
                    <a:lstStyle/>
                    <a:p>
                      <a:pPr>
                        <a:buNone/>
                      </a:pPr>
                      <a:r>
                        <a:rPr lang="zh-CN" altLang="en-US" b="1" i="0">
                          <a:latin typeface="Arial" panose="020B0604020202020204" pitchFamily="34" charset="0"/>
                          <a:ea typeface="微软雅黑" panose="020B0503020204020204" pitchFamily="34" charset="-122"/>
                        </a:rPr>
                        <a:t>统一预取与 </a:t>
                      </a:r>
                      <a:r>
                        <a:rPr lang="en-US" altLang="zh-CN" b="1" i="0">
                          <a:latin typeface="Arial" panose="020B0604020202020204" pitchFamily="34" charset="0"/>
                          <a:ea typeface="微软雅黑" panose="020B0503020204020204" pitchFamily="34" charset="-122"/>
                        </a:rPr>
                        <a:t>I/O</a:t>
                      </a:r>
                    </a:p>
                    <a:p>
                      <a:pPr>
                        <a:buNone/>
                      </a:pPr>
                      <a:r>
                        <a:rPr lang="zh-CN" altLang="en-US" b="1" i="0">
                          <a:latin typeface="Arial" panose="020B0604020202020204" pitchFamily="34" charset="0"/>
                          <a:ea typeface="微软雅黑" panose="020B0503020204020204" pitchFamily="34" charset="-122"/>
                        </a:rPr>
                        <a:t>重叠调度</a:t>
                      </a:r>
                      <a:endParaRPr lang="zh-CN" b="1" i="0">
                        <a:latin typeface="Arial" panose="020B0604020202020204" pitchFamily="34" charset="0"/>
                        <a:ea typeface="微软雅黑" panose="020B0503020204020204" pitchFamily="34" charset="-122"/>
                      </a:endParaRPr>
                    </a:p>
                  </a:txBody>
                  <a:tcPr anchor="ctr"/>
                </a:tc>
                <a:tc>
                  <a:txBody>
                    <a:bodyPr/>
                    <a:lstStyle/>
                    <a:p>
                      <a:pPr>
                        <a:buNone/>
                      </a:pPr>
                      <a:r>
                        <a:rPr lang="zh-CN" altLang="en-US" b="1" i="0">
                          <a:latin typeface="Arial" panose="020B0604020202020204" pitchFamily="34" charset="0"/>
                          <a:ea typeface="微软雅黑" panose="020B0503020204020204" pitchFamily="34" charset="-122"/>
                        </a:rPr>
                        <a:t>目标</a:t>
                      </a:r>
                      <a:r>
                        <a:rPr lang="en-US" altLang="zh-CN" b="1" i="0">
                          <a:latin typeface="Arial" panose="020B0604020202020204" pitchFamily="34" charset="0"/>
                          <a:ea typeface="微软雅黑" panose="020B0503020204020204" pitchFamily="34" charset="-122"/>
                        </a:rPr>
                        <a:t>3</a:t>
                      </a:r>
                      <a:r>
                        <a:rPr lang="zh-CN" altLang="en-US" b="1" i="0">
                          <a:latin typeface="Arial" panose="020B0604020202020204" pitchFamily="34" charset="0"/>
                          <a:ea typeface="微软雅黑" panose="020B0503020204020204" pitchFamily="34" charset="-122"/>
                        </a:rPr>
                        <a:t>、</a:t>
                      </a:r>
                      <a:r>
                        <a:rPr lang="en-US" altLang="zh-CN" b="1" i="0">
                          <a:latin typeface="Arial" panose="020B0604020202020204" pitchFamily="34" charset="0"/>
                          <a:ea typeface="微软雅黑" panose="020B0503020204020204" pitchFamily="34" charset="-122"/>
                        </a:rPr>
                        <a:t>4</a:t>
                      </a:r>
                      <a:endParaRPr lang="zh-CN" b="1" i="0">
                        <a:latin typeface="Arial" panose="020B0604020202020204" pitchFamily="34" charset="0"/>
                        <a:ea typeface="微软雅黑" panose="020B0503020204020204" pitchFamily="34" charset="-122"/>
                      </a:endParaRPr>
                    </a:p>
                  </a:txBody>
                  <a:tcPr anchor="ctr"/>
                </a:tc>
                <a:tc>
                  <a:txBody>
                    <a:bodyPr/>
                    <a:lstStyle/>
                    <a:p>
                      <a:pPr>
                        <a:buNone/>
                      </a:pPr>
                      <a:r>
                        <a:rPr lang="zh-CN" altLang="en-US" b="1" i="0">
                          <a:latin typeface="Arial" panose="020B0604020202020204" pitchFamily="34" charset="0"/>
                          <a:ea typeface="微软雅黑" panose="020B0503020204020204" pitchFamily="34" charset="-122"/>
                        </a:rPr>
                        <a:t>根据系统可用内存空间与 </a:t>
                      </a:r>
                      <a:r>
                        <a:rPr lang="en-US" altLang="zh-CN" b="1" i="0">
                          <a:latin typeface="Arial" panose="020B0604020202020204" pitchFamily="34" charset="0"/>
                          <a:ea typeface="微软雅黑" panose="020B0503020204020204" pitchFamily="34" charset="-122"/>
                        </a:rPr>
                        <a:t>I/O </a:t>
                      </a:r>
                      <a:r>
                        <a:rPr lang="zh-CN" altLang="en-US" b="1" i="0">
                          <a:latin typeface="Arial" panose="020B0604020202020204" pitchFamily="34" charset="0"/>
                          <a:ea typeface="微软雅黑" panose="020B0503020204020204" pitchFamily="34" charset="-122"/>
                        </a:rPr>
                        <a:t>负载动态分配预取额度，实现后台异步预取与推理计算并行执行。</a:t>
                      </a:r>
                      <a:endParaRPr lang="zh-CN" b="1" i="0">
                        <a:latin typeface="Arial" panose="020B0604020202020204" pitchFamily="34" charset="0"/>
                        <a:ea typeface="微软雅黑" panose="020B0503020204020204" pitchFamily="34" charset="-122"/>
                      </a:endParaRPr>
                    </a:p>
                  </a:txBody>
                  <a:tcPr anchor="ctr"/>
                </a:tc>
                <a:extLst>
                  <a:ext uri="{0D108BD9-81ED-4DB2-BD59-A6C34878D82A}">
                    <a16:rowId xmlns:a16="http://schemas.microsoft.com/office/drawing/2014/main" val="676165461"/>
                  </a:ext>
                </a:extLst>
              </a:tr>
              <a:tr h="0">
                <a:tc>
                  <a:txBody>
                    <a:bodyPr/>
                    <a:lstStyle/>
                    <a:p>
                      <a:pPr>
                        <a:buNone/>
                      </a:pPr>
                      <a:r>
                        <a:rPr lang="en-US" altLang="zh-CN" b="1" i="0">
                          <a:latin typeface="Arial" panose="020B0604020202020204" pitchFamily="34" charset="0"/>
                          <a:ea typeface="微软雅黑" panose="020B0503020204020204" pitchFamily="34" charset="-122"/>
                        </a:rPr>
                        <a:t>Global Memory Gove</a:t>
                      </a:r>
                      <a:br>
                        <a:rPr lang="en-US" altLang="zh-CN" b="1" i="0">
                          <a:latin typeface="Arial" panose="020B0604020202020204" pitchFamily="34" charset="0"/>
                          <a:ea typeface="微软雅黑" panose="020B0503020204020204" pitchFamily="34" charset="-122"/>
                        </a:rPr>
                      </a:br>
                      <a:r>
                        <a:rPr lang="en-US" altLang="zh-CN" b="1" i="0">
                          <a:latin typeface="Arial" panose="020B0604020202020204" pitchFamily="34" charset="0"/>
                          <a:ea typeface="微软雅黑" panose="020B0503020204020204" pitchFamily="34" charset="-122"/>
                        </a:rPr>
                        <a:t>rnor</a:t>
                      </a:r>
                      <a:r>
                        <a:rPr lang="zh-CN" altLang="en-US" b="1" i="0">
                          <a:latin typeface="Arial" panose="020B0604020202020204" pitchFamily="34" charset="0"/>
                          <a:ea typeface="微软雅黑" panose="020B0503020204020204" pitchFamily="34" charset="-122"/>
                        </a:rPr>
                        <a:t>全局资源协调机制</a:t>
                      </a:r>
                      <a:endParaRPr lang="zh-CN" b="1" i="0">
                        <a:latin typeface="Arial" panose="020B0604020202020204" pitchFamily="34" charset="0"/>
                        <a:ea typeface="微软雅黑" panose="020B0503020204020204" pitchFamily="34" charset="-122"/>
                      </a:endParaRPr>
                    </a:p>
                  </a:txBody>
                  <a:tcPr anchor="ctr"/>
                </a:tc>
                <a:tc>
                  <a:txBody>
                    <a:bodyPr/>
                    <a:lstStyle/>
                    <a:p>
                      <a:pPr>
                        <a:buNone/>
                      </a:pPr>
                      <a:r>
                        <a:rPr lang="zh-CN" altLang="en-US" b="1" i="0">
                          <a:latin typeface="Arial" panose="020B0604020202020204" pitchFamily="34" charset="0"/>
                          <a:ea typeface="微软雅黑" panose="020B0503020204020204" pitchFamily="34" charset="-122"/>
                        </a:rPr>
                        <a:t>目标</a:t>
                      </a:r>
                      <a:r>
                        <a:rPr lang="en-US" altLang="zh-CN" b="1" i="0">
                          <a:latin typeface="Arial" panose="020B0604020202020204" pitchFamily="34" charset="0"/>
                          <a:ea typeface="微软雅黑" panose="020B0503020204020204" pitchFamily="34" charset="-122"/>
                        </a:rPr>
                        <a:t>2</a:t>
                      </a:r>
                      <a:r>
                        <a:rPr lang="zh-CN" altLang="en-US" b="1" i="0">
                          <a:latin typeface="Arial" panose="020B0604020202020204" pitchFamily="34" charset="0"/>
                          <a:ea typeface="微软雅黑" panose="020B0503020204020204" pitchFamily="34" charset="-122"/>
                        </a:rPr>
                        <a:t>、</a:t>
                      </a:r>
                      <a:r>
                        <a:rPr lang="en-US" altLang="zh-CN" b="1" i="0">
                          <a:latin typeface="Arial" panose="020B0604020202020204" pitchFamily="34" charset="0"/>
                          <a:ea typeface="微软雅黑" panose="020B0503020204020204" pitchFamily="34" charset="-122"/>
                        </a:rPr>
                        <a:t>3</a:t>
                      </a:r>
                      <a:endParaRPr lang="zh-CN" b="1" i="0">
                        <a:latin typeface="Arial" panose="020B0604020202020204" pitchFamily="34" charset="0"/>
                        <a:ea typeface="微软雅黑" panose="020B0503020204020204" pitchFamily="34" charset="-122"/>
                      </a:endParaRPr>
                    </a:p>
                  </a:txBody>
                  <a:tcPr anchor="ctr"/>
                </a:tc>
                <a:tc>
                  <a:txBody>
                    <a:bodyPr/>
                    <a:lstStyle/>
                    <a:p>
                      <a:pPr>
                        <a:buNone/>
                      </a:pPr>
                      <a:r>
                        <a:rPr lang="zh-CN" altLang="en-US" b="1" i="0">
                          <a:latin typeface="Arial" panose="020B0604020202020204" pitchFamily="34" charset="0"/>
                          <a:ea typeface="微软雅黑" panose="020B0503020204020204" pitchFamily="34" charset="-122"/>
                        </a:rPr>
                        <a:t>周期性采集内存压力及各模块状态，将释放的内存资源动态重分配，形成释放</a:t>
                      </a:r>
                      <a:r>
                        <a:rPr lang="en-US" altLang="zh-CN" b="1" i="0">
                          <a:latin typeface="Arial" panose="020B0604020202020204" pitchFamily="34" charset="0"/>
                          <a:ea typeface="微软雅黑" panose="020B0503020204020204" pitchFamily="34" charset="-122"/>
                        </a:rPr>
                        <a:t>—</a:t>
                      </a:r>
                      <a:r>
                        <a:rPr lang="zh-CN" altLang="en-US" b="1" i="0">
                          <a:latin typeface="Arial" panose="020B0604020202020204" pitchFamily="34" charset="0"/>
                          <a:ea typeface="微软雅黑" panose="020B0503020204020204" pitchFamily="34" charset="-122"/>
                        </a:rPr>
                        <a:t>分配</a:t>
                      </a:r>
                      <a:r>
                        <a:rPr lang="en-US" altLang="zh-CN" b="1" i="0">
                          <a:latin typeface="Arial" panose="020B0604020202020204" pitchFamily="34" charset="0"/>
                          <a:ea typeface="微软雅黑" panose="020B0503020204020204" pitchFamily="34" charset="-122"/>
                        </a:rPr>
                        <a:t>—</a:t>
                      </a:r>
                      <a:r>
                        <a:rPr lang="zh-CN" altLang="en-US" b="1" i="0">
                          <a:latin typeface="Arial" panose="020B0604020202020204" pitchFamily="34" charset="0"/>
                          <a:ea typeface="微软雅黑" panose="020B0503020204020204" pitchFamily="34" charset="-122"/>
                        </a:rPr>
                        <a:t>再释放闭环。</a:t>
                      </a:r>
                      <a:endParaRPr lang="zh-CN" b="1" i="0">
                        <a:latin typeface="Arial" panose="020B0604020202020204" pitchFamily="34" charset="0"/>
                        <a:ea typeface="微软雅黑" panose="020B0503020204020204" pitchFamily="34" charset="-122"/>
                      </a:endParaRPr>
                    </a:p>
                  </a:txBody>
                  <a:tcPr anchor="ctr"/>
                </a:tc>
                <a:extLst>
                  <a:ext uri="{0D108BD9-81ED-4DB2-BD59-A6C34878D82A}">
                    <a16:rowId xmlns:a16="http://schemas.microsoft.com/office/drawing/2014/main" val="1011900496"/>
                  </a:ext>
                </a:extLst>
              </a:tr>
              <a:tr h="0">
                <a:tc>
                  <a:txBody>
                    <a:bodyPr/>
                    <a:lstStyle/>
                    <a:p>
                      <a:pPr>
                        <a:buNone/>
                      </a:pPr>
                      <a:r>
                        <a:rPr lang="zh-CN" altLang="en-US" b="1" i="0">
                          <a:latin typeface="Arial" panose="020B0604020202020204" pitchFamily="34" charset="0"/>
                          <a:ea typeface="微软雅黑" panose="020B0503020204020204" pitchFamily="34" charset="-122"/>
                        </a:rPr>
                        <a:t>系统集成与验证</a:t>
                      </a:r>
                      <a:endParaRPr lang="zh-CN" b="1" i="0">
                        <a:latin typeface="Arial" panose="020B0604020202020204" pitchFamily="34" charset="0"/>
                        <a:ea typeface="微软雅黑" panose="020B0503020204020204" pitchFamily="34" charset="-122"/>
                      </a:endParaRPr>
                    </a:p>
                  </a:txBody>
                  <a:tcPr anchor="ctr"/>
                </a:tc>
                <a:tc>
                  <a:txBody>
                    <a:bodyPr/>
                    <a:lstStyle/>
                    <a:p>
                      <a:pPr>
                        <a:buNone/>
                      </a:pPr>
                      <a:r>
                        <a:rPr lang="zh-CN" altLang="en-US" b="1" i="0">
                          <a:latin typeface="Arial" panose="020B0604020202020204" pitchFamily="34" charset="0"/>
                          <a:ea typeface="微软雅黑" panose="020B0503020204020204" pitchFamily="34" charset="-122"/>
                        </a:rPr>
                        <a:t>目标</a:t>
                      </a:r>
                      <a:r>
                        <a:rPr lang="en-US" altLang="zh-CN" b="1" i="0">
                          <a:latin typeface="Arial" panose="020B0604020202020204" pitchFamily="34" charset="0"/>
                          <a:ea typeface="微软雅黑" panose="020B0503020204020204" pitchFamily="34" charset="-122"/>
                        </a:rPr>
                        <a:t>1</a:t>
                      </a:r>
                      <a:r>
                        <a:rPr lang="zh-CN" altLang="en-US" b="1" i="0">
                          <a:latin typeface="Arial" panose="020B0604020202020204" pitchFamily="34" charset="0"/>
                          <a:ea typeface="微软雅黑" panose="020B0503020204020204" pitchFamily="34" charset="-122"/>
                        </a:rPr>
                        <a:t>、</a:t>
                      </a:r>
                      <a:r>
                        <a:rPr lang="en-US" altLang="zh-CN" b="1" i="0">
                          <a:latin typeface="Arial" panose="020B0604020202020204" pitchFamily="34" charset="0"/>
                          <a:ea typeface="微软雅黑" panose="020B0503020204020204" pitchFamily="34" charset="-122"/>
                        </a:rPr>
                        <a:t>2</a:t>
                      </a:r>
                      <a:r>
                        <a:rPr lang="zh-CN" altLang="en-US" b="1" i="0">
                          <a:latin typeface="Arial" panose="020B0604020202020204" pitchFamily="34" charset="0"/>
                          <a:ea typeface="微软雅黑" panose="020B0503020204020204" pitchFamily="34" charset="-122"/>
                        </a:rPr>
                        <a:t>、</a:t>
                      </a:r>
                      <a:r>
                        <a:rPr lang="en-US" altLang="zh-CN" b="1" i="0">
                          <a:latin typeface="Arial" panose="020B0604020202020204" pitchFamily="34" charset="0"/>
                          <a:ea typeface="微软雅黑" panose="020B0503020204020204" pitchFamily="34" charset="-122"/>
                        </a:rPr>
                        <a:t>3</a:t>
                      </a:r>
                      <a:r>
                        <a:rPr lang="zh-CN" altLang="en-US" b="1" i="0">
                          <a:latin typeface="Arial" panose="020B0604020202020204" pitchFamily="34" charset="0"/>
                          <a:ea typeface="微软雅黑" panose="020B0503020204020204" pitchFamily="34" charset="-122"/>
                        </a:rPr>
                        <a:t>、</a:t>
                      </a:r>
                      <a:r>
                        <a:rPr lang="en-US" altLang="zh-CN" b="1" i="0">
                          <a:latin typeface="Arial" panose="020B0604020202020204" pitchFamily="34" charset="0"/>
                          <a:ea typeface="微软雅黑" panose="020B0503020204020204" pitchFamily="34" charset="-122"/>
                        </a:rPr>
                        <a:t>4</a:t>
                      </a:r>
                      <a:endParaRPr lang="zh-CN" b="1" i="0">
                        <a:latin typeface="Arial" panose="020B0604020202020204" pitchFamily="34" charset="0"/>
                        <a:ea typeface="微软雅黑" panose="020B0503020204020204" pitchFamily="34" charset="-122"/>
                      </a:endParaRPr>
                    </a:p>
                  </a:txBody>
                  <a:tcPr anchor="ctr"/>
                </a:tc>
                <a:tc>
                  <a:txBody>
                    <a:bodyPr/>
                    <a:lstStyle/>
                    <a:p>
                      <a:pPr>
                        <a:buNone/>
                      </a:pPr>
                      <a:r>
                        <a:rPr lang="zh-CN" altLang="en-US" b="1" i="0">
                          <a:latin typeface="Arial" panose="020B0604020202020204" pitchFamily="34" charset="0"/>
                          <a:ea typeface="微软雅黑" panose="020B0503020204020204" pitchFamily="34" charset="-122"/>
                        </a:rPr>
                        <a:t>完成各模块在 </a:t>
                      </a:r>
                      <a:r>
                        <a:rPr lang="en-US" altLang="zh-CN" b="1" i="0">
                          <a:latin typeface="Arial" panose="020B0604020202020204" pitchFamily="34" charset="0"/>
                          <a:ea typeface="微软雅黑" panose="020B0503020204020204" pitchFamily="34" charset="-122"/>
                        </a:rPr>
                        <a:t>llama.cpp </a:t>
                      </a:r>
                      <a:r>
                        <a:rPr lang="zh-CN" altLang="en-US" b="1" i="0">
                          <a:latin typeface="Arial" panose="020B0604020202020204" pitchFamily="34" charset="0"/>
                          <a:ea typeface="微软雅黑" panose="020B0503020204020204" pitchFamily="34" charset="-122"/>
                        </a:rPr>
                        <a:t>中的统一集成，验证不同模型、内存容量与工作负载下系统的稳定性。</a:t>
                      </a:r>
                      <a:endParaRPr lang="zh-CN" b="1" i="0">
                        <a:latin typeface="Arial" panose="020B0604020202020204" pitchFamily="34" charset="0"/>
                        <a:ea typeface="微软雅黑" panose="020B0503020204020204" pitchFamily="34" charset="-122"/>
                      </a:endParaRPr>
                    </a:p>
                  </a:txBody>
                  <a:tcPr anchor="ctr"/>
                </a:tc>
                <a:extLst>
                  <a:ext uri="{0D108BD9-81ED-4DB2-BD59-A6C34878D82A}">
                    <a16:rowId xmlns:a16="http://schemas.microsoft.com/office/drawing/2014/main" val="2762752059"/>
                  </a:ext>
                </a:extLst>
              </a:tr>
            </a:tbl>
          </a:graphicData>
        </a:graphic>
      </p:graphicFrame>
      <p:sp>
        <p:nvSpPr>
          <p:cNvPr id="5" name="TextBox 7">
            <a:extLst>
              <a:ext uri="{FF2B5EF4-FFF2-40B4-BE49-F238E27FC236}">
                <a16:creationId xmlns:a16="http://schemas.microsoft.com/office/drawing/2014/main" id="{F2A377CC-07ED-0FE4-9321-AB51FF792C2A}"/>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3954843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par>
                                <p:cTn id="10" presetID="22" presetClass="entr" presetSubtype="8" fill="hold" grpId="0" nodeType="with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left)">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38654-F7DA-2375-E78A-85481DB8EE3C}"/>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C6A45AEB-1AE3-30FF-271F-AEDAFA897AB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28926" y="1798798"/>
            <a:ext cx="3366672" cy="1662942"/>
          </a:xfrm>
          <a:prstGeom prst="rect">
            <a:avLst/>
          </a:prstGeom>
        </p:spPr>
      </p:pic>
      <p:sp>
        <p:nvSpPr>
          <p:cNvPr id="35" name="TextBox 6">
            <a:extLst>
              <a:ext uri="{FF2B5EF4-FFF2-40B4-BE49-F238E27FC236}">
                <a16:creationId xmlns:a16="http://schemas.microsoft.com/office/drawing/2014/main" id="{9EAFD758-0750-FF47-5138-CBE89A484A2A}"/>
              </a:ext>
            </a:extLst>
          </p:cNvPr>
          <p:cNvSpPr txBox="1"/>
          <p:nvPr/>
        </p:nvSpPr>
        <p:spPr>
          <a:xfrm>
            <a:off x="624113" y="992842"/>
            <a:ext cx="6821715" cy="527825"/>
          </a:xfrm>
          <a:prstGeom prst="rect">
            <a:avLst/>
          </a:prstGeom>
          <a:noFill/>
        </p:spPr>
        <p:txBody>
          <a:bodyPr wrap="square" lIns="0" tIns="48000" rIns="0" bIns="48000" rtlCol="0">
            <a:spAutoFit/>
          </a:bodyPr>
          <a:lstStyle/>
          <a:p>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5.2</a:t>
            </a:r>
            <a:r>
              <a:rPr lang="en-US" altLang="zh-CN" sz="2400" b="1">
                <a:solidFill>
                  <a:schemeClr val="tx1">
                    <a:lumMod val="65000"/>
                    <a:lumOff val="35000"/>
                  </a:schemeClr>
                </a:solidFill>
                <a:latin typeface="Arial" panose="020B0604020202020204" pitchFamily="34" charset="0"/>
                <a:ea typeface="微软雅黑" panose="020B0503020204020204" pitchFamily="34" charset="-122"/>
              </a:rPr>
              <a:t> </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项目创新点和亮点</a:t>
            </a:r>
            <a:endParaRPr lang="zh-CN" altLang="en-US" sz="24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24" name="文本框 23">
            <a:extLst>
              <a:ext uri="{FF2B5EF4-FFF2-40B4-BE49-F238E27FC236}">
                <a16:creationId xmlns:a16="http://schemas.microsoft.com/office/drawing/2014/main" id="{95077810-D73F-8CE4-1AE4-B0CCFE781B3D}"/>
              </a:ext>
            </a:extLst>
          </p:cNvPr>
          <p:cNvSpPr txBox="1"/>
          <p:nvPr/>
        </p:nvSpPr>
        <p:spPr>
          <a:xfrm>
            <a:off x="606214" y="1633665"/>
            <a:ext cx="3212097" cy="400110"/>
          </a:xfrm>
          <a:prstGeom prst="rect">
            <a:avLst/>
          </a:prstGeom>
          <a:noFill/>
        </p:spPr>
        <p:txBody>
          <a:bodyPr wrap="square" rtlCol="0">
            <a:spAutoFit/>
          </a:bodyPr>
          <a:lstStyle/>
          <a:p>
            <a:pPr algn="ctr"/>
            <a:r>
              <a:rPr lang="zh-CN" altLang="en-US" sz="2000" b="1">
                <a:latin typeface="Arial" panose="020B0604020202020204" pitchFamily="34" charset="0"/>
                <a:ea typeface="微软雅黑" panose="020B0503020204020204" pitchFamily="34" charset="-122"/>
              </a:rPr>
              <a:t>风险感知权重锁定</a:t>
            </a:r>
            <a:endParaRPr lang="en-US" altLang="zh-CN" sz="2000" b="1">
              <a:latin typeface="Arial" panose="020B0604020202020204" pitchFamily="34" charset="0"/>
              <a:ea typeface="微软雅黑" panose="020B0503020204020204" pitchFamily="34" charset="-122"/>
            </a:endParaRPr>
          </a:p>
        </p:txBody>
      </p:sp>
      <p:sp>
        <p:nvSpPr>
          <p:cNvPr id="7" name="矩形 4">
            <a:extLst>
              <a:ext uri="{FF2B5EF4-FFF2-40B4-BE49-F238E27FC236}">
                <a16:creationId xmlns:a16="http://schemas.microsoft.com/office/drawing/2014/main" id="{B7D98E42-D406-E90B-0125-548D14C9CBDF}"/>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8" name="矩形 7">
            <a:extLst>
              <a:ext uri="{FF2B5EF4-FFF2-40B4-BE49-F238E27FC236}">
                <a16:creationId xmlns:a16="http://schemas.microsoft.com/office/drawing/2014/main" id="{53518F45-A942-97EE-61F0-651565B6AC03}"/>
              </a:ext>
            </a:extLst>
          </p:cNvPr>
          <p:cNvSpPr/>
          <p:nvPr/>
        </p:nvSpPr>
        <p:spPr>
          <a:xfrm>
            <a:off x="10003249"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sp>
        <p:nvSpPr>
          <p:cNvPr id="9" name="TextBox 6">
            <a:extLst>
              <a:ext uri="{FF2B5EF4-FFF2-40B4-BE49-F238E27FC236}">
                <a16:creationId xmlns:a16="http://schemas.microsoft.com/office/drawing/2014/main" id="{E5B15C47-CEF5-452F-5084-6FEBB6D96D2D}"/>
              </a:ext>
            </a:extLst>
          </p:cNvPr>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5" name="TextBox 9">
            <a:extLst>
              <a:ext uri="{FF2B5EF4-FFF2-40B4-BE49-F238E27FC236}">
                <a16:creationId xmlns:a16="http://schemas.microsoft.com/office/drawing/2014/main" id="{C4A7F3AC-B69C-8FE5-BC0A-B4F6D50D1F23}"/>
              </a:ext>
            </a:extLst>
          </p:cNvPr>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项目实</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rPr>
              <a:t>现</a:t>
            </a:r>
          </a:p>
        </p:txBody>
      </p:sp>
      <p:sp>
        <p:nvSpPr>
          <p:cNvPr id="16" name="TextBox 10">
            <a:extLst>
              <a:ext uri="{FF2B5EF4-FFF2-40B4-BE49-F238E27FC236}">
                <a16:creationId xmlns:a16="http://schemas.microsoft.com/office/drawing/2014/main" id="{65700952-3AF8-5EE2-5B15-45EBB6641C3F}"/>
              </a:ext>
            </a:extLst>
          </p:cNvPr>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项目测试</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20" name="TextBox 11">
            <a:extLst>
              <a:ext uri="{FF2B5EF4-FFF2-40B4-BE49-F238E27FC236}">
                <a16:creationId xmlns:a16="http://schemas.microsoft.com/office/drawing/2014/main" id="{A5F3D643-E683-E1E2-D305-E1E21BB0F02A}"/>
              </a:ext>
            </a:extLst>
          </p:cNvPr>
          <p:cNvSpPr txBox="1"/>
          <p:nvPr/>
        </p:nvSpPr>
        <p:spPr>
          <a:xfrm>
            <a:off x="10182151" y="215903"/>
            <a:ext cx="1344000" cy="404714"/>
          </a:xfrm>
          <a:prstGeom prst="rect">
            <a:avLst/>
          </a:prstGeom>
          <a:noFill/>
        </p:spPr>
        <p:txBody>
          <a:bodyPr wrap="square" lIns="0" tIns="48000" rIns="0" bIns="48000" rtlCol="0">
            <a:spAutoFit/>
          </a:bodyPr>
          <a:lstStyle/>
          <a:p>
            <a:pPr algn="ctr"/>
            <a:r>
              <a:rPr lang="zh-CN" altLang="en-US" sz="2000" b="1">
                <a:solidFill>
                  <a:schemeClr val="bg1"/>
                </a:solidFill>
                <a:latin typeface="Arial" panose="020B0604020202020204" pitchFamily="34" charset="0"/>
                <a:ea typeface="微软雅黑" panose="020B0503020204020204" pitchFamily="34" charset="-122"/>
              </a:rPr>
              <a:t>项目总</a:t>
            </a:r>
            <a:r>
              <a:rPr lang="zh-CN" altLang="en-US" sz="2000" b="1" dirty="0">
                <a:solidFill>
                  <a:schemeClr val="bg1"/>
                </a:solidFill>
                <a:latin typeface="Arial" panose="020B0604020202020204" pitchFamily="34" charset="0"/>
                <a:ea typeface="微软雅黑" panose="020B0503020204020204" pitchFamily="34" charset="-122"/>
              </a:rPr>
              <a:t>结</a:t>
            </a:r>
          </a:p>
        </p:txBody>
      </p:sp>
      <p:cxnSp>
        <p:nvCxnSpPr>
          <p:cNvPr id="21" name="直接连接符 20">
            <a:extLst>
              <a:ext uri="{FF2B5EF4-FFF2-40B4-BE49-F238E27FC236}">
                <a16:creationId xmlns:a16="http://schemas.microsoft.com/office/drawing/2014/main" id="{DAD04044-0655-F6F6-26F3-6F78FF0A7207}"/>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E7A49BF5-0175-AA7A-7E7A-5939B2C0BB0D}"/>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9E2E40DE-B143-DED4-F5D2-3C6D41847746}"/>
              </a:ext>
            </a:extLst>
          </p:cNvPr>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BA2547F4-1454-3309-1F63-462FD9E753CA}"/>
              </a:ext>
            </a:extLst>
          </p:cNvPr>
          <p:cNvCxnSpPr/>
          <p:nvPr/>
        </p:nvCxnSpPr>
        <p:spPr>
          <a:xfrm>
            <a:off x="8337248" y="31324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6" name="图片 25">
            <a:extLst>
              <a:ext uri="{FF2B5EF4-FFF2-40B4-BE49-F238E27FC236}">
                <a16:creationId xmlns:a16="http://schemas.microsoft.com/office/drawing/2014/main" id="{17B749CC-81B0-8362-92CC-921153D92FA7}"/>
              </a:ext>
            </a:extLst>
          </p:cNvPr>
          <p:cNvPicPr>
            <a:picLocks noChangeAspect="1"/>
          </p:cNvPicPr>
          <p:nvPr/>
        </p:nvPicPr>
        <p:blipFill rotWithShape="1">
          <a:blip r:embed="rId4"/>
          <a:srcRect t="29956" r="-277"/>
          <a:stretch>
            <a:fillRect/>
          </a:stretch>
        </p:blipFill>
        <p:spPr>
          <a:xfrm>
            <a:off x="195620" y="89117"/>
            <a:ext cx="2766644" cy="613765"/>
          </a:xfrm>
          <a:prstGeom prst="rect">
            <a:avLst/>
          </a:prstGeom>
        </p:spPr>
      </p:pic>
      <p:sp>
        <p:nvSpPr>
          <p:cNvPr id="27" name="TextBox 7">
            <a:extLst>
              <a:ext uri="{FF2B5EF4-FFF2-40B4-BE49-F238E27FC236}">
                <a16:creationId xmlns:a16="http://schemas.microsoft.com/office/drawing/2014/main" id="{51B12261-89C6-7F76-FC6A-2E6AF9DA1F7B}"/>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33" name="文本框 32">
            <a:extLst>
              <a:ext uri="{FF2B5EF4-FFF2-40B4-BE49-F238E27FC236}">
                <a16:creationId xmlns:a16="http://schemas.microsoft.com/office/drawing/2014/main" id="{4433F7E1-43A9-D5D6-153D-232EF706BAC1}"/>
              </a:ext>
            </a:extLst>
          </p:cNvPr>
          <p:cNvSpPr txBox="1"/>
          <p:nvPr/>
        </p:nvSpPr>
        <p:spPr>
          <a:xfrm>
            <a:off x="335026" y="3534158"/>
            <a:ext cx="3903616" cy="584775"/>
          </a:xfrm>
          <a:prstGeom prst="rect">
            <a:avLst/>
          </a:prstGeom>
          <a:noFill/>
        </p:spPr>
        <p:txBody>
          <a:bodyPr wrap="square" rtlCol="0">
            <a:spAutoFit/>
          </a:bodyPr>
          <a:lstStyle/>
          <a:p>
            <a:pPr algn="ctr"/>
            <a:r>
              <a:rPr lang="zh-CN" altLang="en-US" sz="1600" b="1">
                <a:latin typeface="Arial" panose="020B0604020202020204" pitchFamily="34" charset="0"/>
                <a:ea typeface="微软雅黑" panose="020B0503020204020204" pitchFamily="34" charset="-122"/>
              </a:rPr>
              <a:t>选择性锁定可提升</a:t>
            </a:r>
            <a:r>
              <a:rPr lang="en-US" altLang="zh-CN" sz="1600" b="1">
                <a:solidFill>
                  <a:srgbClr val="FF0000"/>
                </a:solidFill>
                <a:latin typeface="Arial" panose="020B0604020202020204" pitchFamily="34" charset="0"/>
                <a:ea typeface="微软雅黑" panose="020B0503020204020204" pitchFamily="34" charset="-122"/>
              </a:rPr>
              <a:t>63%</a:t>
            </a:r>
            <a:r>
              <a:rPr lang="zh-CN" altLang="en-US" sz="1600" b="1">
                <a:latin typeface="Arial" panose="020B0604020202020204" pitchFamily="34" charset="0"/>
                <a:ea typeface="微软雅黑" panose="020B0503020204020204" pitchFamily="34" charset="-122"/>
              </a:rPr>
              <a:t>吞吐，</a:t>
            </a:r>
            <a:endParaRPr lang="en-US" altLang="zh-CN" sz="1600" b="1">
              <a:latin typeface="Arial" panose="020B0604020202020204" pitchFamily="34" charset="0"/>
              <a:ea typeface="微软雅黑" panose="020B0503020204020204" pitchFamily="34" charset="-122"/>
            </a:endParaRPr>
          </a:p>
          <a:p>
            <a:pPr algn="ctr"/>
            <a:r>
              <a:rPr lang="zh-CN" altLang="en-US" sz="1600" b="1">
                <a:latin typeface="Arial" panose="020B0604020202020204" pitchFamily="34" charset="0"/>
                <a:ea typeface="微软雅黑" panose="020B0503020204020204" pitchFamily="34" charset="-122"/>
              </a:rPr>
              <a:t>同时避免盲目锁定全部权重导致内存耗尽</a:t>
            </a:r>
            <a:endParaRPr lang="en-US" altLang="zh-CN" sz="1600" b="1">
              <a:solidFill>
                <a:srgbClr val="FF0000"/>
              </a:solidFill>
              <a:latin typeface="Arial" panose="020B0604020202020204" pitchFamily="34" charset="0"/>
              <a:ea typeface="微软雅黑" panose="020B0503020204020204" pitchFamily="34" charset="-122"/>
            </a:endParaRPr>
          </a:p>
        </p:txBody>
      </p:sp>
      <p:pic>
        <p:nvPicPr>
          <p:cNvPr id="37" name="图片 36">
            <a:extLst>
              <a:ext uri="{FF2B5EF4-FFF2-40B4-BE49-F238E27FC236}">
                <a16:creationId xmlns:a16="http://schemas.microsoft.com/office/drawing/2014/main" id="{E8EDC44A-38CD-8019-5C36-2560A35DECC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287185" y="4751310"/>
            <a:ext cx="3603090" cy="1181341"/>
          </a:xfrm>
          <a:prstGeom prst="rect">
            <a:avLst/>
          </a:prstGeom>
        </p:spPr>
      </p:pic>
      <p:sp>
        <p:nvSpPr>
          <p:cNvPr id="39" name="文本框 38">
            <a:extLst>
              <a:ext uri="{FF2B5EF4-FFF2-40B4-BE49-F238E27FC236}">
                <a16:creationId xmlns:a16="http://schemas.microsoft.com/office/drawing/2014/main" id="{D4AE1C4C-C5A0-31B2-BE9F-594569AA3FAA}"/>
              </a:ext>
            </a:extLst>
          </p:cNvPr>
          <p:cNvSpPr txBox="1"/>
          <p:nvPr/>
        </p:nvSpPr>
        <p:spPr>
          <a:xfrm>
            <a:off x="8296154" y="4241636"/>
            <a:ext cx="3212097" cy="400110"/>
          </a:xfrm>
          <a:prstGeom prst="rect">
            <a:avLst/>
          </a:prstGeom>
          <a:noFill/>
        </p:spPr>
        <p:txBody>
          <a:bodyPr wrap="square" rtlCol="0">
            <a:spAutoFit/>
          </a:bodyPr>
          <a:lstStyle/>
          <a:p>
            <a:pPr algn="ctr"/>
            <a:r>
              <a:rPr lang="zh-CN" altLang="en-US" sz="2000" b="1">
                <a:latin typeface="Arial" panose="020B0604020202020204" pitchFamily="34" charset="0"/>
                <a:ea typeface="微软雅黑" panose="020B0503020204020204" pitchFamily="34" charset="-122"/>
              </a:rPr>
              <a:t>自适应预取窗口</a:t>
            </a:r>
            <a:endParaRPr lang="en-US" altLang="zh-CN" sz="2000" b="1">
              <a:latin typeface="Arial" panose="020B0604020202020204" pitchFamily="34" charset="0"/>
              <a:ea typeface="微软雅黑" panose="020B0503020204020204" pitchFamily="34" charset="-122"/>
            </a:endParaRPr>
          </a:p>
        </p:txBody>
      </p:sp>
      <p:sp>
        <p:nvSpPr>
          <p:cNvPr id="41" name="文本框 40">
            <a:extLst>
              <a:ext uri="{FF2B5EF4-FFF2-40B4-BE49-F238E27FC236}">
                <a16:creationId xmlns:a16="http://schemas.microsoft.com/office/drawing/2014/main" id="{66A793C0-3597-0990-BCDB-54F90E326A52}"/>
              </a:ext>
            </a:extLst>
          </p:cNvPr>
          <p:cNvSpPr txBox="1"/>
          <p:nvPr/>
        </p:nvSpPr>
        <p:spPr>
          <a:xfrm>
            <a:off x="8465044" y="6125443"/>
            <a:ext cx="3212097" cy="584775"/>
          </a:xfrm>
          <a:prstGeom prst="rect">
            <a:avLst/>
          </a:prstGeom>
          <a:noFill/>
        </p:spPr>
        <p:txBody>
          <a:bodyPr wrap="square" rtlCol="0">
            <a:spAutoFit/>
          </a:bodyPr>
          <a:lstStyle/>
          <a:p>
            <a:pPr algn="ctr"/>
            <a:r>
              <a:rPr lang="zh-CN" altLang="en-US" sz="1600" b="1">
                <a:latin typeface="Arial" panose="020B0604020202020204" pitchFamily="34" charset="0"/>
                <a:ea typeface="微软雅黑" panose="020B0503020204020204" pitchFamily="34" charset="-122"/>
              </a:rPr>
              <a:t>通过动态调整预取粒度，</a:t>
            </a:r>
            <a:br>
              <a:rPr lang="en-US" altLang="zh-CN" sz="1600" b="1">
                <a:latin typeface="Arial" panose="020B0604020202020204" pitchFamily="34" charset="0"/>
                <a:ea typeface="微软雅黑" panose="020B0503020204020204" pitchFamily="34" charset="-122"/>
              </a:rPr>
            </a:br>
            <a:r>
              <a:rPr lang="zh-CN" altLang="en-US" sz="1600" b="1">
                <a:latin typeface="Arial" panose="020B0604020202020204" pitchFamily="34" charset="0"/>
                <a:ea typeface="微软雅黑" panose="020B0503020204020204" pitchFamily="34" charset="-122"/>
              </a:rPr>
              <a:t>在低内存条件下仍能保持</a:t>
            </a:r>
            <a:r>
              <a:rPr lang="zh-CN" altLang="en-US" sz="1600" b="1">
                <a:solidFill>
                  <a:srgbClr val="FF0000"/>
                </a:solidFill>
                <a:latin typeface="Arial" panose="020B0604020202020204" pitchFamily="34" charset="0"/>
                <a:ea typeface="微软雅黑" panose="020B0503020204020204" pitchFamily="34" charset="-122"/>
              </a:rPr>
              <a:t>可运行</a:t>
            </a:r>
            <a:endParaRPr lang="en-US" altLang="zh-CN" sz="1600" b="1">
              <a:solidFill>
                <a:srgbClr val="FF0000"/>
              </a:solidFill>
              <a:latin typeface="Arial" panose="020B0604020202020204" pitchFamily="34" charset="0"/>
              <a:ea typeface="微软雅黑" panose="020B0503020204020204" pitchFamily="34" charset="-122"/>
            </a:endParaRPr>
          </a:p>
        </p:txBody>
      </p:sp>
      <p:pic>
        <p:nvPicPr>
          <p:cNvPr id="43" name="图片 42">
            <a:extLst>
              <a:ext uri="{FF2B5EF4-FFF2-40B4-BE49-F238E27FC236}">
                <a16:creationId xmlns:a16="http://schemas.microsoft.com/office/drawing/2014/main" id="{5B9A8848-FC93-99DD-033C-D94C93AE1A33}"/>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4417060" y="2115296"/>
            <a:ext cx="3321438" cy="1191289"/>
          </a:xfrm>
          <a:prstGeom prst="rect">
            <a:avLst/>
          </a:prstGeom>
        </p:spPr>
      </p:pic>
      <p:sp>
        <p:nvSpPr>
          <p:cNvPr id="45" name="文本框 44">
            <a:extLst>
              <a:ext uri="{FF2B5EF4-FFF2-40B4-BE49-F238E27FC236}">
                <a16:creationId xmlns:a16="http://schemas.microsoft.com/office/drawing/2014/main" id="{AA43BE11-141E-A414-C028-3BFEDD4FB62C}"/>
              </a:ext>
            </a:extLst>
          </p:cNvPr>
          <p:cNvSpPr txBox="1"/>
          <p:nvPr/>
        </p:nvSpPr>
        <p:spPr>
          <a:xfrm>
            <a:off x="4471730" y="1611822"/>
            <a:ext cx="3212097" cy="400110"/>
          </a:xfrm>
          <a:prstGeom prst="rect">
            <a:avLst/>
          </a:prstGeom>
          <a:noFill/>
        </p:spPr>
        <p:txBody>
          <a:bodyPr wrap="square" rtlCol="0">
            <a:spAutoFit/>
          </a:bodyPr>
          <a:lstStyle/>
          <a:p>
            <a:pPr algn="ctr"/>
            <a:r>
              <a:rPr lang="zh-CN" altLang="en-US" sz="2000" b="1">
                <a:latin typeface="Arial" panose="020B0604020202020204" pitchFamily="34" charset="0"/>
                <a:ea typeface="微软雅黑" panose="020B0503020204020204" pitchFamily="34" charset="-122"/>
              </a:rPr>
              <a:t>专家激活预测</a:t>
            </a:r>
            <a:endParaRPr lang="en-US" altLang="zh-CN" sz="2000" b="1">
              <a:latin typeface="Arial" panose="020B0604020202020204" pitchFamily="34" charset="0"/>
              <a:ea typeface="微软雅黑" panose="020B0503020204020204" pitchFamily="34" charset="-122"/>
            </a:endParaRPr>
          </a:p>
        </p:txBody>
      </p:sp>
      <p:sp>
        <p:nvSpPr>
          <p:cNvPr id="47" name="文本框 46">
            <a:extLst>
              <a:ext uri="{FF2B5EF4-FFF2-40B4-BE49-F238E27FC236}">
                <a16:creationId xmlns:a16="http://schemas.microsoft.com/office/drawing/2014/main" id="{961852C4-424B-C631-1968-F25FAAEEB6C9}"/>
              </a:ext>
            </a:extLst>
          </p:cNvPr>
          <p:cNvSpPr txBox="1"/>
          <p:nvPr/>
        </p:nvSpPr>
        <p:spPr>
          <a:xfrm>
            <a:off x="4363278" y="3534158"/>
            <a:ext cx="3538341" cy="584775"/>
          </a:xfrm>
          <a:prstGeom prst="rect">
            <a:avLst/>
          </a:prstGeom>
          <a:noFill/>
        </p:spPr>
        <p:txBody>
          <a:bodyPr wrap="square" rtlCol="0">
            <a:spAutoFit/>
          </a:bodyPr>
          <a:lstStyle/>
          <a:p>
            <a:pPr algn="ctr"/>
            <a:r>
              <a:rPr lang="zh-CN" altLang="en-US" sz="1600" b="1">
                <a:latin typeface="Arial" panose="020B0604020202020204" pitchFamily="34" charset="0"/>
                <a:ea typeface="微软雅黑" panose="020B0503020204020204" pitchFamily="34" charset="-122"/>
              </a:rPr>
              <a:t>有效消除缺页等待，吞吐提升约</a:t>
            </a:r>
            <a:r>
              <a:rPr lang="en-US" altLang="zh-CN" sz="1600" b="1">
                <a:solidFill>
                  <a:srgbClr val="FF0000"/>
                </a:solidFill>
                <a:latin typeface="Arial" panose="020B0604020202020204" pitchFamily="34" charset="0"/>
                <a:ea typeface="微软雅黑" panose="020B0503020204020204" pitchFamily="34" charset="-122"/>
              </a:rPr>
              <a:t>44%</a:t>
            </a:r>
            <a:r>
              <a:rPr lang="zh-CN" altLang="en-US" sz="1600" b="1">
                <a:latin typeface="Arial" panose="020B0604020202020204" pitchFamily="34" charset="0"/>
                <a:ea typeface="微软雅黑" panose="020B0503020204020204" pitchFamily="34" charset="-122"/>
              </a:rPr>
              <a:t>测试中缓存命中率达</a:t>
            </a:r>
            <a:r>
              <a:rPr lang="en-US" altLang="zh-CN" sz="1600" b="1">
                <a:solidFill>
                  <a:srgbClr val="FF0000"/>
                </a:solidFill>
                <a:latin typeface="Arial" panose="020B0604020202020204" pitchFamily="34" charset="0"/>
                <a:ea typeface="微软雅黑" panose="020B0503020204020204" pitchFamily="34" charset="-122"/>
              </a:rPr>
              <a:t>93%</a:t>
            </a:r>
          </a:p>
        </p:txBody>
      </p:sp>
      <p:pic>
        <p:nvPicPr>
          <p:cNvPr id="49" name="图片 48">
            <a:extLst>
              <a:ext uri="{FF2B5EF4-FFF2-40B4-BE49-F238E27FC236}">
                <a16:creationId xmlns:a16="http://schemas.microsoft.com/office/drawing/2014/main" id="{EF88A9EA-1091-3224-EBAC-04F327A8B34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122549" y="1972323"/>
            <a:ext cx="3321438" cy="1375636"/>
          </a:xfrm>
          <a:prstGeom prst="rect">
            <a:avLst/>
          </a:prstGeom>
        </p:spPr>
      </p:pic>
      <p:sp>
        <p:nvSpPr>
          <p:cNvPr id="51" name="文本框 50">
            <a:extLst>
              <a:ext uri="{FF2B5EF4-FFF2-40B4-BE49-F238E27FC236}">
                <a16:creationId xmlns:a16="http://schemas.microsoft.com/office/drawing/2014/main" id="{26BEC46B-2DA5-C9AA-2352-8F3E5273F565}"/>
              </a:ext>
            </a:extLst>
          </p:cNvPr>
          <p:cNvSpPr txBox="1"/>
          <p:nvPr/>
        </p:nvSpPr>
        <p:spPr>
          <a:xfrm>
            <a:off x="8177219" y="1616357"/>
            <a:ext cx="3212097" cy="400110"/>
          </a:xfrm>
          <a:prstGeom prst="rect">
            <a:avLst/>
          </a:prstGeom>
          <a:noFill/>
        </p:spPr>
        <p:txBody>
          <a:bodyPr wrap="square" rtlCol="0">
            <a:spAutoFit/>
          </a:bodyPr>
          <a:lstStyle/>
          <a:p>
            <a:pPr algn="ctr"/>
            <a:r>
              <a:rPr lang="zh-CN" altLang="en-US" sz="2000" b="1">
                <a:latin typeface="Arial" panose="020B0604020202020204" pitchFamily="34" charset="0"/>
                <a:ea typeface="微软雅黑" panose="020B0503020204020204" pitchFamily="34" charset="-122"/>
              </a:rPr>
              <a:t>代价感知</a:t>
            </a:r>
            <a:r>
              <a:rPr lang="en-US" altLang="zh-CN" sz="2000" b="1">
                <a:latin typeface="Arial" panose="020B0604020202020204" pitchFamily="34" charset="0"/>
                <a:ea typeface="微软雅黑" panose="020B0503020204020204" pitchFamily="34" charset="-122"/>
              </a:rPr>
              <a:t>KV</a:t>
            </a:r>
            <a:r>
              <a:rPr lang="zh-CN" altLang="en-US" sz="2000" b="1">
                <a:latin typeface="Arial" panose="020B0604020202020204" pitchFamily="34" charset="0"/>
                <a:ea typeface="微软雅黑" panose="020B0503020204020204" pitchFamily="34" charset="-122"/>
              </a:rPr>
              <a:t>回收</a:t>
            </a:r>
            <a:endParaRPr lang="en-US" altLang="zh-CN" sz="2000" b="1">
              <a:latin typeface="Arial" panose="020B0604020202020204" pitchFamily="34" charset="0"/>
              <a:ea typeface="微软雅黑" panose="020B0503020204020204" pitchFamily="34" charset="-122"/>
            </a:endParaRPr>
          </a:p>
        </p:txBody>
      </p:sp>
      <p:sp>
        <p:nvSpPr>
          <p:cNvPr id="53" name="文本框 52">
            <a:extLst>
              <a:ext uri="{FF2B5EF4-FFF2-40B4-BE49-F238E27FC236}">
                <a16:creationId xmlns:a16="http://schemas.microsoft.com/office/drawing/2014/main" id="{9C5F67BD-08C3-847D-143A-4E937B04DD4D}"/>
              </a:ext>
            </a:extLst>
          </p:cNvPr>
          <p:cNvSpPr txBox="1"/>
          <p:nvPr/>
        </p:nvSpPr>
        <p:spPr>
          <a:xfrm>
            <a:off x="8026255" y="3546327"/>
            <a:ext cx="3985754" cy="584775"/>
          </a:xfrm>
          <a:prstGeom prst="rect">
            <a:avLst/>
          </a:prstGeom>
          <a:noFill/>
        </p:spPr>
        <p:txBody>
          <a:bodyPr wrap="square" rtlCol="0">
            <a:spAutoFit/>
          </a:bodyPr>
          <a:lstStyle/>
          <a:p>
            <a:pPr algn="ctr"/>
            <a:r>
              <a:rPr lang="zh-CN" altLang="en-US" sz="1600" b="1">
                <a:latin typeface="Arial" panose="020B0604020202020204" pitchFamily="34" charset="0"/>
                <a:ea typeface="微软雅黑" panose="020B0503020204020204" pitchFamily="34" charset="-122"/>
              </a:rPr>
              <a:t>仅在</a:t>
            </a:r>
            <a:r>
              <a:rPr lang="en-US" altLang="zh-CN" sz="1600" b="1">
                <a:latin typeface="Arial" panose="020B0604020202020204" pitchFamily="34" charset="0"/>
                <a:ea typeface="微软雅黑" panose="020B0503020204020204" pitchFamily="34" charset="-122"/>
              </a:rPr>
              <a:t>KV</a:t>
            </a:r>
            <a:r>
              <a:rPr lang="zh-CN" altLang="en-US" sz="1600" b="1">
                <a:latin typeface="Arial" panose="020B0604020202020204" pitchFamily="34" charset="0"/>
                <a:ea typeface="微软雅黑" panose="020B0503020204020204" pitchFamily="34" charset="-122"/>
              </a:rPr>
              <a:t>存在可回收收益时才触发回收，</a:t>
            </a:r>
            <a:endParaRPr lang="en-US" altLang="zh-CN" sz="1600" b="1">
              <a:latin typeface="Arial" panose="020B0604020202020204" pitchFamily="34" charset="0"/>
              <a:ea typeface="微软雅黑" panose="020B0503020204020204" pitchFamily="34" charset="-122"/>
            </a:endParaRPr>
          </a:p>
          <a:p>
            <a:pPr algn="ctr"/>
            <a:r>
              <a:rPr lang="zh-CN" altLang="en-US" sz="1600" b="1">
                <a:latin typeface="Arial" panose="020B0604020202020204" pitchFamily="34" charset="0"/>
                <a:ea typeface="微软雅黑" panose="020B0503020204020204" pitchFamily="34" charset="-122"/>
              </a:rPr>
              <a:t>并将释放内存重新分配，吞吐提升约</a:t>
            </a:r>
            <a:r>
              <a:rPr lang="en-US" altLang="zh-CN" sz="1600" b="1">
                <a:solidFill>
                  <a:srgbClr val="FF0000"/>
                </a:solidFill>
                <a:latin typeface="Arial" panose="020B0604020202020204" pitchFamily="34" charset="0"/>
                <a:ea typeface="微软雅黑" panose="020B0503020204020204" pitchFamily="34" charset="-122"/>
              </a:rPr>
              <a:t>32%</a:t>
            </a:r>
          </a:p>
        </p:txBody>
      </p:sp>
      <p:pic>
        <p:nvPicPr>
          <p:cNvPr id="57" name="图片 56">
            <a:extLst>
              <a:ext uri="{FF2B5EF4-FFF2-40B4-BE49-F238E27FC236}">
                <a16:creationId xmlns:a16="http://schemas.microsoft.com/office/drawing/2014/main" id="{21313DFB-3886-9ADF-C03F-5EBCD02DE75A}"/>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528926" y="4627129"/>
            <a:ext cx="3469504" cy="1462988"/>
          </a:xfrm>
          <a:prstGeom prst="rect">
            <a:avLst/>
          </a:prstGeom>
        </p:spPr>
      </p:pic>
      <p:sp>
        <p:nvSpPr>
          <p:cNvPr id="59" name="文本框 58">
            <a:extLst>
              <a:ext uri="{FF2B5EF4-FFF2-40B4-BE49-F238E27FC236}">
                <a16:creationId xmlns:a16="http://schemas.microsoft.com/office/drawing/2014/main" id="{F588DD02-FD22-77F9-E7DE-92E36232777D}"/>
              </a:ext>
            </a:extLst>
          </p:cNvPr>
          <p:cNvSpPr txBox="1"/>
          <p:nvPr/>
        </p:nvSpPr>
        <p:spPr>
          <a:xfrm>
            <a:off x="786333" y="4245396"/>
            <a:ext cx="3212097" cy="400110"/>
          </a:xfrm>
          <a:prstGeom prst="rect">
            <a:avLst/>
          </a:prstGeom>
          <a:noFill/>
        </p:spPr>
        <p:txBody>
          <a:bodyPr wrap="square" rtlCol="0">
            <a:spAutoFit/>
          </a:bodyPr>
          <a:lstStyle/>
          <a:p>
            <a:pPr algn="ctr"/>
            <a:r>
              <a:rPr lang="zh-CN" altLang="en-US" sz="2000" b="1">
                <a:latin typeface="Arial" panose="020B0604020202020204" pitchFamily="34" charset="0"/>
                <a:ea typeface="微软雅黑" panose="020B0503020204020204" pitchFamily="34" charset="-122"/>
              </a:rPr>
              <a:t>专家工作集估计</a:t>
            </a:r>
            <a:endParaRPr lang="en-US" altLang="zh-CN" sz="2000" b="1">
              <a:latin typeface="Arial" panose="020B0604020202020204" pitchFamily="34" charset="0"/>
              <a:ea typeface="微软雅黑" panose="020B0503020204020204" pitchFamily="34" charset="-122"/>
            </a:endParaRPr>
          </a:p>
        </p:txBody>
      </p:sp>
      <p:sp>
        <p:nvSpPr>
          <p:cNvPr id="61" name="文本框 60">
            <a:extLst>
              <a:ext uri="{FF2B5EF4-FFF2-40B4-BE49-F238E27FC236}">
                <a16:creationId xmlns:a16="http://schemas.microsoft.com/office/drawing/2014/main" id="{6BA9CBFA-8CEE-B613-FE13-9E82AE5C464B}"/>
              </a:ext>
            </a:extLst>
          </p:cNvPr>
          <p:cNvSpPr txBox="1"/>
          <p:nvPr/>
        </p:nvSpPr>
        <p:spPr>
          <a:xfrm>
            <a:off x="529263" y="6149986"/>
            <a:ext cx="3829390" cy="584775"/>
          </a:xfrm>
          <a:prstGeom prst="rect">
            <a:avLst/>
          </a:prstGeom>
          <a:noFill/>
        </p:spPr>
        <p:txBody>
          <a:bodyPr wrap="square" rtlCol="0">
            <a:spAutoFit/>
          </a:bodyPr>
          <a:lstStyle/>
          <a:p>
            <a:pPr algn="ctr"/>
            <a:r>
              <a:rPr lang="zh-CN" altLang="en-US" sz="1600" b="1">
                <a:latin typeface="Arial" panose="020B0604020202020204" pitchFamily="34" charset="0"/>
                <a:ea typeface="微软雅黑" panose="020B0503020204020204" pitchFamily="34" charset="-122"/>
              </a:rPr>
              <a:t>依据工作集覆盖率动态分配</a:t>
            </a:r>
            <a:r>
              <a:rPr lang="en-US" altLang="zh-CN" sz="1600" b="1">
                <a:latin typeface="Arial" panose="020B0604020202020204" pitchFamily="34" charset="0"/>
                <a:ea typeface="微软雅黑" panose="020B0503020204020204" pitchFamily="34" charset="-122"/>
              </a:rPr>
              <a:t>MoE</a:t>
            </a:r>
            <a:r>
              <a:rPr lang="zh-CN" altLang="en-US" sz="1600" b="1">
                <a:latin typeface="Arial" panose="020B0604020202020204" pitchFamily="34" charset="0"/>
                <a:ea typeface="微软雅黑" panose="020B0503020204020204" pitchFamily="34" charset="-122"/>
              </a:rPr>
              <a:t>的预算，显著提升吞吐</a:t>
            </a:r>
            <a:endParaRPr lang="en-US" altLang="zh-CN" sz="1600" b="1">
              <a:solidFill>
                <a:srgbClr val="FF0000"/>
              </a:solidFill>
              <a:latin typeface="Arial" panose="020B0604020202020204" pitchFamily="34" charset="0"/>
              <a:ea typeface="微软雅黑" panose="020B0503020204020204" pitchFamily="34" charset="-122"/>
            </a:endParaRPr>
          </a:p>
        </p:txBody>
      </p:sp>
      <p:pic>
        <p:nvPicPr>
          <p:cNvPr id="63" name="图片 62">
            <a:extLst>
              <a:ext uri="{FF2B5EF4-FFF2-40B4-BE49-F238E27FC236}">
                <a16:creationId xmlns:a16="http://schemas.microsoft.com/office/drawing/2014/main" id="{D9042ED7-4881-07C0-764E-F4A7F258F0D9}"/>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4500452" y="4751310"/>
            <a:ext cx="3321438" cy="1338807"/>
          </a:xfrm>
          <a:prstGeom prst="rect">
            <a:avLst/>
          </a:prstGeom>
        </p:spPr>
      </p:pic>
      <p:sp>
        <p:nvSpPr>
          <p:cNvPr id="65" name="文本框 64">
            <a:extLst>
              <a:ext uri="{FF2B5EF4-FFF2-40B4-BE49-F238E27FC236}">
                <a16:creationId xmlns:a16="http://schemas.microsoft.com/office/drawing/2014/main" id="{A88E49CE-BAC7-310B-7C7E-D0B01C64DB0D}"/>
              </a:ext>
            </a:extLst>
          </p:cNvPr>
          <p:cNvSpPr txBox="1"/>
          <p:nvPr/>
        </p:nvSpPr>
        <p:spPr>
          <a:xfrm>
            <a:off x="4555122" y="4245396"/>
            <a:ext cx="3212097" cy="400110"/>
          </a:xfrm>
          <a:prstGeom prst="rect">
            <a:avLst/>
          </a:prstGeom>
          <a:noFill/>
        </p:spPr>
        <p:txBody>
          <a:bodyPr wrap="square" rtlCol="0">
            <a:spAutoFit/>
          </a:bodyPr>
          <a:lstStyle/>
          <a:p>
            <a:pPr algn="ctr"/>
            <a:r>
              <a:rPr lang="zh-CN" altLang="en-US" sz="2000" b="1">
                <a:latin typeface="Arial" panose="020B0604020202020204" pitchFamily="34" charset="0"/>
                <a:ea typeface="微软雅黑" panose="020B0503020204020204" pitchFamily="34" charset="-122"/>
              </a:rPr>
              <a:t>分组流水恢复</a:t>
            </a:r>
            <a:endParaRPr lang="en-US" altLang="zh-CN" sz="2000" b="1">
              <a:latin typeface="Arial" panose="020B0604020202020204" pitchFamily="34" charset="0"/>
              <a:ea typeface="微软雅黑" panose="020B0503020204020204" pitchFamily="34" charset="-122"/>
            </a:endParaRPr>
          </a:p>
        </p:txBody>
      </p:sp>
      <p:sp>
        <p:nvSpPr>
          <p:cNvPr id="67" name="文本框 66">
            <a:extLst>
              <a:ext uri="{FF2B5EF4-FFF2-40B4-BE49-F238E27FC236}">
                <a16:creationId xmlns:a16="http://schemas.microsoft.com/office/drawing/2014/main" id="{E402E61A-7226-4D3A-8798-6D88100CD28D}"/>
              </a:ext>
            </a:extLst>
          </p:cNvPr>
          <p:cNvSpPr txBox="1"/>
          <p:nvPr/>
        </p:nvSpPr>
        <p:spPr>
          <a:xfrm>
            <a:off x="4358653" y="6129425"/>
            <a:ext cx="3928532" cy="584775"/>
          </a:xfrm>
          <a:prstGeom prst="rect">
            <a:avLst/>
          </a:prstGeom>
          <a:noFill/>
        </p:spPr>
        <p:txBody>
          <a:bodyPr wrap="square" rtlCol="0">
            <a:spAutoFit/>
          </a:bodyPr>
          <a:lstStyle/>
          <a:p>
            <a:pPr algn="ctr"/>
            <a:r>
              <a:rPr lang="zh-CN" altLang="en-US" sz="1600" b="1">
                <a:latin typeface="Arial" panose="020B0604020202020204" pitchFamily="34" charset="0"/>
                <a:ea typeface="微软雅黑" panose="020B0503020204020204" pitchFamily="34" charset="-122"/>
              </a:rPr>
              <a:t>在有效降低物理内存占用的同时（单对话释放约</a:t>
            </a:r>
            <a:r>
              <a:rPr lang="en-US" altLang="zh-CN" sz="1600" b="1">
                <a:solidFill>
                  <a:srgbClr val="FF0000"/>
                </a:solidFill>
                <a:latin typeface="Arial" panose="020B0604020202020204" pitchFamily="34" charset="0"/>
                <a:ea typeface="微软雅黑" panose="020B0503020204020204" pitchFamily="34" charset="-122"/>
              </a:rPr>
              <a:t>124~612 MiB</a:t>
            </a:r>
            <a:r>
              <a:rPr lang="zh-CN" altLang="en-US" sz="1600" b="1">
                <a:latin typeface="Arial" panose="020B0604020202020204" pitchFamily="34" charset="0"/>
                <a:ea typeface="微软雅黑" panose="020B0503020204020204" pitchFamily="34" charset="-122"/>
              </a:rPr>
              <a:t>）控制恢复延迟</a:t>
            </a:r>
            <a:endParaRPr lang="en-US" altLang="zh-CN" sz="1600" b="1">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3365562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p:cTn id="11" dur="500" fill="hold"/>
                                        <p:tgtEl>
                                          <p:spTgt spid="16"/>
                                        </p:tgtEl>
                                        <p:attrNameLst>
                                          <p:attrName>ppt_w</p:attrName>
                                        </p:attrNameLst>
                                      </p:cBhvr>
                                      <p:tavLst>
                                        <p:tav tm="0">
                                          <p:val>
                                            <p:fltVal val="0"/>
                                          </p:val>
                                        </p:tav>
                                        <p:tav tm="100000">
                                          <p:val>
                                            <p:strVal val="#ppt_w"/>
                                          </p:val>
                                        </p:tav>
                                      </p:tavLst>
                                    </p:anim>
                                    <p:anim calcmode="lin" valueType="num">
                                      <p:cBhvr>
                                        <p:cTn id="12" dur="500" fill="hold"/>
                                        <p:tgtEl>
                                          <p:spTgt spid="16"/>
                                        </p:tgtEl>
                                        <p:attrNameLst>
                                          <p:attrName>ppt_h</p:attrName>
                                        </p:attrNameLst>
                                      </p:cBhvr>
                                      <p:tavLst>
                                        <p:tav tm="0">
                                          <p:val>
                                            <p:fltVal val="0"/>
                                          </p:val>
                                        </p:tav>
                                        <p:tav tm="100000">
                                          <p:val>
                                            <p:strVal val="#ppt_h"/>
                                          </p:val>
                                        </p:tav>
                                      </p:tavLst>
                                    </p:anim>
                                    <p:animEffect transition="in" filter="fade">
                                      <p:cBhvr>
                                        <p:cTn id="1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6" grpId="0"/>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 name="TextBox 6"/>
          <p:cNvSpPr txBox="1"/>
          <p:nvPr/>
        </p:nvSpPr>
        <p:spPr>
          <a:xfrm>
            <a:off x="508000" y="1062571"/>
            <a:ext cx="2866949" cy="527825"/>
          </a:xfrm>
          <a:prstGeom prst="rect">
            <a:avLst/>
          </a:prstGeom>
          <a:noFill/>
        </p:spPr>
        <p:txBody>
          <a:bodyPr wrap="square" lIns="0" tIns="48000" rIns="0" bIns="48000" rtlCol="0">
            <a:spAutoFit/>
          </a:bodyPr>
          <a:lstStyle/>
          <a:p>
            <a:pPr algn="ctr"/>
            <a:r>
              <a:rPr lang="en-US" altLang="zh-CN" sz="2800" b="1" dirty="0">
                <a:solidFill>
                  <a:schemeClr val="tx1">
                    <a:lumMod val="65000"/>
                    <a:lumOff val="35000"/>
                  </a:schemeClr>
                </a:solidFill>
                <a:latin typeface="Arial" panose="020B0604020202020204" pitchFamily="34" charset="0"/>
                <a:ea typeface="微软雅黑" panose="020B0503020204020204" pitchFamily="34" charset="-122"/>
              </a:rPr>
              <a:t>5.3 </a:t>
            </a:r>
            <a:r>
              <a:rPr lang="zh-CN" altLang="en-US" sz="2800" b="1" dirty="0">
                <a:solidFill>
                  <a:schemeClr val="tx1">
                    <a:lumMod val="65000"/>
                    <a:lumOff val="35000"/>
                  </a:schemeClr>
                </a:solidFill>
                <a:latin typeface="Arial" panose="020B0604020202020204" pitchFamily="34" charset="0"/>
                <a:ea typeface="微软雅黑" panose="020B0503020204020204" pitchFamily="34" charset="-122"/>
              </a:rPr>
              <a:t>未来发展方向</a:t>
            </a:r>
          </a:p>
        </p:txBody>
      </p:sp>
      <p:sp>
        <p:nvSpPr>
          <p:cNvPr id="18" name="矩形 3"/>
          <p:cNvSpPr/>
          <p:nvPr/>
        </p:nvSpPr>
        <p:spPr>
          <a:xfrm>
            <a:off x="425752" y="3038659"/>
            <a:ext cx="3458785" cy="869659"/>
          </a:xfrm>
          <a:custGeom>
            <a:avLst/>
            <a:gdLst/>
            <a:ahLst/>
            <a:cxnLst/>
            <a:rect l="l" t="t" r="r" b="b"/>
            <a:pathLst>
              <a:path w="5192450" h="1305562">
                <a:moveTo>
                  <a:pt x="648072" y="0"/>
                </a:moveTo>
                <a:lnTo>
                  <a:pt x="4680520" y="0"/>
                </a:lnTo>
                <a:lnTo>
                  <a:pt x="4680520" y="534"/>
                </a:lnTo>
                <a:lnTo>
                  <a:pt x="4756983" y="534"/>
                </a:lnTo>
                <a:cubicBezTo>
                  <a:pt x="4781822" y="0"/>
                  <a:pt x="4807189" y="5871"/>
                  <a:pt x="4830442" y="19749"/>
                </a:cubicBezTo>
                <a:cubicBezTo>
                  <a:pt x="4852109" y="32025"/>
                  <a:pt x="4869549" y="49639"/>
                  <a:pt x="4881176" y="70456"/>
                </a:cubicBezTo>
                <a:lnTo>
                  <a:pt x="5172368" y="579657"/>
                </a:lnTo>
                <a:cubicBezTo>
                  <a:pt x="5185051" y="601007"/>
                  <a:pt x="5192450" y="626093"/>
                  <a:pt x="5192450" y="652781"/>
                </a:cubicBezTo>
                <a:cubicBezTo>
                  <a:pt x="5192450" y="680003"/>
                  <a:pt x="5185051" y="705089"/>
                  <a:pt x="5171839" y="726439"/>
                </a:cubicBezTo>
                <a:lnTo>
                  <a:pt x="4881176" y="1235640"/>
                </a:lnTo>
                <a:cubicBezTo>
                  <a:pt x="4869021" y="1255923"/>
                  <a:pt x="4852109" y="1273537"/>
                  <a:pt x="4830442" y="1286347"/>
                </a:cubicBezTo>
                <a:cubicBezTo>
                  <a:pt x="4807717" y="1299691"/>
                  <a:pt x="4782879" y="1305562"/>
                  <a:pt x="4758040" y="1305028"/>
                </a:cubicBezTo>
                <a:lnTo>
                  <a:pt x="4680520" y="1305028"/>
                </a:lnTo>
                <a:lnTo>
                  <a:pt x="4680520" y="1305562"/>
                </a:lnTo>
                <a:lnTo>
                  <a:pt x="648072" y="1305562"/>
                </a:lnTo>
                <a:lnTo>
                  <a:pt x="648072" y="1305028"/>
                </a:lnTo>
                <a:lnTo>
                  <a:pt x="431239" y="1305028"/>
                </a:lnTo>
                <a:cubicBezTo>
                  <a:pt x="407986" y="1305028"/>
                  <a:pt x="383676" y="1299157"/>
                  <a:pt x="362008" y="1286347"/>
                </a:cubicBezTo>
                <a:cubicBezTo>
                  <a:pt x="340341" y="1273537"/>
                  <a:pt x="322901" y="1255923"/>
                  <a:pt x="311274" y="1235107"/>
                </a:cubicBezTo>
                <a:lnTo>
                  <a:pt x="19025" y="723770"/>
                </a:lnTo>
                <a:cubicBezTo>
                  <a:pt x="6870" y="702954"/>
                  <a:pt x="0" y="678935"/>
                  <a:pt x="0" y="652781"/>
                </a:cubicBezTo>
                <a:cubicBezTo>
                  <a:pt x="0" y="626627"/>
                  <a:pt x="6870" y="602608"/>
                  <a:pt x="19025" y="581258"/>
                </a:cubicBezTo>
                <a:lnTo>
                  <a:pt x="310217" y="72057"/>
                </a:lnTo>
                <a:cubicBezTo>
                  <a:pt x="322372" y="51240"/>
                  <a:pt x="339812" y="32559"/>
                  <a:pt x="362008" y="19749"/>
                </a:cubicBezTo>
                <a:cubicBezTo>
                  <a:pt x="382619" y="7473"/>
                  <a:pt x="405344" y="1068"/>
                  <a:pt x="428068" y="534"/>
                </a:cubicBezTo>
                <a:lnTo>
                  <a:pt x="648072" y="534"/>
                </a:lnTo>
                <a:close/>
              </a:path>
            </a:pathLst>
          </a:custGeom>
          <a:solidFill>
            <a:schemeClr val="accent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a:latin typeface="Songti SC" panose="02010600040101010101" pitchFamily="2" charset="-122"/>
              <a:ea typeface="Songti SC" panose="02010600040101010101" pitchFamily="2" charset="-122"/>
            </a:endParaRPr>
          </a:p>
        </p:txBody>
      </p:sp>
      <p:sp>
        <p:nvSpPr>
          <p:cNvPr id="21" name="TextBox 75"/>
          <p:cNvSpPr txBox="1"/>
          <p:nvPr/>
        </p:nvSpPr>
        <p:spPr>
          <a:xfrm>
            <a:off x="4464894" y="1705702"/>
            <a:ext cx="6842413" cy="1010213"/>
          </a:xfrm>
          <a:prstGeom prst="rect">
            <a:avLst/>
          </a:prstGeom>
          <a:noFill/>
        </p:spPr>
        <p:txBody>
          <a:bodyPr wrap="square" lIns="0" tIns="0" rIns="0" bIns="0" rtlCol="0">
            <a:spAutoFit/>
          </a:bodyPr>
          <a:lstStyle/>
          <a:p>
            <a:pPr>
              <a:lnSpc>
                <a:spcPts val="2000"/>
              </a:lnSpc>
            </a:pPr>
            <a:r>
              <a:rPr lang="zh-CN" altLang="en-US" sz="1600" b="1">
                <a:latin typeface="Arial" panose="020B0604020202020204" pitchFamily="34" charset="0"/>
                <a:ea typeface="微软雅黑" panose="020B0503020204020204" pitchFamily="34" charset="-122"/>
                <a:sym typeface="微软雅黑" panose="020B0503020204020204" pitchFamily="34" charset="-122"/>
              </a:rPr>
              <a:t>在现有运行时状态观测与反馈机制基础上，进一步引入长期历史追踪，持续记录不同负载下的内存压力、缓存命中、</a:t>
            </a:r>
            <a:r>
              <a:rPr lang="en-US" altLang="zh-CN" sz="1600" b="1">
                <a:latin typeface="Arial" panose="020B0604020202020204" pitchFamily="34" charset="0"/>
                <a:ea typeface="微软雅黑" panose="020B0503020204020204" pitchFamily="34" charset="-122"/>
                <a:sym typeface="微软雅黑" panose="020B0503020204020204" pitchFamily="34" charset="-122"/>
              </a:rPr>
              <a:t>I/O </a:t>
            </a:r>
            <a:r>
              <a:rPr lang="zh-CN" altLang="en-US" sz="1600" b="1">
                <a:latin typeface="Arial" panose="020B0604020202020204" pitchFamily="34" charset="0"/>
                <a:ea typeface="微软雅黑" panose="020B0503020204020204" pitchFamily="34" charset="-122"/>
                <a:sym typeface="微软雅黑" panose="020B0503020204020204" pitchFamily="34" charset="-122"/>
              </a:rPr>
              <a:t>等待、恢复代价与吞吐表现，并利用历史执行结果动态修正资源分配策略，使系统从短期规则调节逐步演进为能够根据长期运行经验自适应优化的资源治理框架。</a:t>
            </a:r>
            <a:endParaRPr lang="en-US" altLang="zh-CN" sz="1400" b="1" dirty="0">
              <a:latin typeface="Arial" panose="020B0604020202020204" pitchFamily="34" charset="0"/>
              <a:ea typeface="微软雅黑" panose="020B0503020204020204" pitchFamily="34" charset="-122"/>
            </a:endParaRPr>
          </a:p>
        </p:txBody>
      </p:sp>
      <p:sp>
        <p:nvSpPr>
          <p:cNvPr id="23" name="TextBox 76"/>
          <p:cNvSpPr txBox="1"/>
          <p:nvPr/>
        </p:nvSpPr>
        <p:spPr>
          <a:xfrm>
            <a:off x="4464894" y="2968381"/>
            <a:ext cx="6842412" cy="1010213"/>
          </a:xfrm>
          <a:prstGeom prst="rect">
            <a:avLst/>
          </a:prstGeom>
          <a:noFill/>
        </p:spPr>
        <p:txBody>
          <a:bodyPr wrap="square" lIns="0" tIns="0" rIns="0" bIns="0" rtlCol="0">
            <a:spAutoFit/>
          </a:bodyPr>
          <a:lstStyle/>
          <a:p>
            <a:pPr>
              <a:lnSpc>
                <a:spcPts val="2000"/>
              </a:lnSpc>
            </a:pPr>
            <a:r>
              <a:rPr lang="zh-CN" altLang="en-US" sz="1600" b="1">
                <a:latin typeface="Arial" panose="020B0604020202020204" pitchFamily="34" charset="0"/>
                <a:ea typeface="微软雅黑" panose="020B0503020204020204" pitchFamily="34" charset="-122"/>
                <a:sym typeface="微软雅黑" panose="020B0503020204020204" pitchFamily="34" charset="-122"/>
              </a:rPr>
              <a:t>进一步探索面向 </a:t>
            </a:r>
            <a:r>
              <a:rPr lang="en-US" altLang="zh-CN" sz="1600" b="1">
                <a:latin typeface="Arial" panose="020B0604020202020204" pitchFamily="34" charset="0"/>
                <a:ea typeface="微软雅黑" panose="020B0503020204020204" pitchFamily="34" charset="-122"/>
                <a:sym typeface="微软雅黑" panose="020B0503020204020204" pitchFamily="34" charset="-122"/>
              </a:rPr>
              <a:t>SSD </a:t>
            </a:r>
            <a:r>
              <a:rPr lang="zh-CN" altLang="en-US" sz="1600" b="1">
                <a:latin typeface="Arial" panose="020B0604020202020204" pitchFamily="34" charset="0"/>
                <a:ea typeface="微软雅黑" panose="020B0503020204020204" pitchFamily="34" charset="-122"/>
                <a:sym typeface="微软雅黑" panose="020B0503020204020204" pitchFamily="34" charset="-122"/>
              </a:rPr>
              <a:t>访问特征的权重与 </a:t>
            </a:r>
            <a:r>
              <a:rPr lang="en-US" altLang="zh-CN" sz="1600" b="1">
                <a:latin typeface="Arial" panose="020B0604020202020204" pitchFamily="34" charset="0"/>
                <a:ea typeface="微软雅黑" panose="020B0503020204020204" pitchFamily="34" charset="-122"/>
                <a:sym typeface="微软雅黑" panose="020B0503020204020204" pitchFamily="34" charset="-122"/>
              </a:rPr>
              <a:t>KV </a:t>
            </a:r>
            <a:r>
              <a:rPr lang="zh-CN" altLang="en-US" sz="1600" b="1">
                <a:latin typeface="Arial" panose="020B0604020202020204" pitchFamily="34" charset="0"/>
                <a:ea typeface="微软雅黑" panose="020B0503020204020204" pitchFamily="34" charset="-122"/>
                <a:sym typeface="微软雅黑" panose="020B0503020204020204" pitchFamily="34" charset="-122"/>
              </a:rPr>
              <a:t>数据布局，通过连续化存储、数据重组与细粒度压缩等机制减少随机 </a:t>
            </a:r>
            <a:r>
              <a:rPr lang="en-US" altLang="zh-CN" sz="1600" b="1">
                <a:latin typeface="Arial" panose="020B0604020202020204" pitchFamily="34" charset="0"/>
                <a:ea typeface="微软雅黑" panose="020B0503020204020204" pitchFamily="34" charset="-122"/>
                <a:sym typeface="微软雅黑" panose="020B0503020204020204" pitchFamily="34" charset="-122"/>
              </a:rPr>
              <a:t>I/O </a:t>
            </a:r>
            <a:r>
              <a:rPr lang="zh-CN" altLang="en-US" sz="1600" b="1">
                <a:latin typeface="Arial" panose="020B0604020202020204" pitchFamily="34" charset="0"/>
                <a:ea typeface="微软雅黑" panose="020B0503020204020204" pitchFamily="34" charset="-122"/>
                <a:sym typeface="微软雅黑" panose="020B0503020204020204" pitchFamily="34" charset="-122"/>
              </a:rPr>
              <a:t>和实际传输量，并研究数据直达与近存储处理等技术，进一步降低外部存储访问开销，提升极端内存约束下的数据搬运效率。</a:t>
            </a:r>
            <a:endParaRPr lang="en-US" altLang="zh-CN" sz="1400" b="1" dirty="0">
              <a:latin typeface="Arial" panose="020B0604020202020204" pitchFamily="34" charset="0"/>
              <a:ea typeface="微软雅黑" panose="020B0503020204020204" pitchFamily="34" charset="-122"/>
            </a:endParaRPr>
          </a:p>
        </p:txBody>
      </p:sp>
      <p:sp>
        <p:nvSpPr>
          <p:cNvPr id="25" name="矩形 3"/>
          <p:cNvSpPr/>
          <p:nvPr/>
        </p:nvSpPr>
        <p:spPr>
          <a:xfrm>
            <a:off x="425752" y="1769352"/>
            <a:ext cx="3458785" cy="869659"/>
          </a:xfrm>
          <a:custGeom>
            <a:avLst/>
            <a:gdLst/>
            <a:ahLst/>
            <a:cxnLst/>
            <a:rect l="l" t="t" r="r" b="b"/>
            <a:pathLst>
              <a:path w="5192450" h="1305562">
                <a:moveTo>
                  <a:pt x="648072" y="0"/>
                </a:moveTo>
                <a:lnTo>
                  <a:pt x="4680520" y="0"/>
                </a:lnTo>
                <a:lnTo>
                  <a:pt x="4680520" y="534"/>
                </a:lnTo>
                <a:lnTo>
                  <a:pt x="4756983" y="534"/>
                </a:lnTo>
                <a:cubicBezTo>
                  <a:pt x="4781822" y="0"/>
                  <a:pt x="4807189" y="5871"/>
                  <a:pt x="4830442" y="19749"/>
                </a:cubicBezTo>
                <a:cubicBezTo>
                  <a:pt x="4852109" y="32025"/>
                  <a:pt x="4869549" y="49639"/>
                  <a:pt x="4881176" y="70456"/>
                </a:cubicBezTo>
                <a:lnTo>
                  <a:pt x="5172368" y="579657"/>
                </a:lnTo>
                <a:cubicBezTo>
                  <a:pt x="5185051" y="601007"/>
                  <a:pt x="5192450" y="626093"/>
                  <a:pt x="5192450" y="652781"/>
                </a:cubicBezTo>
                <a:cubicBezTo>
                  <a:pt x="5192450" y="680003"/>
                  <a:pt x="5185051" y="705089"/>
                  <a:pt x="5171839" y="726439"/>
                </a:cubicBezTo>
                <a:lnTo>
                  <a:pt x="4881176" y="1235640"/>
                </a:lnTo>
                <a:cubicBezTo>
                  <a:pt x="4869021" y="1255923"/>
                  <a:pt x="4852109" y="1273537"/>
                  <a:pt x="4830442" y="1286347"/>
                </a:cubicBezTo>
                <a:cubicBezTo>
                  <a:pt x="4807717" y="1299691"/>
                  <a:pt x="4782879" y="1305562"/>
                  <a:pt x="4758040" y="1305028"/>
                </a:cubicBezTo>
                <a:lnTo>
                  <a:pt x="4680520" y="1305028"/>
                </a:lnTo>
                <a:lnTo>
                  <a:pt x="4680520" y="1305562"/>
                </a:lnTo>
                <a:lnTo>
                  <a:pt x="648072" y="1305562"/>
                </a:lnTo>
                <a:lnTo>
                  <a:pt x="648072" y="1305028"/>
                </a:lnTo>
                <a:lnTo>
                  <a:pt x="431239" y="1305028"/>
                </a:lnTo>
                <a:cubicBezTo>
                  <a:pt x="407986" y="1305028"/>
                  <a:pt x="383676" y="1299157"/>
                  <a:pt x="362008" y="1286347"/>
                </a:cubicBezTo>
                <a:cubicBezTo>
                  <a:pt x="340341" y="1273537"/>
                  <a:pt x="322901" y="1255923"/>
                  <a:pt x="311274" y="1235107"/>
                </a:cubicBezTo>
                <a:lnTo>
                  <a:pt x="19025" y="723770"/>
                </a:lnTo>
                <a:cubicBezTo>
                  <a:pt x="6870" y="702954"/>
                  <a:pt x="0" y="678935"/>
                  <a:pt x="0" y="652781"/>
                </a:cubicBezTo>
                <a:cubicBezTo>
                  <a:pt x="0" y="626627"/>
                  <a:pt x="6870" y="602608"/>
                  <a:pt x="19025" y="581258"/>
                </a:cubicBezTo>
                <a:lnTo>
                  <a:pt x="310217" y="72057"/>
                </a:lnTo>
                <a:cubicBezTo>
                  <a:pt x="322372" y="51240"/>
                  <a:pt x="339812" y="32559"/>
                  <a:pt x="362008" y="19749"/>
                </a:cubicBezTo>
                <a:cubicBezTo>
                  <a:pt x="382619" y="7473"/>
                  <a:pt x="405344" y="1068"/>
                  <a:pt x="428068" y="534"/>
                </a:cubicBezTo>
                <a:lnTo>
                  <a:pt x="648072" y="534"/>
                </a:lnTo>
                <a:close/>
              </a:path>
            </a:pathLst>
          </a:custGeom>
          <a:solidFill>
            <a:schemeClr val="accent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a:latin typeface="Songti SC" panose="02010600040101010101" pitchFamily="2" charset="-122"/>
              <a:ea typeface="Songti SC" panose="02010600040101010101" pitchFamily="2" charset="-122"/>
            </a:endParaRPr>
          </a:p>
        </p:txBody>
      </p:sp>
      <p:sp>
        <p:nvSpPr>
          <p:cNvPr id="37" name="矩形 3"/>
          <p:cNvSpPr/>
          <p:nvPr/>
        </p:nvSpPr>
        <p:spPr>
          <a:xfrm>
            <a:off x="425752" y="4305457"/>
            <a:ext cx="3458785" cy="869659"/>
          </a:xfrm>
          <a:custGeom>
            <a:avLst/>
            <a:gdLst/>
            <a:ahLst/>
            <a:cxnLst/>
            <a:rect l="l" t="t" r="r" b="b"/>
            <a:pathLst>
              <a:path w="5192450" h="1305562">
                <a:moveTo>
                  <a:pt x="648072" y="0"/>
                </a:moveTo>
                <a:lnTo>
                  <a:pt x="4680520" y="0"/>
                </a:lnTo>
                <a:lnTo>
                  <a:pt x="4680520" y="534"/>
                </a:lnTo>
                <a:lnTo>
                  <a:pt x="4756983" y="534"/>
                </a:lnTo>
                <a:cubicBezTo>
                  <a:pt x="4781822" y="0"/>
                  <a:pt x="4807189" y="5871"/>
                  <a:pt x="4830442" y="19749"/>
                </a:cubicBezTo>
                <a:cubicBezTo>
                  <a:pt x="4852109" y="32025"/>
                  <a:pt x="4869549" y="49639"/>
                  <a:pt x="4881176" y="70456"/>
                </a:cubicBezTo>
                <a:lnTo>
                  <a:pt x="5172368" y="579657"/>
                </a:lnTo>
                <a:cubicBezTo>
                  <a:pt x="5185051" y="601007"/>
                  <a:pt x="5192450" y="626093"/>
                  <a:pt x="5192450" y="652781"/>
                </a:cubicBezTo>
                <a:cubicBezTo>
                  <a:pt x="5192450" y="680003"/>
                  <a:pt x="5185051" y="705089"/>
                  <a:pt x="5171839" y="726439"/>
                </a:cubicBezTo>
                <a:lnTo>
                  <a:pt x="4881176" y="1235640"/>
                </a:lnTo>
                <a:cubicBezTo>
                  <a:pt x="4869021" y="1255923"/>
                  <a:pt x="4852109" y="1273537"/>
                  <a:pt x="4830442" y="1286347"/>
                </a:cubicBezTo>
                <a:cubicBezTo>
                  <a:pt x="4807717" y="1299691"/>
                  <a:pt x="4782879" y="1305562"/>
                  <a:pt x="4758040" y="1305028"/>
                </a:cubicBezTo>
                <a:lnTo>
                  <a:pt x="4680520" y="1305028"/>
                </a:lnTo>
                <a:lnTo>
                  <a:pt x="4680520" y="1305562"/>
                </a:lnTo>
                <a:lnTo>
                  <a:pt x="648072" y="1305562"/>
                </a:lnTo>
                <a:lnTo>
                  <a:pt x="648072" y="1305028"/>
                </a:lnTo>
                <a:lnTo>
                  <a:pt x="431239" y="1305028"/>
                </a:lnTo>
                <a:cubicBezTo>
                  <a:pt x="407986" y="1305028"/>
                  <a:pt x="383676" y="1299157"/>
                  <a:pt x="362008" y="1286347"/>
                </a:cubicBezTo>
                <a:cubicBezTo>
                  <a:pt x="340341" y="1273537"/>
                  <a:pt x="322901" y="1255923"/>
                  <a:pt x="311274" y="1235107"/>
                </a:cubicBezTo>
                <a:lnTo>
                  <a:pt x="19025" y="723770"/>
                </a:lnTo>
                <a:cubicBezTo>
                  <a:pt x="6870" y="702954"/>
                  <a:pt x="0" y="678935"/>
                  <a:pt x="0" y="652781"/>
                </a:cubicBezTo>
                <a:cubicBezTo>
                  <a:pt x="0" y="626627"/>
                  <a:pt x="6870" y="602608"/>
                  <a:pt x="19025" y="581258"/>
                </a:cubicBezTo>
                <a:lnTo>
                  <a:pt x="310217" y="72057"/>
                </a:lnTo>
                <a:cubicBezTo>
                  <a:pt x="322372" y="51240"/>
                  <a:pt x="339812" y="32559"/>
                  <a:pt x="362008" y="19749"/>
                </a:cubicBezTo>
                <a:cubicBezTo>
                  <a:pt x="382619" y="7473"/>
                  <a:pt x="405344" y="1068"/>
                  <a:pt x="428068" y="534"/>
                </a:cubicBezTo>
                <a:lnTo>
                  <a:pt x="648072" y="534"/>
                </a:lnTo>
                <a:close/>
              </a:path>
            </a:pathLst>
          </a:custGeom>
          <a:solidFill>
            <a:schemeClr val="accent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a:latin typeface="Songti SC" panose="02010600040101010101" pitchFamily="2" charset="-122"/>
              <a:ea typeface="Songti SC" panose="02010600040101010101" pitchFamily="2" charset="-122"/>
            </a:endParaRPr>
          </a:p>
        </p:txBody>
      </p:sp>
      <p:sp>
        <p:nvSpPr>
          <p:cNvPr id="44" name="TextBox 82"/>
          <p:cNvSpPr txBox="1"/>
          <p:nvPr/>
        </p:nvSpPr>
        <p:spPr>
          <a:xfrm>
            <a:off x="795089" y="1834849"/>
            <a:ext cx="2579860" cy="738664"/>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anose="020B0503020204020204" pitchFamily="34" charset="-122"/>
                <a:ea typeface="微软雅黑" panose="020B0503020204020204" pitchFamily="34" charset="-122"/>
              </a:defRPr>
            </a:lvl1pPr>
          </a:lstStyle>
          <a:p>
            <a:r>
              <a:rPr lang="zh-CN" altLang="en-US" sz="2400">
                <a:solidFill>
                  <a:schemeClr val="bg1"/>
                </a:solidFill>
                <a:latin typeface="Arial" panose="020B0604020202020204" pitchFamily="34" charset="0"/>
              </a:rPr>
              <a:t>长期运行历史追踪与自适应策略进化</a:t>
            </a:r>
            <a:endParaRPr lang="zh-CN" altLang="en-US" sz="2400" dirty="0">
              <a:solidFill>
                <a:schemeClr val="bg1"/>
              </a:solidFill>
              <a:latin typeface="Arial" panose="020B0604020202020204" pitchFamily="34" charset="0"/>
            </a:endParaRPr>
          </a:p>
        </p:txBody>
      </p:sp>
      <p:sp>
        <p:nvSpPr>
          <p:cNvPr id="45" name="TextBox 83"/>
          <p:cNvSpPr txBox="1"/>
          <p:nvPr/>
        </p:nvSpPr>
        <p:spPr>
          <a:xfrm>
            <a:off x="707665" y="3104156"/>
            <a:ext cx="2861654" cy="738664"/>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anose="020B0503020204020204" pitchFamily="34" charset="-122"/>
                <a:ea typeface="微软雅黑" panose="020B0503020204020204" pitchFamily="34" charset="-122"/>
              </a:defRPr>
            </a:lvl1pPr>
          </a:lstStyle>
          <a:p>
            <a:r>
              <a:rPr lang="zh-CN" altLang="en-US" sz="2400">
                <a:solidFill>
                  <a:schemeClr val="bg1"/>
                </a:solidFill>
                <a:latin typeface="Arial" panose="020B0604020202020204" pitchFamily="34" charset="0"/>
              </a:rPr>
              <a:t>面向 </a:t>
            </a:r>
            <a:r>
              <a:rPr lang="en-US" altLang="zh-CN" sz="2400">
                <a:solidFill>
                  <a:schemeClr val="bg1"/>
                </a:solidFill>
                <a:latin typeface="Arial" panose="020B0604020202020204" pitchFamily="34" charset="0"/>
              </a:rPr>
              <a:t>SSD–DRAM </a:t>
            </a:r>
          </a:p>
          <a:p>
            <a:r>
              <a:rPr lang="zh-CN" altLang="en-US" sz="2400">
                <a:solidFill>
                  <a:schemeClr val="bg1"/>
                </a:solidFill>
                <a:latin typeface="Arial" panose="020B0604020202020204" pitchFamily="34" charset="0"/>
              </a:rPr>
              <a:t>数据通路的协同优化</a:t>
            </a:r>
            <a:endParaRPr lang="zh-CN" altLang="en-US" sz="2400" dirty="0">
              <a:solidFill>
                <a:schemeClr val="bg1"/>
              </a:solidFill>
              <a:latin typeface="Arial" panose="020B0604020202020204" pitchFamily="34" charset="0"/>
            </a:endParaRPr>
          </a:p>
        </p:txBody>
      </p:sp>
      <p:sp>
        <p:nvSpPr>
          <p:cNvPr id="46" name="TextBox 84"/>
          <p:cNvSpPr txBox="1"/>
          <p:nvPr/>
        </p:nvSpPr>
        <p:spPr>
          <a:xfrm>
            <a:off x="899247" y="4370954"/>
            <a:ext cx="2511790" cy="738664"/>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anose="020B0503020204020204" pitchFamily="34" charset="-122"/>
                <a:ea typeface="微软雅黑" panose="020B0503020204020204" pitchFamily="34" charset="-122"/>
              </a:defRPr>
            </a:lvl1pPr>
          </a:lstStyle>
          <a:p>
            <a:r>
              <a:rPr lang="zh-CN" altLang="en-US" sz="2400">
                <a:solidFill>
                  <a:schemeClr val="bg1"/>
                </a:solidFill>
                <a:latin typeface="Arial" panose="020B0604020202020204" pitchFamily="34" charset="0"/>
              </a:rPr>
              <a:t>多模型兼容性验证与管理机制扩展</a:t>
            </a:r>
            <a:endParaRPr lang="zh-CN" altLang="en-US" sz="2400" dirty="0">
              <a:solidFill>
                <a:schemeClr val="bg1"/>
              </a:solidFill>
              <a:latin typeface="Arial" panose="020B0604020202020204" pitchFamily="34" charset="0"/>
            </a:endParaRPr>
          </a:p>
        </p:txBody>
      </p:sp>
      <p:sp>
        <p:nvSpPr>
          <p:cNvPr id="3" name="TextBox 76">
            <a:extLst>
              <a:ext uri="{FF2B5EF4-FFF2-40B4-BE49-F238E27FC236}">
                <a16:creationId xmlns:a16="http://schemas.microsoft.com/office/drawing/2014/main" id="{28DF0D41-D43C-507C-EB7B-9321ADFD7F39}"/>
              </a:ext>
            </a:extLst>
          </p:cNvPr>
          <p:cNvSpPr txBox="1"/>
          <p:nvPr/>
        </p:nvSpPr>
        <p:spPr>
          <a:xfrm>
            <a:off x="4464895" y="5512665"/>
            <a:ext cx="6842412" cy="1010213"/>
          </a:xfrm>
          <a:prstGeom prst="rect">
            <a:avLst/>
          </a:prstGeom>
          <a:noFill/>
        </p:spPr>
        <p:txBody>
          <a:bodyPr wrap="square" lIns="0" tIns="0" rIns="0" bIns="0" rtlCol="0">
            <a:spAutoFit/>
          </a:bodyPr>
          <a:lstStyle/>
          <a:p>
            <a:pPr>
              <a:lnSpc>
                <a:spcPts val="2000"/>
              </a:lnSpc>
            </a:pPr>
            <a:r>
              <a:rPr lang="zh-CN" altLang="en-US" sz="1600" b="1">
                <a:latin typeface="Arial" panose="020B0604020202020204" pitchFamily="34" charset="0"/>
                <a:ea typeface="微软雅黑" panose="020B0503020204020204" pitchFamily="34" charset="-122"/>
                <a:sym typeface="微软雅黑" panose="020B0503020204020204" pitchFamily="34" charset="-122"/>
              </a:rPr>
              <a:t>在当前 </a:t>
            </a:r>
            <a:r>
              <a:rPr lang="en-US" altLang="zh-CN" sz="1600" b="1">
                <a:latin typeface="Arial" panose="020B0604020202020204" pitchFamily="34" charset="0"/>
                <a:ea typeface="微软雅黑" panose="020B0503020204020204" pitchFamily="34" charset="-122"/>
                <a:sym typeface="微软雅黑" panose="020B0503020204020204" pitchFamily="34" charset="-122"/>
              </a:rPr>
              <a:t>CPU </a:t>
            </a:r>
            <a:r>
              <a:rPr lang="zh-CN" altLang="en-US" sz="1600" b="1">
                <a:latin typeface="Arial" panose="020B0604020202020204" pitchFamily="34" charset="0"/>
                <a:ea typeface="微软雅黑" panose="020B0503020204020204" pitchFamily="34" charset="-122"/>
                <a:sym typeface="微软雅黑" panose="020B0503020204020204" pitchFamily="34" charset="-122"/>
              </a:rPr>
              <a:t>推理与 </a:t>
            </a:r>
            <a:r>
              <a:rPr lang="en-US" altLang="zh-CN" sz="1600" b="1">
                <a:latin typeface="Arial" panose="020B0604020202020204" pitchFamily="34" charset="0"/>
                <a:ea typeface="微软雅黑" panose="020B0503020204020204" pitchFamily="34" charset="-122"/>
                <a:sym typeface="微软雅黑" panose="020B0503020204020204" pitchFamily="34" charset="-122"/>
              </a:rPr>
              <a:t>DRAM–SSD </a:t>
            </a:r>
            <a:r>
              <a:rPr lang="zh-CN" altLang="en-US" sz="1600" b="1">
                <a:latin typeface="Arial" panose="020B0604020202020204" pitchFamily="34" charset="0"/>
                <a:ea typeface="微软雅黑" panose="020B0503020204020204" pitchFamily="34" charset="-122"/>
                <a:sym typeface="微软雅黑" panose="020B0503020204020204" pitchFamily="34" charset="-122"/>
              </a:rPr>
              <a:t>内存治理基础上，进一步探索 </a:t>
            </a:r>
            <a:r>
              <a:rPr lang="en-US" altLang="zh-CN" sz="1600" b="1">
                <a:latin typeface="Arial" panose="020B0604020202020204" pitchFamily="34" charset="0"/>
                <a:ea typeface="微软雅黑" panose="020B0503020204020204" pitchFamily="34" charset="-122"/>
                <a:sym typeface="微软雅黑" panose="020B0503020204020204" pitchFamily="34" charset="-122"/>
              </a:rPr>
              <a:t>GPU</a:t>
            </a:r>
            <a:r>
              <a:rPr lang="zh-CN" altLang="en-US" sz="1600" b="1">
                <a:latin typeface="Arial" panose="020B0604020202020204" pitchFamily="34" charset="0"/>
                <a:ea typeface="微软雅黑" panose="020B0503020204020204" pitchFamily="34" charset="-122"/>
                <a:sym typeface="微软雅黑" panose="020B0503020204020204" pitchFamily="34" charset="-122"/>
              </a:rPr>
              <a:t>、</a:t>
            </a:r>
            <a:r>
              <a:rPr lang="en-US" altLang="zh-CN" sz="1600" b="1">
                <a:latin typeface="Arial" panose="020B0604020202020204" pitchFamily="34" charset="0"/>
                <a:ea typeface="微软雅黑" panose="020B0503020204020204" pitchFamily="34" charset="-122"/>
                <a:sym typeface="微软雅黑" panose="020B0503020204020204" pitchFamily="34" charset="-122"/>
              </a:rPr>
              <a:t>NPU </a:t>
            </a:r>
            <a:r>
              <a:rPr lang="zh-CN" altLang="en-US" sz="1600" b="1">
                <a:latin typeface="Arial" panose="020B0604020202020204" pitchFamily="34" charset="0"/>
                <a:ea typeface="微软雅黑" panose="020B0503020204020204" pitchFamily="34" charset="-122"/>
                <a:sym typeface="微软雅黑" panose="020B0503020204020204" pitchFamily="34" charset="-122"/>
              </a:rPr>
              <a:t>等异构计算设备下的统一资源管理，将显存、系统内存与外部存储纳入多级驻留体系。结合不同设备的计算能力、传输带宽和内存容量动态决定权重与 </a:t>
            </a:r>
            <a:r>
              <a:rPr lang="en-US" altLang="zh-CN" sz="1600" b="1">
                <a:latin typeface="Arial" panose="020B0604020202020204" pitchFamily="34" charset="0"/>
                <a:ea typeface="微软雅黑" panose="020B0503020204020204" pitchFamily="34" charset="-122"/>
                <a:sym typeface="微软雅黑" panose="020B0503020204020204" pitchFamily="34" charset="-122"/>
              </a:rPr>
              <a:t>KV </a:t>
            </a:r>
            <a:r>
              <a:rPr lang="zh-CN" altLang="en-US" sz="1600" b="1">
                <a:latin typeface="Arial" panose="020B0604020202020204" pitchFamily="34" charset="0"/>
                <a:ea typeface="微软雅黑" panose="020B0503020204020204" pitchFamily="34" charset="-122"/>
                <a:sym typeface="微软雅黑" panose="020B0503020204020204" pitchFamily="34" charset="-122"/>
              </a:rPr>
              <a:t>的放置和迁移位置，逐步形成跨设备、跨存储层次的统一运行时调度框架。</a:t>
            </a:r>
            <a:endParaRPr lang="en-US" altLang="zh-CN" sz="1400" b="1" dirty="0">
              <a:latin typeface="Arial" panose="020B0604020202020204" pitchFamily="34" charset="0"/>
              <a:ea typeface="微软雅黑" panose="020B0503020204020204" pitchFamily="34" charset="-122"/>
            </a:endParaRPr>
          </a:p>
        </p:txBody>
      </p:sp>
      <p:sp>
        <p:nvSpPr>
          <p:cNvPr id="4" name="矩形 3">
            <a:extLst>
              <a:ext uri="{FF2B5EF4-FFF2-40B4-BE49-F238E27FC236}">
                <a16:creationId xmlns:a16="http://schemas.microsoft.com/office/drawing/2014/main" id="{23C24780-104D-6025-567D-0B9EDC70C8C0}"/>
              </a:ext>
            </a:extLst>
          </p:cNvPr>
          <p:cNvSpPr/>
          <p:nvPr/>
        </p:nvSpPr>
        <p:spPr>
          <a:xfrm>
            <a:off x="425750" y="5582943"/>
            <a:ext cx="3458785" cy="869659"/>
          </a:xfrm>
          <a:custGeom>
            <a:avLst/>
            <a:gdLst/>
            <a:ahLst/>
            <a:cxnLst/>
            <a:rect l="l" t="t" r="r" b="b"/>
            <a:pathLst>
              <a:path w="5192450" h="1305562">
                <a:moveTo>
                  <a:pt x="648072" y="0"/>
                </a:moveTo>
                <a:lnTo>
                  <a:pt x="4680520" y="0"/>
                </a:lnTo>
                <a:lnTo>
                  <a:pt x="4680520" y="534"/>
                </a:lnTo>
                <a:lnTo>
                  <a:pt x="4756983" y="534"/>
                </a:lnTo>
                <a:cubicBezTo>
                  <a:pt x="4781822" y="0"/>
                  <a:pt x="4807189" y="5871"/>
                  <a:pt x="4830442" y="19749"/>
                </a:cubicBezTo>
                <a:cubicBezTo>
                  <a:pt x="4852109" y="32025"/>
                  <a:pt x="4869549" y="49639"/>
                  <a:pt x="4881176" y="70456"/>
                </a:cubicBezTo>
                <a:lnTo>
                  <a:pt x="5172368" y="579657"/>
                </a:lnTo>
                <a:cubicBezTo>
                  <a:pt x="5185051" y="601007"/>
                  <a:pt x="5192450" y="626093"/>
                  <a:pt x="5192450" y="652781"/>
                </a:cubicBezTo>
                <a:cubicBezTo>
                  <a:pt x="5192450" y="680003"/>
                  <a:pt x="5185051" y="705089"/>
                  <a:pt x="5171839" y="726439"/>
                </a:cubicBezTo>
                <a:lnTo>
                  <a:pt x="4881176" y="1235640"/>
                </a:lnTo>
                <a:cubicBezTo>
                  <a:pt x="4869021" y="1255923"/>
                  <a:pt x="4852109" y="1273537"/>
                  <a:pt x="4830442" y="1286347"/>
                </a:cubicBezTo>
                <a:cubicBezTo>
                  <a:pt x="4807717" y="1299691"/>
                  <a:pt x="4782879" y="1305562"/>
                  <a:pt x="4758040" y="1305028"/>
                </a:cubicBezTo>
                <a:lnTo>
                  <a:pt x="4680520" y="1305028"/>
                </a:lnTo>
                <a:lnTo>
                  <a:pt x="4680520" y="1305562"/>
                </a:lnTo>
                <a:lnTo>
                  <a:pt x="648072" y="1305562"/>
                </a:lnTo>
                <a:lnTo>
                  <a:pt x="648072" y="1305028"/>
                </a:lnTo>
                <a:lnTo>
                  <a:pt x="431239" y="1305028"/>
                </a:lnTo>
                <a:cubicBezTo>
                  <a:pt x="407986" y="1305028"/>
                  <a:pt x="383676" y="1299157"/>
                  <a:pt x="362008" y="1286347"/>
                </a:cubicBezTo>
                <a:cubicBezTo>
                  <a:pt x="340341" y="1273537"/>
                  <a:pt x="322901" y="1255923"/>
                  <a:pt x="311274" y="1235107"/>
                </a:cubicBezTo>
                <a:lnTo>
                  <a:pt x="19025" y="723770"/>
                </a:lnTo>
                <a:cubicBezTo>
                  <a:pt x="6870" y="702954"/>
                  <a:pt x="0" y="678935"/>
                  <a:pt x="0" y="652781"/>
                </a:cubicBezTo>
                <a:cubicBezTo>
                  <a:pt x="0" y="626627"/>
                  <a:pt x="6870" y="602608"/>
                  <a:pt x="19025" y="581258"/>
                </a:cubicBezTo>
                <a:lnTo>
                  <a:pt x="310217" y="72057"/>
                </a:lnTo>
                <a:cubicBezTo>
                  <a:pt x="322372" y="51240"/>
                  <a:pt x="339812" y="32559"/>
                  <a:pt x="362008" y="19749"/>
                </a:cubicBezTo>
                <a:cubicBezTo>
                  <a:pt x="382619" y="7473"/>
                  <a:pt x="405344" y="1068"/>
                  <a:pt x="428068" y="534"/>
                </a:cubicBezTo>
                <a:lnTo>
                  <a:pt x="648072" y="534"/>
                </a:lnTo>
                <a:close/>
              </a:path>
            </a:pathLst>
          </a:custGeom>
          <a:solidFill>
            <a:schemeClr val="accent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solidFill>
                  <a:schemeClr val="bg1"/>
                </a:solidFill>
                <a:latin typeface="Arial" panose="020B0604020202020204" pitchFamily="34" charset="0"/>
                <a:ea typeface="微软雅黑" panose="020B0503020204020204" pitchFamily="34" charset="-122"/>
              </a:rPr>
              <a:t>面向 </a:t>
            </a:r>
            <a:r>
              <a:rPr lang="en-US" altLang="zh-CN" sz="2400" b="1">
                <a:solidFill>
                  <a:schemeClr val="bg1"/>
                </a:solidFill>
                <a:latin typeface="Arial" panose="020B0604020202020204" pitchFamily="34" charset="0"/>
                <a:ea typeface="微软雅黑" panose="020B0503020204020204" pitchFamily="34" charset="-122"/>
              </a:rPr>
              <a:t>GPU / NPU </a:t>
            </a:r>
            <a:r>
              <a:rPr lang="zh-CN" altLang="en-US" sz="2400" b="1">
                <a:solidFill>
                  <a:schemeClr val="bg1"/>
                </a:solidFill>
                <a:latin typeface="Arial" panose="020B0604020202020204" pitchFamily="34" charset="0"/>
                <a:ea typeface="微软雅黑" panose="020B0503020204020204" pitchFamily="34" charset="-122"/>
              </a:rPr>
              <a:t>的</a:t>
            </a:r>
            <a:endParaRPr lang="en-US" altLang="zh-CN" sz="2400" b="1">
              <a:solidFill>
                <a:schemeClr val="bg1"/>
              </a:solidFill>
              <a:latin typeface="Arial" panose="020B0604020202020204" pitchFamily="34" charset="0"/>
              <a:ea typeface="微软雅黑" panose="020B0503020204020204" pitchFamily="34" charset="-122"/>
            </a:endParaRPr>
          </a:p>
          <a:p>
            <a:pPr algn="ctr"/>
            <a:r>
              <a:rPr lang="zh-CN" altLang="en-US" sz="2400" b="1">
                <a:solidFill>
                  <a:schemeClr val="bg1"/>
                </a:solidFill>
                <a:latin typeface="Arial" panose="020B0604020202020204" pitchFamily="34" charset="0"/>
                <a:ea typeface="微软雅黑" panose="020B0503020204020204" pitchFamily="34" charset="-122"/>
              </a:rPr>
              <a:t>异构硬件扩展</a:t>
            </a:r>
          </a:p>
        </p:txBody>
      </p:sp>
      <p:sp>
        <p:nvSpPr>
          <p:cNvPr id="5" name="TextBox 76">
            <a:extLst>
              <a:ext uri="{FF2B5EF4-FFF2-40B4-BE49-F238E27FC236}">
                <a16:creationId xmlns:a16="http://schemas.microsoft.com/office/drawing/2014/main" id="{D95AE8D2-EA46-0FA0-48A5-87EEC434B68F}"/>
              </a:ext>
            </a:extLst>
          </p:cNvPr>
          <p:cNvSpPr txBox="1"/>
          <p:nvPr/>
        </p:nvSpPr>
        <p:spPr>
          <a:xfrm>
            <a:off x="4464894" y="4249986"/>
            <a:ext cx="6842412" cy="1010213"/>
          </a:xfrm>
          <a:prstGeom prst="rect">
            <a:avLst/>
          </a:prstGeom>
          <a:noFill/>
        </p:spPr>
        <p:txBody>
          <a:bodyPr wrap="square" lIns="0" tIns="0" rIns="0" bIns="0" rtlCol="0">
            <a:spAutoFit/>
          </a:bodyPr>
          <a:lstStyle/>
          <a:p>
            <a:pPr>
              <a:lnSpc>
                <a:spcPts val="2000"/>
              </a:lnSpc>
            </a:pPr>
            <a:r>
              <a:rPr lang="zh-CN" altLang="en-US" sz="1600" b="1">
                <a:latin typeface="Arial" panose="020B0604020202020204" pitchFamily="34" charset="0"/>
                <a:ea typeface="微软雅黑" panose="020B0503020204020204" pitchFamily="34" charset="-122"/>
                <a:sym typeface="微软雅黑" panose="020B0503020204020204" pitchFamily="34" charset="-122"/>
              </a:rPr>
              <a:t>在现有 </a:t>
            </a:r>
            <a:r>
              <a:rPr lang="en-US" altLang="zh-CN" sz="1600" b="1">
                <a:latin typeface="Arial" panose="020B0604020202020204" pitchFamily="34" charset="0"/>
                <a:ea typeface="微软雅黑" panose="020B0503020204020204" pitchFamily="34" charset="-122"/>
                <a:sym typeface="微软雅黑" panose="020B0503020204020204" pitchFamily="34" charset="-122"/>
              </a:rPr>
              <a:t>Dense </a:t>
            </a:r>
            <a:r>
              <a:rPr lang="zh-CN" altLang="en-US" sz="1600" b="1">
                <a:latin typeface="Arial" panose="020B0604020202020204" pitchFamily="34" charset="0"/>
                <a:ea typeface="微软雅黑" panose="020B0503020204020204" pitchFamily="34" charset="-122"/>
                <a:sym typeface="微软雅黑" panose="020B0503020204020204" pitchFamily="34" charset="-122"/>
              </a:rPr>
              <a:t>与 </a:t>
            </a:r>
            <a:r>
              <a:rPr lang="en-US" altLang="zh-CN" sz="1600" b="1">
                <a:latin typeface="Arial" panose="020B0604020202020204" pitchFamily="34" charset="0"/>
                <a:ea typeface="微软雅黑" panose="020B0503020204020204" pitchFamily="34" charset="-122"/>
                <a:sym typeface="微软雅黑" panose="020B0503020204020204" pitchFamily="34" charset="-122"/>
              </a:rPr>
              <a:t>MoE </a:t>
            </a:r>
            <a:r>
              <a:rPr lang="zh-CN" altLang="en-US" sz="1600" b="1">
                <a:latin typeface="Arial" panose="020B0604020202020204" pitchFamily="34" charset="0"/>
                <a:ea typeface="微软雅黑" panose="020B0503020204020204" pitchFamily="34" charset="-122"/>
                <a:sym typeface="微软雅黑" panose="020B0503020204020204" pitchFamily="34" charset="-122"/>
              </a:rPr>
              <a:t>模型支持基础上，进一步扩展不同模型架构、模型规模及量化格式的兼容性，并针对不同模型的权重组织与访存特征完善统一管理接口。降低系统对特定模型结构和参数配置的依赖，使现有权重驻留、</a:t>
            </a:r>
            <a:r>
              <a:rPr lang="en-US" altLang="zh-CN" sz="1600" b="1">
                <a:latin typeface="Arial" panose="020B0604020202020204" pitchFamily="34" charset="0"/>
                <a:ea typeface="微软雅黑" panose="020B0503020204020204" pitchFamily="34" charset="-122"/>
                <a:sym typeface="微软雅黑" panose="020B0503020204020204" pitchFamily="34" charset="-122"/>
              </a:rPr>
              <a:t>KV Cache </a:t>
            </a:r>
            <a:r>
              <a:rPr lang="zh-CN" altLang="en-US" sz="1600" b="1">
                <a:latin typeface="Arial" panose="020B0604020202020204" pitchFamily="34" charset="0"/>
                <a:ea typeface="微软雅黑" panose="020B0503020204020204" pitchFamily="34" charset="-122"/>
                <a:sym typeface="微软雅黑" panose="020B0503020204020204" pitchFamily="34" charset="-122"/>
              </a:rPr>
              <a:t>管理与全局调度机制具备更强的泛化能力和可扩展性。</a:t>
            </a:r>
            <a:endParaRPr lang="en-US" altLang="zh-CN" sz="1400" b="1" dirty="0">
              <a:latin typeface="Arial" panose="020B0604020202020204" pitchFamily="34" charset="0"/>
              <a:ea typeface="微软雅黑" panose="020B0503020204020204" pitchFamily="34" charset="-122"/>
            </a:endParaRPr>
          </a:p>
        </p:txBody>
      </p:sp>
      <p:sp>
        <p:nvSpPr>
          <p:cNvPr id="6" name="矩形 4">
            <a:extLst>
              <a:ext uri="{FF2B5EF4-FFF2-40B4-BE49-F238E27FC236}">
                <a16:creationId xmlns:a16="http://schemas.microsoft.com/office/drawing/2014/main" id="{18487919-3F08-F875-01DE-BA8DFC53BC1D}"/>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7" name="矩形 6">
            <a:extLst>
              <a:ext uri="{FF2B5EF4-FFF2-40B4-BE49-F238E27FC236}">
                <a16:creationId xmlns:a16="http://schemas.microsoft.com/office/drawing/2014/main" id="{F0397052-3BD6-93FD-0C8D-7816E0CC3062}"/>
              </a:ext>
            </a:extLst>
          </p:cNvPr>
          <p:cNvSpPr/>
          <p:nvPr/>
        </p:nvSpPr>
        <p:spPr>
          <a:xfrm>
            <a:off x="10003249"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sp>
        <p:nvSpPr>
          <p:cNvPr id="8" name="TextBox 6">
            <a:extLst>
              <a:ext uri="{FF2B5EF4-FFF2-40B4-BE49-F238E27FC236}">
                <a16:creationId xmlns:a16="http://schemas.microsoft.com/office/drawing/2014/main" id="{44D42427-42DC-D699-0DEB-3CBA77A282F2}"/>
              </a:ext>
            </a:extLst>
          </p:cNvPr>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9" name="TextBox 9">
            <a:extLst>
              <a:ext uri="{FF2B5EF4-FFF2-40B4-BE49-F238E27FC236}">
                <a16:creationId xmlns:a16="http://schemas.microsoft.com/office/drawing/2014/main" id="{B924E8C4-1E7F-51B2-FB02-1FF0A449D98F}"/>
              </a:ext>
            </a:extLst>
          </p:cNvPr>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项目实</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rPr>
              <a:t>现</a:t>
            </a:r>
          </a:p>
        </p:txBody>
      </p:sp>
      <p:sp>
        <p:nvSpPr>
          <p:cNvPr id="10" name="TextBox 10">
            <a:extLst>
              <a:ext uri="{FF2B5EF4-FFF2-40B4-BE49-F238E27FC236}">
                <a16:creationId xmlns:a16="http://schemas.microsoft.com/office/drawing/2014/main" id="{52E398ED-3DAD-3F87-13D7-D075457C51A3}"/>
              </a:ext>
            </a:extLst>
          </p:cNvPr>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项目测试</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1" name="TextBox 11">
            <a:extLst>
              <a:ext uri="{FF2B5EF4-FFF2-40B4-BE49-F238E27FC236}">
                <a16:creationId xmlns:a16="http://schemas.microsoft.com/office/drawing/2014/main" id="{C45946BD-B2D9-1B5E-8467-C1E2A09E7F4A}"/>
              </a:ext>
            </a:extLst>
          </p:cNvPr>
          <p:cNvSpPr txBox="1"/>
          <p:nvPr/>
        </p:nvSpPr>
        <p:spPr>
          <a:xfrm>
            <a:off x="10182151" y="215903"/>
            <a:ext cx="1344000" cy="404714"/>
          </a:xfrm>
          <a:prstGeom prst="rect">
            <a:avLst/>
          </a:prstGeom>
          <a:noFill/>
        </p:spPr>
        <p:txBody>
          <a:bodyPr wrap="square" lIns="0" tIns="48000" rIns="0" bIns="48000" rtlCol="0">
            <a:spAutoFit/>
          </a:bodyPr>
          <a:lstStyle/>
          <a:p>
            <a:pPr algn="ctr"/>
            <a:r>
              <a:rPr lang="zh-CN" altLang="en-US" sz="2000" b="1">
                <a:solidFill>
                  <a:schemeClr val="bg1"/>
                </a:solidFill>
                <a:latin typeface="Arial" panose="020B0604020202020204" pitchFamily="34" charset="0"/>
                <a:ea typeface="微软雅黑" panose="020B0503020204020204" pitchFamily="34" charset="-122"/>
              </a:rPr>
              <a:t>项目总</a:t>
            </a:r>
            <a:r>
              <a:rPr lang="zh-CN" altLang="en-US" sz="2000" b="1" dirty="0">
                <a:solidFill>
                  <a:schemeClr val="bg1"/>
                </a:solidFill>
                <a:latin typeface="Arial" panose="020B0604020202020204" pitchFamily="34" charset="0"/>
                <a:ea typeface="微软雅黑" panose="020B0503020204020204" pitchFamily="34" charset="-122"/>
              </a:rPr>
              <a:t>结</a:t>
            </a:r>
          </a:p>
        </p:txBody>
      </p:sp>
      <p:cxnSp>
        <p:nvCxnSpPr>
          <p:cNvPr id="12" name="直接连接符 11">
            <a:extLst>
              <a:ext uri="{FF2B5EF4-FFF2-40B4-BE49-F238E27FC236}">
                <a16:creationId xmlns:a16="http://schemas.microsoft.com/office/drawing/2014/main" id="{DF4FA646-9879-C458-2924-08F1046D330E}"/>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A936C8C6-9B0E-5756-6AA9-60BB141748F9}"/>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378DEF73-05B2-88D7-7D5C-BE44394B936F}"/>
              </a:ext>
            </a:extLst>
          </p:cNvPr>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59226EBD-8C10-CD76-CD27-76D36C166963}"/>
              </a:ext>
            </a:extLst>
          </p:cNvPr>
          <p:cNvCxnSpPr/>
          <p:nvPr/>
        </p:nvCxnSpPr>
        <p:spPr>
          <a:xfrm>
            <a:off x="8337248" y="31324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1" name="图片 30">
            <a:extLst>
              <a:ext uri="{FF2B5EF4-FFF2-40B4-BE49-F238E27FC236}">
                <a16:creationId xmlns:a16="http://schemas.microsoft.com/office/drawing/2014/main" id="{22029070-9C48-D7D5-BFFF-C87F4031ADF1}"/>
              </a:ext>
            </a:extLst>
          </p:cNvPr>
          <p:cNvPicPr>
            <a:picLocks noChangeAspect="1"/>
          </p:cNvPicPr>
          <p:nvPr/>
        </p:nvPicPr>
        <p:blipFill rotWithShape="1">
          <a:blip r:embed="rId3"/>
          <a:srcRect t="29956" r="-277"/>
          <a:stretch>
            <a:fillRect/>
          </a:stretch>
        </p:blipFill>
        <p:spPr>
          <a:xfrm>
            <a:off x="195620" y="89117"/>
            <a:ext cx="2766644" cy="613765"/>
          </a:xfrm>
          <a:prstGeom prst="rect">
            <a:avLst/>
          </a:prstGeom>
        </p:spPr>
      </p:pic>
      <p:sp>
        <p:nvSpPr>
          <p:cNvPr id="32" name="TextBox 7">
            <a:extLst>
              <a:ext uri="{FF2B5EF4-FFF2-40B4-BE49-F238E27FC236}">
                <a16:creationId xmlns:a16="http://schemas.microsoft.com/office/drawing/2014/main" id="{1765EAEF-7E10-739A-B5AA-86D970BF8453}"/>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5"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p:cTn id="11" dur="800" fill="hold"/>
                                        <p:tgtEl>
                                          <p:spTgt spid="25"/>
                                        </p:tgtEl>
                                        <p:attrNameLst>
                                          <p:attrName>ppt_w</p:attrName>
                                        </p:attrNameLst>
                                      </p:cBhvr>
                                      <p:tavLst>
                                        <p:tav tm="0">
                                          <p:val>
                                            <p:strVal val="#ppt_w*0.70"/>
                                          </p:val>
                                        </p:tav>
                                        <p:tav tm="100000">
                                          <p:val>
                                            <p:strVal val="#ppt_w"/>
                                          </p:val>
                                        </p:tav>
                                      </p:tavLst>
                                    </p:anim>
                                    <p:anim calcmode="lin" valueType="num">
                                      <p:cBhvr>
                                        <p:cTn id="12" dur="800" fill="hold"/>
                                        <p:tgtEl>
                                          <p:spTgt spid="25"/>
                                        </p:tgtEl>
                                        <p:attrNameLst>
                                          <p:attrName>ppt_h</p:attrName>
                                        </p:attrNameLst>
                                      </p:cBhvr>
                                      <p:tavLst>
                                        <p:tav tm="0">
                                          <p:val>
                                            <p:strVal val="#ppt_h"/>
                                          </p:val>
                                        </p:tav>
                                        <p:tav tm="100000">
                                          <p:val>
                                            <p:strVal val="#ppt_h"/>
                                          </p:val>
                                        </p:tav>
                                      </p:tavLst>
                                    </p:anim>
                                    <p:animEffect transition="in" filter="fade">
                                      <p:cBhvr>
                                        <p:cTn id="13" dur="800"/>
                                        <p:tgtEl>
                                          <p:spTgt spid="25"/>
                                        </p:tgtEl>
                                      </p:cBhvr>
                                    </p:animEffect>
                                  </p:childTnLst>
                                </p:cTn>
                              </p:par>
                              <p:par>
                                <p:cTn id="14" presetID="55"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 calcmode="lin" valueType="num">
                                      <p:cBhvr>
                                        <p:cTn id="16" dur="800" fill="hold"/>
                                        <p:tgtEl>
                                          <p:spTgt spid="18"/>
                                        </p:tgtEl>
                                        <p:attrNameLst>
                                          <p:attrName>ppt_w</p:attrName>
                                        </p:attrNameLst>
                                      </p:cBhvr>
                                      <p:tavLst>
                                        <p:tav tm="0">
                                          <p:val>
                                            <p:strVal val="#ppt_w*0.70"/>
                                          </p:val>
                                        </p:tav>
                                        <p:tav tm="100000">
                                          <p:val>
                                            <p:strVal val="#ppt_w"/>
                                          </p:val>
                                        </p:tav>
                                      </p:tavLst>
                                    </p:anim>
                                    <p:anim calcmode="lin" valueType="num">
                                      <p:cBhvr>
                                        <p:cTn id="17" dur="800" fill="hold"/>
                                        <p:tgtEl>
                                          <p:spTgt spid="18"/>
                                        </p:tgtEl>
                                        <p:attrNameLst>
                                          <p:attrName>ppt_h</p:attrName>
                                        </p:attrNameLst>
                                      </p:cBhvr>
                                      <p:tavLst>
                                        <p:tav tm="0">
                                          <p:val>
                                            <p:strVal val="#ppt_h"/>
                                          </p:val>
                                        </p:tav>
                                        <p:tav tm="100000">
                                          <p:val>
                                            <p:strVal val="#ppt_h"/>
                                          </p:val>
                                        </p:tav>
                                      </p:tavLst>
                                    </p:anim>
                                    <p:animEffect transition="in" filter="fade">
                                      <p:cBhvr>
                                        <p:cTn id="18" dur="800"/>
                                        <p:tgtEl>
                                          <p:spTgt spid="18"/>
                                        </p:tgtEl>
                                      </p:cBhvr>
                                    </p:animEffect>
                                  </p:childTnLst>
                                </p:cTn>
                              </p:par>
                              <p:par>
                                <p:cTn id="19" presetID="55"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anim calcmode="lin" valueType="num">
                                      <p:cBhvr>
                                        <p:cTn id="21" dur="800" fill="hold"/>
                                        <p:tgtEl>
                                          <p:spTgt spid="37"/>
                                        </p:tgtEl>
                                        <p:attrNameLst>
                                          <p:attrName>ppt_w</p:attrName>
                                        </p:attrNameLst>
                                      </p:cBhvr>
                                      <p:tavLst>
                                        <p:tav tm="0">
                                          <p:val>
                                            <p:strVal val="#ppt_w*0.70"/>
                                          </p:val>
                                        </p:tav>
                                        <p:tav tm="100000">
                                          <p:val>
                                            <p:strVal val="#ppt_w"/>
                                          </p:val>
                                        </p:tav>
                                      </p:tavLst>
                                    </p:anim>
                                    <p:anim calcmode="lin" valueType="num">
                                      <p:cBhvr>
                                        <p:cTn id="22" dur="800" fill="hold"/>
                                        <p:tgtEl>
                                          <p:spTgt spid="37"/>
                                        </p:tgtEl>
                                        <p:attrNameLst>
                                          <p:attrName>ppt_h</p:attrName>
                                        </p:attrNameLst>
                                      </p:cBhvr>
                                      <p:tavLst>
                                        <p:tav tm="0">
                                          <p:val>
                                            <p:strVal val="#ppt_h"/>
                                          </p:val>
                                        </p:tav>
                                        <p:tav tm="100000">
                                          <p:val>
                                            <p:strVal val="#ppt_h"/>
                                          </p:val>
                                        </p:tav>
                                      </p:tavLst>
                                    </p:anim>
                                    <p:animEffect transition="in" filter="fade">
                                      <p:cBhvr>
                                        <p:cTn id="23" dur="800"/>
                                        <p:tgtEl>
                                          <p:spTgt spid="37"/>
                                        </p:tgtEl>
                                      </p:cBhvr>
                                    </p:animEffect>
                                  </p:childTnLst>
                                </p:cTn>
                              </p:par>
                            </p:childTnLst>
                          </p:cTn>
                        </p:par>
                        <p:par>
                          <p:cTn id="24" fill="hold">
                            <p:stCondLst>
                              <p:cond delay="1300"/>
                            </p:stCondLst>
                            <p:childTnLst>
                              <p:par>
                                <p:cTn id="25" presetID="53" presetClass="entr" presetSubtype="16" fill="hold" grpId="0" nodeType="afterEffect">
                                  <p:stCondLst>
                                    <p:cond delay="0"/>
                                  </p:stCondLst>
                                  <p:childTnLst>
                                    <p:set>
                                      <p:cBhvr>
                                        <p:cTn id="26" dur="1" fill="hold">
                                          <p:stCondLst>
                                            <p:cond delay="0"/>
                                          </p:stCondLst>
                                        </p:cTn>
                                        <p:tgtEl>
                                          <p:spTgt spid="44"/>
                                        </p:tgtEl>
                                        <p:attrNameLst>
                                          <p:attrName>style.visibility</p:attrName>
                                        </p:attrNameLst>
                                      </p:cBhvr>
                                      <p:to>
                                        <p:strVal val="visible"/>
                                      </p:to>
                                    </p:set>
                                    <p:anim calcmode="lin" valueType="num">
                                      <p:cBhvr>
                                        <p:cTn id="27" dur="500" fill="hold"/>
                                        <p:tgtEl>
                                          <p:spTgt spid="44"/>
                                        </p:tgtEl>
                                        <p:attrNameLst>
                                          <p:attrName>ppt_w</p:attrName>
                                        </p:attrNameLst>
                                      </p:cBhvr>
                                      <p:tavLst>
                                        <p:tav tm="0">
                                          <p:val>
                                            <p:fltVal val="0"/>
                                          </p:val>
                                        </p:tav>
                                        <p:tav tm="100000">
                                          <p:val>
                                            <p:strVal val="#ppt_w"/>
                                          </p:val>
                                        </p:tav>
                                      </p:tavLst>
                                    </p:anim>
                                    <p:anim calcmode="lin" valueType="num">
                                      <p:cBhvr>
                                        <p:cTn id="28" dur="500" fill="hold"/>
                                        <p:tgtEl>
                                          <p:spTgt spid="44"/>
                                        </p:tgtEl>
                                        <p:attrNameLst>
                                          <p:attrName>ppt_h</p:attrName>
                                        </p:attrNameLst>
                                      </p:cBhvr>
                                      <p:tavLst>
                                        <p:tav tm="0">
                                          <p:val>
                                            <p:fltVal val="0"/>
                                          </p:val>
                                        </p:tav>
                                        <p:tav tm="100000">
                                          <p:val>
                                            <p:strVal val="#ppt_h"/>
                                          </p:val>
                                        </p:tav>
                                      </p:tavLst>
                                    </p:anim>
                                    <p:animEffect transition="in" filter="fade">
                                      <p:cBhvr>
                                        <p:cTn id="29" dur="500"/>
                                        <p:tgtEl>
                                          <p:spTgt spid="44"/>
                                        </p:tgtEl>
                                      </p:cBhvr>
                                    </p:animEffect>
                                  </p:childTnLst>
                                </p:cTn>
                              </p:par>
                            </p:childTnLst>
                          </p:cTn>
                        </p:par>
                        <p:par>
                          <p:cTn id="30" fill="hold">
                            <p:stCondLst>
                              <p:cond delay="1800"/>
                            </p:stCondLst>
                            <p:childTnLst>
                              <p:par>
                                <p:cTn id="31" presetID="53" presetClass="entr" presetSubtype="16" fill="hold" grpId="0" nodeType="afterEffect">
                                  <p:stCondLst>
                                    <p:cond delay="0"/>
                                  </p:stCondLst>
                                  <p:childTnLst>
                                    <p:set>
                                      <p:cBhvr>
                                        <p:cTn id="32" dur="1" fill="hold">
                                          <p:stCondLst>
                                            <p:cond delay="0"/>
                                          </p:stCondLst>
                                        </p:cTn>
                                        <p:tgtEl>
                                          <p:spTgt spid="45"/>
                                        </p:tgtEl>
                                        <p:attrNameLst>
                                          <p:attrName>style.visibility</p:attrName>
                                        </p:attrNameLst>
                                      </p:cBhvr>
                                      <p:to>
                                        <p:strVal val="visible"/>
                                      </p:to>
                                    </p:set>
                                    <p:anim calcmode="lin" valueType="num">
                                      <p:cBhvr>
                                        <p:cTn id="33" dur="500" fill="hold"/>
                                        <p:tgtEl>
                                          <p:spTgt spid="45"/>
                                        </p:tgtEl>
                                        <p:attrNameLst>
                                          <p:attrName>ppt_w</p:attrName>
                                        </p:attrNameLst>
                                      </p:cBhvr>
                                      <p:tavLst>
                                        <p:tav tm="0">
                                          <p:val>
                                            <p:fltVal val="0"/>
                                          </p:val>
                                        </p:tav>
                                        <p:tav tm="100000">
                                          <p:val>
                                            <p:strVal val="#ppt_w"/>
                                          </p:val>
                                        </p:tav>
                                      </p:tavLst>
                                    </p:anim>
                                    <p:anim calcmode="lin" valueType="num">
                                      <p:cBhvr>
                                        <p:cTn id="34" dur="500" fill="hold"/>
                                        <p:tgtEl>
                                          <p:spTgt spid="45"/>
                                        </p:tgtEl>
                                        <p:attrNameLst>
                                          <p:attrName>ppt_h</p:attrName>
                                        </p:attrNameLst>
                                      </p:cBhvr>
                                      <p:tavLst>
                                        <p:tav tm="0">
                                          <p:val>
                                            <p:fltVal val="0"/>
                                          </p:val>
                                        </p:tav>
                                        <p:tav tm="100000">
                                          <p:val>
                                            <p:strVal val="#ppt_h"/>
                                          </p:val>
                                        </p:tav>
                                      </p:tavLst>
                                    </p:anim>
                                    <p:animEffect transition="in" filter="fade">
                                      <p:cBhvr>
                                        <p:cTn id="35" dur="500"/>
                                        <p:tgtEl>
                                          <p:spTgt spid="45"/>
                                        </p:tgtEl>
                                      </p:cBhvr>
                                    </p:animEffect>
                                  </p:childTnLst>
                                </p:cTn>
                              </p:par>
                            </p:childTnLst>
                          </p:cTn>
                        </p:par>
                        <p:par>
                          <p:cTn id="36" fill="hold">
                            <p:stCondLst>
                              <p:cond delay="2300"/>
                            </p:stCondLst>
                            <p:childTnLst>
                              <p:par>
                                <p:cTn id="37" presetID="53" presetClass="entr" presetSubtype="16" fill="hold" grpId="0" nodeType="afterEffect">
                                  <p:stCondLst>
                                    <p:cond delay="0"/>
                                  </p:stCondLst>
                                  <p:childTnLst>
                                    <p:set>
                                      <p:cBhvr>
                                        <p:cTn id="38" dur="1" fill="hold">
                                          <p:stCondLst>
                                            <p:cond delay="0"/>
                                          </p:stCondLst>
                                        </p:cTn>
                                        <p:tgtEl>
                                          <p:spTgt spid="46"/>
                                        </p:tgtEl>
                                        <p:attrNameLst>
                                          <p:attrName>style.visibility</p:attrName>
                                        </p:attrNameLst>
                                      </p:cBhvr>
                                      <p:to>
                                        <p:strVal val="visible"/>
                                      </p:to>
                                    </p:set>
                                    <p:anim calcmode="lin" valueType="num">
                                      <p:cBhvr>
                                        <p:cTn id="39" dur="500" fill="hold"/>
                                        <p:tgtEl>
                                          <p:spTgt spid="46"/>
                                        </p:tgtEl>
                                        <p:attrNameLst>
                                          <p:attrName>ppt_w</p:attrName>
                                        </p:attrNameLst>
                                      </p:cBhvr>
                                      <p:tavLst>
                                        <p:tav tm="0">
                                          <p:val>
                                            <p:fltVal val="0"/>
                                          </p:val>
                                        </p:tav>
                                        <p:tav tm="100000">
                                          <p:val>
                                            <p:strVal val="#ppt_w"/>
                                          </p:val>
                                        </p:tav>
                                      </p:tavLst>
                                    </p:anim>
                                    <p:anim calcmode="lin" valueType="num">
                                      <p:cBhvr>
                                        <p:cTn id="40" dur="500" fill="hold"/>
                                        <p:tgtEl>
                                          <p:spTgt spid="46"/>
                                        </p:tgtEl>
                                        <p:attrNameLst>
                                          <p:attrName>ppt_h</p:attrName>
                                        </p:attrNameLst>
                                      </p:cBhvr>
                                      <p:tavLst>
                                        <p:tav tm="0">
                                          <p:val>
                                            <p:fltVal val="0"/>
                                          </p:val>
                                        </p:tav>
                                        <p:tav tm="100000">
                                          <p:val>
                                            <p:strVal val="#ppt_h"/>
                                          </p:val>
                                        </p:tav>
                                      </p:tavLst>
                                    </p:anim>
                                    <p:animEffect transition="in" filter="fade">
                                      <p:cBhvr>
                                        <p:cTn id="41" dur="500"/>
                                        <p:tgtEl>
                                          <p:spTgt spid="46"/>
                                        </p:tgtEl>
                                      </p:cBhvr>
                                    </p:animEffect>
                                  </p:childTnLst>
                                </p:cTn>
                              </p:par>
                            </p:childTnLst>
                          </p:cTn>
                        </p:par>
                        <p:par>
                          <p:cTn id="42" fill="hold">
                            <p:stCondLst>
                              <p:cond delay="2800"/>
                            </p:stCondLst>
                            <p:childTnLst>
                              <p:par>
                                <p:cTn id="43" presetID="22" presetClass="entr" presetSubtype="8" fill="hold" grpId="0" nodeType="after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wipe(left)">
                                      <p:cBhvr>
                                        <p:cTn id="45" dur="300"/>
                                        <p:tgtEl>
                                          <p:spTgt spid="21"/>
                                        </p:tgtEl>
                                      </p:cBhvr>
                                    </p:animEffect>
                                  </p:childTnLst>
                                </p:cTn>
                              </p:par>
                            </p:childTnLst>
                          </p:cTn>
                        </p:par>
                        <p:par>
                          <p:cTn id="46" fill="hold">
                            <p:stCondLst>
                              <p:cond delay="3100"/>
                            </p:stCondLst>
                            <p:childTnLst>
                              <p:par>
                                <p:cTn id="47" presetID="22" presetClass="entr" presetSubtype="8" fill="hold" grpId="0" nodeType="after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wipe(left)">
                                      <p:cBhvr>
                                        <p:cTn id="49" dur="300"/>
                                        <p:tgtEl>
                                          <p:spTgt spid="23"/>
                                        </p:tgtEl>
                                      </p:cBhvr>
                                    </p:animEffect>
                                  </p:childTnLst>
                                </p:cTn>
                              </p:par>
                            </p:childTnLst>
                          </p:cTn>
                        </p:par>
                        <p:par>
                          <p:cTn id="50" fill="hold">
                            <p:stCondLst>
                              <p:cond delay="3400"/>
                            </p:stCondLst>
                            <p:childTnLst>
                              <p:par>
                                <p:cTn id="51" presetID="22" presetClass="entr" presetSubtype="8" fill="hold" grpId="0" nodeType="afterEffect">
                                  <p:stCondLst>
                                    <p:cond delay="0"/>
                                  </p:stCondLst>
                                  <p:childTnLst>
                                    <p:set>
                                      <p:cBhvr>
                                        <p:cTn id="52" dur="1" fill="hold">
                                          <p:stCondLst>
                                            <p:cond delay="0"/>
                                          </p:stCondLst>
                                        </p:cTn>
                                        <p:tgtEl>
                                          <p:spTgt spid="3"/>
                                        </p:tgtEl>
                                        <p:attrNameLst>
                                          <p:attrName>style.visibility</p:attrName>
                                        </p:attrNameLst>
                                      </p:cBhvr>
                                      <p:to>
                                        <p:strVal val="visible"/>
                                      </p:to>
                                    </p:set>
                                    <p:animEffect transition="in" filter="wipe(left)">
                                      <p:cBhvr>
                                        <p:cTn id="53" dur="300"/>
                                        <p:tgtEl>
                                          <p:spTgt spid="3"/>
                                        </p:tgtEl>
                                      </p:cBhvr>
                                    </p:animEffect>
                                  </p:childTnLst>
                                </p:cTn>
                              </p:par>
                              <p:par>
                                <p:cTn id="54" presetID="55" presetClass="entr" presetSubtype="0" fill="hold" grpId="0" nodeType="withEffect">
                                  <p:stCondLst>
                                    <p:cond delay="0"/>
                                  </p:stCondLst>
                                  <p:childTnLst>
                                    <p:set>
                                      <p:cBhvr>
                                        <p:cTn id="55" dur="1" fill="hold">
                                          <p:stCondLst>
                                            <p:cond delay="0"/>
                                          </p:stCondLst>
                                        </p:cTn>
                                        <p:tgtEl>
                                          <p:spTgt spid="4"/>
                                        </p:tgtEl>
                                        <p:attrNameLst>
                                          <p:attrName>style.visibility</p:attrName>
                                        </p:attrNameLst>
                                      </p:cBhvr>
                                      <p:to>
                                        <p:strVal val="visible"/>
                                      </p:to>
                                    </p:set>
                                    <p:anim calcmode="lin" valueType="num">
                                      <p:cBhvr>
                                        <p:cTn id="56" dur="800" fill="hold"/>
                                        <p:tgtEl>
                                          <p:spTgt spid="4"/>
                                        </p:tgtEl>
                                        <p:attrNameLst>
                                          <p:attrName>ppt_w</p:attrName>
                                        </p:attrNameLst>
                                      </p:cBhvr>
                                      <p:tavLst>
                                        <p:tav tm="0">
                                          <p:val>
                                            <p:strVal val="#ppt_w*0.70"/>
                                          </p:val>
                                        </p:tav>
                                        <p:tav tm="100000">
                                          <p:val>
                                            <p:strVal val="#ppt_w"/>
                                          </p:val>
                                        </p:tav>
                                      </p:tavLst>
                                    </p:anim>
                                    <p:anim calcmode="lin" valueType="num">
                                      <p:cBhvr>
                                        <p:cTn id="57" dur="800" fill="hold"/>
                                        <p:tgtEl>
                                          <p:spTgt spid="4"/>
                                        </p:tgtEl>
                                        <p:attrNameLst>
                                          <p:attrName>ppt_h</p:attrName>
                                        </p:attrNameLst>
                                      </p:cBhvr>
                                      <p:tavLst>
                                        <p:tav tm="0">
                                          <p:val>
                                            <p:strVal val="#ppt_h"/>
                                          </p:val>
                                        </p:tav>
                                        <p:tav tm="100000">
                                          <p:val>
                                            <p:strVal val="#ppt_h"/>
                                          </p:val>
                                        </p:tav>
                                      </p:tavLst>
                                    </p:anim>
                                    <p:animEffect transition="in" filter="fade">
                                      <p:cBhvr>
                                        <p:cTn id="58" dur="800"/>
                                        <p:tgtEl>
                                          <p:spTgt spid="4"/>
                                        </p:tgtEl>
                                      </p:cBhvr>
                                    </p:animEffect>
                                  </p:childTnLst>
                                </p:cTn>
                              </p:par>
                            </p:childTnLst>
                          </p:cTn>
                        </p:par>
                        <p:par>
                          <p:cTn id="59" fill="hold">
                            <p:stCondLst>
                              <p:cond delay="4200"/>
                            </p:stCondLst>
                            <p:childTnLst>
                              <p:par>
                                <p:cTn id="60" presetID="22" presetClass="entr" presetSubtype="8" fill="hold" grpId="0" nodeType="after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wipe(left)">
                                      <p:cBhvr>
                                        <p:cTn id="62" dur="300"/>
                                        <p:tgtEl>
                                          <p:spTgt spid="5"/>
                                        </p:tgtEl>
                                      </p:cBhvr>
                                    </p:animEffect>
                                  </p:childTnLst>
                                </p:cTn>
                              </p:par>
                            </p:childTnLst>
                          </p:cTn>
                        </p:par>
                        <p:par>
                          <p:cTn id="63" fill="hold">
                            <p:stCondLst>
                              <p:cond delay="4500"/>
                            </p:stCondLst>
                            <p:childTnLst>
                              <p:par>
                                <p:cTn id="64" presetID="53" presetClass="entr" presetSubtype="16" fill="hold" grpId="0" nodeType="afterEffect">
                                  <p:stCondLst>
                                    <p:cond delay="0"/>
                                  </p:stCondLst>
                                  <p:childTnLst>
                                    <p:set>
                                      <p:cBhvr>
                                        <p:cTn id="65" dur="1" fill="hold">
                                          <p:stCondLst>
                                            <p:cond delay="0"/>
                                          </p:stCondLst>
                                        </p:cTn>
                                        <p:tgtEl>
                                          <p:spTgt spid="10"/>
                                        </p:tgtEl>
                                        <p:attrNameLst>
                                          <p:attrName>style.visibility</p:attrName>
                                        </p:attrNameLst>
                                      </p:cBhvr>
                                      <p:to>
                                        <p:strVal val="visible"/>
                                      </p:to>
                                    </p:set>
                                    <p:anim calcmode="lin" valueType="num">
                                      <p:cBhvr>
                                        <p:cTn id="66" dur="500" fill="hold"/>
                                        <p:tgtEl>
                                          <p:spTgt spid="10"/>
                                        </p:tgtEl>
                                        <p:attrNameLst>
                                          <p:attrName>ppt_w</p:attrName>
                                        </p:attrNameLst>
                                      </p:cBhvr>
                                      <p:tavLst>
                                        <p:tav tm="0">
                                          <p:val>
                                            <p:fltVal val="0"/>
                                          </p:val>
                                        </p:tav>
                                        <p:tav tm="100000">
                                          <p:val>
                                            <p:strVal val="#ppt_w"/>
                                          </p:val>
                                        </p:tav>
                                      </p:tavLst>
                                    </p:anim>
                                    <p:anim calcmode="lin" valueType="num">
                                      <p:cBhvr>
                                        <p:cTn id="67" dur="500" fill="hold"/>
                                        <p:tgtEl>
                                          <p:spTgt spid="10"/>
                                        </p:tgtEl>
                                        <p:attrNameLst>
                                          <p:attrName>ppt_h</p:attrName>
                                        </p:attrNameLst>
                                      </p:cBhvr>
                                      <p:tavLst>
                                        <p:tav tm="0">
                                          <p:val>
                                            <p:fltVal val="0"/>
                                          </p:val>
                                        </p:tav>
                                        <p:tav tm="100000">
                                          <p:val>
                                            <p:strVal val="#ppt_h"/>
                                          </p:val>
                                        </p:tav>
                                      </p:tavLst>
                                    </p:anim>
                                    <p:animEffect transition="in" filter="fade">
                                      <p:cBhvr>
                                        <p:cTn id="6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8" grpId="0" animBg="1"/>
      <p:bldP spid="21" grpId="0"/>
      <p:bldP spid="23" grpId="0"/>
      <p:bldP spid="25" grpId="0" animBg="1"/>
      <p:bldP spid="37" grpId="0" animBg="1"/>
      <p:bldP spid="44" grpId="0"/>
      <p:bldP spid="45" grpId="0"/>
      <p:bldP spid="46" grpId="0"/>
      <p:bldP spid="3" grpId="0"/>
      <p:bldP spid="4" grpId="0" animBg="1"/>
      <p:bldP spid="5" grpId="0"/>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6"/>
          <p:cNvSpPr txBox="1"/>
          <p:nvPr/>
        </p:nvSpPr>
        <p:spPr>
          <a:xfrm>
            <a:off x="537030" y="987974"/>
            <a:ext cx="2837919" cy="527825"/>
          </a:xfrm>
          <a:prstGeom prst="rect">
            <a:avLst/>
          </a:prstGeom>
          <a:noFill/>
        </p:spPr>
        <p:txBody>
          <a:bodyPr wrap="square" lIns="0" tIns="48000" rIns="0" bIns="48000" rtlCol="0">
            <a:spAutoFit/>
          </a:bodyPr>
          <a:lstStyle/>
          <a:p>
            <a:pPr algn="ct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5.4 </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参考工作说明</a:t>
            </a:r>
            <a:endParaRPr lang="zh-CN" altLang="en-US" sz="28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0" name="矩形 4">
            <a:extLst>
              <a:ext uri="{FF2B5EF4-FFF2-40B4-BE49-F238E27FC236}">
                <a16:creationId xmlns:a16="http://schemas.microsoft.com/office/drawing/2014/main" id="{058633E0-8719-33F6-F1A2-43249DA54983}"/>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11" name="矩形 10">
            <a:extLst>
              <a:ext uri="{FF2B5EF4-FFF2-40B4-BE49-F238E27FC236}">
                <a16:creationId xmlns:a16="http://schemas.microsoft.com/office/drawing/2014/main" id="{77600001-F051-FBD2-E2B1-10AB17AA4A24}"/>
              </a:ext>
            </a:extLst>
          </p:cNvPr>
          <p:cNvSpPr/>
          <p:nvPr/>
        </p:nvSpPr>
        <p:spPr>
          <a:xfrm>
            <a:off x="10003249"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sp>
        <p:nvSpPr>
          <p:cNvPr id="12" name="TextBox 6">
            <a:extLst>
              <a:ext uri="{FF2B5EF4-FFF2-40B4-BE49-F238E27FC236}">
                <a16:creationId xmlns:a16="http://schemas.microsoft.com/office/drawing/2014/main" id="{16248FBD-5B85-AA8A-4838-8E7007BAE99F}"/>
              </a:ext>
            </a:extLst>
          </p:cNvPr>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3" name="TextBox 9">
            <a:extLst>
              <a:ext uri="{FF2B5EF4-FFF2-40B4-BE49-F238E27FC236}">
                <a16:creationId xmlns:a16="http://schemas.microsoft.com/office/drawing/2014/main" id="{64A69FF4-7010-53F9-CFEB-0B089DD275CC}"/>
              </a:ext>
            </a:extLst>
          </p:cNvPr>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项目实</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rPr>
              <a:t>现</a:t>
            </a:r>
          </a:p>
        </p:txBody>
      </p:sp>
      <p:sp>
        <p:nvSpPr>
          <p:cNvPr id="14" name="TextBox 10">
            <a:extLst>
              <a:ext uri="{FF2B5EF4-FFF2-40B4-BE49-F238E27FC236}">
                <a16:creationId xmlns:a16="http://schemas.microsoft.com/office/drawing/2014/main" id="{C23BF87A-77A9-B4F9-6AD2-97B0BD3F4B3E}"/>
              </a:ext>
            </a:extLst>
          </p:cNvPr>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项目测试</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5" name="TextBox 11">
            <a:extLst>
              <a:ext uri="{FF2B5EF4-FFF2-40B4-BE49-F238E27FC236}">
                <a16:creationId xmlns:a16="http://schemas.microsoft.com/office/drawing/2014/main" id="{F2B528ED-564D-4A6D-96F9-96E251EBD2EC}"/>
              </a:ext>
            </a:extLst>
          </p:cNvPr>
          <p:cNvSpPr txBox="1"/>
          <p:nvPr/>
        </p:nvSpPr>
        <p:spPr>
          <a:xfrm>
            <a:off x="10182151" y="215903"/>
            <a:ext cx="1344000" cy="404714"/>
          </a:xfrm>
          <a:prstGeom prst="rect">
            <a:avLst/>
          </a:prstGeom>
          <a:noFill/>
        </p:spPr>
        <p:txBody>
          <a:bodyPr wrap="square" lIns="0" tIns="48000" rIns="0" bIns="48000" rtlCol="0">
            <a:spAutoFit/>
          </a:bodyPr>
          <a:lstStyle/>
          <a:p>
            <a:pPr algn="ctr"/>
            <a:r>
              <a:rPr lang="zh-CN" altLang="en-US" sz="2000" b="1">
                <a:solidFill>
                  <a:schemeClr val="bg1"/>
                </a:solidFill>
                <a:latin typeface="Arial" panose="020B0604020202020204" pitchFamily="34" charset="0"/>
                <a:ea typeface="微软雅黑" panose="020B0503020204020204" pitchFamily="34" charset="-122"/>
              </a:rPr>
              <a:t>项目总</a:t>
            </a:r>
            <a:r>
              <a:rPr lang="zh-CN" altLang="en-US" sz="2000" b="1" dirty="0">
                <a:solidFill>
                  <a:schemeClr val="bg1"/>
                </a:solidFill>
                <a:latin typeface="Arial" panose="020B0604020202020204" pitchFamily="34" charset="0"/>
                <a:ea typeface="微软雅黑" panose="020B0503020204020204" pitchFamily="34" charset="-122"/>
              </a:rPr>
              <a:t>结</a:t>
            </a:r>
          </a:p>
        </p:txBody>
      </p:sp>
      <p:cxnSp>
        <p:nvCxnSpPr>
          <p:cNvPr id="16" name="直接连接符 15">
            <a:extLst>
              <a:ext uri="{FF2B5EF4-FFF2-40B4-BE49-F238E27FC236}">
                <a16:creationId xmlns:a16="http://schemas.microsoft.com/office/drawing/2014/main" id="{4F021A97-033E-977D-96F6-5A57AEE384D0}"/>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18FE5860-C06F-F13C-3602-712EF98FDD77}"/>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39E0DD83-302A-FFB2-FE07-196F6D740C9E}"/>
              </a:ext>
            </a:extLst>
          </p:cNvPr>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83F3197-7F54-260A-7C94-0120D520C988}"/>
              </a:ext>
            </a:extLst>
          </p:cNvPr>
          <p:cNvCxnSpPr/>
          <p:nvPr/>
        </p:nvCxnSpPr>
        <p:spPr>
          <a:xfrm>
            <a:off x="8337248" y="31324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 name="图片 19">
            <a:extLst>
              <a:ext uri="{FF2B5EF4-FFF2-40B4-BE49-F238E27FC236}">
                <a16:creationId xmlns:a16="http://schemas.microsoft.com/office/drawing/2014/main" id="{D95B5DC1-B46F-FB39-6FE0-B60AF5469796}"/>
              </a:ext>
            </a:extLst>
          </p:cNvPr>
          <p:cNvPicPr>
            <a:picLocks noChangeAspect="1"/>
          </p:cNvPicPr>
          <p:nvPr/>
        </p:nvPicPr>
        <p:blipFill rotWithShape="1">
          <a:blip r:embed="rId3"/>
          <a:srcRect t="29956" r="-277"/>
          <a:stretch>
            <a:fillRect/>
          </a:stretch>
        </p:blipFill>
        <p:spPr>
          <a:xfrm>
            <a:off x="195620" y="89117"/>
            <a:ext cx="2766644" cy="613765"/>
          </a:xfrm>
          <a:prstGeom prst="rect">
            <a:avLst/>
          </a:prstGeom>
        </p:spPr>
      </p:pic>
      <p:sp>
        <p:nvSpPr>
          <p:cNvPr id="21" name="TextBox 7">
            <a:extLst>
              <a:ext uri="{FF2B5EF4-FFF2-40B4-BE49-F238E27FC236}">
                <a16:creationId xmlns:a16="http://schemas.microsoft.com/office/drawing/2014/main" id="{75CC288E-A4E5-D1E9-BBE6-C0537A834444}"/>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graphicFrame>
        <p:nvGraphicFramePr>
          <p:cNvPr id="33" name="表格 32">
            <a:extLst>
              <a:ext uri="{FF2B5EF4-FFF2-40B4-BE49-F238E27FC236}">
                <a16:creationId xmlns:a16="http://schemas.microsoft.com/office/drawing/2014/main" id="{D457D72A-D6DC-DC5A-97AC-C6FC8EEED76A}"/>
              </a:ext>
            </a:extLst>
          </p:cNvPr>
          <p:cNvGraphicFramePr>
            <a:graphicFrameLocks noGrp="1"/>
          </p:cNvGraphicFramePr>
          <p:nvPr>
            <p:extLst>
              <p:ext uri="{D42A27DB-BD31-4B8C-83A1-F6EECF244321}">
                <p14:modId xmlns:p14="http://schemas.microsoft.com/office/powerpoint/2010/main" val="2774155523"/>
              </p:ext>
            </p:extLst>
          </p:nvPr>
        </p:nvGraphicFramePr>
        <p:xfrm>
          <a:off x="863937" y="1597015"/>
          <a:ext cx="9940314" cy="4846320"/>
        </p:xfrm>
        <a:graphic>
          <a:graphicData uri="http://schemas.openxmlformats.org/drawingml/2006/table">
            <a:tbl>
              <a:tblPr firstRow="1" bandRow="1">
                <a:tableStyleId>{93296810-A885-4BE3-A3E7-6D5BEEA58F35}</a:tableStyleId>
              </a:tblPr>
              <a:tblGrid>
                <a:gridCol w="1833880">
                  <a:extLst>
                    <a:ext uri="{9D8B030D-6E8A-4147-A177-3AD203B41FA5}">
                      <a16:colId xmlns:a16="http://schemas.microsoft.com/office/drawing/2014/main" val="2694015343"/>
                    </a:ext>
                  </a:extLst>
                </a:gridCol>
                <a:gridCol w="3485269">
                  <a:extLst>
                    <a:ext uri="{9D8B030D-6E8A-4147-A177-3AD203B41FA5}">
                      <a16:colId xmlns:a16="http://schemas.microsoft.com/office/drawing/2014/main" val="526344773"/>
                    </a:ext>
                  </a:extLst>
                </a:gridCol>
                <a:gridCol w="4621165">
                  <a:extLst>
                    <a:ext uri="{9D8B030D-6E8A-4147-A177-3AD203B41FA5}">
                      <a16:colId xmlns:a16="http://schemas.microsoft.com/office/drawing/2014/main" val="2319609107"/>
                    </a:ext>
                  </a:extLst>
                </a:gridCol>
              </a:tblGrid>
              <a:tr h="0">
                <a:tc>
                  <a:txBody>
                    <a:bodyPr/>
                    <a:lstStyle/>
                    <a:p>
                      <a:pPr>
                        <a:buNone/>
                      </a:pPr>
                      <a:r>
                        <a:rPr lang="zh-CN"/>
                        <a:t>工作</a:t>
                      </a:r>
                    </a:p>
                  </a:txBody>
                  <a:tcPr anchor="ctr"/>
                </a:tc>
                <a:tc>
                  <a:txBody>
                    <a:bodyPr/>
                    <a:lstStyle/>
                    <a:p>
                      <a:pPr>
                        <a:buNone/>
                      </a:pPr>
                      <a:r>
                        <a:rPr lang="zh-CN"/>
                        <a:t>核心机制</a:t>
                      </a:r>
                    </a:p>
                  </a:txBody>
                  <a:tcPr anchor="ctr"/>
                </a:tc>
                <a:tc>
                  <a:txBody>
                    <a:bodyPr/>
                    <a:lstStyle/>
                    <a:p>
                      <a:pPr>
                        <a:buNone/>
                      </a:pPr>
                      <a:r>
                        <a:rPr lang="zh-CN"/>
                        <a:t>与 FLEX-OS 区别</a:t>
                      </a:r>
                    </a:p>
                  </a:txBody>
                  <a:tcPr anchor="ctr"/>
                </a:tc>
                <a:extLst>
                  <a:ext uri="{0D108BD9-81ED-4DB2-BD59-A6C34878D82A}">
                    <a16:rowId xmlns:a16="http://schemas.microsoft.com/office/drawing/2014/main" val="1024286106"/>
                  </a:ext>
                </a:extLst>
              </a:tr>
              <a:tr h="0">
                <a:tc>
                  <a:txBody>
                    <a:bodyPr/>
                    <a:lstStyle/>
                    <a:p>
                      <a:pPr>
                        <a:buNone/>
                      </a:pPr>
                      <a:r>
                        <a:rPr lang="zh-CN" b="1"/>
                        <a:t>vLLM</a:t>
                      </a:r>
                      <a:endParaRPr lang="zh-CN"/>
                    </a:p>
                  </a:txBody>
                  <a:tcPr anchor="ctr"/>
                </a:tc>
                <a:tc>
                  <a:txBody>
                    <a:bodyPr/>
                    <a:lstStyle/>
                    <a:p>
                      <a:pPr>
                        <a:buNone/>
                      </a:pPr>
                      <a:r>
                        <a:rPr lang="zh-CN" altLang="en-US" b="1">
                          <a:latin typeface="+mn-ea"/>
                          <a:ea typeface="+mn-ea"/>
                        </a:rPr>
                        <a:t>使用分页式注意力机制</a:t>
                      </a:r>
                      <a:r>
                        <a:rPr lang="zh-CN" b="1">
                          <a:latin typeface="+mn-ea"/>
                          <a:ea typeface="+mn-ea"/>
                        </a:rPr>
                        <a:t>管理 KV Cache，提高 GPU 推理吞吐</a:t>
                      </a:r>
                    </a:p>
                  </a:txBody>
                  <a:tcPr anchor="ctr"/>
                </a:tc>
                <a:tc>
                  <a:txBody>
                    <a:bodyPr/>
                    <a:lstStyle/>
                    <a:p>
                      <a:pPr>
                        <a:buNone/>
                      </a:pPr>
                      <a:r>
                        <a:rPr lang="zh-CN" altLang="en-US" b="1">
                          <a:latin typeface="+mn-ea"/>
                          <a:ea typeface="+mn-ea"/>
                        </a:rPr>
                        <a:t>面向云端 </a:t>
                      </a:r>
                      <a:r>
                        <a:rPr lang="en-US" altLang="zh-CN" b="1">
                          <a:latin typeface="+mn-ea"/>
                          <a:ea typeface="+mn-ea"/>
                        </a:rPr>
                        <a:t>GPU </a:t>
                      </a:r>
                      <a:r>
                        <a:rPr lang="zh-CN" altLang="en-US" b="1">
                          <a:latin typeface="+mn-ea"/>
                          <a:ea typeface="+mn-ea"/>
                        </a:rPr>
                        <a:t>环境，主要优化 </a:t>
                      </a:r>
                      <a:r>
                        <a:rPr lang="en-US" altLang="zh-CN" b="1">
                          <a:latin typeface="+mn-ea"/>
                          <a:ea typeface="+mn-ea"/>
                        </a:rPr>
                        <a:t>KV Cache</a:t>
                      </a:r>
                      <a:r>
                        <a:rPr lang="zh-CN" altLang="en-US" b="1">
                          <a:latin typeface="+mn-ea"/>
                          <a:ea typeface="+mn-ea"/>
                        </a:rPr>
                        <a:t>管理，不涉及端侧统一内存管理</a:t>
                      </a:r>
                      <a:endParaRPr lang="zh-CN" b="1">
                        <a:latin typeface="+mn-ea"/>
                        <a:ea typeface="+mn-ea"/>
                      </a:endParaRPr>
                    </a:p>
                  </a:txBody>
                  <a:tcPr anchor="ctr"/>
                </a:tc>
                <a:extLst>
                  <a:ext uri="{0D108BD9-81ED-4DB2-BD59-A6C34878D82A}">
                    <a16:rowId xmlns:a16="http://schemas.microsoft.com/office/drawing/2014/main" val="2973521389"/>
                  </a:ext>
                </a:extLst>
              </a:tr>
              <a:tr h="0">
                <a:tc>
                  <a:txBody>
                    <a:bodyPr/>
                    <a:lstStyle/>
                    <a:p>
                      <a:pPr>
                        <a:buNone/>
                      </a:pPr>
                      <a:r>
                        <a:rPr lang="zh-CN" b="1"/>
                        <a:t>SGLang</a:t>
                      </a:r>
                      <a:endParaRPr lang="zh-CN"/>
                    </a:p>
                  </a:txBody>
                  <a:tcPr anchor="ctr"/>
                </a:tc>
                <a:tc>
                  <a:txBody>
                    <a:bodyPr/>
                    <a:lstStyle/>
                    <a:p>
                      <a:pPr>
                        <a:buNone/>
                      </a:pPr>
                      <a:r>
                        <a:rPr lang="zh-CN" altLang="en-US" b="1">
                          <a:latin typeface="+mn-ea"/>
                          <a:ea typeface="+mn-ea"/>
                        </a:rPr>
                        <a:t>通过注意力缓存和前缀复用机制优化推理服务效率</a:t>
                      </a:r>
                      <a:endParaRPr lang="zh-CN" b="1">
                        <a:latin typeface="+mn-ea"/>
                        <a:ea typeface="+mn-ea"/>
                      </a:endParaRPr>
                    </a:p>
                  </a:txBody>
                  <a:tcPr anchor="ctr"/>
                </a:tc>
                <a:tc>
                  <a:txBody>
                    <a:bodyPr/>
                    <a:lstStyle/>
                    <a:p>
                      <a:pPr>
                        <a:buNone/>
                      </a:pPr>
                      <a:r>
                        <a:rPr lang="zh-CN" altLang="en-US" b="1">
                          <a:latin typeface="+mn-ea"/>
                          <a:ea typeface="+mn-ea"/>
                        </a:rPr>
                        <a:t>侧重服务调度与计算优化，缺少权重和 </a:t>
                      </a:r>
                      <a:r>
                        <a:rPr lang="en-US" altLang="zh-CN" b="1">
                          <a:latin typeface="+mn-ea"/>
                          <a:ea typeface="+mn-ea"/>
                        </a:rPr>
                        <a:t>KV Cache </a:t>
                      </a:r>
                      <a:r>
                        <a:rPr lang="zh-CN" altLang="en-US" b="1">
                          <a:latin typeface="+mn-ea"/>
                          <a:ea typeface="+mn-ea"/>
                        </a:rPr>
                        <a:t>协同管理</a:t>
                      </a:r>
                      <a:endParaRPr lang="zh-CN" b="1">
                        <a:latin typeface="+mn-ea"/>
                        <a:ea typeface="+mn-ea"/>
                      </a:endParaRPr>
                    </a:p>
                  </a:txBody>
                  <a:tcPr anchor="ctr"/>
                </a:tc>
                <a:extLst>
                  <a:ext uri="{0D108BD9-81ED-4DB2-BD59-A6C34878D82A}">
                    <a16:rowId xmlns:a16="http://schemas.microsoft.com/office/drawing/2014/main" val="1822358529"/>
                  </a:ext>
                </a:extLst>
              </a:tr>
              <a:tr h="0">
                <a:tc>
                  <a:txBody>
                    <a:bodyPr/>
                    <a:lstStyle/>
                    <a:p>
                      <a:pPr>
                        <a:buNone/>
                      </a:pPr>
                      <a:r>
                        <a:rPr lang="zh-CN" b="1"/>
                        <a:t>FlexGen</a:t>
                      </a:r>
                      <a:endParaRPr lang="zh-CN"/>
                    </a:p>
                  </a:txBody>
                  <a:tcPr anchor="ctr"/>
                </a:tc>
                <a:tc>
                  <a:txBody>
                    <a:bodyPr/>
                    <a:lstStyle/>
                    <a:p>
                      <a:pPr>
                        <a:buNone/>
                      </a:pPr>
                      <a:r>
                        <a:rPr lang="zh-CN" altLang="en-US" b="1">
                          <a:latin typeface="+mn-ea"/>
                          <a:ea typeface="+mn-ea"/>
                        </a:rPr>
                        <a:t>通过</a:t>
                      </a:r>
                      <a:r>
                        <a:rPr lang="en-US" altLang="zh-CN" b="1">
                          <a:latin typeface="+mn-ea"/>
                          <a:ea typeface="+mn-ea"/>
                        </a:rPr>
                        <a:t>CPU-GPU-SSD </a:t>
                      </a:r>
                      <a:r>
                        <a:rPr lang="zh-CN" altLang="en-US" b="1">
                          <a:latin typeface="+mn-ea"/>
                          <a:ea typeface="+mn-ea"/>
                        </a:rPr>
                        <a:t>多级存储协同卸载，提高有限显存利用率</a:t>
                      </a:r>
                      <a:endParaRPr lang="zh-CN" b="1">
                        <a:latin typeface="+mn-ea"/>
                        <a:ea typeface="+mn-ea"/>
                      </a:endParaRPr>
                    </a:p>
                  </a:txBody>
                  <a:tcPr anchor="ctr"/>
                </a:tc>
                <a:tc>
                  <a:txBody>
                    <a:bodyPr/>
                    <a:lstStyle/>
                    <a:p>
                      <a:pPr>
                        <a:buNone/>
                      </a:pPr>
                      <a:r>
                        <a:rPr lang="zh-CN" b="1">
                          <a:latin typeface="+mn-ea"/>
                          <a:ea typeface="+mn-ea"/>
                        </a:rPr>
                        <a:t>面向 GPU 异构环境，依赖高带宽传输</a:t>
                      </a:r>
                    </a:p>
                  </a:txBody>
                  <a:tcPr anchor="ctr"/>
                </a:tc>
                <a:extLst>
                  <a:ext uri="{0D108BD9-81ED-4DB2-BD59-A6C34878D82A}">
                    <a16:rowId xmlns:a16="http://schemas.microsoft.com/office/drawing/2014/main" val="806921566"/>
                  </a:ext>
                </a:extLst>
              </a:tr>
              <a:tr h="0">
                <a:tc>
                  <a:txBody>
                    <a:bodyPr/>
                    <a:lstStyle/>
                    <a:p>
                      <a:pPr>
                        <a:buNone/>
                      </a:pPr>
                      <a:r>
                        <a:rPr lang="zh-CN" b="1"/>
                        <a:t>LLM in a Flash</a:t>
                      </a:r>
                      <a:endParaRPr lang="zh-CN"/>
                    </a:p>
                  </a:txBody>
                  <a:tcPr anchor="ctr"/>
                </a:tc>
                <a:tc>
                  <a:txBody>
                    <a:bodyPr/>
                    <a:lstStyle/>
                    <a:p>
                      <a:pPr>
                        <a:buNone/>
                      </a:pPr>
                      <a:r>
                        <a:rPr lang="zh-CN" altLang="en-US" b="1">
                          <a:latin typeface="+mn-ea"/>
                          <a:ea typeface="+mn-ea"/>
                        </a:rPr>
                        <a:t>通过闪存存储加载和预测式数据预取，突破设备内存限制</a:t>
                      </a:r>
                      <a:endParaRPr lang="zh-CN" b="1">
                        <a:latin typeface="+mn-ea"/>
                        <a:ea typeface="+mn-ea"/>
                      </a:endParaRPr>
                    </a:p>
                  </a:txBody>
                  <a:tcPr anchor="ctr"/>
                </a:tc>
                <a:tc>
                  <a:txBody>
                    <a:bodyPr/>
                    <a:lstStyle/>
                    <a:p>
                      <a:pPr>
                        <a:buNone/>
                      </a:pPr>
                      <a:r>
                        <a:rPr lang="zh-CN" altLang="en-US" b="1">
                          <a:latin typeface="+mn-ea"/>
                          <a:ea typeface="+mn-ea"/>
                        </a:rPr>
                        <a:t>主要优化模型权重加载，未管理推理过程中的动态数据</a:t>
                      </a:r>
                      <a:endParaRPr lang="zh-CN" b="1">
                        <a:latin typeface="+mn-ea"/>
                        <a:ea typeface="+mn-ea"/>
                      </a:endParaRPr>
                    </a:p>
                  </a:txBody>
                  <a:tcPr anchor="ctr"/>
                </a:tc>
                <a:extLst>
                  <a:ext uri="{0D108BD9-81ED-4DB2-BD59-A6C34878D82A}">
                    <a16:rowId xmlns:a16="http://schemas.microsoft.com/office/drawing/2014/main" val="4046235437"/>
                  </a:ext>
                </a:extLst>
              </a:tr>
              <a:tr h="0">
                <a:tc>
                  <a:txBody>
                    <a:bodyPr/>
                    <a:lstStyle/>
                    <a:p>
                      <a:pPr>
                        <a:buNone/>
                      </a:pPr>
                      <a:r>
                        <a:rPr lang="zh-CN" b="1"/>
                        <a:t>FlexInfer</a:t>
                      </a:r>
                      <a:endParaRPr lang="zh-CN"/>
                    </a:p>
                  </a:txBody>
                  <a:tcPr anchor="ctr"/>
                </a:tc>
                <a:tc>
                  <a:txBody>
                    <a:bodyPr/>
                    <a:lstStyle/>
                    <a:p>
                      <a:pPr>
                        <a:buNone/>
                      </a:pPr>
                      <a:r>
                        <a:rPr lang="zh-CN" altLang="en-US" b="1">
                          <a:latin typeface="+mn-ea"/>
                          <a:ea typeface="+mn-ea"/>
                        </a:rPr>
                        <a:t>通过内存与外部存储之间的数据动态迁移，降低设备内存压力</a:t>
                      </a:r>
                      <a:endParaRPr lang="zh-CN" b="1">
                        <a:latin typeface="+mn-ea"/>
                        <a:ea typeface="+mn-ea"/>
                      </a:endParaRPr>
                    </a:p>
                  </a:txBody>
                  <a:tcPr anchor="ctr"/>
                </a:tc>
                <a:tc>
                  <a:txBody>
                    <a:bodyPr/>
                    <a:lstStyle/>
                    <a:p>
                      <a:pPr>
                        <a:buNone/>
                      </a:pPr>
                      <a:r>
                        <a:rPr lang="zh-CN" altLang="en-US" b="1">
                          <a:latin typeface="+mn-ea"/>
                          <a:ea typeface="+mn-ea"/>
                        </a:rPr>
                        <a:t>聚焦权重卸载优化，缺少多类数据统一调度机制</a:t>
                      </a:r>
                      <a:endParaRPr lang="zh-CN" b="1">
                        <a:latin typeface="+mn-ea"/>
                        <a:ea typeface="+mn-ea"/>
                      </a:endParaRPr>
                    </a:p>
                  </a:txBody>
                  <a:tcPr anchor="ctr"/>
                </a:tc>
                <a:extLst>
                  <a:ext uri="{0D108BD9-81ED-4DB2-BD59-A6C34878D82A}">
                    <a16:rowId xmlns:a16="http://schemas.microsoft.com/office/drawing/2014/main" val="676165461"/>
                  </a:ext>
                </a:extLst>
              </a:tr>
              <a:tr h="0">
                <a:tc>
                  <a:txBody>
                    <a:bodyPr/>
                    <a:lstStyle/>
                    <a:p>
                      <a:pPr>
                        <a:buNone/>
                      </a:pPr>
                      <a:r>
                        <a:rPr lang="zh-CN" b="1"/>
                        <a:t>MoE-Infinity</a:t>
                      </a:r>
                      <a:endParaRPr lang="zh-CN"/>
                    </a:p>
                  </a:txBody>
                  <a:tcPr anchor="ctr"/>
                </a:tc>
                <a:tc>
                  <a:txBody>
                    <a:bodyPr/>
                    <a:lstStyle/>
                    <a:p>
                      <a:pPr>
                        <a:buNone/>
                      </a:pPr>
                      <a:r>
                        <a:rPr lang="zh-CN" altLang="en-US" b="1">
                          <a:latin typeface="+mn-ea"/>
                          <a:ea typeface="+mn-ea"/>
                        </a:rPr>
                        <a:t>通过稀疏感知专家缓存机制，提高混合专家模型推理效率</a:t>
                      </a:r>
                      <a:endParaRPr lang="zh-CN" b="1">
                        <a:latin typeface="+mn-ea"/>
                        <a:ea typeface="+mn-ea"/>
                      </a:endParaRPr>
                    </a:p>
                  </a:txBody>
                  <a:tcPr anchor="ctr"/>
                </a:tc>
                <a:tc>
                  <a:txBody>
                    <a:bodyPr/>
                    <a:lstStyle/>
                    <a:p>
                      <a:pPr>
                        <a:buNone/>
                      </a:pPr>
                      <a:r>
                        <a:rPr lang="zh-CN" altLang="en-US" b="1">
                          <a:latin typeface="+mn-ea"/>
                          <a:ea typeface="+mn-ea"/>
                        </a:rPr>
                        <a:t>仅优化 </a:t>
                      </a:r>
                      <a:r>
                        <a:rPr lang="en-US" altLang="zh-CN" b="1">
                          <a:latin typeface="+mn-ea"/>
                          <a:ea typeface="+mn-ea"/>
                        </a:rPr>
                        <a:t>MoE </a:t>
                      </a:r>
                      <a:r>
                        <a:rPr lang="zh-CN" altLang="en-US" b="1">
                          <a:latin typeface="+mn-ea"/>
                          <a:ea typeface="+mn-ea"/>
                        </a:rPr>
                        <a:t>模型的专家缓存，不涉及 </a:t>
                      </a:r>
                      <a:r>
                        <a:rPr lang="en-US" altLang="zh-CN" b="1">
                          <a:latin typeface="+mn-ea"/>
                          <a:ea typeface="+mn-ea"/>
                        </a:rPr>
                        <a:t>Dense </a:t>
                      </a:r>
                      <a:r>
                        <a:rPr lang="zh-CN" altLang="en-US" b="1">
                          <a:latin typeface="+mn-ea"/>
                          <a:ea typeface="+mn-ea"/>
                        </a:rPr>
                        <a:t>模型权重和 </a:t>
                      </a:r>
                      <a:r>
                        <a:rPr lang="en-US" altLang="zh-CN" b="1">
                          <a:latin typeface="+mn-ea"/>
                          <a:ea typeface="+mn-ea"/>
                        </a:rPr>
                        <a:t>KV </a:t>
                      </a:r>
                      <a:r>
                        <a:rPr lang="zh-CN" altLang="en-US" b="1">
                          <a:latin typeface="+mn-ea"/>
                          <a:ea typeface="+mn-ea"/>
                        </a:rPr>
                        <a:t>缓存管理</a:t>
                      </a:r>
                      <a:endParaRPr lang="zh-CN" b="1">
                        <a:latin typeface="+mn-ea"/>
                        <a:ea typeface="+mn-ea"/>
                      </a:endParaRPr>
                    </a:p>
                  </a:txBody>
                  <a:tcPr anchor="ctr"/>
                </a:tc>
                <a:extLst>
                  <a:ext uri="{0D108BD9-81ED-4DB2-BD59-A6C34878D82A}">
                    <a16:rowId xmlns:a16="http://schemas.microsoft.com/office/drawing/2014/main" val="1011900496"/>
                  </a:ext>
                </a:extLst>
              </a:tr>
              <a:tr h="0">
                <a:tc>
                  <a:txBody>
                    <a:bodyPr/>
                    <a:lstStyle/>
                    <a:p>
                      <a:pPr>
                        <a:buNone/>
                      </a:pPr>
                      <a:r>
                        <a:rPr lang="zh-CN" b="1"/>
                        <a:t>Bidaw</a:t>
                      </a:r>
                      <a:endParaRPr lang="zh-CN"/>
                    </a:p>
                  </a:txBody>
                  <a:tcPr anchor="ctr"/>
                </a:tc>
                <a:tc>
                  <a:txBody>
                    <a:bodyPr/>
                    <a:lstStyle/>
                    <a:p>
                      <a:pPr>
                        <a:buNone/>
                      </a:pPr>
                      <a:r>
                        <a:rPr lang="zh-CN" altLang="en-US" b="1">
                          <a:latin typeface="+mn-ea"/>
                          <a:ea typeface="+mn-ea"/>
                        </a:rPr>
                        <a:t>通过访问行为预测的数据驻留优化，减少无效数据迁移</a:t>
                      </a:r>
                      <a:endParaRPr lang="zh-CN" b="1">
                        <a:latin typeface="+mn-ea"/>
                        <a:ea typeface="+mn-ea"/>
                      </a:endParaRPr>
                    </a:p>
                  </a:txBody>
                  <a:tcPr anchor="ctr"/>
                </a:tc>
                <a:tc>
                  <a:txBody>
                    <a:bodyPr/>
                    <a:lstStyle/>
                    <a:p>
                      <a:pPr>
                        <a:buNone/>
                      </a:pPr>
                      <a:r>
                        <a:rPr lang="zh-CN" altLang="en-US" b="1">
                          <a:latin typeface="+mn-ea"/>
                          <a:ea typeface="+mn-ea"/>
                        </a:rPr>
                        <a:t>面向通用数据调度，未结合大模型推理特点进行优化</a:t>
                      </a:r>
                      <a:endParaRPr lang="zh-CN" b="1">
                        <a:latin typeface="+mn-ea"/>
                        <a:ea typeface="+mn-ea"/>
                      </a:endParaRPr>
                    </a:p>
                  </a:txBody>
                  <a:tcPr anchor="ctr"/>
                </a:tc>
                <a:extLst>
                  <a:ext uri="{0D108BD9-81ED-4DB2-BD59-A6C34878D82A}">
                    <a16:rowId xmlns:a16="http://schemas.microsoft.com/office/drawing/2014/main" val="2762752059"/>
                  </a:ext>
                </a:extLst>
              </a:tr>
            </a:tbl>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p:cTn id="11" dur="500" fill="hold"/>
                                        <p:tgtEl>
                                          <p:spTgt spid="14"/>
                                        </p:tgtEl>
                                        <p:attrNameLst>
                                          <p:attrName>ppt_w</p:attrName>
                                        </p:attrNameLst>
                                      </p:cBhvr>
                                      <p:tavLst>
                                        <p:tav tm="0">
                                          <p:val>
                                            <p:fltVal val="0"/>
                                          </p:val>
                                        </p:tav>
                                        <p:tav tm="100000">
                                          <p:val>
                                            <p:strVal val="#ppt_w"/>
                                          </p:val>
                                        </p:tav>
                                      </p:tavLst>
                                    </p:anim>
                                    <p:anim calcmode="lin" valueType="num">
                                      <p:cBhvr>
                                        <p:cTn id="12" dur="500" fill="hold"/>
                                        <p:tgtEl>
                                          <p:spTgt spid="14"/>
                                        </p:tgtEl>
                                        <p:attrNameLst>
                                          <p:attrName>ppt_h</p:attrName>
                                        </p:attrNameLst>
                                      </p:cBhvr>
                                      <p:tavLst>
                                        <p:tav tm="0">
                                          <p:val>
                                            <p:fltVal val="0"/>
                                          </p:val>
                                        </p:tav>
                                        <p:tav tm="100000">
                                          <p:val>
                                            <p:strVal val="#ppt_h"/>
                                          </p:val>
                                        </p:tav>
                                      </p:tavLst>
                                    </p:anim>
                                    <p:animEffect transition="in" filter="fade">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38F8B-3E4E-F905-E24E-F66BCD325B43}"/>
            </a:ext>
          </a:extLst>
        </p:cNvPr>
        <p:cNvGrpSpPr/>
        <p:nvPr/>
      </p:nvGrpSpPr>
      <p:grpSpPr>
        <a:xfrm>
          <a:off x="0" y="0"/>
          <a:ext cx="0" cy="0"/>
          <a:chOff x="0" y="0"/>
          <a:chExt cx="0" cy="0"/>
        </a:xfrm>
      </p:grpSpPr>
      <p:sp>
        <p:nvSpPr>
          <p:cNvPr id="35" name="TextBox 6">
            <a:extLst>
              <a:ext uri="{FF2B5EF4-FFF2-40B4-BE49-F238E27FC236}">
                <a16:creationId xmlns:a16="http://schemas.microsoft.com/office/drawing/2014/main" id="{A7C48538-CF4B-F6B7-3F9A-29D28EB51009}"/>
              </a:ext>
            </a:extLst>
          </p:cNvPr>
          <p:cNvSpPr txBox="1"/>
          <p:nvPr/>
        </p:nvSpPr>
        <p:spPr>
          <a:xfrm>
            <a:off x="587830" y="1058211"/>
            <a:ext cx="3868056" cy="527825"/>
          </a:xfrm>
          <a:prstGeom prst="rect">
            <a:avLst/>
          </a:prstGeom>
          <a:noFill/>
        </p:spPr>
        <p:txBody>
          <a:bodyPr wrap="square" lIns="0" tIns="48000" rIns="0" bIns="48000" rtlCol="0">
            <a:spAutoFit/>
          </a:bodyPr>
          <a:lstStyle/>
          <a:p>
            <a:pPr algn="ctr"/>
            <a:r>
              <a:rPr lang="en-US" altLang="zh-CN" sz="2800" b="1">
                <a:solidFill>
                  <a:schemeClr val="tx1">
                    <a:lumMod val="65000"/>
                    <a:lumOff val="35000"/>
                  </a:schemeClr>
                </a:solidFill>
                <a:latin typeface="Arial" panose="020B0604020202020204" pitchFamily="34" charset="0"/>
                <a:ea typeface="微软雅黑" panose="020B0503020204020204" pitchFamily="34" charset="-122"/>
              </a:rPr>
              <a:t>5.5 </a:t>
            </a:r>
            <a:r>
              <a:rPr lang="zh-CN" altLang="en-US" sz="2800" b="1">
                <a:solidFill>
                  <a:schemeClr val="tx1">
                    <a:lumMod val="65000"/>
                    <a:lumOff val="35000"/>
                  </a:schemeClr>
                </a:solidFill>
                <a:latin typeface="Arial" panose="020B0604020202020204" pitchFamily="34" charset="0"/>
                <a:ea typeface="微软雅黑" panose="020B0503020204020204" pitchFamily="34" charset="-122"/>
              </a:rPr>
              <a:t>大语言模型使用说明</a:t>
            </a:r>
            <a:endParaRPr lang="zh-CN" altLang="en-US" sz="28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20" name="矩形 19">
            <a:extLst>
              <a:ext uri="{FF2B5EF4-FFF2-40B4-BE49-F238E27FC236}">
                <a16:creationId xmlns:a16="http://schemas.microsoft.com/office/drawing/2014/main" id="{64A7B29A-78CC-7C52-6155-A74E3C70D7EB}"/>
              </a:ext>
            </a:extLst>
          </p:cNvPr>
          <p:cNvSpPr/>
          <p:nvPr>
            <p:custDataLst>
              <p:tags r:id="rId1"/>
            </p:custDataLst>
          </p:nvPr>
        </p:nvSpPr>
        <p:spPr>
          <a:xfrm>
            <a:off x="523334" y="1743495"/>
            <a:ext cx="10450830" cy="4445000"/>
          </a:xfrm>
          <a:prstGeom prst="rect">
            <a:avLst/>
          </a:prstGeom>
          <a:noFill/>
          <a:ln w="19050">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latin typeface="Songti SC" panose="02010600040101010101" pitchFamily="2" charset="-122"/>
              <a:ea typeface="Songti SC" panose="02010600040101010101" pitchFamily="2" charset="-122"/>
            </a:endParaRPr>
          </a:p>
        </p:txBody>
      </p:sp>
      <p:grpSp>
        <p:nvGrpSpPr>
          <p:cNvPr id="21" name="组合 20">
            <a:extLst>
              <a:ext uri="{FF2B5EF4-FFF2-40B4-BE49-F238E27FC236}">
                <a16:creationId xmlns:a16="http://schemas.microsoft.com/office/drawing/2014/main" id="{BA060AE8-0471-8B0C-1DDF-02D847873B01}"/>
              </a:ext>
            </a:extLst>
          </p:cNvPr>
          <p:cNvGrpSpPr/>
          <p:nvPr>
            <p:custDataLst>
              <p:tags r:id="rId2"/>
            </p:custDataLst>
          </p:nvPr>
        </p:nvGrpSpPr>
        <p:grpSpPr>
          <a:xfrm>
            <a:off x="914451" y="1809724"/>
            <a:ext cx="9512580" cy="1248740"/>
            <a:chOff x="4910250" y="2365695"/>
            <a:chExt cx="5879618" cy="872328"/>
          </a:xfrm>
        </p:grpSpPr>
        <p:sp>
          <p:nvSpPr>
            <p:cNvPr id="23" name="矩形 22">
              <a:extLst>
                <a:ext uri="{FF2B5EF4-FFF2-40B4-BE49-F238E27FC236}">
                  <a16:creationId xmlns:a16="http://schemas.microsoft.com/office/drawing/2014/main" id="{89B949D6-014C-7326-CE90-5CDAE42C73CF}"/>
                </a:ext>
              </a:extLst>
            </p:cNvPr>
            <p:cNvSpPr/>
            <p:nvPr>
              <p:custDataLst>
                <p:tags r:id="rId9"/>
              </p:custDataLst>
            </p:nvPr>
          </p:nvSpPr>
          <p:spPr>
            <a:xfrm>
              <a:off x="5320964" y="2365695"/>
              <a:ext cx="5468904" cy="872328"/>
            </a:xfrm>
            <a:prstGeom prst="rect">
              <a:avLst/>
            </a:prstGeom>
          </p:spPr>
          <p:txBody>
            <a:bodyPr wrap="square">
              <a:spAutoFit/>
            </a:bodyPr>
            <a:lstStyle/>
            <a:p>
              <a:pPr>
                <a:lnSpc>
                  <a:spcPct val="150000"/>
                </a:lnSpc>
              </a:pPr>
              <a:r>
                <a:rPr lang="zh-CN" altLang="en-US" sz="2000" b="1">
                  <a:latin typeface="Arial" panose="020B0604020202020204" pitchFamily="34" charset="0"/>
                  <a:ea typeface="微软雅黑" panose="020B0503020204020204" pitchFamily="34" charset="-122"/>
                </a:rPr>
                <a:t>文献检索与资料整理</a:t>
              </a:r>
              <a:endParaRPr lang="en-US" altLang="zh-CN" sz="2000" b="1">
                <a:latin typeface="Arial" panose="020B0604020202020204" pitchFamily="34" charset="0"/>
                <a:ea typeface="微软雅黑" panose="020B0503020204020204" pitchFamily="34" charset="-122"/>
              </a:endParaRPr>
            </a:p>
            <a:p>
              <a:pPr>
                <a:lnSpc>
                  <a:spcPct val="150000"/>
                </a:lnSpc>
              </a:pPr>
              <a:r>
                <a:rPr lang="zh-CN" altLang="en-US" sz="1600" b="1">
                  <a:solidFill>
                    <a:schemeClr val="tx1"/>
                  </a:solidFill>
                  <a:latin typeface="Arial" panose="020B0604020202020204" pitchFamily="34" charset="0"/>
                  <a:ea typeface="微软雅黑" panose="020B0503020204020204" pitchFamily="34" charset="-122"/>
                </a:rPr>
                <a:t>借助大语言模型（如 </a:t>
              </a:r>
              <a:r>
                <a:rPr lang="en-US" altLang="zh-CN" sz="1600" b="1">
                  <a:solidFill>
                    <a:schemeClr val="tx1"/>
                  </a:solidFill>
                  <a:latin typeface="Arial" panose="020B0604020202020204" pitchFamily="34" charset="0"/>
                  <a:ea typeface="微软雅黑" panose="020B0503020204020204" pitchFamily="34" charset="-122"/>
                </a:rPr>
                <a:t>DeepSeek V4 </a:t>
              </a:r>
              <a:r>
                <a:rPr lang="zh-CN" altLang="en-US" sz="1600" b="1">
                  <a:solidFill>
                    <a:schemeClr val="tx1"/>
                  </a:solidFill>
                  <a:latin typeface="Arial" panose="020B0604020202020204" pitchFamily="34" charset="0"/>
                  <a:ea typeface="微软雅黑" panose="020B0503020204020204" pitchFamily="34" charset="-122"/>
                </a:rPr>
                <a:t>等）对相关研究论文进行语义检索与摘要生成，辅助快速定位技术路线和关键参考文献，提高调研效率。</a:t>
              </a:r>
              <a:endParaRPr lang="zh-CN" altLang="en-US" sz="1600" b="1" dirty="0">
                <a:solidFill>
                  <a:schemeClr val="tx1"/>
                </a:solidFill>
                <a:latin typeface="Arial" panose="020B0604020202020204" pitchFamily="34" charset="0"/>
                <a:ea typeface="微软雅黑" panose="020B0503020204020204" pitchFamily="34" charset="-122"/>
              </a:endParaRPr>
            </a:p>
          </p:txBody>
        </p:sp>
        <p:sp>
          <p:nvSpPr>
            <p:cNvPr id="25" name="矩形 24">
              <a:extLst>
                <a:ext uri="{FF2B5EF4-FFF2-40B4-BE49-F238E27FC236}">
                  <a16:creationId xmlns:a16="http://schemas.microsoft.com/office/drawing/2014/main" id="{39286729-84A6-F0A8-5770-BC6A4D986BB5}"/>
                </a:ext>
              </a:extLst>
            </p:cNvPr>
            <p:cNvSpPr/>
            <p:nvPr>
              <p:custDataLst>
                <p:tags r:id="rId10"/>
              </p:custDataLst>
            </p:nvPr>
          </p:nvSpPr>
          <p:spPr>
            <a:xfrm>
              <a:off x="4910250" y="2576149"/>
              <a:ext cx="309415" cy="356339"/>
            </a:xfrm>
            <a:prstGeom prst="rect">
              <a:avLst/>
            </a:prstGeom>
            <a:solidFill>
              <a:schemeClr val="accent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b="1" dirty="0">
                  <a:solidFill>
                    <a:schemeClr val="bg1"/>
                  </a:solidFill>
                  <a:latin typeface="Arial" panose="020B0604020202020204" pitchFamily="34" charset="0"/>
                  <a:ea typeface="微软雅黑" panose="020B0503020204020204" pitchFamily="34" charset="-122"/>
                </a:rPr>
                <a:t>1</a:t>
              </a:r>
              <a:endParaRPr lang="zh-CN" altLang="en-US" sz="3200" b="1" dirty="0">
                <a:solidFill>
                  <a:schemeClr val="bg1"/>
                </a:solidFill>
                <a:latin typeface="Arial" panose="020B0604020202020204" pitchFamily="34" charset="0"/>
                <a:ea typeface="微软雅黑" panose="020B0503020204020204" pitchFamily="34" charset="-122"/>
              </a:endParaRPr>
            </a:p>
          </p:txBody>
        </p:sp>
      </p:grpSp>
      <p:grpSp>
        <p:nvGrpSpPr>
          <p:cNvPr id="31" name="组合 30">
            <a:extLst>
              <a:ext uri="{FF2B5EF4-FFF2-40B4-BE49-F238E27FC236}">
                <a16:creationId xmlns:a16="http://schemas.microsoft.com/office/drawing/2014/main" id="{EC91B52C-4888-0D33-D995-627F841C1125}"/>
              </a:ext>
            </a:extLst>
          </p:cNvPr>
          <p:cNvGrpSpPr/>
          <p:nvPr>
            <p:custDataLst>
              <p:tags r:id="rId3"/>
            </p:custDataLst>
          </p:nvPr>
        </p:nvGrpSpPr>
        <p:grpSpPr>
          <a:xfrm>
            <a:off x="914452" y="3058464"/>
            <a:ext cx="9473065" cy="1618072"/>
            <a:chOff x="4910249" y="3253585"/>
            <a:chExt cx="6617592" cy="1130334"/>
          </a:xfrm>
        </p:grpSpPr>
        <p:sp>
          <p:nvSpPr>
            <p:cNvPr id="32" name="文本框 31">
              <a:extLst>
                <a:ext uri="{FF2B5EF4-FFF2-40B4-BE49-F238E27FC236}">
                  <a16:creationId xmlns:a16="http://schemas.microsoft.com/office/drawing/2014/main" id="{DBAF1219-6344-F382-CC5D-A1BDB40A8298}"/>
                </a:ext>
              </a:extLst>
            </p:cNvPr>
            <p:cNvSpPr txBox="1"/>
            <p:nvPr>
              <p:custDataLst>
                <p:tags r:id="rId7"/>
              </p:custDataLst>
            </p:nvPr>
          </p:nvSpPr>
          <p:spPr>
            <a:xfrm>
              <a:off x="5346839" y="3253585"/>
              <a:ext cx="6181002" cy="1130334"/>
            </a:xfrm>
            <a:prstGeom prst="rect">
              <a:avLst/>
            </a:prstGeom>
            <a:noFill/>
          </p:spPr>
          <p:txBody>
            <a:bodyPr wrap="square" rtlCol="0">
              <a:spAutoFit/>
            </a:bodyPr>
            <a:lstStyle/>
            <a:p>
              <a:pPr>
                <a:lnSpc>
                  <a:spcPct val="150000"/>
                </a:lnSpc>
              </a:pPr>
              <a:r>
                <a:rPr lang="zh-CN" altLang="en-US" sz="2000" b="1">
                  <a:latin typeface="Arial" panose="020B0604020202020204" pitchFamily="34" charset="0"/>
                  <a:ea typeface="微软雅黑" panose="020B0503020204020204" pitchFamily="34" charset="-122"/>
                </a:rPr>
                <a:t>开源框架梳理与分析</a:t>
              </a:r>
              <a:endParaRPr lang="en-US" altLang="zh-CN" sz="2000" b="1">
                <a:latin typeface="Arial" panose="020B0604020202020204" pitchFamily="34" charset="0"/>
                <a:ea typeface="微软雅黑" panose="020B0503020204020204" pitchFamily="34" charset="-122"/>
              </a:endParaRPr>
            </a:p>
            <a:p>
              <a:pPr>
                <a:lnSpc>
                  <a:spcPct val="150000"/>
                </a:lnSpc>
              </a:pPr>
              <a:r>
                <a:rPr lang="zh-CN" altLang="en-US" sz="1600" b="1">
                  <a:latin typeface="Arial" panose="020B0604020202020204" pitchFamily="34" charset="0"/>
                  <a:ea typeface="微软雅黑" panose="020B0503020204020204" pitchFamily="34" charset="-122"/>
                </a:rPr>
                <a:t>利用 </a:t>
              </a:r>
              <a:r>
                <a:rPr lang="en-US" altLang="zh-CN" sz="1600" b="1">
                  <a:latin typeface="Arial" panose="020B0604020202020204" pitchFamily="34" charset="0"/>
                  <a:ea typeface="微软雅黑" panose="020B0503020204020204" pitchFamily="34" charset="-122"/>
                </a:rPr>
                <a:t>LLM </a:t>
              </a:r>
              <a:r>
                <a:rPr lang="zh-CN" altLang="en-US" sz="1600" b="1">
                  <a:latin typeface="Arial" panose="020B0604020202020204" pitchFamily="34" charset="0"/>
                  <a:ea typeface="微软雅黑" panose="020B0503020204020204" pitchFamily="34" charset="-122"/>
                </a:rPr>
                <a:t>对 </a:t>
              </a:r>
              <a:r>
                <a:rPr lang="en-US" altLang="zh-CN" sz="1600" b="1">
                  <a:latin typeface="Arial" panose="020B0604020202020204" pitchFamily="34" charset="0"/>
                  <a:ea typeface="微软雅黑" panose="020B0503020204020204" pitchFamily="34" charset="-122"/>
                </a:rPr>
                <a:t>llama.cpp</a:t>
              </a:r>
              <a:r>
                <a:rPr lang="zh-CN" altLang="en-US" sz="1600" b="1">
                  <a:latin typeface="Arial" panose="020B0604020202020204" pitchFamily="34" charset="0"/>
                  <a:ea typeface="微软雅黑" panose="020B0503020204020204" pitchFamily="34" charset="-122"/>
                </a:rPr>
                <a:t>、</a:t>
              </a:r>
              <a:r>
                <a:rPr lang="en-US" altLang="zh-CN" sz="1600" b="1">
                  <a:latin typeface="Arial" panose="020B0604020202020204" pitchFamily="34" charset="0"/>
                  <a:ea typeface="微软雅黑" panose="020B0503020204020204" pitchFamily="34" charset="-122"/>
                </a:rPr>
                <a:t>vLLM</a:t>
              </a:r>
              <a:r>
                <a:rPr lang="zh-CN" altLang="en-US" sz="1600" b="1">
                  <a:latin typeface="Arial" panose="020B0604020202020204" pitchFamily="34" charset="0"/>
                  <a:ea typeface="微软雅黑" panose="020B0503020204020204" pitchFamily="34" charset="-122"/>
                </a:rPr>
                <a:t>、</a:t>
              </a:r>
              <a:r>
                <a:rPr lang="en-US" altLang="zh-CN" sz="1600" b="1">
                  <a:latin typeface="Arial" panose="020B0604020202020204" pitchFamily="34" charset="0"/>
                  <a:ea typeface="微软雅黑" panose="020B0503020204020204" pitchFamily="34" charset="-122"/>
                </a:rPr>
                <a:t>SGLang </a:t>
              </a:r>
              <a:r>
                <a:rPr lang="zh-CN" altLang="en-US" sz="1600" b="1">
                  <a:latin typeface="Arial" panose="020B0604020202020204" pitchFamily="34" charset="0"/>
                  <a:ea typeface="微软雅黑" panose="020B0503020204020204" pitchFamily="34" charset="-122"/>
                </a:rPr>
                <a:t>等开源推理框架的代码仓库结构、文档说明和实现机制进行快速梳理与对比分析，辅助理解各框架的权重管理、</a:t>
              </a:r>
              <a:r>
                <a:rPr lang="en-US" altLang="zh-CN" sz="1600" b="1">
                  <a:latin typeface="Arial" panose="020B0604020202020204" pitchFamily="34" charset="0"/>
                  <a:ea typeface="微软雅黑" panose="020B0503020204020204" pitchFamily="34" charset="-122"/>
                </a:rPr>
                <a:t>KV Cache </a:t>
              </a:r>
              <a:r>
                <a:rPr lang="zh-CN" altLang="en-US" sz="1600" b="1">
                  <a:latin typeface="Arial" panose="020B0604020202020204" pitchFamily="34" charset="0"/>
                  <a:ea typeface="微软雅黑" panose="020B0503020204020204" pitchFamily="34" charset="-122"/>
                </a:rPr>
                <a:t>组织方式以及相关优化技术，为系统设计与方案选型提供参考。</a:t>
              </a:r>
              <a:endParaRPr lang="zh-CN" altLang="en-US" sz="1600" b="1" dirty="0">
                <a:latin typeface="Arial" panose="020B0604020202020204" pitchFamily="34" charset="0"/>
                <a:ea typeface="微软雅黑" panose="020B0503020204020204" pitchFamily="34" charset="-122"/>
              </a:endParaRPr>
            </a:p>
          </p:txBody>
        </p:sp>
        <p:sp>
          <p:nvSpPr>
            <p:cNvPr id="36" name="矩形 35">
              <a:extLst>
                <a:ext uri="{FF2B5EF4-FFF2-40B4-BE49-F238E27FC236}">
                  <a16:creationId xmlns:a16="http://schemas.microsoft.com/office/drawing/2014/main" id="{E07B7FD6-CBDB-6CC2-F3A2-46CC711D87AB}"/>
                </a:ext>
              </a:extLst>
            </p:cNvPr>
            <p:cNvSpPr/>
            <p:nvPr>
              <p:custDataLst>
                <p:tags r:id="rId8"/>
              </p:custDataLst>
            </p:nvPr>
          </p:nvSpPr>
          <p:spPr>
            <a:xfrm>
              <a:off x="4910249" y="3437930"/>
              <a:ext cx="349704" cy="367328"/>
            </a:xfrm>
            <a:prstGeom prst="rect">
              <a:avLst/>
            </a:prstGeom>
            <a:solidFill>
              <a:schemeClr val="accent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b="1" dirty="0">
                  <a:solidFill>
                    <a:schemeClr val="bg1"/>
                  </a:solidFill>
                  <a:latin typeface="Arial" panose="020B0604020202020204" pitchFamily="34" charset="0"/>
                  <a:ea typeface="微软雅黑" panose="020B0503020204020204" pitchFamily="34" charset="-122"/>
                </a:rPr>
                <a:t>2</a:t>
              </a:r>
              <a:endParaRPr lang="zh-CN" altLang="en-US" sz="3200" b="1" dirty="0">
                <a:solidFill>
                  <a:schemeClr val="bg1"/>
                </a:solidFill>
                <a:latin typeface="Arial" panose="020B0604020202020204" pitchFamily="34" charset="0"/>
                <a:ea typeface="微软雅黑" panose="020B0503020204020204" pitchFamily="34" charset="-122"/>
              </a:endParaRPr>
            </a:p>
          </p:txBody>
        </p:sp>
      </p:grpSp>
      <p:grpSp>
        <p:nvGrpSpPr>
          <p:cNvPr id="37" name="组合 36">
            <a:extLst>
              <a:ext uri="{FF2B5EF4-FFF2-40B4-BE49-F238E27FC236}">
                <a16:creationId xmlns:a16="http://schemas.microsoft.com/office/drawing/2014/main" id="{8A8F04B6-4D12-3210-5C12-28476AFBE014}"/>
              </a:ext>
            </a:extLst>
          </p:cNvPr>
          <p:cNvGrpSpPr/>
          <p:nvPr>
            <p:custDataLst>
              <p:tags r:id="rId4"/>
            </p:custDataLst>
          </p:nvPr>
        </p:nvGrpSpPr>
        <p:grpSpPr>
          <a:xfrm>
            <a:off x="914451" y="4761271"/>
            <a:ext cx="9267700" cy="1248739"/>
            <a:chOff x="4910249" y="4048556"/>
            <a:chExt cx="6474129" cy="872329"/>
          </a:xfrm>
        </p:grpSpPr>
        <p:sp>
          <p:nvSpPr>
            <p:cNvPr id="38" name="文本框 37">
              <a:extLst>
                <a:ext uri="{FF2B5EF4-FFF2-40B4-BE49-F238E27FC236}">
                  <a16:creationId xmlns:a16="http://schemas.microsoft.com/office/drawing/2014/main" id="{EC0EC0FE-DFA4-6C50-7628-1A8BE014BA68}"/>
                </a:ext>
              </a:extLst>
            </p:cNvPr>
            <p:cNvSpPr txBox="1"/>
            <p:nvPr>
              <p:custDataLst>
                <p:tags r:id="rId5"/>
              </p:custDataLst>
            </p:nvPr>
          </p:nvSpPr>
          <p:spPr>
            <a:xfrm>
              <a:off x="5346848" y="4048556"/>
              <a:ext cx="6037530" cy="872329"/>
            </a:xfrm>
            <a:prstGeom prst="rect">
              <a:avLst/>
            </a:prstGeom>
            <a:noFill/>
          </p:spPr>
          <p:txBody>
            <a:bodyPr wrap="square" rtlCol="0">
              <a:spAutoFit/>
            </a:bodyPr>
            <a:lstStyle/>
            <a:p>
              <a:pPr>
                <a:lnSpc>
                  <a:spcPct val="150000"/>
                </a:lnSpc>
              </a:pPr>
              <a:r>
                <a:rPr lang="zh-CN" altLang="en-US" sz="2000" b="1">
                  <a:latin typeface="Arial" panose="020B0604020202020204" pitchFamily="34" charset="0"/>
                  <a:ea typeface="微软雅黑" panose="020B0503020204020204" pitchFamily="34" charset="-122"/>
                </a:rPr>
                <a:t>项目开发代码辅助</a:t>
              </a:r>
              <a:endParaRPr lang="en-US" altLang="zh-CN" sz="2000" b="1">
                <a:latin typeface="Arial" panose="020B0604020202020204" pitchFamily="34" charset="0"/>
                <a:ea typeface="微软雅黑" panose="020B0503020204020204" pitchFamily="34" charset="-122"/>
              </a:endParaRPr>
            </a:p>
            <a:p>
              <a:pPr>
                <a:lnSpc>
                  <a:spcPct val="150000"/>
                </a:lnSpc>
              </a:pPr>
              <a:r>
                <a:rPr lang="zh-CN" altLang="en-US" sz="1600" b="1">
                  <a:latin typeface="Arial" panose="020B0604020202020204" pitchFamily="34" charset="0"/>
                  <a:ea typeface="微软雅黑" panose="020B0503020204020204" pitchFamily="34" charset="-122"/>
                </a:rPr>
                <a:t>在系统实现过程中，使用 </a:t>
              </a:r>
              <a:r>
                <a:rPr lang="en-US" altLang="zh-CN" sz="1600" b="1">
                  <a:latin typeface="Arial" panose="020B0604020202020204" pitchFamily="34" charset="0"/>
                  <a:ea typeface="微软雅黑" panose="020B0503020204020204" pitchFamily="34" charset="-122"/>
                </a:rPr>
                <a:t>LLM </a:t>
              </a:r>
              <a:r>
                <a:rPr lang="zh-CN" altLang="en-US" sz="1600" b="1">
                  <a:latin typeface="Arial" panose="020B0604020202020204" pitchFamily="34" charset="0"/>
                  <a:ea typeface="微软雅黑" panose="020B0503020204020204" pitchFamily="34" charset="-122"/>
                </a:rPr>
                <a:t>辅助生成代码、编写测试脚本、调试错误及优化代码结构，所有生成代码均经人工审阅、修改和验证，确保符合项目需求和正确性。</a:t>
              </a:r>
              <a:endParaRPr lang="zh-CN" altLang="en-US" sz="1600" b="1" dirty="0">
                <a:latin typeface="Arial" panose="020B0604020202020204" pitchFamily="34" charset="0"/>
                <a:ea typeface="微软雅黑" panose="020B0503020204020204" pitchFamily="34" charset="-122"/>
              </a:endParaRPr>
            </a:p>
          </p:txBody>
        </p:sp>
        <p:sp>
          <p:nvSpPr>
            <p:cNvPr id="39" name="矩形 38">
              <a:extLst>
                <a:ext uri="{FF2B5EF4-FFF2-40B4-BE49-F238E27FC236}">
                  <a16:creationId xmlns:a16="http://schemas.microsoft.com/office/drawing/2014/main" id="{73F31D9B-E7F3-4DDE-16E9-09BC1F29A7C8}"/>
                </a:ext>
              </a:extLst>
            </p:cNvPr>
            <p:cNvSpPr/>
            <p:nvPr>
              <p:custDataLst>
                <p:tags r:id="rId6"/>
              </p:custDataLst>
            </p:nvPr>
          </p:nvSpPr>
          <p:spPr>
            <a:xfrm>
              <a:off x="4910249" y="4221206"/>
              <a:ext cx="349704" cy="367328"/>
            </a:xfrm>
            <a:prstGeom prst="rect">
              <a:avLst/>
            </a:prstGeom>
            <a:solidFill>
              <a:schemeClr val="accent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b="1" dirty="0">
                  <a:solidFill>
                    <a:schemeClr val="bg1"/>
                  </a:solidFill>
                  <a:latin typeface="Arial" panose="020B0604020202020204" pitchFamily="34" charset="0"/>
                  <a:ea typeface="微软雅黑" panose="020B0503020204020204" pitchFamily="34" charset="-122"/>
                </a:rPr>
                <a:t>3</a:t>
              </a:r>
              <a:endParaRPr lang="zh-CN" altLang="en-US" sz="3200" b="1" dirty="0">
                <a:solidFill>
                  <a:schemeClr val="bg1"/>
                </a:solidFill>
                <a:latin typeface="Arial" panose="020B0604020202020204" pitchFamily="34" charset="0"/>
                <a:ea typeface="微软雅黑" panose="020B0503020204020204" pitchFamily="34" charset="-122"/>
              </a:endParaRPr>
            </a:p>
          </p:txBody>
        </p:sp>
      </p:grpSp>
      <p:sp>
        <p:nvSpPr>
          <p:cNvPr id="2" name="矩形 4">
            <a:extLst>
              <a:ext uri="{FF2B5EF4-FFF2-40B4-BE49-F238E27FC236}">
                <a16:creationId xmlns:a16="http://schemas.microsoft.com/office/drawing/2014/main" id="{F5A553B5-13A3-611F-93C4-BF58628D8369}"/>
              </a:ext>
            </a:extLst>
          </p:cNvPr>
          <p:cNvSpPr/>
          <p:nvPr/>
        </p:nvSpPr>
        <p:spPr>
          <a:xfrm>
            <a:off x="0" y="0"/>
            <a:ext cx="12192000" cy="792000"/>
          </a:xfrm>
          <a:prstGeom prst="rect">
            <a:avLst/>
          </a:prstGeom>
          <a:solidFill>
            <a:schemeClr val="bg1"/>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b="1">
              <a:latin typeface="Songti SC" panose="02010600040101010101" pitchFamily="2" charset="-122"/>
              <a:ea typeface="Songti SC" panose="02010600040101010101" pitchFamily="2" charset="-122"/>
            </a:endParaRPr>
          </a:p>
        </p:txBody>
      </p:sp>
      <p:sp>
        <p:nvSpPr>
          <p:cNvPr id="4" name="矩形 3">
            <a:extLst>
              <a:ext uri="{FF2B5EF4-FFF2-40B4-BE49-F238E27FC236}">
                <a16:creationId xmlns:a16="http://schemas.microsoft.com/office/drawing/2014/main" id="{1CEB807D-D235-CF67-157A-31D7C6DDBCAE}"/>
              </a:ext>
            </a:extLst>
          </p:cNvPr>
          <p:cNvSpPr/>
          <p:nvPr/>
        </p:nvSpPr>
        <p:spPr>
          <a:xfrm>
            <a:off x="10003249" y="0"/>
            <a:ext cx="1666001" cy="79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Songti SC" panose="02010600040101010101" pitchFamily="2" charset="-122"/>
              <a:ea typeface="Songti SC" panose="02010600040101010101" pitchFamily="2" charset="-122"/>
            </a:endParaRPr>
          </a:p>
        </p:txBody>
      </p:sp>
      <p:sp>
        <p:nvSpPr>
          <p:cNvPr id="5" name="TextBox 6">
            <a:extLst>
              <a:ext uri="{FF2B5EF4-FFF2-40B4-BE49-F238E27FC236}">
                <a16:creationId xmlns:a16="http://schemas.microsoft.com/office/drawing/2014/main" id="{782DEF57-4381-B985-3A77-6CD260FC1B4F}"/>
              </a:ext>
            </a:extLst>
          </p:cNvPr>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项目背景</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6" name="TextBox 9">
            <a:extLst>
              <a:ext uri="{FF2B5EF4-FFF2-40B4-BE49-F238E27FC236}">
                <a16:creationId xmlns:a16="http://schemas.microsoft.com/office/drawing/2014/main" id="{77259C6B-2102-1895-4D22-32F3D4FDFB73}"/>
              </a:ext>
            </a:extLst>
          </p:cNvPr>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项目实</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rPr>
              <a:t>现</a:t>
            </a:r>
          </a:p>
        </p:txBody>
      </p:sp>
      <p:sp>
        <p:nvSpPr>
          <p:cNvPr id="7" name="TextBox 10">
            <a:extLst>
              <a:ext uri="{FF2B5EF4-FFF2-40B4-BE49-F238E27FC236}">
                <a16:creationId xmlns:a16="http://schemas.microsoft.com/office/drawing/2014/main" id="{E840D25F-9A0E-F03A-71B1-EA3A224894E6}"/>
              </a:ext>
            </a:extLst>
          </p:cNvPr>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a:solidFill>
                  <a:schemeClr val="tx1">
                    <a:lumMod val="65000"/>
                    <a:lumOff val="35000"/>
                  </a:schemeClr>
                </a:solidFill>
                <a:latin typeface="Arial" panose="020B0604020202020204" pitchFamily="34" charset="0"/>
                <a:ea typeface="微软雅黑" panose="020B0503020204020204" pitchFamily="34" charset="-122"/>
              </a:rPr>
              <a:t>项目测试</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8" name="TextBox 11">
            <a:extLst>
              <a:ext uri="{FF2B5EF4-FFF2-40B4-BE49-F238E27FC236}">
                <a16:creationId xmlns:a16="http://schemas.microsoft.com/office/drawing/2014/main" id="{57D790A7-EB57-9838-A0AC-94540CEA862B}"/>
              </a:ext>
            </a:extLst>
          </p:cNvPr>
          <p:cNvSpPr txBox="1"/>
          <p:nvPr/>
        </p:nvSpPr>
        <p:spPr>
          <a:xfrm>
            <a:off x="10182151" y="215903"/>
            <a:ext cx="1344000" cy="404714"/>
          </a:xfrm>
          <a:prstGeom prst="rect">
            <a:avLst/>
          </a:prstGeom>
          <a:noFill/>
        </p:spPr>
        <p:txBody>
          <a:bodyPr wrap="square" lIns="0" tIns="48000" rIns="0" bIns="48000" rtlCol="0">
            <a:spAutoFit/>
          </a:bodyPr>
          <a:lstStyle/>
          <a:p>
            <a:pPr algn="ctr"/>
            <a:r>
              <a:rPr lang="zh-CN" altLang="en-US" sz="2000" b="1">
                <a:solidFill>
                  <a:schemeClr val="bg1"/>
                </a:solidFill>
                <a:latin typeface="Arial" panose="020B0604020202020204" pitchFamily="34" charset="0"/>
                <a:ea typeface="微软雅黑" panose="020B0503020204020204" pitchFamily="34" charset="-122"/>
              </a:rPr>
              <a:t>项目总</a:t>
            </a:r>
            <a:r>
              <a:rPr lang="zh-CN" altLang="en-US" sz="2000" b="1" dirty="0">
                <a:solidFill>
                  <a:schemeClr val="bg1"/>
                </a:solidFill>
                <a:latin typeface="Arial" panose="020B0604020202020204" pitchFamily="34" charset="0"/>
                <a:ea typeface="微软雅黑" panose="020B0503020204020204" pitchFamily="34" charset="-122"/>
              </a:rPr>
              <a:t>结</a:t>
            </a:r>
          </a:p>
        </p:txBody>
      </p:sp>
      <p:cxnSp>
        <p:nvCxnSpPr>
          <p:cNvPr id="9" name="直接连接符 8">
            <a:extLst>
              <a:ext uri="{FF2B5EF4-FFF2-40B4-BE49-F238E27FC236}">
                <a16:creationId xmlns:a16="http://schemas.microsoft.com/office/drawing/2014/main" id="{C11052E4-D282-94EA-AE5B-94E0EFB214FF}"/>
              </a:ext>
            </a:extLst>
          </p:cNvPr>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BCC565FA-A8D2-A5CD-65F0-91D6BFF98CF1}"/>
              </a:ext>
            </a:extLst>
          </p:cNvPr>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DEC41EF-CA9C-975B-DCD9-6C71D191F5F2}"/>
              </a:ext>
            </a:extLst>
          </p:cNvPr>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4D5CD747-151A-6F66-830F-ADBEF922C8AE}"/>
              </a:ext>
            </a:extLst>
          </p:cNvPr>
          <p:cNvCxnSpPr/>
          <p:nvPr/>
        </p:nvCxnSpPr>
        <p:spPr>
          <a:xfrm>
            <a:off x="8337248" y="31324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C1984332-8E1C-6422-7281-69F7D6308E6B}"/>
              </a:ext>
            </a:extLst>
          </p:cNvPr>
          <p:cNvPicPr>
            <a:picLocks noChangeAspect="1"/>
          </p:cNvPicPr>
          <p:nvPr/>
        </p:nvPicPr>
        <p:blipFill rotWithShape="1">
          <a:blip r:embed="rId13"/>
          <a:srcRect t="29956" r="-277"/>
          <a:stretch>
            <a:fillRect/>
          </a:stretch>
        </p:blipFill>
        <p:spPr>
          <a:xfrm>
            <a:off x="195620" y="89117"/>
            <a:ext cx="2766644" cy="613765"/>
          </a:xfrm>
          <a:prstGeom prst="rect">
            <a:avLst/>
          </a:prstGeom>
        </p:spPr>
      </p:pic>
      <p:sp>
        <p:nvSpPr>
          <p:cNvPr id="14" name="TextBox 7">
            <a:extLst>
              <a:ext uri="{FF2B5EF4-FFF2-40B4-BE49-F238E27FC236}">
                <a16:creationId xmlns:a16="http://schemas.microsoft.com/office/drawing/2014/main" id="{46C3643D-81A5-4897-6DB2-C25072B09193}"/>
              </a:ext>
            </a:extLst>
          </p:cNvPr>
          <p:cNvSpPr txBox="1"/>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a:solidFill>
                  <a:schemeClr val="tx1">
                    <a:lumMod val="65000"/>
                    <a:lumOff val="35000"/>
                  </a:schemeClr>
                </a:solidFill>
                <a:latin typeface="Arial" panose="020B0604020202020204" pitchFamily="34" charset="0"/>
                <a:ea typeface="微软雅黑" panose="020B0503020204020204" pitchFamily="34" charset="-122"/>
                <a:sym typeface="+mn-ea"/>
              </a:rPr>
              <a:t>项目目标</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0700178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p:cTn id="11" dur="500" fill="hold"/>
                                        <p:tgtEl>
                                          <p:spTgt spid="20"/>
                                        </p:tgtEl>
                                        <p:attrNameLst>
                                          <p:attrName>ppt_w</p:attrName>
                                        </p:attrNameLst>
                                      </p:cBhvr>
                                      <p:tavLst>
                                        <p:tav tm="0">
                                          <p:val>
                                            <p:fltVal val="0"/>
                                          </p:val>
                                        </p:tav>
                                        <p:tav tm="100000">
                                          <p:val>
                                            <p:strVal val="#ppt_w"/>
                                          </p:val>
                                        </p:tav>
                                      </p:tavLst>
                                    </p:anim>
                                    <p:anim calcmode="lin" valueType="num">
                                      <p:cBhvr>
                                        <p:cTn id="12" dur="500" fill="hold"/>
                                        <p:tgtEl>
                                          <p:spTgt spid="20"/>
                                        </p:tgtEl>
                                        <p:attrNameLst>
                                          <p:attrName>ppt_h</p:attrName>
                                        </p:attrNameLst>
                                      </p:cBhvr>
                                      <p:tavLst>
                                        <p:tav tm="0">
                                          <p:val>
                                            <p:fltVal val="0"/>
                                          </p:val>
                                        </p:tav>
                                        <p:tav tm="100000">
                                          <p:val>
                                            <p:strVal val="#ppt_h"/>
                                          </p:val>
                                        </p:tav>
                                      </p:tavLst>
                                    </p:anim>
                                    <p:animEffect transition="in" filter="fade">
                                      <p:cBhvr>
                                        <p:cTn id="13" dur="500"/>
                                        <p:tgtEl>
                                          <p:spTgt spid="20"/>
                                        </p:tgtEl>
                                      </p:cBhvr>
                                    </p:animEffect>
                                  </p:childTnLst>
                                </p:cTn>
                              </p:par>
                            </p:childTnLst>
                          </p:cTn>
                        </p:par>
                        <p:par>
                          <p:cTn id="14" fill="hold">
                            <p:stCondLst>
                              <p:cond delay="1000"/>
                            </p:stCondLst>
                            <p:childTnLst>
                              <p:par>
                                <p:cTn id="15" presetID="42" presetClass="entr" presetSubtype="0" fill="hold" nodeType="after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1000"/>
                                        <p:tgtEl>
                                          <p:spTgt spid="21"/>
                                        </p:tgtEl>
                                      </p:cBhvr>
                                    </p:animEffect>
                                    <p:anim calcmode="lin" valueType="num">
                                      <p:cBhvr>
                                        <p:cTn id="18" dur="1000" fill="hold"/>
                                        <p:tgtEl>
                                          <p:spTgt spid="21"/>
                                        </p:tgtEl>
                                        <p:attrNameLst>
                                          <p:attrName>ppt_x</p:attrName>
                                        </p:attrNameLst>
                                      </p:cBhvr>
                                      <p:tavLst>
                                        <p:tav tm="0">
                                          <p:val>
                                            <p:strVal val="#ppt_x"/>
                                          </p:val>
                                        </p:tav>
                                        <p:tav tm="100000">
                                          <p:val>
                                            <p:strVal val="#ppt_x"/>
                                          </p:val>
                                        </p:tav>
                                      </p:tavLst>
                                    </p:anim>
                                    <p:anim calcmode="lin" valueType="num">
                                      <p:cBhvr>
                                        <p:cTn id="19" dur="1000" fill="hold"/>
                                        <p:tgtEl>
                                          <p:spTgt spid="21"/>
                                        </p:tgtEl>
                                        <p:attrNameLst>
                                          <p:attrName>ppt_y</p:attrName>
                                        </p:attrNameLst>
                                      </p:cBhvr>
                                      <p:tavLst>
                                        <p:tav tm="0">
                                          <p:val>
                                            <p:strVal val="#ppt_y+.1"/>
                                          </p:val>
                                        </p:tav>
                                        <p:tav tm="100000">
                                          <p:val>
                                            <p:strVal val="#ppt_y"/>
                                          </p:val>
                                        </p:tav>
                                      </p:tavLst>
                                    </p:anim>
                                  </p:childTnLst>
                                </p:cTn>
                              </p:par>
                            </p:childTnLst>
                          </p:cTn>
                        </p:par>
                        <p:par>
                          <p:cTn id="20" fill="hold">
                            <p:stCondLst>
                              <p:cond delay="2000"/>
                            </p:stCondLst>
                            <p:childTnLst>
                              <p:par>
                                <p:cTn id="21" presetID="42" presetClass="entr" presetSubtype="0" fill="hold"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1000"/>
                                        <p:tgtEl>
                                          <p:spTgt spid="31"/>
                                        </p:tgtEl>
                                      </p:cBhvr>
                                    </p:animEffect>
                                    <p:anim calcmode="lin" valueType="num">
                                      <p:cBhvr>
                                        <p:cTn id="24" dur="1000" fill="hold"/>
                                        <p:tgtEl>
                                          <p:spTgt spid="31"/>
                                        </p:tgtEl>
                                        <p:attrNameLst>
                                          <p:attrName>ppt_x</p:attrName>
                                        </p:attrNameLst>
                                      </p:cBhvr>
                                      <p:tavLst>
                                        <p:tav tm="0">
                                          <p:val>
                                            <p:strVal val="#ppt_x"/>
                                          </p:val>
                                        </p:tav>
                                        <p:tav tm="100000">
                                          <p:val>
                                            <p:strVal val="#ppt_x"/>
                                          </p:val>
                                        </p:tav>
                                      </p:tavLst>
                                    </p:anim>
                                    <p:anim calcmode="lin" valueType="num">
                                      <p:cBhvr>
                                        <p:cTn id="25" dur="1000" fill="hold"/>
                                        <p:tgtEl>
                                          <p:spTgt spid="31"/>
                                        </p:tgtEl>
                                        <p:attrNameLst>
                                          <p:attrName>ppt_y</p:attrName>
                                        </p:attrNameLst>
                                      </p:cBhvr>
                                      <p:tavLst>
                                        <p:tav tm="0">
                                          <p:val>
                                            <p:strVal val="#ppt_y+.1"/>
                                          </p:val>
                                        </p:tav>
                                        <p:tav tm="100000">
                                          <p:val>
                                            <p:strVal val="#ppt_y"/>
                                          </p:val>
                                        </p:tav>
                                      </p:tavLst>
                                    </p:anim>
                                  </p:childTnLst>
                                </p:cTn>
                              </p:par>
                            </p:childTnLst>
                          </p:cTn>
                        </p:par>
                        <p:par>
                          <p:cTn id="26" fill="hold">
                            <p:stCondLst>
                              <p:cond delay="3000"/>
                            </p:stCondLst>
                            <p:childTnLst>
                              <p:par>
                                <p:cTn id="27" presetID="42" presetClass="entr" presetSubtype="0" fill="hold" nodeType="after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fade">
                                      <p:cBhvr>
                                        <p:cTn id="29" dur="1000"/>
                                        <p:tgtEl>
                                          <p:spTgt spid="37"/>
                                        </p:tgtEl>
                                      </p:cBhvr>
                                    </p:animEffect>
                                    <p:anim calcmode="lin" valueType="num">
                                      <p:cBhvr>
                                        <p:cTn id="30" dur="1000" fill="hold"/>
                                        <p:tgtEl>
                                          <p:spTgt spid="37"/>
                                        </p:tgtEl>
                                        <p:attrNameLst>
                                          <p:attrName>ppt_x</p:attrName>
                                        </p:attrNameLst>
                                      </p:cBhvr>
                                      <p:tavLst>
                                        <p:tav tm="0">
                                          <p:val>
                                            <p:strVal val="#ppt_x"/>
                                          </p:val>
                                        </p:tav>
                                        <p:tav tm="100000">
                                          <p:val>
                                            <p:strVal val="#ppt_x"/>
                                          </p:val>
                                        </p:tav>
                                      </p:tavLst>
                                    </p:anim>
                                    <p:anim calcmode="lin" valueType="num">
                                      <p:cBhvr>
                                        <p:cTn id="31" dur="1000" fill="hold"/>
                                        <p:tgtEl>
                                          <p:spTgt spid="37"/>
                                        </p:tgtEl>
                                        <p:attrNameLst>
                                          <p:attrName>ppt_y</p:attrName>
                                        </p:attrNameLst>
                                      </p:cBhvr>
                                      <p:tavLst>
                                        <p:tav tm="0">
                                          <p:val>
                                            <p:strVal val="#ppt_y+.1"/>
                                          </p:val>
                                        </p:tav>
                                        <p:tav tm="100000">
                                          <p:val>
                                            <p:strVal val="#ppt_y"/>
                                          </p:val>
                                        </p:tav>
                                      </p:tavLst>
                                    </p:anim>
                                  </p:childTnLst>
                                </p:cTn>
                              </p:par>
                            </p:childTnLst>
                          </p:cTn>
                        </p:par>
                        <p:par>
                          <p:cTn id="32" fill="hold">
                            <p:stCondLst>
                              <p:cond delay="4000"/>
                            </p:stCondLst>
                            <p:childTnLst>
                              <p:par>
                                <p:cTn id="33" presetID="53" presetClass="entr" presetSubtype="16"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500" fill="hold"/>
                                        <p:tgtEl>
                                          <p:spTgt spid="7"/>
                                        </p:tgtEl>
                                        <p:attrNameLst>
                                          <p:attrName>ppt_w</p:attrName>
                                        </p:attrNameLst>
                                      </p:cBhvr>
                                      <p:tavLst>
                                        <p:tav tm="0">
                                          <p:val>
                                            <p:fltVal val="0"/>
                                          </p:val>
                                        </p:tav>
                                        <p:tav tm="100000">
                                          <p:val>
                                            <p:strVal val="#ppt_w"/>
                                          </p:val>
                                        </p:tav>
                                      </p:tavLst>
                                    </p:anim>
                                    <p:anim calcmode="lin" valueType="num">
                                      <p:cBhvr>
                                        <p:cTn id="36" dur="500" fill="hold"/>
                                        <p:tgtEl>
                                          <p:spTgt spid="7"/>
                                        </p:tgtEl>
                                        <p:attrNameLst>
                                          <p:attrName>ppt_h</p:attrName>
                                        </p:attrNameLst>
                                      </p:cBhvr>
                                      <p:tavLst>
                                        <p:tav tm="0">
                                          <p:val>
                                            <p:fltVal val="0"/>
                                          </p:val>
                                        </p:tav>
                                        <p:tav tm="100000">
                                          <p:val>
                                            <p:strVal val="#ppt_h"/>
                                          </p:val>
                                        </p:tav>
                                      </p:tavLst>
                                    </p:anim>
                                    <p:animEffect transition="in" filter="fade">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20" grpId="0" bldLvl="0" animBg="1"/>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 y="0"/>
            <a:ext cx="12192000" cy="468018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720" y="205089"/>
            <a:ext cx="3922388" cy="720000"/>
          </a:xfrm>
          <a:prstGeom prst="rect">
            <a:avLst/>
          </a:prstGeom>
        </p:spPr>
      </p:pic>
      <p:sp>
        <p:nvSpPr>
          <p:cNvPr id="11" name="文本框 10"/>
          <p:cNvSpPr txBox="1"/>
          <p:nvPr/>
        </p:nvSpPr>
        <p:spPr>
          <a:xfrm>
            <a:off x="1218160" y="2160677"/>
            <a:ext cx="10195089" cy="923330"/>
          </a:xfrm>
          <a:prstGeom prst="rect">
            <a:avLst/>
          </a:prstGeom>
          <a:noFill/>
        </p:spPr>
        <p:txBody>
          <a:bodyPr wrap="square" rtlCol="0">
            <a:spAutoFit/>
          </a:bodyPr>
          <a:lstStyle/>
          <a:p>
            <a:pPr algn="ctr"/>
            <a:r>
              <a:rPr lang="zh-CN" altLang="en-US" sz="5400" b="1">
                <a:solidFill>
                  <a:schemeClr val="bg1"/>
                </a:solidFill>
                <a:latin typeface="Arial" panose="020B0604020202020204" pitchFamily="34" charset="0"/>
                <a:ea typeface="微软雅黑" panose="020B0503020204020204" pitchFamily="34" charset="-122"/>
                <a:cs typeface="Times New Roman" panose="02020603050405020304" pitchFamily="18" charset="0"/>
              </a:rPr>
              <a:t>感谢聆听！</a:t>
            </a:r>
            <a:endParaRPr lang="en-US" altLang="zh-CN" sz="54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endParaRPr>
          </a:p>
        </p:txBody>
      </p:sp>
      <p:grpSp>
        <p:nvGrpSpPr>
          <p:cNvPr id="31" name="组合 30"/>
          <p:cNvGrpSpPr/>
          <p:nvPr/>
        </p:nvGrpSpPr>
        <p:grpSpPr>
          <a:xfrm>
            <a:off x="2022241" y="1339893"/>
            <a:ext cx="9041565" cy="686162"/>
            <a:chOff x="2028401" y="1339893"/>
            <a:chExt cx="8610144" cy="686162"/>
          </a:xfrm>
        </p:grpSpPr>
        <p:sp>
          <p:nvSpPr>
            <p:cNvPr id="20" name="文本框 19"/>
            <p:cNvSpPr txBox="1"/>
            <p:nvPr/>
          </p:nvSpPr>
          <p:spPr>
            <a:xfrm>
              <a:off x="2028401" y="1339893"/>
              <a:ext cx="8610144" cy="523220"/>
            </a:xfrm>
            <a:prstGeom prst="rect">
              <a:avLst/>
            </a:prstGeom>
            <a:noFill/>
          </p:spPr>
          <p:txBody>
            <a:bodyPr wrap="square">
              <a:spAutoFit/>
            </a:bodyPr>
            <a:lstStyle/>
            <a:p>
              <a:pPr algn="ctr"/>
              <a:r>
                <a:rPr lang="en-US" altLang="zh-CN" sz="2800" b="1" dirty="0">
                  <a:solidFill>
                    <a:srgbClr val="FFFFFF"/>
                  </a:solidFill>
                  <a:effectLst/>
                  <a:latin typeface="Arial" panose="020B0604020202020204" pitchFamily="34" charset="0"/>
                  <a:ea typeface="微软雅黑" panose="020B0503020204020204" pitchFamily="34" charset="-122"/>
                </a:rPr>
                <a:t>2026</a:t>
              </a:r>
              <a:r>
                <a:rPr lang="zh-CN" altLang="en-US" sz="2800" b="1" dirty="0">
                  <a:solidFill>
                    <a:srgbClr val="FFFFFF"/>
                  </a:solidFill>
                  <a:effectLst/>
                  <a:latin typeface="Arial" panose="020B0604020202020204" pitchFamily="34" charset="0"/>
                  <a:ea typeface="微软雅黑" panose="020B0503020204020204" pitchFamily="34" charset="-122"/>
                </a:rPr>
                <a:t>年全国大学生计算机系统能力大赛操作系统</a:t>
              </a:r>
              <a:r>
                <a:rPr lang="zh-CN" altLang="en-US" sz="2800" b="1">
                  <a:solidFill>
                    <a:srgbClr val="FFFFFF"/>
                  </a:solidFill>
                  <a:effectLst/>
                  <a:latin typeface="Arial" panose="020B0604020202020204" pitchFamily="34" charset="0"/>
                  <a:ea typeface="微软雅黑" panose="020B0503020204020204" pitchFamily="34" charset="-122"/>
                </a:rPr>
                <a:t>设计赛</a:t>
              </a:r>
              <a:endParaRPr lang="zh-CN" altLang="en-US" sz="2800" b="1" dirty="0">
                <a:latin typeface="Arial" panose="020B0604020202020204" pitchFamily="34" charset="0"/>
                <a:ea typeface="微软雅黑" panose="020B0503020204020204" pitchFamily="34" charset="-122"/>
                <a:cs typeface="Times New Roman" panose="02020603050405020304" pitchFamily="18" charset="0"/>
              </a:endParaRPr>
            </a:p>
          </p:txBody>
        </p:sp>
        <p:cxnSp>
          <p:nvCxnSpPr>
            <p:cNvPr id="23" name="直接连接符 22"/>
            <p:cNvCxnSpPr>
              <a:cxnSpLocks/>
            </p:cNvCxnSpPr>
            <p:nvPr/>
          </p:nvCxnSpPr>
          <p:spPr>
            <a:xfrm>
              <a:off x="2231059" y="2026055"/>
              <a:ext cx="820483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3251169" y="4877513"/>
            <a:ext cx="5793105" cy="1705532"/>
          </a:xfrm>
          <a:prstGeom prst="rect">
            <a:avLst/>
          </a:prstGeom>
          <a:noFill/>
        </p:spPr>
        <p:txBody>
          <a:bodyPr wrap="square" rtlCol="0">
            <a:spAutoFit/>
          </a:bodyPr>
          <a:lstStyle/>
          <a:p>
            <a:pPr algn="ctr" fontAlgn="auto">
              <a:lnSpc>
                <a:spcPct val="150000"/>
              </a:lnSpc>
            </a:pPr>
            <a:r>
              <a:rPr lang="zh-CN" altLang="en-US" sz="2400" b="1" dirty="0">
                <a:latin typeface="Arial" panose="020B0604020202020204" pitchFamily="34" charset="0"/>
                <a:ea typeface="微软雅黑" panose="020B0503020204020204" pitchFamily="34" charset="-122"/>
                <a:sym typeface="+mn-ea"/>
              </a:rPr>
              <a:t>队伍名称：一起去爬梧</a:t>
            </a:r>
            <a:r>
              <a:rPr lang="zh-CN" altLang="en-US" sz="2400" b="1">
                <a:latin typeface="Arial" panose="020B0604020202020204" pitchFamily="34" charset="0"/>
                <a:ea typeface="微软雅黑" panose="020B0503020204020204" pitchFamily="34" charset="-122"/>
                <a:sym typeface="+mn-ea"/>
              </a:rPr>
              <a:t>桐山</a:t>
            </a:r>
            <a:endParaRPr lang="en-US" altLang="zh-CN" sz="2400" b="1" dirty="0">
              <a:latin typeface="Arial" panose="020B0604020202020204" pitchFamily="34" charset="0"/>
              <a:ea typeface="微软雅黑" panose="020B0503020204020204" pitchFamily="34" charset="-122"/>
            </a:endParaRPr>
          </a:p>
          <a:p>
            <a:pPr algn="ctr" fontAlgn="auto">
              <a:lnSpc>
                <a:spcPct val="150000"/>
              </a:lnSpc>
            </a:pPr>
            <a:r>
              <a:rPr lang="zh-CN" altLang="en-US" sz="2400" b="1" dirty="0">
                <a:latin typeface="Arial" panose="020B0604020202020204" pitchFamily="34" charset="0"/>
                <a:ea typeface="微软雅黑" panose="020B0503020204020204" pitchFamily="34" charset="-122"/>
                <a:sym typeface="+mn-ea"/>
              </a:rPr>
              <a:t>队伍成员：苏安炫、李思甜</a:t>
            </a:r>
            <a:endParaRPr lang="en-US" altLang="zh-CN" sz="2400" b="1" dirty="0">
              <a:latin typeface="Arial" panose="020B0604020202020204" pitchFamily="34" charset="0"/>
              <a:ea typeface="微软雅黑" panose="020B0503020204020204" pitchFamily="34" charset="-122"/>
            </a:endParaRPr>
          </a:p>
          <a:p>
            <a:pPr algn="ctr" fontAlgn="auto">
              <a:lnSpc>
                <a:spcPct val="150000"/>
              </a:lnSpc>
            </a:pPr>
            <a:r>
              <a:rPr lang="zh-CN" altLang="en-US" sz="2400" b="1" dirty="0">
                <a:latin typeface="Arial" panose="020B0604020202020204" pitchFamily="34" charset="0"/>
                <a:ea typeface="微软雅黑" panose="020B0503020204020204" pitchFamily="34" charset="-122"/>
                <a:sym typeface="+mn-ea"/>
              </a:rPr>
              <a:t>指导老师：夏文、李诗逸</a:t>
            </a:r>
            <a:endParaRPr lang="en-US" altLang="zh-CN" sz="2400" b="1" dirty="0">
              <a:latin typeface="Arial" panose="020B0604020202020204" pitchFamily="34" charset="0"/>
              <a:ea typeface="微软雅黑" panose="020B0503020204020204" pitchFamily="34" charset="-122"/>
            </a:endParaRPr>
          </a:p>
        </p:txBody>
      </p:sp>
      <p:sp>
        <p:nvSpPr>
          <p:cNvPr id="3" name="文本框 2"/>
          <p:cNvSpPr txBox="1"/>
          <p:nvPr/>
        </p:nvSpPr>
        <p:spPr>
          <a:xfrm>
            <a:off x="2151350" y="3352443"/>
            <a:ext cx="7992745" cy="523220"/>
          </a:xfrm>
          <a:prstGeom prst="rect">
            <a:avLst/>
          </a:prstGeom>
          <a:noFill/>
        </p:spPr>
        <p:txBody>
          <a:bodyPr wrap="square">
            <a:spAutoFit/>
          </a:bodyPr>
          <a:lstStyle/>
          <a:p>
            <a:pPr algn="ctr"/>
            <a:r>
              <a:rPr lang="en-US" altLang="zh-CN" sz="2800" b="1">
                <a:solidFill>
                  <a:schemeClr val="bg1"/>
                </a:solidFill>
                <a:latin typeface="Arial" panose="020B0604020202020204" pitchFamily="34" charset="0"/>
                <a:ea typeface="微软雅黑" panose="020B0503020204020204" pitchFamily="34" charset="-122"/>
                <a:cs typeface="Times New Roman" panose="02020603050405020304" pitchFamily="18" charset="0"/>
              </a:rPr>
              <a:t>Proj59-</a:t>
            </a:r>
            <a:r>
              <a:rPr lang="zh-CN" altLang="en-US" sz="2800" b="1">
                <a:solidFill>
                  <a:schemeClr val="bg1"/>
                </a:solidFill>
                <a:latin typeface="Arial" panose="020B0604020202020204" pitchFamily="34" charset="0"/>
                <a:ea typeface="微软雅黑" panose="020B0503020204020204" pitchFamily="34" charset="-122"/>
                <a:cs typeface="Times New Roman" panose="02020603050405020304" pitchFamily="18" charset="0"/>
              </a:rPr>
              <a:t>内存受限环境的大语言模型推理优化</a:t>
            </a:r>
            <a:endParaRPr lang="zh-CN" altLang="en-US" sz="28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endParaRPr>
          </a:p>
        </p:txBody>
      </p:sp>
      <p:sp>
        <p:nvSpPr>
          <p:cNvPr id="2" name="矩形 1"/>
          <p:cNvSpPr/>
          <p:nvPr/>
        </p:nvSpPr>
        <p:spPr>
          <a:xfrm>
            <a:off x="10855325" y="6308090"/>
            <a:ext cx="1336675" cy="5499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advTm="4944">
        <p159:morph option="byObject"/>
      </p:transition>
    </mc:Choice>
    <mc:Fallback xmlns="">
      <p:transition advTm="4944">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2.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7.08110236220482,&quot;left&quot;:218.23385826771656,&quot;top&quot;:441.50889763779526,&quot;width&quot;:528.495590551181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7.08110236220482,&quot;left&quot;:218.23385826771656,&quot;top&quot;:441.50889763779526,&quot;width&quot;:528.495590551181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7.08110236220482,&quot;left&quot;:218.23385826771656,&quot;top&quot;:441.50889763779526,&quot;width&quot;:528.4955905511811}"/>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7.08110236220482,&quot;left&quot;:218.23385826771656,&quot;top&quot;:441.50889763779526,&quot;width&quot;:528.4955905511811}"/>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50.3028346456693,&quot;left&quot;:444.2554330708661,&quot;top&quot;:94.84858267716535,&quot;width&quot;:360.7445669291339}"/>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50.3028346456693,&quot;left&quot;:444.2554330708661,&quot;top&quot;:94.84858267716535,&quot;width&quot;:360.7445669291339}"/>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50.3028346456693,&quot;left&quot;:444.2554330708661,&quot;top&quot;:94.84858267716535,&quot;width&quot;:360.7445669291339}"/>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50.3028346456693,&quot;left&quot;:444.2554330708661,&quot;top&quot;:94.84858267716535,&quot;width&quot;:360.7445669291339}"/>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50.3028346456693,&quot;left&quot;:444.2554330708661,&quot;top&quot;:94.84858267716535,&quot;width&quot;:360.7445669291339}"/>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50.3028346456693,&quot;left&quot;:444.2554330708661,&quot;top&quot;:94.84858267716535,&quot;width&quot;:360.7445669291339}"/>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50.3028346456693,&quot;left&quot;:444.2554330708661,&quot;top&quot;:94.84858267716535,&quot;width&quot;:360.7445669291339}"/>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50.3028346456693,&quot;left&quot;:444.2554330708661,&quot;top&quot;:94.84858267716535,&quot;width&quot;:360.7445669291339}"/>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50.3028346456693,&quot;left&quot;:444.2554330708661,&quot;top&quot;:94.84858267716535,&quot;width&quot;:360.7445669291339}"/>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50.3028346456693,&quot;left&quot;:444.2554330708661,&quot;top&quot;:94.84858267716535,&quot;width&quot;:360.7445669291339}"/>
</p:tagLst>
</file>

<file path=ppt/tags/tag17.xml><?xml version="1.0" encoding="utf-8"?>
<p:tagLst xmlns:a="http://schemas.openxmlformats.org/drawingml/2006/main" xmlns:r="http://schemas.openxmlformats.org/officeDocument/2006/relationships" xmlns:p="http://schemas.openxmlformats.org/presentationml/2006/main">
  <p:tag name="TABLE_ENDDRAG_ORIGIN_RECT" val="382*277"/>
  <p:tag name="TABLE_ENDDRAG_RECT" val="50*147*382*277"/>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55.58425196850396,&quot;left&quot;:-37.664803149606314,&quot;top&quot;:131.4,&quot;width&quot;:927.1648818897636}"/>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55.58425196850396,&quot;left&quot;:-37.664803149606314,&quot;top&quot;:131.4,&quot;width&quot;:927.1648818897636}"/>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55.58425196850396,&quot;left&quot;:-37.664803149606314,&quot;top&quot;:131.4,&quot;width&quot;:927.1648818897636}"/>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55.58425196850396,&quot;left&quot;:-37.664803149606314,&quot;top&quot;:131.4,&quot;width&quot;:927.1648818897636}"/>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55.58425196850396,&quot;left&quot;:-37.664803149606314,&quot;top&quot;:131.4,&quot;width&quot;:927.1648818897636}"/>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55.58425196850396,&quot;left&quot;:-37.664803149606314,&quot;top&quot;:131.4,&quot;width&quot;:927.1648818897636}"/>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55.58425196850396,&quot;left&quot;:-37.664803149606314,&quot;top&quot;:131.4,&quot;width&quot;:927.1648818897636}"/>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55.58425196850396,&quot;left&quot;:-37.664803149606314,&quot;top&quot;:131.4,&quot;width&quot;:927.1648818897636}"/>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55.58425196850396,&quot;left&quot;:-37.664803149606314,&quot;top&quot;:131.4,&quot;width&quot;:927.1648818897636}"/>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55.58425196850396,&quot;left&quot;:-37.664803149606314,&quot;top&quot;:131.4,&quot;width&quot;:927.1648818897636}"/>
</p:tagLst>
</file>

<file path=ppt/theme/theme1.xml><?xml version="1.0" encoding="utf-8"?>
<a:theme xmlns:a="http://schemas.openxmlformats.org/drawingml/2006/main" name="Office 主题​​">
  <a:themeElements>
    <a:clrScheme name="自定义 1">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011892"/>
      </a:accent6>
      <a:hlink>
        <a:srgbClr val="6B9F25"/>
      </a:hlink>
      <a:folHlink>
        <a:srgbClr val="9F6715"/>
      </a:folHlink>
    </a:clrScheme>
    <a:fontScheme name="fon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4885</TotalTime>
  <Words>10116</Words>
  <Application>Microsoft Office PowerPoint</Application>
  <PresentationFormat>宽屏</PresentationFormat>
  <Paragraphs>560</Paragraphs>
  <Slides>36</Slides>
  <Notes>36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36</vt:i4>
      </vt:variant>
    </vt:vector>
  </HeadingPairs>
  <TitlesOfParts>
    <vt:vector size="42" baseType="lpstr">
      <vt:lpstr>Songti SC</vt:lpstr>
      <vt:lpstr>Songti SC Black</vt:lpstr>
      <vt:lpstr>Arial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答辩-19</dc:title>
  <dc:creator>LP</dc:creator>
  <cp:lastModifiedBy>白苏</cp:lastModifiedBy>
  <cp:revision>145</cp:revision>
  <dcterms:created xsi:type="dcterms:W3CDTF">2016-11-24T09:20:00Z</dcterms:created>
  <dcterms:modified xsi:type="dcterms:W3CDTF">2026-08-17T14:35:44Z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17635949CFED4E798D8EA80D3406116F_13</vt:lpwstr>
  </property>
</Properties>
</file>