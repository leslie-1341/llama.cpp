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7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18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tags/tag19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7" r:id="rId2"/>
    <p:sldId id="258" r:id="rId3"/>
    <p:sldId id="264" r:id="rId4"/>
    <p:sldId id="260" r:id="rId5"/>
    <p:sldId id="292" r:id="rId6"/>
    <p:sldId id="293" r:id="rId7"/>
    <p:sldId id="294" r:id="rId8"/>
    <p:sldId id="295" r:id="rId9"/>
    <p:sldId id="296" r:id="rId10"/>
    <p:sldId id="297" r:id="rId11"/>
    <p:sldId id="309" r:id="rId12"/>
    <p:sldId id="266" r:id="rId13"/>
    <p:sldId id="299" r:id="rId14"/>
    <p:sldId id="300" r:id="rId15"/>
    <p:sldId id="310" r:id="rId16"/>
    <p:sldId id="272" r:id="rId17"/>
    <p:sldId id="301" r:id="rId18"/>
    <p:sldId id="302" r:id="rId19"/>
    <p:sldId id="303" r:id="rId20"/>
    <p:sldId id="304" r:id="rId21"/>
    <p:sldId id="305" r:id="rId22"/>
    <p:sldId id="311" r:id="rId23"/>
    <p:sldId id="278" r:id="rId24"/>
    <p:sldId id="280" r:id="rId25"/>
    <p:sldId id="754" r:id="rId26"/>
    <p:sldId id="281" r:id="rId27"/>
    <p:sldId id="313" r:id="rId28"/>
    <p:sldId id="314" r:id="rId29"/>
    <p:sldId id="306" r:id="rId30"/>
    <p:sldId id="755" r:id="rId31"/>
    <p:sldId id="307" r:id="rId32"/>
    <p:sldId id="308" r:id="rId33"/>
    <p:sldId id="312" r:id="rId34"/>
    <p:sldId id="757" r:id="rId35"/>
    <p:sldId id="756" r:id="rId36"/>
    <p:sldId id="286" r:id="rId37"/>
    <p:sldId id="753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4263"/>
    <a:srgbClr val="3A6695"/>
    <a:srgbClr val="9CC5FD"/>
    <a:srgbClr val="1E2B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6D9F66E-5EB9-4882-86FB-DCBF35E3C3E4}" styleName="中度样式 4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12C8C85-51F0-491E-9774-3900AFEF0FD7}" styleName="浅色样式 2 - 强调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AF606853-7671-496A-8E4F-DF71F8EC918B}" styleName="深色样式 1 - 强调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深色样式 2 - 强调 5/强调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0A1B5D5-9B99-4C35-A422-299274C87663}" styleName="中度样式 1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A488322-F2BA-4B5B-9748-0D474271808F}" styleName="中度样式 3 - 强调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5" autoAdjust="0"/>
    <p:restoredTop sz="93963" autoAdjust="0"/>
  </p:normalViewPr>
  <p:slideViewPr>
    <p:cSldViewPr snapToGrid="0">
      <p:cViewPr varScale="1">
        <p:scale>
          <a:sx n="104" d="100"/>
          <a:sy n="104" d="100"/>
        </p:scale>
        <p:origin x="664" y="208"/>
      </p:cViewPr>
      <p:guideLst>
        <p:guide orient="horz" pos="221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b="1" smtClean="0">
                <a:latin typeface="Songti SC" panose="02010600040101010101" pitchFamily="2" charset="-122"/>
                <a:ea typeface="Songti SC" panose="02010600040101010101" pitchFamily="2" charset="-122"/>
              </a:rPr>
              <a:t>2026/6/30</a:t>
            </a:fld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b="1" smtClean="0">
                <a:latin typeface="Songti SC" panose="02010600040101010101" pitchFamily="2" charset="-122"/>
                <a:ea typeface="Songti SC" panose="02010600040101010101" pitchFamily="2" charset="-122"/>
              </a:rPr>
              <a:t>‹#›</a:t>
            </a:fld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E7CE4261-0CDD-45A3-84C2-311859DE5B03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5EF711DA-82CB-44C8-99EC-9CE596A896F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1" i="0" kern="1200">
        <a:solidFill>
          <a:schemeClr val="tx1"/>
        </a:solidFill>
        <a:latin typeface="Songti SC" panose="02010600040101010101" pitchFamily="2" charset="-122"/>
        <a:ea typeface="Songti SC" panose="02010600040101010101" pitchFamily="2" charset="-122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亮亮图文旗舰店</a:t>
            </a:r>
          </a:p>
          <a:p>
            <a:r>
              <a:rPr lang="en-US" altLang="zh-CN" dirty="0"/>
              <a:t>https://liangliangtuwen.tmall.com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D9667-5382-5AA7-46CE-46B023825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58EDC4-718A-FBF7-0D0B-F1AA83EDB0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D5CFBA-482A-E121-90F1-747CFC635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3C4E4-7DE8-2165-63FC-59E02D77AE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6702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A2825-5022-E0C1-39BA-6BC2AFEA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9F9086A-C23E-9224-92E1-C0CF6DAA31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0EF7224-9EFE-80A4-5047-9E23ED39A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4A4CA37-3BCC-4BB1-C30D-9F3039DEB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0270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635CE-8439-F93A-1AB4-B6B3FC3D7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2A1E29-993F-8373-56FE-0EE3B2A27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DD9770-8470-EA4C-551A-4DC28B5C5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319EBBD-E5F6-D48E-D6AE-B7CC967CA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15298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BCF1F-DFB0-BDE2-055B-53EB3908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370D092-A16E-FB08-7272-B62762105E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D7EA06-C8FB-3FBC-32D6-2D6D524D1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CC968C-883A-1EE7-55B7-77F01FD610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98164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4506-AB9F-0747-C80F-4B6DFF936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90507B6-3F7C-A887-53CF-C26C80D30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6BE6E5-A4C4-4B15-CDB0-134E2D769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210BBD-F9A1-368D-6C93-2A5E0723EF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7570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2FDD-1C95-7617-95F6-AF078E5E7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25EDDF-29FB-3A5C-C13F-B89E901EF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2985FD-0EBA-D322-C37B-052F04D0D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3445D4-FBC8-0405-7FE5-C0EC6C251D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21019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A65A-8E0D-DCF4-E3BC-BE67FA0FC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19D45A4-622F-FDF3-449F-40943AA17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316F3E-326C-849A-A69A-6BA903E94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1AF2A9B-E8C0-151D-6ECA-4B941607D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53288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7EAC4-E799-31E6-AC1C-16077A79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49EF2E-2454-81AB-CB7E-DA7CFE79C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8FDA03-24C5-1371-87FB-05AA4B0BE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C719DF0-5A16-0B93-23DE-B9537949A0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2483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57EA8-88BE-6367-A531-53FCFFEA1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8FD1E9-3C7F-22DF-E566-60B27CD1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0E2E7B-C8F5-144F-D0B4-BA31FF497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CBADB64-5D4E-33D5-90D9-441B552E97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699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BB4CA-F53D-ED13-4520-E6D8A9A78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2A63712-FD28-522D-E14A-50602774C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9903E6-15EA-C09C-61AD-1EA35B649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F211F9-3A32-72F6-72A4-569D27048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2064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EB26A-5605-47B9-8D7B-49FE0922DC13}" type="slidenum">
              <a:rPr lang="zh-CN" altLang="en-US" smtClean="0"/>
              <a:t>37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sz="2800"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sz="2000"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sz="2000"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i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audio" Target="../media/media1.mp3"/><Relationship Id="rId13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microsoft.com/office/2007/relationships/media" Target="../media/media1.mp3"/><Relationship Id="rId12" Type="http://schemas.openxmlformats.org/officeDocument/2006/relationships/image" Target="../media/image2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1.png"/><Relationship Id="rId5" Type="http://schemas.openxmlformats.org/officeDocument/2006/relationships/tags" Target="../tags/tag5.xml"/><Relationship Id="rId10" Type="http://schemas.openxmlformats.org/officeDocument/2006/relationships/notesSlide" Target="../notesSlides/notesSlide1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12" Type="http://schemas.openxmlformats.org/officeDocument/2006/relationships/notesSlide" Target="../notesSlides/notesSlide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slideLayout" Target="../slideLayouts/slideLayout7.xml"/><Relationship Id="rId5" Type="http://schemas.openxmlformats.org/officeDocument/2006/relationships/tags" Target="../tags/tag11.xml"/><Relationship Id="rId10" Type="http://schemas.openxmlformats.org/officeDocument/2006/relationships/tags" Target="../tags/tag16.xml"/><Relationship Id="rId4" Type="http://schemas.openxmlformats.org/officeDocument/2006/relationships/tags" Target="../tags/tag10.xml"/><Relationship Id="rId9" Type="http://schemas.openxmlformats.org/officeDocument/2006/relationships/tags" Target="../tags/tag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tags" Target="../tags/tag32.xml"/><Relationship Id="rId3" Type="http://schemas.openxmlformats.org/officeDocument/2006/relationships/tags" Target="../tags/tag22.xml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2" Type="http://schemas.openxmlformats.org/officeDocument/2006/relationships/tags" Target="../tags/tag21.xml"/><Relationship Id="rId16" Type="http://schemas.openxmlformats.org/officeDocument/2006/relationships/image" Target="../media/image3.png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5" Type="http://schemas.openxmlformats.org/officeDocument/2006/relationships/tags" Target="../tags/tag24.xml"/><Relationship Id="rId15" Type="http://schemas.openxmlformats.org/officeDocument/2006/relationships/notesSlide" Target="../notesSlides/notesSlide35.xml"/><Relationship Id="rId10" Type="http://schemas.openxmlformats.org/officeDocument/2006/relationships/tags" Target="../tags/tag29.xml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H_Other_8"/>
          <p:cNvPicPr/>
          <p:nvPr>
            <p:custDataLst>
              <p:tags r:id="rId1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5400000" flipH="1">
            <a:off x="6024000" y="-3032194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MH_Other_8"/>
          <p:cNvPicPr/>
          <p:nvPr>
            <p:custDataLst>
              <p:tags r:id="rId2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16200000" flipH="1" flipV="1">
            <a:off x="6024001" y="-127232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0" y="2204967"/>
            <a:ext cx="12192000" cy="286136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663499" y="2367384"/>
            <a:ext cx="8864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面向内存受限环境的</a:t>
            </a:r>
            <a:r>
              <a:rPr lang="en-US" altLang="zh-CN" sz="54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LLM</a:t>
            </a:r>
            <a:r>
              <a:rPr lang="zh-CN" altLang="en-US" sz="54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推理内存优化系统</a:t>
            </a:r>
          </a:p>
        </p:txBody>
      </p:sp>
      <p:sp>
        <p:nvSpPr>
          <p:cNvPr id="16" name="TextBox 10"/>
          <p:cNvSpPr txBox="1"/>
          <p:nvPr/>
        </p:nvSpPr>
        <p:spPr>
          <a:xfrm>
            <a:off x="2565804" y="4324947"/>
            <a:ext cx="7060388" cy="523196"/>
          </a:xfrm>
          <a:prstGeom prst="rect">
            <a:avLst/>
          </a:prstGeom>
          <a:noFill/>
        </p:spPr>
        <p:txBody>
          <a:bodyPr wrap="square" lIns="91416" tIns="45708" rIns="91416" bIns="45708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en-US" altLang="zh-CN" sz="28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Harbin Institute of Technology</a:t>
            </a:r>
          </a:p>
        </p:txBody>
      </p:sp>
      <p:sp>
        <p:nvSpPr>
          <p:cNvPr id="13" name="TextBox 6"/>
          <p:cNvSpPr txBox="1"/>
          <p:nvPr>
            <p:custDataLst>
              <p:tags r:id="rId3"/>
            </p:custDataLst>
          </p:nvPr>
        </p:nvSpPr>
        <p:spPr>
          <a:xfrm>
            <a:off x="2850004" y="5676601"/>
            <a:ext cx="3262383" cy="400085"/>
          </a:xfrm>
          <a:prstGeom prst="rect">
            <a:avLst/>
          </a:prstGeom>
          <a:noFill/>
        </p:spPr>
        <p:txBody>
          <a:bodyPr wrap="none" lIns="91416" tIns="45708" rIns="91416" bIns="45708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accent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队伍成员：苏安炫、李思甜</a:t>
            </a:r>
            <a:endParaRPr lang="zh-CN" altLang="en-US" b="1" dirty="0">
              <a:solidFill>
                <a:schemeClr val="tx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14" name="TextBox 7"/>
          <p:cNvSpPr txBox="1"/>
          <p:nvPr>
            <p:custDataLst>
              <p:tags r:id="rId4"/>
            </p:custDataLst>
          </p:nvPr>
        </p:nvSpPr>
        <p:spPr>
          <a:xfrm>
            <a:off x="6989375" y="5676601"/>
            <a:ext cx="3005904" cy="400085"/>
          </a:xfrm>
          <a:prstGeom prst="rect">
            <a:avLst/>
          </a:prstGeom>
          <a:noFill/>
        </p:spPr>
        <p:txBody>
          <a:bodyPr wrap="none" lIns="91416" tIns="45708" rIns="91416" bIns="45708" rtlCol="0">
            <a:spAutoFit/>
          </a:bodyPr>
          <a:lstStyle/>
          <a:p>
            <a:pPr algn="ctr"/>
            <a:r>
              <a:rPr lang="zh-CN" altLang="en-US" sz="2000" b="1" dirty="0">
                <a:latin typeface="Songti SC Black" panose="02010600040101010101" pitchFamily="2" charset="-122"/>
                <a:ea typeface="Songti SC Black" panose="02010600040101010101" pitchFamily="2" charset="-122"/>
              </a:rPr>
              <a:t>指导老师：夏文、李诗逸</a:t>
            </a:r>
          </a:p>
        </p:txBody>
      </p:sp>
      <p:sp>
        <p:nvSpPr>
          <p:cNvPr id="11" name="Freeform 7"/>
          <p:cNvSpPr>
            <a:spLocks noChangeAspect="1" noEditPoints="1"/>
          </p:cNvSpPr>
          <p:nvPr>
            <p:custDataLst>
              <p:tags r:id="rId5"/>
            </p:custDataLst>
          </p:nvPr>
        </p:nvSpPr>
        <p:spPr bwMode="auto">
          <a:xfrm>
            <a:off x="2306365" y="5648207"/>
            <a:ext cx="462900" cy="466244"/>
          </a:xfrm>
          <a:custGeom>
            <a:avLst/>
            <a:gdLst>
              <a:gd name="T0" fmla="*/ 661 w 904"/>
              <a:gd name="T1" fmla="*/ 461 h 905"/>
              <a:gd name="T2" fmla="*/ 661 w 904"/>
              <a:gd name="T3" fmla="*/ 339 h 905"/>
              <a:gd name="T4" fmla="*/ 605 w 904"/>
              <a:gd name="T5" fmla="*/ 339 h 905"/>
              <a:gd name="T6" fmla="*/ 605 w 904"/>
              <a:gd name="T7" fmla="*/ 461 h 905"/>
              <a:gd name="T8" fmla="*/ 456 w 904"/>
              <a:gd name="T9" fmla="*/ 610 h 905"/>
              <a:gd name="T10" fmla="*/ 453 w 904"/>
              <a:gd name="T11" fmla="*/ 610 h 905"/>
              <a:gd name="T12" fmla="*/ 452 w 904"/>
              <a:gd name="T13" fmla="*/ 610 h 905"/>
              <a:gd name="T14" fmla="*/ 451 w 904"/>
              <a:gd name="T15" fmla="*/ 610 h 905"/>
              <a:gd name="T16" fmla="*/ 448 w 904"/>
              <a:gd name="T17" fmla="*/ 610 h 905"/>
              <a:gd name="T18" fmla="*/ 299 w 904"/>
              <a:gd name="T19" fmla="*/ 461 h 905"/>
              <a:gd name="T20" fmla="*/ 299 w 904"/>
              <a:gd name="T21" fmla="*/ 339 h 905"/>
              <a:gd name="T22" fmla="*/ 244 w 904"/>
              <a:gd name="T23" fmla="*/ 339 h 905"/>
              <a:gd name="T24" fmla="*/ 244 w 904"/>
              <a:gd name="T25" fmla="*/ 461 h 905"/>
              <a:gd name="T26" fmla="*/ 419 w 904"/>
              <a:gd name="T27" fmla="*/ 664 h 905"/>
              <a:gd name="T28" fmla="*/ 419 w 904"/>
              <a:gd name="T29" fmla="*/ 752 h 905"/>
              <a:gd name="T30" fmla="*/ 295 w 904"/>
              <a:gd name="T31" fmla="*/ 787 h 905"/>
              <a:gd name="T32" fmla="*/ 610 w 904"/>
              <a:gd name="T33" fmla="*/ 787 h 905"/>
              <a:gd name="T34" fmla="*/ 484 w 904"/>
              <a:gd name="T35" fmla="*/ 751 h 905"/>
              <a:gd name="T36" fmla="*/ 484 w 904"/>
              <a:gd name="T37" fmla="*/ 664 h 905"/>
              <a:gd name="T38" fmla="*/ 661 w 904"/>
              <a:gd name="T39" fmla="*/ 461 h 905"/>
              <a:gd name="T40" fmla="*/ 450 w 904"/>
              <a:gd name="T41" fmla="*/ 558 h 905"/>
              <a:gd name="T42" fmla="*/ 452 w 904"/>
              <a:gd name="T43" fmla="*/ 558 h 905"/>
              <a:gd name="T44" fmla="*/ 454 w 904"/>
              <a:gd name="T45" fmla="*/ 558 h 905"/>
              <a:gd name="T46" fmla="*/ 554 w 904"/>
              <a:gd name="T47" fmla="*/ 459 h 905"/>
              <a:gd name="T48" fmla="*/ 554 w 904"/>
              <a:gd name="T49" fmla="*/ 218 h 905"/>
              <a:gd name="T50" fmla="*/ 454 w 904"/>
              <a:gd name="T51" fmla="*/ 118 h 905"/>
              <a:gd name="T52" fmla="*/ 452 w 904"/>
              <a:gd name="T53" fmla="*/ 118 h 905"/>
              <a:gd name="T54" fmla="*/ 450 w 904"/>
              <a:gd name="T55" fmla="*/ 118 h 905"/>
              <a:gd name="T56" fmla="*/ 351 w 904"/>
              <a:gd name="T57" fmla="*/ 218 h 905"/>
              <a:gd name="T58" fmla="*/ 351 w 904"/>
              <a:gd name="T59" fmla="*/ 459 h 905"/>
              <a:gd name="T60" fmla="*/ 450 w 904"/>
              <a:gd name="T61" fmla="*/ 558 h 905"/>
              <a:gd name="T62" fmla="*/ 452 w 904"/>
              <a:gd name="T63" fmla="*/ 0 h 905"/>
              <a:gd name="T64" fmla="*/ 904 w 904"/>
              <a:gd name="T65" fmla="*/ 453 h 905"/>
              <a:gd name="T66" fmla="*/ 452 w 904"/>
              <a:gd name="T67" fmla="*/ 905 h 905"/>
              <a:gd name="T68" fmla="*/ 0 w 904"/>
              <a:gd name="T69" fmla="*/ 453 h 905"/>
              <a:gd name="T70" fmla="*/ 452 w 904"/>
              <a:gd name="T71" fmla="*/ 0 h 9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904" h="905">
                <a:moveTo>
                  <a:pt x="661" y="461"/>
                </a:moveTo>
                <a:lnTo>
                  <a:pt x="661" y="339"/>
                </a:lnTo>
                <a:cubicBezTo>
                  <a:pt x="661" y="304"/>
                  <a:pt x="605" y="304"/>
                  <a:pt x="605" y="339"/>
                </a:cubicBezTo>
                <a:lnTo>
                  <a:pt x="605" y="461"/>
                </a:lnTo>
                <a:cubicBezTo>
                  <a:pt x="605" y="543"/>
                  <a:pt x="538" y="610"/>
                  <a:pt x="456" y="610"/>
                </a:cubicBezTo>
                <a:cubicBezTo>
                  <a:pt x="455" y="610"/>
                  <a:pt x="454" y="610"/>
                  <a:pt x="453" y="610"/>
                </a:cubicBezTo>
                <a:lnTo>
                  <a:pt x="452" y="610"/>
                </a:lnTo>
                <a:lnTo>
                  <a:pt x="451" y="610"/>
                </a:lnTo>
                <a:cubicBezTo>
                  <a:pt x="450" y="610"/>
                  <a:pt x="449" y="610"/>
                  <a:pt x="448" y="610"/>
                </a:cubicBezTo>
                <a:cubicBezTo>
                  <a:pt x="366" y="610"/>
                  <a:pt x="299" y="543"/>
                  <a:pt x="299" y="461"/>
                </a:cubicBezTo>
                <a:lnTo>
                  <a:pt x="299" y="339"/>
                </a:lnTo>
                <a:cubicBezTo>
                  <a:pt x="299" y="304"/>
                  <a:pt x="244" y="304"/>
                  <a:pt x="244" y="339"/>
                </a:cubicBezTo>
                <a:cubicBezTo>
                  <a:pt x="244" y="355"/>
                  <a:pt x="244" y="461"/>
                  <a:pt x="244" y="461"/>
                </a:cubicBezTo>
                <a:cubicBezTo>
                  <a:pt x="244" y="564"/>
                  <a:pt x="320" y="650"/>
                  <a:pt x="419" y="664"/>
                </a:cubicBezTo>
                <a:lnTo>
                  <a:pt x="419" y="752"/>
                </a:lnTo>
                <a:lnTo>
                  <a:pt x="295" y="787"/>
                </a:lnTo>
                <a:lnTo>
                  <a:pt x="610" y="787"/>
                </a:lnTo>
                <a:lnTo>
                  <a:pt x="484" y="751"/>
                </a:lnTo>
                <a:lnTo>
                  <a:pt x="484" y="664"/>
                </a:lnTo>
                <a:cubicBezTo>
                  <a:pt x="584" y="650"/>
                  <a:pt x="661" y="564"/>
                  <a:pt x="661" y="461"/>
                </a:cubicBezTo>
                <a:close/>
                <a:moveTo>
                  <a:pt x="450" y="558"/>
                </a:moveTo>
                <a:cubicBezTo>
                  <a:pt x="451" y="558"/>
                  <a:pt x="451" y="558"/>
                  <a:pt x="452" y="558"/>
                </a:cubicBezTo>
                <a:cubicBezTo>
                  <a:pt x="453" y="558"/>
                  <a:pt x="453" y="558"/>
                  <a:pt x="454" y="558"/>
                </a:cubicBezTo>
                <a:cubicBezTo>
                  <a:pt x="509" y="558"/>
                  <a:pt x="554" y="514"/>
                  <a:pt x="554" y="459"/>
                </a:cubicBezTo>
                <a:lnTo>
                  <a:pt x="554" y="218"/>
                </a:lnTo>
                <a:cubicBezTo>
                  <a:pt x="554" y="163"/>
                  <a:pt x="509" y="118"/>
                  <a:pt x="454" y="118"/>
                </a:cubicBezTo>
                <a:cubicBezTo>
                  <a:pt x="453" y="118"/>
                  <a:pt x="453" y="118"/>
                  <a:pt x="452" y="118"/>
                </a:cubicBezTo>
                <a:cubicBezTo>
                  <a:pt x="452" y="118"/>
                  <a:pt x="451" y="118"/>
                  <a:pt x="450" y="118"/>
                </a:cubicBezTo>
                <a:cubicBezTo>
                  <a:pt x="395" y="118"/>
                  <a:pt x="351" y="163"/>
                  <a:pt x="351" y="218"/>
                </a:cubicBezTo>
                <a:lnTo>
                  <a:pt x="351" y="459"/>
                </a:lnTo>
                <a:cubicBezTo>
                  <a:pt x="351" y="514"/>
                  <a:pt x="395" y="558"/>
                  <a:pt x="450" y="558"/>
                </a:cubicBezTo>
                <a:close/>
                <a:moveTo>
                  <a:pt x="452" y="0"/>
                </a:moveTo>
                <a:cubicBezTo>
                  <a:pt x="702" y="0"/>
                  <a:pt x="904" y="203"/>
                  <a:pt x="904" y="453"/>
                </a:cubicBezTo>
                <a:cubicBezTo>
                  <a:pt x="904" y="702"/>
                  <a:pt x="702" y="905"/>
                  <a:pt x="452" y="905"/>
                </a:cubicBezTo>
                <a:cubicBezTo>
                  <a:pt x="202" y="905"/>
                  <a:pt x="0" y="702"/>
                  <a:pt x="0" y="453"/>
                </a:cubicBezTo>
                <a:cubicBezTo>
                  <a:pt x="0" y="203"/>
                  <a:pt x="202" y="0"/>
                  <a:pt x="45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16" tIns="45708" rIns="91416" bIns="45708" numCol="1" anchor="t" anchorCtr="0" compatLnSpc="1"/>
          <a:lstStyle/>
          <a:p>
            <a:endParaRPr lang="zh-CN" altLang="en-US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12" name="Freeform 8"/>
          <p:cNvSpPr>
            <a:spLocks noChangeAspect="1" noEditPoints="1"/>
          </p:cNvSpPr>
          <p:nvPr>
            <p:custDataLst>
              <p:tags r:id="rId6"/>
            </p:custDataLst>
          </p:nvPr>
        </p:nvSpPr>
        <p:spPr bwMode="auto">
          <a:xfrm>
            <a:off x="6377352" y="5643521"/>
            <a:ext cx="464288" cy="466246"/>
          </a:xfrm>
          <a:custGeom>
            <a:avLst/>
            <a:gdLst>
              <a:gd name="T0" fmla="*/ 422 w 422"/>
              <a:gd name="T1" fmla="*/ 211 h 422"/>
              <a:gd name="T2" fmla="*/ 0 w 422"/>
              <a:gd name="T3" fmla="*/ 211 h 422"/>
              <a:gd name="T4" fmla="*/ 340 w 422"/>
              <a:gd name="T5" fmla="*/ 117 h 422"/>
              <a:gd name="T6" fmla="*/ 345 w 422"/>
              <a:gd name="T7" fmla="*/ 123 h 422"/>
              <a:gd name="T8" fmla="*/ 344 w 422"/>
              <a:gd name="T9" fmla="*/ 226 h 422"/>
              <a:gd name="T10" fmla="*/ 340 w 422"/>
              <a:gd name="T11" fmla="*/ 227 h 422"/>
              <a:gd name="T12" fmla="*/ 217 w 422"/>
              <a:gd name="T13" fmla="*/ 226 h 422"/>
              <a:gd name="T14" fmla="*/ 215 w 422"/>
              <a:gd name="T15" fmla="*/ 222 h 422"/>
              <a:gd name="T16" fmla="*/ 286 w 422"/>
              <a:gd name="T17" fmla="*/ 164 h 422"/>
              <a:gd name="T18" fmla="*/ 215 w 422"/>
              <a:gd name="T19" fmla="*/ 171 h 422"/>
              <a:gd name="T20" fmla="*/ 217 w 422"/>
              <a:gd name="T21" fmla="*/ 119 h 422"/>
              <a:gd name="T22" fmla="*/ 220 w 422"/>
              <a:gd name="T23" fmla="*/ 117 h 422"/>
              <a:gd name="T24" fmla="*/ 220 w 422"/>
              <a:gd name="T25" fmla="*/ 96 h 422"/>
              <a:gd name="T26" fmla="*/ 202 w 422"/>
              <a:gd name="T27" fmla="*/ 104 h 422"/>
              <a:gd name="T28" fmla="*/ 194 w 422"/>
              <a:gd name="T29" fmla="*/ 174 h 422"/>
              <a:gd name="T30" fmla="*/ 186 w 422"/>
              <a:gd name="T31" fmla="*/ 166 h 422"/>
              <a:gd name="T32" fmla="*/ 137 w 422"/>
              <a:gd name="T33" fmla="*/ 151 h 422"/>
              <a:gd name="T34" fmla="*/ 54 w 422"/>
              <a:gd name="T35" fmla="*/ 173 h 422"/>
              <a:gd name="T36" fmla="*/ 77 w 422"/>
              <a:gd name="T37" fmla="*/ 243 h 422"/>
              <a:gd name="T38" fmla="*/ 81 w 422"/>
              <a:gd name="T39" fmla="*/ 192 h 422"/>
              <a:gd name="T40" fmla="*/ 81 w 422"/>
              <a:gd name="T41" fmla="*/ 256 h 422"/>
              <a:gd name="T42" fmla="*/ 106 w 422"/>
              <a:gd name="T43" fmla="*/ 350 h 422"/>
              <a:gd name="T44" fmla="*/ 112 w 422"/>
              <a:gd name="T45" fmla="*/ 272 h 422"/>
              <a:gd name="T46" fmla="*/ 137 w 422"/>
              <a:gd name="T47" fmla="*/ 350 h 422"/>
              <a:gd name="T48" fmla="*/ 137 w 422"/>
              <a:gd name="T49" fmla="*/ 256 h 422"/>
              <a:gd name="T50" fmla="*/ 137 w 422"/>
              <a:gd name="T51" fmla="*/ 192 h 422"/>
              <a:gd name="T52" fmla="*/ 162 w 422"/>
              <a:gd name="T53" fmla="*/ 192 h 422"/>
              <a:gd name="T54" fmla="*/ 186 w 422"/>
              <a:gd name="T55" fmla="*/ 185 h 422"/>
              <a:gd name="T56" fmla="*/ 194 w 422"/>
              <a:gd name="T57" fmla="*/ 222 h 422"/>
              <a:gd name="T58" fmla="*/ 202 w 422"/>
              <a:gd name="T59" fmla="*/ 240 h 422"/>
              <a:gd name="T60" fmla="*/ 220 w 422"/>
              <a:gd name="T61" fmla="*/ 248 h 422"/>
              <a:gd name="T62" fmla="*/ 359 w 422"/>
              <a:gd name="T63" fmla="*/ 240 h 422"/>
              <a:gd name="T64" fmla="*/ 366 w 422"/>
              <a:gd name="T65" fmla="*/ 222 h 422"/>
              <a:gd name="T66" fmla="*/ 359 w 422"/>
              <a:gd name="T67" fmla="*/ 104 h 422"/>
              <a:gd name="T68" fmla="*/ 220 w 422"/>
              <a:gd name="T69" fmla="*/ 96 h 422"/>
              <a:gd name="T70" fmla="*/ 344 w 422"/>
              <a:gd name="T71" fmla="*/ 277 h 422"/>
              <a:gd name="T72" fmla="*/ 346 w 422"/>
              <a:gd name="T73" fmla="*/ 351 h 422"/>
              <a:gd name="T74" fmla="*/ 298 w 422"/>
              <a:gd name="T75" fmla="*/ 277 h 422"/>
              <a:gd name="T76" fmla="*/ 250 w 422"/>
              <a:gd name="T77" fmla="*/ 351 h 422"/>
              <a:gd name="T78" fmla="*/ 244 w 422"/>
              <a:gd name="T79" fmla="*/ 277 h 422"/>
              <a:gd name="T80" fmla="*/ 221 w 422"/>
              <a:gd name="T81" fmla="*/ 254 h 422"/>
              <a:gd name="T82" fmla="*/ 109 w 422"/>
              <a:gd name="T83" fmla="*/ 75 h 422"/>
              <a:gd name="T84" fmla="*/ 109 w 422"/>
              <a:gd name="T85" fmla="*/ 146 h 422"/>
              <a:gd name="T86" fmla="*/ 109 w 422"/>
              <a:gd name="T87" fmla="*/ 75 h 42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422" h="422">
                <a:moveTo>
                  <a:pt x="211" y="0"/>
                </a:moveTo>
                <a:cubicBezTo>
                  <a:pt x="327" y="0"/>
                  <a:pt x="422" y="94"/>
                  <a:pt x="422" y="211"/>
                </a:cubicBezTo>
                <a:cubicBezTo>
                  <a:pt x="422" y="327"/>
                  <a:pt x="327" y="422"/>
                  <a:pt x="211" y="422"/>
                </a:cubicBezTo>
                <a:cubicBezTo>
                  <a:pt x="94" y="422"/>
                  <a:pt x="0" y="327"/>
                  <a:pt x="0" y="211"/>
                </a:cubicBezTo>
                <a:cubicBezTo>
                  <a:pt x="0" y="94"/>
                  <a:pt x="94" y="0"/>
                  <a:pt x="211" y="0"/>
                </a:cubicBezTo>
                <a:close/>
                <a:moveTo>
                  <a:pt x="340" y="117"/>
                </a:moveTo>
                <a:cubicBezTo>
                  <a:pt x="341" y="117"/>
                  <a:pt x="343" y="118"/>
                  <a:pt x="344" y="119"/>
                </a:cubicBezTo>
                <a:cubicBezTo>
                  <a:pt x="345" y="120"/>
                  <a:pt x="345" y="121"/>
                  <a:pt x="345" y="123"/>
                </a:cubicBezTo>
                <a:lnTo>
                  <a:pt x="345" y="222"/>
                </a:lnTo>
                <a:cubicBezTo>
                  <a:pt x="345" y="223"/>
                  <a:pt x="345" y="225"/>
                  <a:pt x="344" y="226"/>
                </a:cubicBezTo>
                <a:lnTo>
                  <a:pt x="344" y="226"/>
                </a:lnTo>
                <a:cubicBezTo>
                  <a:pt x="343" y="227"/>
                  <a:pt x="341" y="227"/>
                  <a:pt x="340" y="227"/>
                </a:cubicBezTo>
                <a:lnTo>
                  <a:pt x="220" y="227"/>
                </a:lnTo>
                <a:cubicBezTo>
                  <a:pt x="219" y="227"/>
                  <a:pt x="218" y="227"/>
                  <a:pt x="217" y="226"/>
                </a:cubicBezTo>
                <a:lnTo>
                  <a:pt x="217" y="226"/>
                </a:lnTo>
                <a:cubicBezTo>
                  <a:pt x="216" y="225"/>
                  <a:pt x="215" y="223"/>
                  <a:pt x="215" y="222"/>
                </a:cubicBezTo>
                <a:lnTo>
                  <a:pt x="215" y="179"/>
                </a:lnTo>
                <a:lnTo>
                  <a:pt x="286" y="164"/>
                </a:lnTo>
                <a:lnTo>
                  <a:pt x="286" y="162"/>
                </a:lnTo>
                <a:lnTo>
                  <a:pt x="215" y="171"/>
                </a:lnTo>
                <a:lnTo>
                  <a:pt x="215" y="123"/>
                </a:lnTo>
                <a:cubicBezTo>
                  <a:pt x="215" y="121"/>
                  <a:pt x="216" y="120"/>
                  <a:pt x="217" y="119"/>
                </a:cubicBezTo>
                <a:lnTo>
                  <a:pt x="217" y="119"/>
                </a:lnTo>
                <a:cubicBezTo>
                  <a:pt x="218" y="118"/>
                  <a:pt x="219" y="117"/>
                  <a:pt x="220" y="117"/>
                </a:cubicBezTo>
                <a:lnTo>
                  <a:pt x="340" y="117"/>
                </a:lnTo>
                <a:close/>
                <a:moveTo>
                  <a:pt x="220" y="96"/>
                </a:moveTo>
                <a:cubicBezTo>
                  <a:pt x="213" y="96"/>
                  <a:pt x="206" y="99"/>
                  <a:pt x="202" y="104"/>
                </a:cubicBezTo>
                <a:lnTo>
                  <a:pt x="202" y="104"/>
                </a:lnTo>
                <a:cubicBezTo>
                  <a:pt x="197" y="109"/>
                  <a:pt x="194" y="115"/>
                  <a:pt x="194" y="123"/>
                </a:cubicBezTo>
                <a:lnTo>
                  <a:pt x="194" y="174"/>
                </a:lnTo>
                <a:lnTo>
                  <a:pt x="186" y="175"/>
                </a:lnTo>
                <a:lnTo>
                  <a:pt x="186" y="166"/>
                </a:lnTo>
                <a:lnTo>
                  <a:pt x="162" y="166"/>
                </a:lnTo>
                <a:lnTo>
                  <a:pt x="137" y="151"/>
                </a:lnTo>
                <a:lnTo>
                  <a:pt x="77" y="151"/>
                </a:lnTo>
                <a:cubicBezTo>
                  <a:pt x="64" y="151"/>
                  <a:pt x="54" y="161"/>
                  <a:pt x="54" y="173"/>
                </a:cubicBezTo>
                <a:lnTo>
                  <a:pt x="54" y="243"/>
                </a:lnTo>
                <a:lnTo>
                  <a:pt x="77" y="243"/>
                </a:lnTo>
                <a:lnTo>
                  <a:pt x="77" y="192"/>
                </a:lnTo>
                <a:lnTo>
                  <a:pt x="81" y="192"/>
                </a:lnTo>
                <a:lnTo>
                  <a:pt x="81" y="243"/>
                </a:lnTo>
                <a:lnTo>
                  <a:pt x="81" y="256"/>
                </a:lnTo>
                <a:lnTo>
                  <a:pt x="81" y="350"/>
                </a:lnTo>
                <a:lnTo>
                  <a:pt x="106" y="350"/>
                </a:lnTo>
                <a:lnTo>
                  <a:pt x="106" y="272"/>
                </a:lnTo>
                <a:lnTo>
                  <a:pt x="112" y="272"/>
                </a:lnTo>
                <a:lnTo>
                  <a:pt x="112" y="350"/>
                </a:lnTo>
                <a:lnTo>
                  <a:pt x="137" y="350"/>
                </a:lnTo>
                <a:lnTo>
                  <a:pt x="137" y="336"/>
                </a:lnTo>
                <a:lnTo>
                  <a:pt x="137" y="256"/>
                </a:lnTo>
                <a:lnTo>
                  <a:pt x="137" y="243"/>
                </a:lnTo>
                <a:lnTo>
                  <a:pt x="137" y="192"/>
                </a:lnTo>
                <a:lnTo>
                  <a:pt x="137" y="177"/>
                </a:lnTo>
                <a:lnTo>
                  <a:pt x="162" y="192"/>
                </a:lnTo>
                <a:lnTo>
                  <a:pt x="186" y="192"/>
                </a:lnTo>
                <a:lnTo>
                  <a:pt x="186" y="185"/>
                </a:lnTo>
                <a:lnTo>
                  <a:pt x="194" y="184"/>
                </a:lnTo>
                <a:lnTo>
                  <a:pt x="194" y="222"/>
                </a:lnTo>
                <a:cubicBezTo>
                  <a:pt x="194" y="229"/>
                  <a:pt x="197" y="236"/>
                  <a:pt x="202" y="240"/>
                </a:cubicBezTo>
                <a:lnTo>
                  <a:pt x="202" y="240"/>
                </a:lnTo>
                <a:lnTo>
                  <a:pt x="202" y="241"/>
                </a:lnTo>
                <a:cubicBezTo>
                  <a:pt x="207" y="245"/>
                  <a:pt x="213" y="248"/>
                  <a:pt x="220" y="248"/>
                </a:cubicBezTo>
                <a:lnTo>
                  <a:pt x="340" y="248"/>
                </a:lnTo>
                <a:cubicBezTo>
                  <a:pt x="347" y="248"/>
                  <a:pt x="354" y="245"/>
                  <a:pt x="359" y="240"/>
                </a:cubicBezTo>
                <a:lnTo>
                  <a:pt x="359" y="241"/>
                </a:lnTo>
                <a:cubicBezTo>
                  <a:pt x="363" y="236"/>
                  <a:pt x="366" y="229"/>
                  <a:pt x="366" y="222"/>
                </a:cubicBezTo>
                <a:lnTo>
                  <a:pt x="366" y="123"/>
                </a:lnTo>
                <a:cubicBezTo>
                  <a:pt x="366" y="115"/>
                  <a:pt x="363" y="109"/>
                  <a:pt x="359" y="104"/>
                </a:cubicBezTo>
                <a:cubicBezTo>
                  <a:pt x="354" y="99"/>
                  <a:pt x="347" y="96"/>
                  <a:pt x="340" y="96"/>
                </a:cubicBezTo>
                <a:lnTo>
                  <a:pt x="220" y="96"/>
                </a:lnTo>
                <a:close/>
                <a:moveTo>
                  <a:pt x="344" y="254"/>
                </a:moveTo>
                <a:lnTo>
                  <a:pt x="344" y="277"/>
                </a:lnTo>
                <a:lnTo>
                  <a:pt x="325" y="277"/>
                </a:lnTo>
                <a:lnTo>
                  <a:pt x="346" y="351"/>
                </a:lnTo>
                <a:lnTo>
                  <a:pt x="319" y="351"/>
                </a:lnTo>
                <a:lnTo>
                  <a:pt x="298" y="277"/>
                </a:lnTo>
                <a:lnTo>
                  <a:pt x="271" y="277"/>
                </a:lnTo>
                <a:lnTo>
                  <a:pt x="250" y="351"/>
                </a:lnTo>
                <a:lnTo>
                  <a:pt x="223" y="351"/>
                </a:lnTo>
                <a:lnTo>
                  <a:pt x="244" y="277"/>
                </a:lnTo>
                <a:lnTo>
                  <a:pt x="221" y="277"/>
                </a:lnTo>
                <a:lnTo>
                  <a:pt x="221" y="254"/>
                </a:lnTo>
                <a:lnTo>
                  <a:pt x="344" y="254"/>
                </a:lnTo>
                <a:close/>
                <a:moveTo>
                  <a:pt x="109" y="75"/>
                </a:moveTo>
                <a:cubicBezTo>
                  <a:pt x="129" y="75"/>
                  <a:pt x="145" y="91"/>
                  <a:pt x="145" y="111"/>
                </a:cubicBezTo>
                <a:cubicBezTo>
                  <a:pt x="145" y="130"/>
                  <a:pt x="129" y="146"/>
                  <a:pt x="109" y="146"/>
                </a:cubicBezTo>
                <a:cubicBezTo>
                  <a:pt x="90" y="146"/>
                  <a:pt x="74" y="130"/>
                  <a:pt x="74" y="111"/>
                </a:cubicBezTo>
                <a:cubicBezTo>
                  <a:pt x="74" y="91"/>
                  <a:pt x="90" y="75"/>
                  <a:pt x="109" y="75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16" tIns="45708" rIns="91416" bIns="45708" numCol="1" anchor="t" anchorCtr="0" compatLnSpc="1"/>
          <a:lstStyle/>
          <a:p>
            <a:endParaRPr lang="zh-CN" altLang="en-US" sz="2800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pic>
        <p:nvPicPr>
          <p:cNvPr id="4" name="Florian Bur - The Way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2" cstate="print"/>
          <a:stretch>
            <a:fillRect/>
          </a:stretch>
        </p:blipFill>
        <p:spPr>
          <a:xfrm>
            <a:off x="-609600" y="6311900"/>
            <a:ext cx="406400" cy="4064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F4D3DCC3-0570-14DA-A297-B5849753B1AC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t="29956" r="-277"/>
          <a:stretch>
            <a:fillRect/>
          </a:stretch>
        </p:blipFill>
        <p:spPr>
          <a:xfrm>
            <a:off x="3330718" y="553354"/>
            <a:ext cx="5288915" cy="11733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8" decel="533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decel="533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0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400"/>
                            </p:stCondLst>
                            <p:childTnLst>
                              <p:par>
                                <p:cTn id="27" presetID="8" presetClass="entr" presetSubtype="3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out)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30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8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3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98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100000" numSld="100">
                <p:cTn id="50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  <p:bldLst>
      <p:bldP spid="8" grpId="0" animBg="1"/>
      <p:bldP spid="15" grpId="0"/>
      <p:bldP spid="16" grpId="0"/>
      <p:bldP spid="13" grpId="0"/>
      <p:bldP spid="14" grpId="0"/>
      <p:bldP spid="11" grpId="0" bldLvl="0" animBg="1"/>
      <p:bldP spid="12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圆角矩形 16"/>
          <p:cNvSpPr/>
          <p:nvPr/>
        </p:nvSpPr>
        <p:spPr>
          <a:xfrm>
            <a:off x="-1791046" y="1892300"/>
            <a:ext cx="5651845" cy="307340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" name="圆角矩形 1"/>
          <p:cNvSpPr/>
          <p:nvPr/>
        </p:nvSpPr>
        <p:spPr>
          <a:xfrm>
            <a:off x="-1556426" y="1998319"/>
            <a:ext cx="5261917" cy="2861362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5" name="圆角矩形 4"/>
          <p:cNvSpPr/>
          <p:nvPr>
            <p:custDataLst>
              <p:tags r:id="rId1"/>
            </p:custDataLst>
          </p:nvPr>
        </p:nvSpPr>
        <p:spPr>
          <a:xfrm>
            <a:off x="5398976" y="1421175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01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6" name="圆角矩形 5"/>
          <p:cNvSpPr/>
          <p:nvPr>
            <p:custDataLst>
              <p:tags r:id="rId2"/>
            </p:custDataLst>
          </p:nvPr>
        </p:nvSpPr>
        <p:spPr>
          <a:xfrm>
            <a:off x="5398976" y="2389100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02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7" name="圆角矩形 6"/>
          <p:cNvSpPr/>
          <p:nvPr>
            <p:custDataLst>
              <p:tags r:id="rId3"/>
            </p:custDataLst>
          </p:nvPr>
        </p:nvSpPr>
        <p:spPr>
          <a:xfrm>
            <a:off x="5398976" y="3357025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03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8" name="圆角矩形 7"/>
          <p:cNvSpPr/>
          <p:nvPr>
            <p:custDataLst>
              <p:tags r:id="rId4"/>
            </p:custDataLst>
          </p:nvPr>
        </p:nvSpPr>
        <p:spPr>
          <a:xfrm>
            <a:off x="5398976" y="4324950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04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9" name="圆角矩形 8"/>
          <p:cNvSpPr/>
          <p:nvPr>
            <p:custDataLst>
              <p:tags r:id="rId5"/>
            </p:custDataLst>
          </p:nvPr>
        </p:nvSpPr>
        <p:spPr>
          <a:xfrm>
            <a:off x="5398976" y="5292877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05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59" name="圆角矩形 58"/>
          <p:cNvSpPr/>
          <p:nvPr>
            <p:custDataLst>
              <p:tags r:id="rId6"/>
            </p:custDataLst>
          </p:nvPr>
        </p:nvSpPr>
        <p:spPr>
          <a:xfrm>
            <a:off x="6503876" y="1421175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项目介绍</a:t>
            </a:r>
          </a:p>
        </p:txBody>
      </p:sp>
      <p:sp>
        <p:nvSpPr>
          <p:cNvPr id="60" name="圆角矩形 59"/>
          <p:cNvSpPr/>
          <p:nvPr>
            <p:custDataLst>
              <p:tags r:id="rId7"/>
            </p:custDataLst>
          </p:nvPr>
        </p:nvSpPr>
        <p:spPr>
          <a:xfrm>
            <a:off x="6503876" y="2389100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系统架构</a:t>
            </a:r>
          </a:p>
        </p:txBody>
      </p:sp>
      <p:sp>
        <p:nvSpPr>
          <p:cNvPr id="61" name="圆角矩形 60"/>
          <p:cNvSpPr/>
          <p:nvPr>
            <p:custDataLst>
              <p:tags r:id="rId8"/>
            </p:custDataLst>
          </p:nvPr>
        </p:nvSpPr>
        <p:spPr>
          <a:xfrm>
            <a:off x="6503876" y="3357025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模块设计实现</a:t>
            </a:r>
          </a:p>
        </p:txBody>
      </p:sp>
      <p:sp>
        <p:nvSpPr>
          <p:cNvPr id="62" name="圆角矩形 61"/>
          <p:cNvSpPr/>
          <p:nvPr>
            <p:custDataLst>
              <p:tags r:id="rId9"/>
            </p:custDataLst>
          </p:nvPr>
        </p:nvSpPr>
        <p:spPr>
          <a:xfrm>
            <a:off x="6503876" y="4324950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项目测试</a:t>
            </a:r>
          </a:p>
        </p:txBody>
      </p:sp>
      <p:sp>
        <p:nvSpPr>
          <p:cNvPr id="63" name="圆角矩形 62"/>
          <p:cNvSpPr/>
          <p:nvPr>
            <p:custDataLst>
              <p:tags r:id="rId10"/>
            </p:custDataLst>
          </p:nvPr>
        </p:nvSpPr>
        <p:spPr>
          <a:xfrm>
            <a:off x="6503876" y="5292877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项目总结</a:t>
            </a:r>
          </a:p>
        </p:txBody>
      </p:sp>
      <p:sp>
        <p:nvSpPr>
          <p:cNvPr id="64" name="TextBox 78"/>
          <p:cNvSpPr txBox="1"/>
          <p:nvPr/>
        </p:nvSpPr>
        <p:spPr>
          <a:xfrm>
            <a:off x="589218" y="3733289"/>
            <a:ext cx="2016899" cy="5024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665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CONTENTS</a:t>
            </a:r>
            <a:endParaRPr lang="zh-CN" altLang="en-US" sz="2665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65" name="TextBox 79"/>
          <p:cNvSpPr txBox="1"/>
          <p:nvPr/>
        </p:nvSpPr>
        <p:spPr>
          <a:xfrm>
            <a:off x="641317" y="2677173"/>
            <a:ext cx="1912703" cy="995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865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目 录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33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533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000"/>
                            </p:stCondLst>
                            <p:childTnLst>
                              <p:par>
                                <p:cTn id="5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500"/>
                            </p:stCondLst>
                            <p:childTnLst>
                              <p:par>
                                <p:cTn id="6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" grpId="0" animBg="1"/>
      <p:bldP spid="5" grpId="0" animBg="1"/>
      <p:bldP spid="6" grpId="0" animBg="1"/>
      <p:bldP spid="7" grpId="0" animBg="1"/>
      <p:bldP spid="8" grpId="0" animBg="1"/>
      <p:bldP spid="9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/>
      <p:bldP spid="6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/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/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Part.01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327400" y="4946424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935A8A-38E6-B86E-9253-00DD8EE6A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系统架构</a:t>
            </a: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项目测试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项目总结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学论网-矩形 1"/>
          <p:cNvSpPr/>
          <p:nvPr/>
        </p:nvSpPr>
        <p:spPr>
          <a:xfrm>
            <a:off x="984805" y="1563030"/>
            <a:ext cx="10222390" cy="790303"/>
          </a:xfrm>
          <a:prstGeom prst="rect">
            <a:avLst/>
          </a:prstGeom>
          <a:solidFill>
            <a:schemeClr val="accent6"/>
          </a:solidFill>
          <a:ln w="12700" cap="flat" cmpd="sng" algn="ctr">
            <a:solidFill>
              <a:srgbClr val="448AD7"/>
            </a:solidFill>
            <a:prstDash val="solid"/>
          </a:ln>
          <a:effectLst/>
        </p:spPr>
        <p:txBody>
          <a:bodyPr rtlCol="0" anchor="ctr"/>
          <a:lstStyle/>
          <a:p>
            <a:pPr lvl="0" algn="ctr"/>
            <a:r>
              <a:rPr lang="zh-CN" altLang="en-US" sz="28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ongti SC Black" panose="02010600040101010101" pitchFamily="2" charset="-122"/>
                <a:ea typeface="Songti SC Black" panose="02010600040101010101" pitchFamily="2" charset="-122"/>
                <a:cs typeface="微软雅黑" panose="020B0503020204020204" pitchFamily="34" charset="-122"/>
                <a:sym typeface="+mn-ea"/>
              </a:rPr>
              <a:t>大语言模型推理面临严峻内存挑战</a:t>
            </a:r>
            <a:endParaRPr lang="zh-CN" altLang="en-US" sz="2800" b="1" kern="0" dirty="0">
              <a:gradFill>
                <a:gsLst>
                  <a:gs pos="100000">
                    <a:schemeClr val="bg1"/>
                  </a:gs>
                  <a:gs pos="0">
                    <a:schemeClr val="bg1">
                      <a:lumMod val="95000"/>
                    </a:schemeClr>
                  </a:gs>
                </a:gsLst>
                <a:path path="circle">
                  <a:fillToRect l="100000" b="100000"/>
                </a:path>
              </a:gradFill>
              <a:latin typeface="Songti SC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2" name="学论网-矩形 1"/>
          <p:cNvSpPr/>
          <p:nvPr/>
        </p:nvSpPr>
        <p:spPr>
          <a:xfrm>
            <a:off x="985033" y="2355238"/>
            <a:ext cx="10222865" cy="2157738"/>
          </a:xfrm>
          <a:prstGeom prst="rect">
            <a:avLst/>
          </a:prstGeom>
          <a:noFill/>
          <a:ln w="12700" cap="flat" cmpd="sng" algn="ctr">
            <a:solidFill>
              <a:srgbClr val="448AD7"/>
            </a:solidFill>
            <a:prstDash val="sysDot"/>
          </a:ln>
          <a:effectLst/>
        </p:spPr>
        <p:txBody>
          <a:bodyPr rtlCol="0" anchor="ctr"/>
          <a:lstStyle/>
          <a:p>
            <a:pPr lvl="0" algn="ctr"/>
            <a:endParaRPr lang="zh-CN" altLang="en-US" sz="2800" b="1" kern="0" dirty="0">
              <a:gradFill>
                <a:gsLst>
                  <a:gs pos="100000">
                    <a:schemeClr val="bg1"/>
                  </a:gs>
                  <a:gs pos="0">
                    <a:schemeClr val="bg1">
                      <a:lumMod val="95000"/>
                    </a:schemeClr>
                  </a:gs>
                </a:gsLst>
                <a:path path="circle">
                  <a:fillToRect l="100000" b="100000"/>
                </a:path>
              </a:gradFill>
              <a:latin typeface="Songti SC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4" name="学论网-矩形 1"/>
          <p:cNvSpPr/>
          <p:nvPr/>
        </p:nvSpPr>
        <p:spPr>
          <a:xfrm>
            <a:off x="985668" y="4512976"/>
            <a:ext cx="10221595" cy="2059932"/>
          </a:xfrm>
          <a:prstGeom prst="rect">
            <a:avLst/>
          </a:prstGeom>
          <a:noFill/>
          <a:ln w="12700" cap="flat" cmpd="sng" algn="ctr">
            <a:solidFill>
              <a:srgbClr val="448AD7"/>
            </a:solidFill>
            <a:prstDash val="sysDot"/>
          </a:ln>
          <a:effectLst/>
        </p:spPr>
        <p:txBody>
          <a:bodyPr rtlCol="0" anchor="ctr"/>
          <a:lstStyle/>
          <a:p>
            <a:pPr lvl="0" algn="ctr"/>
            <a:endParaRPr lang="zh-CN" altLang="en-US" sz="2800" b="1" kern="0" dirty="0">
              <a:gradFill>
                <a:gsLst>
                  <a:gs pos="100000">
                    <a:schemeClr val="bg1"/>
                  </a:gs>
                  <a:gs pos="0">
                    <a:schemeClr val="bg1">
                      <a:lumMod val="95000"/>
                    </a:schemeClr>
                  </a:gs>
                </a:gsLst>
                <a:path path="circle">
                  <a:fillToRect l="100000" b="100000"/>
                </a:path>
              </a:gradFill>
              <a:latin typeface="Songti SC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5" name="学论网-www.xuelun.me"/>
          <p:cNvSpPr txBox="1"/>
          <p:nvPr/>
        </p:nvSpPr>
        <p:spPr>
          <a:xfrm>
            <a:off x="1598140" y="2353334"/>
            <a:ext cx="9033482" cy="20599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LLM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推理面临严峻内存瓶颈</a:t>
            </a:r>
            <a:endParaRPr lang="zh-CN" altLang="en-US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模型规模持续增长：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Llama-70B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需36.2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GB，Llama-405B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达数百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GB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KV Cache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随上下文线性增长：8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K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上下文时可达10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GB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以上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边缘设备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DRAM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仅4-12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GB，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无法全量加载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mmap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按需加载因同步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I/O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阻塞导致吞吐量急剧下降</a:t>
            </a:r>
            <a:endParaRPr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7" name="学论网-www.xuelun.me"/>
          <p:cNvSpPr txBox="1"/>
          <p:nvPr/>
        </p:nvSpPr>
        <p:spPr>
          <a:xfrm>
            <a:off x="1597505" y="4502099"/>
            <a:ext cx="9350827" cy="20415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访存模式高度可预测，KV Cache动态增长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marL="457200" indent="-457200" algn="l">
              <a:buClrTx/>
              <a:buSzTx/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LLM推理逐层顺序访问：Layer 0→1→2→…→N，无随机跳转</a:t>
            </a:r>
            <a:endParaRPr lang="zh-CN" altLang="en-US" sz="2400" b="1"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  <a:p>
            <a:pPr marL="457200" indent="-457200" algn="l">
              <a:buClrTx/>
              <a:buSzTx/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每个Token重复相同层访问序列，Prefill与Generation模式一致</a:t>
            </a:r>
            <a:endParaRPr lang="zh-CN" altLang="en-US" sz="2400" b="1"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  <a:p>
            <a:pPr marL="457200" indent="-457200" algn="l">
              <a:buClrTx/>
              <a:buSzTx/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权重访存可预测 → 滑动窗口 + 异步预取</a:t>
            </a:r>
            <a:endParaRPr lang="zh-CN" altLang="en-US" sz="2400" b="1"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  <a:p>
            <a:pPr marL="457200" indent="-457200" algn="l">
              <a:buClrTx/>
              <a:buSzTx/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KV Cache动态增长 → 需要细粒度运行时回收机制</a:t>
            </a:r>
            <a:endParaRPr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428215" y="1442779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6"/>
          <p:cNvSpPr txBox="1"/>
          <p:nvPr/>
        </p:nvSpPr>
        <p:spPr>
          <a:xfrm>
            <a:off x="572618" y="891710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1.1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项目背景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814C0CE-041F-7EF5-BB09-760E6A6385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decel="533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decel="533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51" grpId="0" bldLvl="0" animBg="1"/>
      <p:bldP spid="52" grpId="0" bldLvl="0" animBg="1"/>
      <p:bldP spid="54" grpId="0" bldLvl="0" animBg="1"/>
      <p:bldP spid="55" grpId="0"/>
      <p:bldP spid="57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619428" y="1001015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>
            <a:defPPr>
              <a:defRPr lang="zh-CN"/>
            </a:defPPr>
            <a:lvl1pPr algn="ctr">
              <a:def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800" dirty="0">
                <a:latin typeface="SONGTI SC BLACK" panose="02010600040101010101" pitchFamily="2" charset="-122"/>
                <a:ea typeface="SONGTI SC BLACK" panose="02010600040101010101" pitchFamily="2" charset="-122"/>
              </a:rPr>
              <a:t>1.2 </a:t>
            </a:r>
            <a:r>
              <a:rPr lang="zh-CN" altLang="en-US" sz="2800" dirty="0">
                <a:latin typeface="SONGTI SC BLACK" panose="02010600040101010101" pitchFamily="2" charset="-122"/>
                <a:ea typeface="SONGTI SC BLACK" panose="02010600040101010101" pitchFamily="2" charset="-122"/>
              </a:rPr>
              <a:t>项目目标</a:t>
            </a:r>
          </a:p>
        </p:txBody>
      </p:sp>
      <p:graphicFrame>
        <p:nvGraphicFramePr>
          <p:cNvPr id="3" name="表格 2"/>
          <p:cNvGraphicFramePr/>
          <p:nvPr>
            <p:extLst>
              <p:ext uri="{D42A27DB-BD31-4B8C-83A1-F6EECF244321}">
                <p14:modId xmlns:p14="http://schemas.microsoft.com/office/powerpoint/2010/main" val="2328428439"/>
              </p:ext>
            </p:extLst>
          </p:nvPr>
        </p:nvGraphicFramePr>
        <p:xfrm>
          <a:off x="619428" y="1737855"/>
          <a:ext cx="11094052" cy="471632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231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44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8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9487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</a:t>
                      </a: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完成情况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217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zh-CN" altLang="en-US" sz="1800" b="1" i="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sym typeface="+mn-ea"/>
                        </a:rPr>
                        <a:t>分析 </a:t>
                      </a:r>
                      <a:r>
                        <a:rPr lang="en-US" altLang="zh-CN" sz="1800" b="1" i="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sym typeface="+mn-ea"/>
                        </a:rPr>
                        <a:t>LLM </a:t>
                      </a:r>
                      <a:r>
                        <a:rPr lang="zh-CN" altLang="en-US" sz="1800" b="1" i="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sym typeface="+mn-ea"/>
                        </a:rPr>
                        <a:t>推理过程的访存行为</a:t>
                      </a:r>
                      <a:endParaRPr lang="zh-CN" altLang="en-US" sz="1800" b="1" i="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完成对 </a:t>
                      </a: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LLM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推理过程的访存分析，揭示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模型权重的逐层顺序访问特征与 </a:t>
                      </a:r>
                      <a:r>
                        <a:rPr lang="en-US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随上下文增长的线性增长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规律，并验证 </a:t>
                      </a: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模型中专家激活的稀疏性与局部性特征。</a:t>
                      </a:r>
                      <a:endParaRPr lang="zh-CN" altLang="en-US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217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、使用虚拟内存相关技术减少运行时物理内存量</a:t>
                      </a:r>
                      <a:endParaRPr lang="zh-CN" altLang="en-US" sz="1800" b="1" i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实现针对模型权重与 </a:t>
                      </a: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的运行时内存管理机制，通过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按需加载、动态驱逐与 </a:t>
                      </a:r>
                      <a:r>
                        <a:rPr lang="en-US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物理页回收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，在保证推理正确性的前提下降低运行时物理内存占用。</a:t>
                      </a:r>
                      <a:endParaRPr lang="zh-CN" altLang="en-US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217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、通过预取等技术掩盖 </a:t>
                      </a: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I/O 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延迟，提升推理性能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设计并实现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异步预取调度器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，构建独立后台加载线程池，实现计算与 </a:t>
                      </a: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I/O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的重叠，并设计自适应窗口调优机制。</a:t>
                      </a:r>
                      <a:endParaRPr lang="zh-CN" altLang="en-US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7188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总计</a:t>
                      </a: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altLang="en-US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初赛阶段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 </a:t>
                      </a:r>
                      <a:r>
                        <a:rPr lang="en-US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LLM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推理内存优化系统的核心逻辑设计与实现</a:t>
                      </a:r>
                      <a:r>
                        <a:rPr lang="zh-CN" altLang="en-US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，并完成内节省和推理性能验证。</a:t>
                      </a:r>
                      <a:endParaRPr lang="zh-CN" altLang="en-US" sz="1800" b="1" i="0"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9F1EBDBE-B2D2-70B6-0032-67226459D07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accent6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619428" y="1000140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48944" y="1618884"/>
            <a:ext cx="5419726" cy="22929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LLM</a:t>
            </a:r>
            <a:r>
              <a:rPr lang="zh-CN" altLang="en-US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推理过程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具有独特的访存行为特征，是内存优化的出发点。推理分为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Prefill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和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Decode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两个阶段：</a:t>
            </a: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Prefill</a:t>
            </a:r>
            <a:r>
              <a:rPr lang="zh-CN" altLang="en-US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阶段：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并行处理全部输入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，在每个注意力层为每个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计算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Key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和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Value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向量，属于计算密集型</a:t>
            </a: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Decode</a:t>
            </a:r>
            <a:r>
              <a:rPr lang="zh-CN" altLang="en-US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阶段：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以自回归方式逐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生成，每个新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需对所有先前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的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Key-Value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对做注意力计算，属于内存带宽受限型</a:t>
            </a: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LLM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推理过程中的数据搬运可分为三个独立的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流：</a:t>
            </a:r>
          </a:p>
        </p:txBody>
      </p:sp>
      <p:graphicFrame>
        <p:nvGraphicFramePr>
          <p:cNvPr id="5" name="表格 4"/>
          <p:cNvGraphicFramePr/>
          <p:nvPr>
            <p:extLst>
              <p:ext uri="{D42A27DB-BD31-4B8C-83A1-F6EECF244321}">
                <p14:modId xmlns:p14="http://schemas.microsoft.com/office/powerpoint/2010/main" val="2320100982"/>
              </p:ext>
            </p:extLst>
          </p:nvPr>
        </p:nvGraphicFramePr>
        <p:xfrm>
          <a:off x="554266" y="4083231"/>
          <a:ext cx="10997565" cy="150405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12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39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56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I/O</a:t>
                      </a:r>
                      <a:r>
                        <a:rPr lang="zh-CN" altLang="en-US" sz="1600"/>
                        <a:t>流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特征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示例（</a:t>
                      </a:r>
                      <a:r>
                        <a:rPr lang="en-US" altLang="zh-CN" sz="1600"/>
                        <a:t>Llama-3 70B</a:t>
                      </a:r>
                      <a:r>
                        <a:rPr lang="zh-CN" altLang="en-US" sz="1600"/>
                        <a:t>）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权重</a:t>
                      </a:r>
                      <a:r>
                        <a:rPr lang="en-US" altLang="zh-CN" sz="1600"/>
                        <a:t>I/O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每解码一步需加载全部权重，与批次大小无关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FP16</a:t>
                      </a:r>
                      <a:r>
                        <a:rPr lang="zh-CN" altLang="en-US" sz="1600"/>
                        <a:t>下每</a:t>
                      </a:r>
                      <a:r>
                        <a:rPr lang="en-US" altLang="zh-CN" sz="1600"/>
                        <a:t>Token</a:t>
                      </a:r>
                      <a:r>
                        <a:rPr lang="zh-CN" altLang="en-US" sz="1600"/>
                        <a:t>约</a:t>
                      </a:r>
                      <a:r>
                        <a:rPr lang="en-US" altLang="zh-CN" sz="1600"/>
                        <a:t>140GB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 I/O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随序列长度和批次大小线性增长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128K</a:t>
                      </a:r>
                      <a:r>
                        <a:rPr lang="zh-CN" altLang="en-US" sz="1600"/>
                        <a:t>上下文时单序列</a:t>
                      </a:r>
                      <a:r>
                        <a:rPr lang="en-US" altLang="zh-CN" sz="1600"/>
                        <a:t>KV Cache</a:t>
                      </a:r>
                      <a:r>
                        <a:rPr lang="zh-CN" altLang="en-US" sz="1600"/>
                        <a:t>达</a:t>
                      </a:r>
                      <a:r>
                        <a:rPr lang="en-US" altLang="zh-CN" sz="1600"/>
                        <a:t>43GB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激活</a:t>
                      </a:r>
                      <a:r>
                        <a:rPr lang="en-US" altLang="zh-CN" sz="1600"/>
                        <a:t>I/O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Decode</a:t>
                      </a:r>
                      <a:r>
                        <a:rPr lang="zh-CN" altLang="en-US" sz="1600"/>
                        <a:t>阶段远小于权重</a:t>
                      </a:r>
                      <a:r>
                        <a:rPr lang="en-US" altLang="zh-CN" sz="1600"/>
                        <a:t>I/O</a:t>
                      </a:r>
                      <a:r>
                        <a:rPr lang="zh-CN" altLang="en-US" sz="1600"/>
                        <a:t>和</a:t>
                      </a:r>
                      <a:r>
                        <a:rPr lang="en-US" altLang="zh-CN" sz="1600"/>
                        <a:t>KV Cache I/O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Prefill</a:t>
                      </a:r>
                      <a:r>
                        <a:rPr lang="zh-CN" altLang="en-US" sz="1600"/>
                        <a:t>阶段若不使用</a:t>
                      </a:r>
                      <a:r>
                        <a:rPr lang="en-US" altLang="zh-CN" sz="1600"/>
                        <a:t>FlashAttention</a:t>
                      </a:r>
                      <a:r>
                        <a:rPr lang="zh-CN" altLang="en-US" sz="1600"/>
                        <a:t>则产生</a:t>
                      </a:r>
                      <a:r>
                        <a:rPr lang="en-US" altLang="zh-CN" sz="1600"/>
                        <a:t>O(N²)</a:t>
                      </a:r>
                      <a:r>
                        <a:rPr lang="zh-CN" altLang="en-US" sz="1600"/>
                        <a:t>开销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890400" y="5795429"/>
            <a:ext cx="10325295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关键结论：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和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I/O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是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Decode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阶段的两大主要瓶颈，两者存在跷跷板效应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 algn="ctr">
              <a:spcBef>
                <a:spcPts val="900"/>
              </a:spcBef>
              <a:spcAft>
                <a:spcPts val="90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——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可通过批次处理摊销，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I/O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随批次和上下文长度线性增长。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9E8899A-84C7-5F56-8D49-EB33C0125D9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34C92A6-D919-8BE5-CA14-448E015710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8670" y="1155425"/>
            <a:ext cx="6141193" cy="28403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50586" y="1001015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37177" y="1613652"/>
            <a:ext cx="7669694" cy="5156485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marL="342900" indent="-34290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llama.cpp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推理框架</a:t>
            </a: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llama.cpp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是一个纯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C/C++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实现的大语言模型推理引擎，具有三个特点：</a:t>
            </a:r>
            <a:endParaRPr lang="en-US" altLang="zh-CN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①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零依赖，无需引入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PyTorch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等框架；</a:t>
            </a:r>
            <a:endParaRPr lang="en-US" altLang="zh-CN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②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量化作为一等公民，原生内置多种量化格式；</a:t>
            </a:r>
            <a:endParaRPr lang="en-US" altLang="zh-CN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③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支持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CPU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GPU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混合推理。其分层架构为：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GGML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层（张量计算与后端抽象）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llama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核心层（模型加载、分词、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管理、计算图构建）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工具层（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CLI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HTTP server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）。</a:t>
            </a: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llama.cpp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当前通过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mmap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机制实现模型参数按需加载，在物理内存不足时几乎每次权重访问都会触发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，导致推理吞吐显著下降。本项目在其数据加载路径中插入滑动窗口、异步预取、权重流式替换和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回收逻辑。</a:t>
            </a:r>
          </a:p>
          <a:p>
            <a:pPr marL="342900" indent="-34290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vLLM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推理框架</a:t>
            </a: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vLLM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提出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PagedAttention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机制，将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切分为固定大小的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按需分配，通过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 table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将逻辑页映射到物理内存，使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可非连续存储，碎片率从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60-80%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降至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4%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以下。其将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视为可灵活管理内存资源的思想，为本项目边缘端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管理提供参考。</a:t>
            </a:r>
          </a:p>
        </p:txBody>
      </p:sp>
      <p:pic>
        <p:nvPicPr>
          <p:cNvPr id="14" name="图片 4" descr="IMG_2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549" y="992545"/>
            <a:ext cx="3618865" cy="19170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9" descr="3bb13d0a-4f19-4fbb-a682-c83fd4118e9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5856" y="2909610"/>
            <a:ext cx="3994785" cy="1893570"/>
          </a:xfrm>
          <a:prstGeom prst="rect">
            <a:avLst/>
          </a:prstGeom>
        </p:spPr>
      </p:pic>
      <p:pic>
        <p:nvPicPr>
          <p:cNvPr id="10" name="图片 10" descr="d47be5fb-bdbf-4236-a504-8be9fb4607d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0038" y="4895437"/>
            <a:ext cx="3994785" cy="190055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EAB3D77E-2563-C3DC-D44E-8F4779DF898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33241" y="1430218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572618" y="904448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402033" y="1077092"/>
            <a:ext cx="187366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</a:t>
            </a:r>
            <a:r>
              <a:rPr lang="en-US" altLang="zh-CN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优化</a:t>
            </a:r>
          </a:p>
        </p:txBody>
      </p:sp>
      <p:graphicFrame>
        <p:nvGraphicFramePr>
          <p:cNvPr id="4" name="表格 3"/>
          <p:cNvGraphicFramePr/>
          <p:nvPr>
            <p:extLst>
              <p:ext uri="{D42A27DB-BD31-4B8C-83A1-F6EECF244321}">
                <p14:modId xmlns:p14="http://schemas.microsoft.com/office/powerpoint/2010/main" val="1320193586"/>
              </p:ext>
            </p:extLst>
          </p:nvPr>
        </p:nvGraphicFramePr>
        <p:xfrm>
          <a:off x="433241" y="1531092"/>
          <a:ext cx="10655306" cy="2616561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106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6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1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6677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方法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核心思路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局限性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471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量化压缩（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GPTQ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AWQ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GGUF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）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降低参数精度减少存储体积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压缩比例固定，无法适应实时资源变化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2471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mmap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按需加载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操作系统惰性加载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行为不可控，同步缺页阻塞计算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2471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FlexInfer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异步预取 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平衡内存锁定 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灵活张量保留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未与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形成统一管理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2471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LLM in a Flash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利用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FFN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激活稀疏性减少闪存读取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仅适用于特定稀疏模式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583812" y="4147653"/>
            <a:ext cx="241905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I/O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优化</a:t>
            </a:r>
          </a:p>
        </p:txBody>
      </p:sp>
      <p:graphicFrame>
        <p:nvGraphicFramePr>
          <p:cNvPr id="6" name="表格 5"/>
          <p:cNvGraphicFramePr/>
          <p:nvPr>
            <p:extLst>
              <p:ext uri="{D42A27DB-BD31-4B8C-83A1-F6EECF244321}">
                <p14:modId xmlns:p14="http://schemas.microsoft.com/office/powerpoint/2010/main" val="1136178510"/>
              </p:ext>
            </p:extLst>
          </p:nvPr>
        </p:nvGraphicFramePr>
        <p:xfrm>
          <a:off x="555626" y="4524014"/>
          <a:ext cx="7146850" cy="227202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87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06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方法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核心思路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局限性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PagedAttention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分页管理，连续内存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→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块级调度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主要面向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GPU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服务器环境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H₂O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保留重击者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token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，主动驱逐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可能丢失远距离上下文依赖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KIVI/KVQuant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低比特量化压缩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量化误差在生成过程中累积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StreamingLLM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保留沉没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token +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滚动窗口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不支持任意上下文回溯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KVSwap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磁盘换出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/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换入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预取策略仍需优化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7" name="图片 6" descr="dcb62928-5d98-4d0d-a33f-8b3ebf7796d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662" y="4524014"/>
            <a:ext cx="4417228" cy="2188734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FF87B0A-B453-FF17-AFCE-1E5CE14441C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619428" y="1004745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14039" y="1822337"/>
            <a:ext cx="3632910" cy="345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lnSpc>
                <a:spcPts val="168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边缘端部署的特殊挑战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1922718991"/>
              </p:ext>
            </p:extLst>
          </p:nvPr>
        </p:nvGraphicFramePr>
        <p:xfrm>
          <a:off x="272041" y="2303710"/>
          <a:ext cx="7265670" cy="309562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6647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0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挑战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具体约束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内存容量严格受限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DRAM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通常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4-12GB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，无法容纳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70B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存储带宽有限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eMMC/UFS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闪存，顺序读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500MB/s-2GB/s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计算能力异构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部分设备仅依赖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CPU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推理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功耗与散热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电池与散热限制高功耗运行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1431998" y="5749032"/>
            <a:ext cx="5788474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面向数据中心的优化方案无法直接迁移，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marL="0" indent="0" algn="ctr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需针对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边缘端存储层次和计算资源设计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专门优化。</a:t>
            </a:r>
          </a:p>
        </p:txBody>
      </p:sp>
      <p:pic>
        <p:nvPicPr>
          <p:cNvPr id="10" name="图片 7" descr="e81be488-d328-4fec-8d70-adf3f862f8d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711" y="2303710"/>
            <a:ext cx="4654289" cy="3103083"/>
          </a:xfrm>
          <a:prstGeom prst="rect">
            <a:avLst/>
          </a:prstGeom>
        </p:spPr>
      </p:pic>
      <p:cxnSp>
        <p:nvCxnSpPr>
          <p:cNvPr id="5" name="曲线连接符 13">
            <a:extLst>
              <a:ext uri="{FF2B5EF4-FFF2-40B4-BE49-F238E27FC236}">
                <a16:creationId xmlns:a16="http://schemas.microsoft.com/office/drawing/2014/main" id="{176278AC-2837-8755-17F9-8A2380B3DB9A}"/>
              </a:ext>
            </a:extLst>
          </p:cNvPr>
          <p:cNvCxnSpPr>
            <a:cxnSpLocks/>
          </p:cNvCxnSpPr>
          <p:nvPr/>
        </p:nvCxnSpPr>
        <p:spPr>
          <a:xfrm rot="5400000">
            <a:off x="7535410" y="5514075"/>
            <a:ext cx="626400" cy="720000"/>
          </a:xfrm>
          <a:prstGeom prst="curvedConnector2">
            <a:avLst/>
          </a:prstGeom>
          <a:ln w="12700" cmpd="sng">
            <a:solidFill>
              <a:schemeClr val="accent6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BD721B0B-8430-F6E7-9653-B0C60AF7917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280609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581623" y="1000671"/>
            <a:ext cx="2494355" cy="527825"/>
          </a:xfrm>
          <a:prstGeom prst="rect">
            <a:avLst/>
          </a:prstGeom>
          <a:noFill/>
        </p:spPr>
        <p:txBody>
          <a:bodyPr wrap="square" lIns="0" tIns="48000" rIns="0" bIns="48000" rtlCol="0" anchor="ctr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项目切入点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93090" y="1737512"/>
            <a:ext cx="10933061" cy="47936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三个核心不足：</a:t>
            </a:r>
          </a:p>
          <a:p>
            <a:pPr marL="457200" indent="-457200">
              <a:spcBef>
                <a:spcPct val="0"/>
              </a:spcBef>
              <a:spcAft>
                <a:spcPct val="0"/>
              </a:spcAft>
              <a:buFont typeface="+mj-ea"/>
              <a:buAutoNum type="circleNumDbPlain"/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权重与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独立管理：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llama.cpp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通过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mmap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管理权重、连续分配管理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，两者互不协调。当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增长时可能挤占权重缓存空间，二者在时间维度上的对应关系未被利用。</a:t>
            </a:r>
          </a:p>
          <a:p>
            <a:pPr marL="457200" indent="-457200">
              <a:spcBef>
                <a:spcPct val="0"/>
              </a:spcBef>
              <a:spcAft>
                <a:spcPct val="0"/>
              </a:spcAft>
              <a:buFont typeface="+mj-ea"/>
              <a:buAutoNum type="circleNumDbPlain"/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权重管理缺乏访存模式感知：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mmap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是被动加载，缺少主动预测；已有预取方案未建立显式的层级访问预测模型。</a:t>
            </a:r>
          </a:p>
          <a:p>
            <a:pPr marL="457200" indent="-457200">
              <a:spcBef>
                <a:spcPct val="0"/>
              </a:spcBef>
              <a:spcAft>
                <a:spcPct val="0"/>
              </a:spcAft>
              <a:buFont typeface="+mj-ea"/>
              <a:buAutoNum type="circleNumDbPlain"/>
            </a:pP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管理未适配边缘端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层次：现有方案多面向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GPU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环境，未充分考虑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DRAM→SSD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的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特性，缺乏与权重加载共享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带宽的系统级方案。</a:t>
            </a:r>
          </a:p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本项目切入点：</a:t>
            </a: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构建统一的运行时内存管理框架，将模型权重与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纳入同一调度体系：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以层、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专家、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block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为基本管理粒度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结合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CLG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预测实现跨层预取调度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通过异步加载与驱逐策略实现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与计算重叠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非活跃状态权重或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block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纳入可回收集合，在资源压力或预测触发下执行换入换出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2335994-57BD-5AA5-0328-DD4039150E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EF4AF3-A949-AA13-103E-6EECCC93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A07CCFF-1D79-C1D7-7DA9-4BE55E713544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D4F33949-2545-967E-CA93-A82AB0B3F144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79CF96B9-03FF-9F4D-BB72-E518262C9B82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32B8B8D0-4823-2724-D7F9-EA285CFB3409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136AA12A-C7E4-F592-39C1-65EF5974D296}"/>
              </a:ext>
            </a:extLst>
          </p:cNvPr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Part.02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9D70CBF-02FC-689A-475A-3137E761EE40}"/>
              </a:ext>
            </a:extLst>
          </p:cNvPr>
          <p:cNvSpPr txBox="1"/>
          <p:nvPr/>
        </p:nvSpPr>
        <p:spPr>
          <a:xfrm>
            <a:off x="3327400" y="4946424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系统架构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6142000-0554-DAE3-CDBE-EDE65A5EC9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74445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49336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系统架构</a:t>
            </a: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>
            <a:cxnSpLocks/>
          </p:cNvCxnSpPr>
          <p:nvPr/>
        </p:nvCxnSpPr>
        <p:spPr>
          <a:xfrm>
            <a:off x="547969" y="1656161"/>
            <a:ext cx="294919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687774" y="1091711"/>
            <a:ext cx="2669585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2.1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系统整体架构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5250779"/>
              </p:ext>
            </p:extLst>
          </p:nvPr>
        </p:nvGraphicFramePr>
        <p:xfrm>
          <a:off x="7439738" y="2397574"/>
          <a:ext cx="4507454" cy="308533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9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5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02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层级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功能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627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推理执行层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LLM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前向计算，</a:t>
                      </a: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node_callback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触发调度信号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4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运行时内存调度层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权重流式替换 </a:t>
                      </a: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 KV Cache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回收统一管理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3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虚拟内存与存储层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mmap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映射、</a:t>
                      </a: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madvise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控制、</a:t>
                      </a: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O_DIRECT I/O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1054864" y="6083985"/>
            <a:ext cx="942356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8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核心设计原则：</a:t>
            </a:r>
            <a:r>
              <a:rPr lang="en-US" altLang="zh-CN" sz="28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 </a:t>
            </a:r>
            <a:r>
              <a:rPr lang="zh-CN" altLang="en-US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零拷贝、异步、图感知、逻辑与物理解耦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7104D1B-BE23-3CAB-51A3-4F5736E6B5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ED1B950-16C3-BBB1-EB24-4F44C9376A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0" t="5019" r="2512" b="3428"/>
          <a:stretch>
            <a:fillRect/>
          </a:stretch>
        </p:blipFill>
        <p:spPr>
          <a:xfrm>
            <a:off x="425751" y="1821715"/>
            <a:ext cx="6352798" cy="40271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49336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318881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25751" y="987974"/>
            <a:ext cx="3188817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2.2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模块交互时序图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6" descr="模块交互时序图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73" y="1559951"/>
            <a:ext cx="10312099" cy="5082145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5F646756-3D0F-DCB7-4603-4038EBB62DC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49336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1" y="1593386"/>
            <a:ext cx="292962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25750" y="1065561"/>
            <a:ext cx="2929627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2.3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系统核心组成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685754" y="1874715"/>
            <a:ext cx="10125989" cy="410298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权重管理模块：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权重路径：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Flex Buffer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层粒度匿名环形缓冲 +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LRU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替换</a:t>
            </a:r>
          </a:p>
          <a:p>
            <a:pPr marL="0" indent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权重路径：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CLG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跨层预测 +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MoE-Buffer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专家切片 + 三态状态机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管理模块：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粒度管理 +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paged row index + swap-out/swap-in + madvise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释放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统一调度机制：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node_callback（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异步预测）+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weight_stream_callback（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同步兜底）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314EDF2-877B-FA16-942B-ED73988601A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0B46250-D73E-7563-DC2B-494C71D6C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28525A7-67A2-C125-0280-17E85DC1E920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DB37E9-B780-B8B5-EE6F-4E4C0F5AA91E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62FDDD10-F402-E7BD-73E9-7D297D2BDB8E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977F97CB-C591-62A7-5DE1-E18C22C01045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4BE05DF6-8D2D-F10D-00DC-782A77C10120}"/>
              </a:ext>
            </a:extLst>
          </p:cNvPr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Part.03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941B951-244B-4C3B-78A7-06862D45BE72}"/>
              </a:ext>
            </a:extLst>
          </p:cNvPr>
          <p:cNvSpPr txBox="1"/>
          <p:nvPr/>
        </p:nvSpPr>
        <p:spPr>
          <a:xfrm>
            <a:off x="3327401" y="4789616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8D9AB51-B0FA-05B5-4885-2CF827CDA2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964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25753" y="984397"/>
            <a:ext cx="2399999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3.1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双钩子接口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498475" y="1721238"/>
            <a:ext cx="10667963" cy="24086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0" indent="0">
              <a:lnSpc>
                <a:spcPts val="168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系统在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GGML CPU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后端新增两个最小侵入钩子，作为所有流式机制的基础设施：</a:t>
            </a:r>
          </a:p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node_callback：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节点计算完成后触发，不阻塞计算线程。负责解析层号、推进窗口、触发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CLG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预测调度，不执行重型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</a:p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weight_stream_callback：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算子执行前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barrier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同步触发，用于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专家权重重指向。检查专家是否已驻留，未驻留则同步加载，然后将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data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指针重定向至匿名缓冲区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7890469"/>
              </p:ext>
            </p:extLst>
          </p:nvPr>
        </p:nvGraphicFramePr>
        <p:xfrm>
          <a:off x="498475" y="4485636"/>
          <a:ext cx="10667963" cy="21564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600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63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24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81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882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钩子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触发时机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同步方式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用途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node_callback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节点计算完成后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不阻塞计算线程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异步预测、预取调度、窗口推进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weight_stream_callback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算子执行前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barrier</a:t>
                      </a:r>
                      <a:r>
                        <a:rPr lang="zh-CN" altLang="en-US"/>
                        <a:t>同步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权重重指向、同步加载兜底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" name="图片 1">
            <a:extLst>
              <a:ext uri="{FF2B5EF4-FFF2-40B4-BE49-F238E27FC236}">
                <a16:creationId xmlns:a16="http://schemas.microsoft.com/office/drawing/2014/main" id="{D7BA799C-5EE1-3CF5-FE89-391BB2EC27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25752" y="1001015"/>
            <a:ext cx="2399999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3.2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窗口机制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91633" y="1749448"/>
            <a:ext cx="6029115" cy="48243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系统通过层索引与滑动窗口为权重管理提供统一的驻留范围控制。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层索引构建：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解析张量名称建立“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 → memory range”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映射，检测跨层共享页并标记为不可回收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窗口定义：</a:t>
            </a:r>
          </a:p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P(L)={(L-B) mod N, …, L, …, (L+A) mod N}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窗口内层保持驻留，窗口外层允许回收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推进调度：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每完成一层，预取未来层（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L+1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至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L+A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），同时对窗口外候选层按“距离远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+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体积大”排序回收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madvise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操作：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预取用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MADV_POPULATE_READ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（回退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WILLNEED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），回收用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MADV_DONTNEED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worker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执行：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后台线程处理预取与回收，执行前二次检查防止竞态误回收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7FF28B3-86E7-85E9-309C-178803CC70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8A414342-4981-DDFF-CEDD-695C11617E38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364002E4-724A-F818-A16F-2AB2387B20E4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C660D952-B065-BA69-4F79-1FE636F033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849" y="1077092"/>
            <a:ext cx="5512493" cy="59088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5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254037" y="1793856"/>
            <a:ext cx="3792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195620" y="1176913"/>
            <a:ext cx="3833870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3.3 Dense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权重环形缓冲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197857" y="2053656"/>
            <a:ext cx="6052472" cy="4018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3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核心机制：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Flex Buffer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为基本单位构建匿名环形缓冲</a:t>
            </a:r>
          </a:p>
          <a:p>
            <a:pPr marL="342900" indent="-34290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访问流程：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已绑定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slot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直接复用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存在空闲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slot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直接分配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无空闲触发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LRU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驱逐</a:t>
            </a:r>
          </a:p>
          <a:p>
            <a:pPr marL="342900" indent="-34290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LRU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驱逐：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选择最久未访问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 → munmap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释放物理页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slot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重绑定新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</a:t>
            </a:r>
          </a:p>
          <a:p>
            <a:pPr marL="342900" indent="-34290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执行语义：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用户态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slot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+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显式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munmap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驱逐，而非依赖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page cache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6CB654B-4D32-78AE-BAF4-5FECD18E0F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CC88B29F-AD5D-56D2-930E-2698CF66B071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E4E6DB4-D506-1750-920B-0A3E7B688883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7095289-2554-6081-4974-2C9095F31C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2" t="6383" r="8516" b="7865"/>
          <a:stretch>
            <a:fillRect/>
          </a:stretch>
        </p:blipFill>
        <p:spPr>
          <a:xfrm>
            <a:off x="6863787" y="1250421"/>
            <a:ext cx="4030640" cy="54976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373745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45273" y="1062571"/>
            <a:ext cx="3898414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3.4 MoE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专家权重流式加载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40488" y="1799411"/>
            <a:ext cx="5429950" cy="4640094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五个子机制：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CLG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跨层预测：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RMSNorm →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专家打分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Top-(K+δ)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选择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三态状态机：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COLD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（未加载）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INFLIGHT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（加载中）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→ RESIDENT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（已驻留）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O_DIRECT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并行读：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worker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并发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pread +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对齐包裹读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+ bounce buffer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热专家保护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：相对频率判定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hot(e) = act_e / avg_act &gt; ρ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自适应预算：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内存充足全驻留，不足启用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LRU + budget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限制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842E1DE-2012-4F01-F202-65FDEEEA4B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330D07EB-D5AC-C7DC-882D-1FF6F05A581F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9BDA0612-66C8-412A-091A-8347FBD6C7D8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2BBD2CBA-9054-8246-8755-1A1B10A2C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8" t="4286" r="3519" b="2983"/>
          <a:stretch>
            <a:fillRect/>
          </a:stretch>
        </p:blipFill>
        <p:spPr>
          <a:xfrm>
            <a:off x="5844745" y="1397760"/>
            <a:ext cx="6266776" cy="52665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300449" y="1520211"/>
            <a:ext cx="3636850" cy="950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00449" y="1053942"/>
            <a:ext cx="3586443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3.5 KV Cache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运行时回收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300449" y="1782153"/>
            <a:ext cx="5510042" cy="4639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核心设计：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将逻辑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存在状态与物理驻留状态解耦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Lazy tail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：未使用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tail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区域提前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madvise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回收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Paged row index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idle KV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退出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active read window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，重定向到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dummy row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Swap-out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：先写入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backing store →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标记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SWAPPED → madvise(MADV_DONTNEED)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Resume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：分步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prefetch → final sync → defer swap-out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769A784-ECE8-6D67-8191-0EBCA07C29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EB8D8B4-4757-FC1C-FF98-4A5BCCA6D4E4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4AEAE8A-424B-46AA-9117-6A2C0D9EBC07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F6784D81-B322-5FF1-75B0-055D85D20A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2" t="2397" r="2995" b="2822"/>
          <a:stretch>
            <a:fillRect/>
          </a:stretch>
        </p:blipFill>
        <p:spPr>
          <a:xfrm>
            <a:off x="6096000" y="1095028"/>
            <a:ext cx="5795551" cy="57629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215153" y="1528840"/>
            <a:ext cx="400184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5153" y="1061237"/>
            <a:ext cx="3909172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3.6 KV Cache Block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状态机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324908" y="2093984"/>
            <a:ext cx="1584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三种状态：</a:t>
            </a:r>
          </a:p>
        </p:txBody>
      </p:sp>
      <p:graphicFrame>
        <p:nvGraphicFramePr>
          <p:cNvPr id="7" name="表格 6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1890699"/>
              </p:ext>
            </p:extLst>
          </p:nvPr>
        </p:nvGraphicFramePr>
        <p:xfrm>
          <a:off x="324908" y="2830825"/>
          <a:ext cx="3799417" cy="231901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53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5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状态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含义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RESIDENT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物理页驻留，可被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active attention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读取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SWAPPED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已写入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backing store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，物理页已释放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DUMMY ROW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idle KV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重定向目标，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resident dummy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317269" y="4826276"/>
            <a:ext cx="7826850" cy="1746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状态转换：</a:t>
            </a: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RESIDENT → SWAPPED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idle-owned + active-invisible →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写入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backing store → madvise</a:t>
            </a: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SWAPPED → RESIDENT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session resume → swap-in / prefetch</a:t>
            </a: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RESIDENT → DUMMY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paged row index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重定向，退出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active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窗口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5DA0D12-9762-9E08-3F9A-E2F99083E4D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CC21CA0A-7E1E-2530-58D2-A78F0B94B5E8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EB7B600D-4F02-973C-0F73-E7A8C2AFE698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5503D3F-E6B9-1F2B-D4A6-93EEEAE210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1" t="5240" r="2864" b="5707"/>
          <a:stretch>
            <a:fillRect/>
          </a:stretch>
        </p:blipFill>
        <p:spPr>
          <a:xfrm>
            <a:off x="4395417" y="1784914"/>
            <a:ext cx="7344519" cy="27802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BBCDF5E-33A6-DA79-D833-9E634254F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6771E00-06F3-2D9D-00E1-7D2A8CB8E3E0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2E321145-F1C2-20E2-8AB7-D422E964E230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E6CF3004-08C9-96BC-53BE-9B511397A200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3DBD3C45-BF90-1790-CCAA-3C0FC22856B2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67F50891-7A19-96D5-C58B-3404400535C9}"/>
              </a:ext>
            </a:extLst>
          </p:cNvPr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Part.04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FB82FF-5DE6-F441-9344-DE72D926227E}"/>
              </a:ext>
            </a:extLst>
          </p:cNvPr>
          <p:cNvSpPr txBox="1"/>
          <p:nvPr/>
        </p:nvSpPr>
        <p:spPr>
          <a:xfrm>
            <a:off x="3327400" y="4946424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项目测试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A6F49D9-91D0-8398-E0CE-729E1FB9F0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75427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项目测试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38589" y="1001015"/>
            <a:ext cx="2280705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4.1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测试环境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/>
          <p:cNvGraphicFramePr/>
          <p:nvPr>
            <p:extLst>
              <p:ext uri="{D42A27DB-BD31-4B8C-83A1-F6EECF244321}">
                <p14:modId xmlns:p14="http://schemas.microsoft.com/office/powerpoint/2010/main" val="3269029453"/>
              </p:ext>
            </p:extLst>
          </p:nvPr>
        </p:nvGraphicFramePr>
        <p:xfrm>
          <a:off x="4718949" y="919194"/>
          <a:ext cx="6954059" cy="5831592"/>
        </p:xfrm>
        <a:graphic>
          <a:graphicData uri="http://schemas.openxmlformats.org/drawingml/2006/table">
            <a:tbl>
              <a:tblPr firstRow="1"/>
              <a:tblGrid>
                <a:gridCol w="17299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4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环境指标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环境参数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Linux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发行版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Ubuntu 22.04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Linux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内核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5.15.0+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机器模式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物理机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内存大小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23GB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处理器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x86-64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，</a:t>
                      </a: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8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核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存储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SSD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，读速</a:t>
                      </a: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279MB/s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Llama-3-8B-Instruct-Q4_K_M.gguf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模型大小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4.58GB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环境类型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native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环境 </a:t>
                      </a: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/ window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环境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内存限制方式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cgroup v2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（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memory.max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）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71684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测试工具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llama-bench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、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llama-perplexity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6E31DF09-41C0-E05F-88D8-FE43285C57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F51E8B3-C307-C736-CB67-281C07C4D37E}"/>
              </a:ext>
            </a:extLst>
          </p:cNvPr>
          <p:cNvSpPr txBox="1"/>
          <p:nvPr/>
        </p:nvSpPr>
        <p:spPr>
          <a:xfrm>
            <a:off x="438589" y="2056665"/>
            <a:ext cx="3963213" cy="4137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测试设计说明：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实验均在同一物理机、操作系统和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SSD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环境下进行。通过环境变量切换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native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Flex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MoE-Buffer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CLG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预测和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Paged-KV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回收等方案，不改变硬件条件。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>
              <a:lnSpc>
                <a:spcPct val="120000"/>
              </a:lnSpc>
            </a:pPr>
            <a:endParaRPr lang="zh-CN" altLang="en-US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测试关注三点：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内存占用是否降低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active TPS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是否稳定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推理结果是否正确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04868" y="1855515"/>
            <a:ext cx="385516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87909" y="1038008"/>
            <a:ext cx="4433403" cy="835601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4.2.1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权重管理模块内存占用</a:t>
            </a:r>
            <a:endParaRPr lang="en-US" altLang="zh-CN" sz="24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  <a:p>
            <a:pPr algn="ctr"/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与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repack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优化效果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6642B047-C424-1097-FF2E-8E30314D9D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2E0F5C8-C163-0B5E-AC1C-8396A4E0A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850" y="1180526"/>
            <a:ext cx="6217281" cy="3725066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78C21EA-8015-22C5-A85A-86E0F31E6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277889"/>
              </p:ext>
            </p:extLst>
          </p:nvPr>
        </p:nvGraphicFramePr>
        <p:xfrm>
          <a:off x="520397" y="4905592"/>
          <a:ext cx="9661754" cy="18288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415439">
                  <a:extLst>
                    <a:ext uri="{9D8B030D-6E8A-4147-A177-3AD203B41FA5}">
                      <a16:colId xmlns:a16="http://schemas.microsoft.com/office/drawing/2014/main" val="1275630233"/>
                    </a:ext>
                  </a:extLst>
                </a:gridCol>
                <a:gridCol w="1894451">
                  <a:extLst>
                    <a:ext uri="{9D8B030D-6E8A-4147-A177-3AD203B41FA5}">
                      <a16:colId xmlns:a16="http://schemas.microsoft.com/office/drawing/2014/main" val="3592885808"/>
                    </a:ext>
                  </a:extLst>
                </a:gridCol>
                <a:gridCol w="2223959">
                  <a:extLst>
                    <a:ext uri="{9D8B030D-6E8A-4147-A177-3AD203B41FA5}">
                      <a16:colId xmlns:a16="http://schemas.microsoft.com/office/drawing/2014/main" val="4166160254"/>
                    </a:ext>
                  </a:extLst>
                </a:gridCol>
                <a:gridCol w="3127905">
                  <a:extLst>
                    <a:ext uri="{9D8B030D-6E8A-4147-A177-3AD203B41FA5}">
                      <a16:colId xmlns:a16="http://schemas.microsoft.com/office/drawing/2014/main" val="1231475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配置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吞吐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439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native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7.77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8.15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mmap + repack 副本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1417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no repack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4.56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8.60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消除匿名权重副本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879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native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5.73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19.26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expert 全量驻留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650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no repack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3.60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19.58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缓冲区直连权重文件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6338798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D49EF2A0-A030-793A-278B-6ED44FBBFC07}"/>
              </a:ext>
            </a:extLst>
          </p:cNvPr>
          <p:cNvSpPr txBox="1"/>
          <p:nvPr/>
        </p:nvSpPr>
        <p:spPr>
          <a:xfrm>
            <a:off x="541446" y="2151727"/>
            <a:ext cx="470365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关闭 repack 后，Dense 与 MoE 模型的 RSS 均明显下降。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Dense 模型 RSS 从 7.77GB 降至 4.56GB，减少约 3.21GB；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模型 RSS 从 5.73GB 降至 3.60GB，减少约 2.13GB。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同时吞吐未下降，说明 repack 引入的匿名权重副本属于可消除的冗余驻留。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DEB26-0719-61BB-A656-89E56FD7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861400A9-DE11-3BB5-B37D-5C60214D06AB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7A93145-6C35-1EF9-30DB-AB3CD0A71B23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1CDF498-8713-73FE-ED8F-AE5C2E8AF080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C6DC90ED-A5BE-9945-388F-91517FD99204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DD727FAA-6573-16D5-4FE3-A08D06E72A85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AEBAAABA-3F5D-EC08-C9B0-560F333968BC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FC3404E6-3226-CFB1-D388-AE60366F169B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6E43EC0-2F58-6B61-58F9-57FA46F87D8E}"/>
              </a:ext>
            </a:extLst>
          </p:cNvPr>
          <p:cNvCxnSpPr>
            <a:cxnSpLocks/>
          </p:cNvCxnSpPr>
          <p:nvPr/>
        </p:nvCxnSpPr>
        <p:spPr>
          <a:xfrm>
            <a:off x="404868" y="1992485"/>
            <a:ext cx="364208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36CB7374-61D7-E7D6-4B0E-BEF406BE438D}"/>
              </a:ext>
            </a:extLst>
          </p:cNvPr>
          <p:cNvSpPr txBox="1"/>
          <p:nvPr/>
        </p:nvSpPr>
        <p:spPr>
          <a:xfrm>
            <a:off x="284334" y="1094416"/>
            <a:ext cx="3883147" cy="835601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4.2.2 </a:t>
            </a:r>
            <a:r>
              <a:rPr lang="en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Dense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模型不同</a:t>
            </a:r>
            <a:endParaRPr lang="en-US" altLang="zh-CN" sz="24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  <a:p>
            <a:pPr algn="ctr"/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内存限制测试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F94141-F412-D2AF-525E-FBE789D70BD5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B3CD2-9F83-80D2-C3D8-92A3B67C6D0C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C8069D5-A6C8-0E55-9ABA-7A825CB5740B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3235190C-EEAB-E010-9453-1C27B391DD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2A256BB5-A076-84B5-DA98-9E5477989C61}"/>
              </a:ext>
            </a:extLst>
          </p:cNvPr>
          <p:cNvSpPr txBox="1"/>
          <p:nvPr/>
        </p:nvSpPr>
        <p:spPr>
          <a:xfrm>
            <a:off x="404868" y="2491286"/>
            <a:ext cx="36420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Dense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模型在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native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window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配置下均能保持较高吞吐。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当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memory cap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下降到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3072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MB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以下时，系统进入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I/O-bound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状态，吞吐快速下降，说明仅依赖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mmap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缺页加载会导致严重同步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I/O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阻塞。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274F2FF-F31F-B663-488B-3B395E728A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481" y="1375172"/>
            <a:ext cx="7889933" cy="409545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D1454CD-8BEE-EBA1-C3A0-3D13844546FC}"/>
              </a:ext>
            </a:extLst>
          </p:cNvPr>
          <p:cNvSpPr txBox="1"/>
          <p:nvPr/>
        </p:nvSpPr>
        <p:spPr>
          <a:xfrm>
            <a:off x="567721" y="5638300"/>
            <a:ext cx="103472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结论：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窗口机制适合在“可容纳活跃权重窗口”的内存区间工作；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/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过低内存限制下，需要进一步结合更激进的权重流式加载或模型侧压缩。</a:t>
            </a:r>
          </a:p>
        </p:txBody>
      </p:sp>
    </p:spTree>
    <p:extLst>
      <p:ext uri="{BB962C8B-B14F-4D97-AF65-F5344CB8AC3E}">
        <p14:creationId xmlns:p14="http://schemas.microsoft.com/office/powerpoint/2010/main" val="27682780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58369" y="1648838"/>
            <a:ext cx="429319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186656" y="1130784"/>
            <a:ext cx="4890093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4.3.1 MoE-Buffer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工作集边界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4C9E60DA-9FBA-35F6-CFFD-C0CD2422D3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37DD2430-770C-D0F0-7927-800680B025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2161" y="1135986"/>
            <a:ext cx="5761470" cy="355024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3BE69A9-E8D6-AA4E-6B1A-C74CC7FAD0AE}"/>
              </a:ext>
            </a:extLst>
          </p:cNvPr>
          <p:cNvSpPr txBox="1"/>
          <p:nvPr/>
        </p:nvSpPr>
        <p:spPr>
          <a:xfrm>
            <a:off x="755724" y="2039406"/>
            <a:ext cx="459752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MoE-Buffer 存在明显的工作集边界。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当 budget 较低时，缓存无法覆盖活跃 expert，evictions 和 read/token 较高，系统处于 I/O 抖动状态。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当 budget 增至 2432MB 左右时，evictions 降为 0，read/token 接近 0，说明主要活跃 expert 已被缓冲区覆盖。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E96FDA4-61C9-C369-7503-B67B0C7BF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549935"/>
              </p:ext>
            </p:extLst>
          </p:nvPr>
        </p:nvGraphicFramePr>
        <p:xfrm>
          <a:off x="1025949" y="4669591"/>
          <a:ext cx="9445600" cy="201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89120">
                  <a:extLst>
                    <a:ext uri="{9D8B030D-6E8A-4147-A177-3AD203B41FA5}">
                      <a16:colId xmlns:a16="http://schemas.microsoft.com/office/drawing/2014/main" val="2088818981"/>
                    </a:ext>
                  </a:extLst>
                </a:gridCol>
                <a:gridCol w="1889120">
                  <a:extLst>
                    <a:ext uri="{9D8B030D-6E8A-4147-A177-3AD203B41FA5}">
                      <a16:colId xmlns:a16="http://schemas.microsoft.com/office/drawing/2014/main" val="3123614019"/>
                    </a:ext>
                  </a:extLst>
                </a:gridCol>
                <a:gridCol w="1889120">
                  <a:extLst>
                    <a:ext uri="{9D8B030D-6E8A-4147-A177-3AD203B41FA5}">
                      <a16:colId xmlns:a16="http://schemas.microsoft.com/office/drawing/2014/main" val="3147139377"/>
                    </a:ext>
                  </a:extLst>
                </a:gridCol>
                <a:gridCol w="1889120">
                  <a:extLst>
                    <a:ext uri="{9D8B030D-6E8A-4147-A177-3AD203B41FA5}">
                      <a16:colId xmlns:a16="http://schemas.microsoft.com/office/drawing/2014/main" val="21687070"/>
                    </a:ext>
                  </a:extLst>
                </a:gridCol>
                <a:gridCol w="1889120">
                  <a:extLst>
                    <a:ext uri="{9D8B030D-6E8A-4147-A177-3AD203B41FA5}">
                      <a16:colId xmlns:a16="http://schemas.microsoft.com/office/drawing/2014/main" val="1085911851"/>
                    </a:ext>
                  </a:extLst>
                </a:gridCol>
              </a:tblGrid>
              <a:tr h="3330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Budget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Evictions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Read/token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吞吐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状态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3929412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768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7392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1.97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严重抖动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7880348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1536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2710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2.23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过渡状态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934739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2048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618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6.22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开始收敛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8011519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2432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≈0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11.57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工作集边界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3242470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2560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≈0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9.43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稳态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28488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7E5E-7542-63D1-90F9-0A29DD2B6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32D15A0A-48B1-2E60-9907-D39917289E4C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C953AF5-8F49-6249-53D3-E57950B90268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6042DFE4-0AC5-F037-419F-3899FA1056ED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E6DCCD5A-C9F5-C905-288F-362E26FEA6F0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909E3C1A-5050-6FD5-C7B4-3B90942809C5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B072BB23-C58E-072B-A2AA-32D0516FE3A3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81C73CBF-B596-EDC1-79B1-76569FF72DBF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F986C-E94B-10B8-FBD0-3ADBEDEB5DB2}"/>
              </a:ext>
            </a:extLst>
          </p:cNvPr>
          <p:cNvCxnSpPr>
            <a:cxnSpLocks/>
          </p:cNvCxnSpPr>
          <p:nvPr/>
        </p:nvCxnSpPr>
        <p:spPr>
          <a:xfrm>
            <a:off x="871423" y="1928278"/>
            <a:ext cx="31755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F8E084C8-3647-4D45-8146-BB10691DC4A1}"/>
              </a:ext>
            </a:extLst>
          </p:cNvPr>
          <p:cNvSpPr txBox="1"/>
          <p:nvPr/>
        </p:nvSpPr>
        <p:spPr>
          <a:xfrm>
            <a:off x="978107" y="1059822"/>
            <a:ext cx="3068842" cy="835601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4.3.2 CLG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过预测提升 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I/O-Compute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重叠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3A140A6-EBA2-9E4B-D9E5-544C417F4DE5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2B56758-6483-2DF3-4FEA-64311F1570BA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58069-2737-DE44-F110-F9ACD42B3073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4EF93CD4-6260-B548-3A61-58DAEE2F01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6D95C31-D25F-2C24-5648-E4997E422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1768" y="1217840"/>
            <a:ext cx="5991163" cy="396121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A43519E-66AE-C71F-848C-F0406A8F268C}"/>
              </a:ext>
            </a:extLst>
          </p:cNvPr>
          <p:cNvSpPr txBox="1"/>
          <p:nvPr/>
        </p:nvSpPr>
        <p:spPr>
          <a:xfrm>
            <a:off x="677319" y="2245355"/>
            <a:ext cx="425632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CLG 通过预测下一层可能激活的 expert，并提前发起加载请求。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适度增大过预测参数 δ 可以提高预取提前量，使 I/O 与计算更充分重叠。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实验中 δ=8 时吞吐达到 17.27 tok/s，而 RSS 只从 2411MB 增加到 2634MB，额外内存开销较小。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142A7DD-E1DE-3207-925A-E97530E9C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387028"/>
              </p:ext>
            </p:extLst>
          </p:nvPr>
        </p:nvGraphicFramePr>
        <p:xfrm>
          <a:off x="1373279" y="5179056"/>
          <a:ext cx="8451070" cy="14630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86340">
                  <a:extLst>
                    <a:ext uri="{9D8B030D-6E8A-4147-A177-3AD203B41FA5}">
                      <a16:colId xmlns:a16="http://schemas.microsoft.com/office/drawing/2014/main" val="3120175711"/>
                    </a:ext>
                  </a:extLst>
                </a:gridCol>
                <a:gridCol w="1689904">
                  <a:extLst>
                    <a:ext uri="{9D8B030D-6E8A-4147-A177-3AD203B41FA5}">
                      <a16:colId xmlns:a16="http://schemas.microsoft.com/office/drawing/2014/main" val="3397727412"/>
                    </a:ext>
                  </a:extLst>
                </a:gridCol>
                <a:gridCol w="1435261">
                  <a:extLst>
                    <a:ext uri="{9D8B030D-6E8A-4147-A177-3AD203B41FA5}">
                      <a16:colId xmlns:a16="http://schemas.microsoft.com/office/drawing/2014/main" val="1736549791"/>
                    </a:ext>
                  </a:extLst>
                </a:gridCol>
                <a:gridCol w="2025569">
                  <a:extLst>
                    <a:ext uri="{9D8B030D-6E8A-4147-A177-3AD203B41FA5}">
                      <a16:colId xmlns:a16="http://schemas.microsoft.com/office/drawing/2014/main" val="3264679779"/>
                    </a:ext>
                  </a:extLst>
                </a:gridCol>
                <a:gridCol w="2013996">
                  <a:extLst>
                    <a:ext uri="{9D8B030D-6E8A-4147-A177-3AD203B41FA5}">
                      <a16:colId xmlns:a16="http://schemas.microsoft.com/office/drawing/2014/main" val="16082086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RSS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命中率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吞吐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说明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706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2411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12.52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基线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321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2579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93%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16.48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overlap 增强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265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2634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93%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17.27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/>
                        <a:t>性能最优区间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2747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19048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4DE37-BC12-9275-95BD-5639BEC8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4B518E0E-E84A-324E-CB9D-1B99346C7F7C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358105-CE88-84C8-C332-A0E43D119FF7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B52E2A9-8542-54FB-D70C-141803F1A5AC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08F1320B-1F6D-7FF9-5AA7-BFD929166E1C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4FC23803-3094-F6D9-F516-2187175EEF07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14E1A02B-D7C7-D2F1-3DA7-C591FEA96448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1F56047B-C800-BB0D-4D45-410A1CE01AE9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C23111D-D887-4DCB-33F2-DA4B70215BAB}"/>
              </a:ext>
            </a:extLst>
          </p:cNvPr>
          <p:cNvCxnSpPr>
            <a:cxnSpLocks/>
          </p:cNvCxnSpPr>
          <p:nvPr/>
        </p:nvCxnSpPr>
        <p:spPr>
          <a:xfrm>
            <a:off x="646133" y="1782962"/>
            <a:ext cx="362119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C53DFA76-D147-ED97-36C6-100A3F345EB7}"/>
              </a:ext>
            </a:extLst>
          </p:cNvPr>
          <p:cNvSpPr txBox="1"/>
          <p:nvPr/>
        </p:nvSpPr>
        <p:spPr>
          <a:xfrm>
            <a:off x="608179" y="1288735"/>
            <a:ext cx="3659151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4.3.3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多 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worker I/O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扩展性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26EC6AA-E5BE-B7B9-F1BC-A53FD8D717AF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4110FD7-FD99-2879-2708-C03B06C3EE81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A817DF-7632-F986-9086-36235371AFAB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3470F62D-4A6A-A4DC-BCA7-65B04685BD4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21B814C-96A6-8640-2A7F-D799972775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012" y="1179765"/>
            <a:ext cx="6044188" cy="389672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83C5E80-A453-E7FD-1F93-73DAF89C6E33}"/>
              </a:ext>
            </a:extLst>
          </p:cNvPr>
          <p:cNvSpPr txBox="1"/>
          <p:nvPr/>
        </p:nvSpPr>
        <p:spPr>
          <a:xfrm>
            <a:off x="608179" y="2385924"/>
            <a:ext cx="504544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MoE-Buffer 支持多 worker 并行读取 expert slice。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在低 budget 下，系统更容易受到 I/O 等待影响，多 worker 能显著减少同步等待。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当 budget 为 1536MB 时，4 worker 相比 1 worker 获得约 2.4× 加速。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6D740EE7-29D6-DF69-FFDB-F14C43D9D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53512"/>
              </p:ext>
            </p:extLst>
          </p:nvPr>
        </p:nvGraphicFramePr>
        <p:xfrm>
          <a:off x="1177251" y="5109868"/>
          <a:ext cx="9142996" cy="14630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285749">
                  <a:extLst>
                    <a:ext uri="{9D8B030D-6E8A-4147-A177-3AD203B41FA5}">
                      <a16:colId xmlns:a16="http://schemas.microsoft.com/office/drawing/2014/main" val="1316389095"/>
                    </a:ext>
                  </a:extLst>
                </a:gridCol>
                <a:gridCol w="2285749">
                  <a:extLst>
                    <a:ext uri="{9D8B030D-6E8A-4147-A177-3AD203B41FA5}">
                      <a16:colId xmlns:a16="http://schemas.microsoft.com/office/drawing/2014/main" val="2975715935"/>
                    </a:ext>
                  </a:extLst>
                </a:gridCol>
                <a:gridCol w="2285749">
                  <a:extLst>
                    <a:ext uri="{9D8B030D-6E8A-4147-A177-3AD203B41FA5}">
                      <a16:colId xmlns:a16="http://schemas.microsoft.com/office/drawing/2014/main" val="863242888"/>
                    </a:ext>
                  </a:extLst>
                </a:gridCol>
                <a:gridCol w="2285749">
                  <a:extLst>
                    <a:ext uri="{9D8B030D-6E8A-4147-A177-3AD203B41FA5}">
                      <a16:colId xmlns:a16="http://schemas.microsoft.com/office/drawing/2014/main" val="233841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Budget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 worker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 workers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加速比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7039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512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1.58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2.87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1.8×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6067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768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1.97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3.75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1.9×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6354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1536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2.23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5.42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2.4×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9280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829669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39677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EF2C3E99-4D98-61BA-42A2-6DDBFB1257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841E828-BE9A-B1C7-9ACC-AB6B1F0198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57" y="1633460"/>
            <a:ext cx="5661014" cy="3742929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FE7573F-ACCF-9F76-34E2-B9EBF416938A}"/>
              </a:ext>
            </a:extLst>
          </p:cNvPr>
          <p:cNvSpPr txBox="1"/>
          <p:nvPr/>
        </p:nvSpPr>
        <p:spPr>
          <a:xfrm>
            <a:off x="1131504" y="5562295"/>
            <a:ext cx="992899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itchFamily="2" charset="2"/>
              <a:buChar char="n"/>
            </a:pP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ctx4096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↓611.9 MiB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active TPS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仅 ↓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3.0%</a:t>
            </a:r>
          </a:p>
          <a:p>
            <a:pPr marL="342900" indent="-342900">
              <a:buFont typeface="Wingdings" pitchFamily="2" charset="2"/>
              <a:buChar char="n"/>
            </a:pP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ctx8192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↓1619.2 MiB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active TPS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仅 ↓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1.0%</a:t>
            </a:r>
          </a:p>
          <a:p>
            <a:pPr marL="342900" indent="-342900">
              <a:buFont typeface="Wingdings" pitchFamily="2" charset="2"/>
              <a:buChar char="n"/>
            </a:pP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mincore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结果表明：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drop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KV resident drop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高度一致，证明物理页被真实回收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12B5B5D4-E930-16AE-27AE-DB7250F5C1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641" y="2039258"/>
            <a:ext cx="5495416" cy="3287935"/>
          </a:xfrm>
          <a:prstGeom prst="rect">
            <a:avLst/>
          </a:prstGeom>
        </p:spPr>
      </p:pic>
      <p:sp>
        <p:nvSpPr>
          <p:cNvPr id="19" name="TextBox 6">
            <a:extLst>
              <a:ext uri="{FF2B5EF4-FFF2-40B4-BE49-F238E27FC236}">
                <a16:creationId xmlns:a16="http://schemas.microsoft.com/office/drawing/2014/main" id="{3BBFE682-7D3A-CA2E-D172-83C66ACAA3FA}"/>
              </a:ext>
            </a:extLst>
          </p:cNvPr>
          <p:cNvSpPr txBox="1"/>
          <p:nvPr/>
        </p:nvSpPr>
        <p:spPr>
          <a:xfrm>
            <a:off x="444256" y="1062571"/>
            <a:ext cx="3949265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4.4.1 KV Cache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回收测试结果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3AC84-EC06-DC23-4ADB-4D51EFA14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DF3B7907-ED83-1F14-4252-28DEFE92A611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A6C51A8-F18D-FBF3-B1E7-CB1B9F7FF208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AFEBB55-A474-6BDF-917A-B9E19B3AB33D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F129402D-78E8-E2C7-2E3E-D5D283BD7BDA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65E296CE-4294-E0D5-7FDA-805CC60B5E45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256BC449-08C2-1CA4-3995-24C71BA01F58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9AC99240-5443-5081-FFD8-D729003A5841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3DDCD904-91CF-6088-73C0-DB94B422A061}"/>
              </a:ext>
            </a:extLst>
          </p:cNvPr>
          <p:cNvCxnSpPr>
            <a:cxnSpLocks/>
          </p:cNvCxnSpPr>
          <p:nvPr/>
        </p:nvCxnSpPr>
        <p:spPr>
          <a:xfrm>
            <a:off x="430325" y="1714034"/>
            <a:ext cx="465099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28A6285-FB0D-9F69-2F26-9CE446135CC2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4087758-C56C-D3EB-7288-CE7DCF5167C2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803ED9-F1F6-D36C-AFE7-870852C04FB1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859BF6B5-DB23-1E71-2409-CB81B40DAF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F4A383E-8960-F1F1-FC54-DDD395108F57}"/>
              </a:ext>
            </a:extLst>
          </p:cNvPr>
          <p:cNvSpPr txBox="1"/>
          <p:nvPr/>
        </p:nvSpPr>
        <p:spPr>
          <a:xfrm>
            <a:off x="7165024" y="2391286"/>
            <a:ext cx="459665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使用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ShareGPT-backed trace replay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验证真实对话负载：</a:t>
            </a:r>
          </a:p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ctx4096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drop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为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611.9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MiBactive TPS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下降约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3.01%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ctx8192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drop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扩大到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1619.2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MiB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active TPS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仅下降约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1.01%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endParaRPr lang="zh-CN" altLang="en-US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说明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KV Cache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回收机制在真实对话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trace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中仍能稳定释放内存，且长上下文场景下收益更明显。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CDA3748-2816-D0C1-E721-F6BB872EF7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25" y="1995109"/>
            <a:ext cx="6348224" cy="3962454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444D3BBB-6E16-5770-837A-CE48E6350F92}"/>
              </a:ext>
            </a:extLst>
          </p:cNvPr>
          <p:cNvSpPr txBox="1"/>
          <p:nvPr/>
        </p:nvSpPr>
        <p:spPr>
          <a:xfrm>
            <a:off x="511127" y="1199825"/>
            <a:ext cx="4489392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4.4.2 ShareGPT Trace Replay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验证</a:t>
            </a:r>
          </a:p>
        </p:txBody>
      </p:sp>
    </p:spTree>
    <p:extLst>
      <p:ext uri="{BB962C8B-B14F-4D97-AF65-F5344CB8AC3E}">
        <p14:creationId xmlns:p14="http://schemas.microsoft.com/office/powerpoint/2010/main" val="2208774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34716" y="1645381"/>
            <a:ext cx="370379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34715" y="1141248"/>
            <a:ext cx="3703791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4.5 Fast Maintenance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消融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716BBE30-04E2-C805-2EDB-CBED7A08F35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4D41C2E7-6022-0857-41DC-835EDE9557CB}"/>
              </a:ext>
            </a:extLst>
          </p:cNvPr>
          <p:cNvSpPr txBox="1"/>
          <p:nvPr/>
        </p:nvSpPr>
        <p:spPr>
          <a:xfrm>
            <a:off x="7866452" y="2063445"/>
            <a:ext cx="412992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Fast Maintenance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通过降低维护频率、限制每轮回收数量、并设置最小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idle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步数，减少短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idle block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的反复换出与恢复。</a:t>
            </a:r>
          </a:p>
          <a:p>
            <a:endParaRPr lang="zh-CN" altLang="en-US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V5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配置相比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V4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</a:p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drop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从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533.1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MiB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提升到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611.9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MiB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active TPS delta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从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-7.19%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改善到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-3.01%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endParaRPr lang="zh-CN" altLang="en-US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说明该策略在提高内存回收收益的同时降低了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decode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热路径开销。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F3F367D-6346-5CFE-3741-FFFE6EF097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20" y="1868609"/>
            <a:ext cx="7493000" cy="4483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78942" y="1052236"/>
            <a:ext cx="2400000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4.6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叠加效果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>
            <a:extLst>
              <a:ext uri="{FF2B5EF4-FFF2-40B4-BE49-F238E27FC236}">
                <a16:creationId xmlns:a16="http://schemas.microsoft.com/office/drawing/2014/main" id="{B79F84CB-B32D-5C92-53EE-7F33C41E013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DD87FD9-D14A-708E-C48F-E05B0D7138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3519" y="1077092"/>
            <a:ext cx="6033104" cy="378214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34019E0-9C5C-84AB-7A95-904C7D7401E4}"/>
              </a:ext>
            </a:extLst>
          </p:cNvPr>
          <p:cNvSpPr txBox="1"/>
          <p:nvPr/>
        </p:nvSpPr>
        <p:spPr>
          <a:xfrm>
            <a:off x="478377" y="1789077"/>
            <a:ext cx="496777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Flex auto 与 KV Cache reclaim 作用于不同内存来源，因此收益可以叠加。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Flex auto 主要降低 dense 模型权重侧 resident memory；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KV-only 主要释放 idle KV blocks 对应的运行时缓存页。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二者组合后，RSS 从 8.28 GiB 降至 4.49 GiB，总体下降约 45.8%，active TPS 仍保持接近原始路径。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1CFC934B-660D-6265-C5E8-A51FF460D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86677"/>
              </p:ext>
            </p:extLst>
          </p:nvPr>
        </p:nvGraphicFramePr>
        <p:xfrm>
          <a:off x="748998" y="4897093"/>
          <a:ext cx="10515600" cy="18288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3447928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754037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0957988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6344908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050161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配置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Active TPS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swap-out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882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default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8.28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14.593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原始路径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6677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flex auto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4.90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14.749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权重侧降 RSS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8213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KV-only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7.87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14.143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侧单独生效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0655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+ flex auto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4.49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14.171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两类优化叠加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986537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703276-BE52-10B1-565F-50306963B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B3C1424-BC54-4A9B-36B4-355300AF2E1B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9C8BA51-BDA7-1B33-5C92-4DDC22AB9F12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B3371BA3-7566-0AA1-38AB-7D37B5C11E6B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EDCE6DE1-FE39-2D36-DE15-D2ADA66E398A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07B6F792-A06E-72A5-E7D8-1E7E52F38DD9}"/>
              </a:ext>
            </a:extLst>
          </p:cNvPr>
          <p:cNvSpPr txBox="1"/>
          <p:nvPr/>
        </p:nvSpPr>
        <p:spPr>
          <a:xfrm>
            <a:off x="5321588" y="3416749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Part.05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93D329-A760-96F0-831B-F71651584972}"/>
              </a:ext>
            </a:extLst>
          </p:cNvPr>
          <p:cNvSpPr txBox="1"/>
          <p:nvPr/>
        </p:nvSpPr>
        <p:spPr>
          <a:xfrm>
            <a:off x="3327400" y="4962099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项目总结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CE4D4B4-C102-44F0-F478-9F25F26F6E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068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FDE3-13DE-58B9-5CC9-30AD605E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9D4C0FBB-F1EB-EFFC-2EF0-9B6AF548EBA1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198956-07CF-7915-E464-97593FEB1286}"/>
              </a:ext>
            </a:extLst>
          </p:cNvPr>
          <p:cNvSpPr/>
          <p:nvPr/>
        </p:nvSpPr>
        <p:spPr>
          <a:xfrm>
            <a:off x="10003249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E8C6A7B-5AC8-C6B6-10D3-79C4A2C52C30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44733A39-ABD6-5E51-31B2-3A558F49AFDA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278F7EBB-7B01-76E4-7103-BCFEEF03092A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679B8EE6-F6CE-371E-BA9F-35F8BAD137FD}"/>
              </a:ext>
            </a:extLst>
          </p:cNvPr>
          <p:cNvSpPr txBox="1"/>
          <p:nvPr/>
        </p:nvSpPr>
        <p:spPr>
          <a:xfrm>
            <a:off x="84803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研究成果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F1A977F2-C98A-4F41-9172-55E43830C4D5}"/>
              </a:ext>
            </a:extLst>
          </p:cNvPr>
          <p:cNvSpPr txBox="1"/>
          <p:nvPr/>
        </p:nvSpPr>
        <p:spPr>
          <a:xfrm>
            <a:off x="10182151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论文总结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F49DEBF-B3A4-3786-4D38-4D5A7DE4D0B4}"/>
              </a:ext>
            </a:extLst>
          </p:cNvPr>
          <p:cNvCxnSpPr>
            <a:cxnSpLocks/>
          </p:cNvCxnSpPr>
          <p:nvPr/>
        </p:nvCxnSpPr>
        <p:spPr>
          <a:xfrm>
            <a:off x="425752" y="1528840"/>
            <a:ext cx="319139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8C146649-6EBD-6C7F-43AF-85309FA57114}"/>
              </a:ext>
            </a:extLst>
          </p:cNvPr>
          <p:cNvSpPr txBox="1"/>
          <p:nvPr/>
        </p:nvSpPr>
        <p:spPr>
          <a:xfrm>
            <a:off x="425752" y="1034613"/>
            <a:ext cx="3191398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5.1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项目工作总结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6BBA890-F101-C3C6-EE21-385E48FFFDC5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EEA5E04-A605-68B5-26C0-7D85B4D17A43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758A8B-8A92-DC51-F6DF-70EDD074ED6C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D669F50-C74C-40EF-F261-D88BC15E494E}"/>
              </a:ext>
            </a:extLst>
          </p:cNvPr>
          <p:cNvCxnSpPr/>
          <p:nvPr/>
        </p:nvCxnSpPr>
        <p:spPr>
          <a:xfrm>
            <a:off x="8337248" y="313246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>
            <a:extLst>
              <a:ext uri="{FF2B5EF4-FFF2-40B4-BE49-F238E27FC236}">
                <a16:creationId xmlns:a16="http://schemas.microsoft.com/office/drawing/2014/main" id="{BCC3D4D1-E2B6-7698-D2E8-E6356913BB2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5E40B83-BFF2-EDE7-7722-A0FE94887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002916"/>
              </p:ext>
            </p:extLst>
          </p:nvPr>
        </p:nvGraphicFramePr>
        <p:xfrm>
          <a:off x="1538461" y="1743495"/>
          <a:ext cx="9115077" cy="478011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38359">
                  <a:extLst>
                    <a:ext uri="{9D8B030D-6E8A-4147-A177-3AD203B41FA5}">
                      <a16:colId xmlns:a16="http://schemas.microsoft.com/office/drawing/2014/main" val="2694015343"/>
                    </a:ext>
                  </a:extLst>
                </a:gridCol>
                <a:gridCol w="1707482">
                  <a:extLst>
                    <a:ext uri="{9D8B030D-6E8A-4147-A177-3AD203B41FA5}">
                      <a16:colId xmlns:a16="http://schemas.microsoft.com/office/drawing/2014/main" val="526344773"/>
                    </a:ext>
                  </a:extLst>
                </a:gridCol>
                <a:gridCol w="4369236">
                  <a:extLst>
                    <a:ext uri="{9D8B030D-6E8A-4147-A177-3AD203B41FA5}">
                      <a16:colId xmlns:a16="http://schemas.microsoft.com/office/drawing/2014/main" val="2319609107"/>
                    </a:ext>
                  </a:extLst>
                </a:gridCol>
              </a:tblGrid>
              <a:tr h="651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完成情况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marL="55786" marR="55786" marT="27893" marB="27893" anchor="ctr"/>
                </a:tc>
                <a:extLst>
                  <a:ext uri="{0D108BD9-81ED-4DB2-BD59-A6C34878D82A}">
                    <a16:rowId xmlns:a16="http://schemas.microsoft.com/office/drawing/2014/main" val="1024286106"/>
                  </a:ext>
                </a:extLst>
              </a:tr>
              <a:tr h="8925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目标1：分析 LLM 推理访存行为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 llama.cpp 推理流程、权重逐层访问规律、KV Cache 动态增长规律和 MoE 专家稀疏激活特征分析，为后续优化策略设计提供依据。</a:t>
                      </a:r>
                    </a:p>
                  </a:txBody>
                  <a:tcPr marL="55786" marR="55786" marT="27893" marB="27893" anchor="ctr"/>
                </a:tc>
                <a:extLst>
                  <a:ext uri="{0D108BD9-81ED-4DB2-BD59-A6C34878D82A}">
                    <a16:rowId xmlns:a16="http://schemas.microsoft.com/office/drawing/2014/main" val="2973521389"/>
                  </a:ext>
                </a:extLst>
              </a:tr>
              <a:tr h="8925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目标2：构建权重侧运行时内存管理机制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 Dense Flex 层级环形缓冲、MoE-Buffer 专家切片流式加载、CLG 预测预取、多 worker 并行 I/O，并关闭 repack 以减少冗余驻留。</a:t>
                      </a:r>
                    </a:p>
                  </a:txBody>
                  <a:tcPr marL="55786" marR="55786" marT="27893" marB="27893" anchor="ctr"/>
                </a:tc>
                <a:extLst>
                  <a:ext uri="{0D108BD9-81ED-4DB2-BD59-A6C34878D82A}">
                    <a16:rowId xmlns:a16="http://schemas.microsoft.com/office/drawing/2014/main" val="1822358529"/>
                  </a:ext>
                </a:extLst>
              </a:tr>
              <a:tr h="8925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目标3：实现 KV Cache 运行时物理页回收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 block-level KV 管理、paged row index、dummy row 重定向、swap-out / swap-in、madvise 物理页释放和 resume-aware prefetch。</a:t>
                      </a:r>
                    </a:p>
                  </a:txBody>
                  <a:tcPr marL="55786" marR="55786" marT="27893" marB="27893" anchor="ctr"/>
                </a:tc>
                <a:extLst>
                  <a:ext uri="{0D108BD9-81ED-4DB2-BD59-A6C34878D82A}">
                    <a16:rowId xmlns:a16="http://schemas.microsoft.com/office/drawing/2014/main" val="806921566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目标4：完成综合测试与叠加验证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完成权重侧、MoE、KV Cache、Fast Maintenance 和 KV+Flex 组合测试。组合方案 RSS 下降约 45.8%，active TPS 基本保持可控。</a:t>
                      </a:r>
                    </a:p>
                  </a:txBody>
                  <a:tcPr marL="55786" marR="55786" marT="27893" marB="27893" anchor="ctr"/>
                </a:tc>
                <a:extLst>
                  <a:ext uri="{0D108BD9-81ED-4DB2-BD59-A6C34878D82A}">
                    <a16:rowId xmlns:a16="http://schemas.microsoft.com/office/drawing/2014/main" val="4046235437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总体完成度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55786" marR="55786" marT="27893" marB="2789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已完成从机制设计、源码实现、实验验证到最终集成的完整闭环，验证了权重侧优化与 KV Cache 回收收益可以叠加。</a:t>
                      </a:r>
                    </a:p>
                  </a:txBody>
                  <a:tcPr marL="55786" marR="55786" marT="27893" marB="27893" anchor="ctr"/>
                </a:tc>
                <a:extLst>
                  <a:ext uri="{0D108BD9-81ED-4DB2-BD59-A6C34878D82A}">
                    <a16:rowId xmlns:a16="http://schemas.microsoft.com/office/drawing/2014/main" val="676165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5484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38F8B-3E4E-F905-E24E-F66BCD325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09CBA26-2573-B54D-436D-204C1DB537F6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08DEB11-6E74-1AAC-4ED5-24D9A768AD29}"/>
              </a:ext>
            </a:extLst>
          </p:cNvPr>
          <p:cNvSpPr/>
          <p:nvPr/>
        </p:nvSpPr>
        <p:spPr>
          <a:xfrm>
            <a:off x="10003249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40AA795F-3710-0CFE-6790-DBA037E822D5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8AD470F7-C35C-1659-6E31-3ADAFD98C148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01ED5F25-1C52-6D8F-711A-63D2248779BF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C95D587B-268B-E2F4-791E-93E5654C678A}"/>
              </a:ext>
            </a:extLst>
          </p:cNvPr>
          <p:cNvSpPr txBox="1"/>
          <p:nvPr/>
        </p:nvSpPr>
        <p:spPr>
          <a:xfrm>
            <a:off x="84803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研究成果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88EED138-201D-7847-BC40-25FA8346F02A}"/>
              </a:ext>
            </a:extLst>
          </p:cNvPr>
          <p:cNvSpPr txBox="1"/>
          <p:nvPr/>
        </p:nvSpPr>
        <p:spPr>
          <a:xfrm>
            <a:off x="10182151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论文总结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38C64C3-DAE8-758F-FB69-48FD68123A53}"/>
              </a:ext>
            </a:extLst>
          </p:cNvPr>
          <p:cNvCxnSpPr>
            <a:cxnSpLocks/>
          </p:cNvCxnSpPr>
          <p:nvPr/>
        </p:nvCxnSpPr>
        <p:spPr>
          <a:xfrm>
            <a:off x="425752" y="1528840"/>
            <a:ext cx="319139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A7C48538-CF4B-F6B7-3F9A-29D28EB51009}"/>
              </a:ext>
            </a:extLst>
          </p:cNvPr>
          <p:cNvSpPr txBox="1"/>
          <p:nvPr/>
        </p:nvSpPr>
        <p:spPr>
          <a:xfrm>
            <a:off x="425752" y="1067728"/>
            <a:ext cx="3191398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5.2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现阶段存在的问题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1464911-8D55-FB11-C328-493816902617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9E9BF36-D7CF-42A0-21E2-E90626D1C0F5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793F660-DA21-CC8A-BF94-8CC5158B8E96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1744F61-9EEE-FF6D-ED82-EEC1A60FB430}"/>
              </a:ext>
            </a:extLst>
          </p:cNvPr>
          <p:cNvCxnSpPr/>
          <p:nvPr/>
        </p:nvCxnSpPr>
        <p:spPr>
          <a:xfrm>
            <a:off x="8337248" y="313246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64A7B29A-78CC-7C52-6155-A74E3C70D7EB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523334" y="1743495"/>
            <a:ext cx="10450830" cy="4445000"/>
          </a:xfrm>
          <a:prstGeom prst="rect">
            <a:avLst/>
          </a:prstGeom>
          <a:noFill/>
          <a:ln w="19050"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BA060AE8-0471-8B0C-1DDF-02D847873B01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914450" y="2095946"/>
            <a:ext cx="9472930" cy="533024"/>
            <a:chOff x="4910249" y="2565642"/>
            <a:chExt cx="5855110" cy="372353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89B949D6-014C-7326-CE90-5CDAE42C73CF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5296455" y="2565642"/>
              <a:ext cx="5468904" cy="3586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000" b="1" dirty="0">
                  <a:solidFill>
                    <a:schemeClr val="tx1"/>
                  </a:solidFill>
                  <a:latin typeface="Songti SC" panose="02010600040101010101" pitchFamily="2" charset="-122"/>
                  <a:ea typeface="Songti SC" panose="02010600040101010101" pitchFamily="2" charset="-122"/>
                </a:rPr>
                <a:t>受限内存场景性能瓶颈：cgroup 3GB下Dense模型吞吐从7.54降至0.40 t/s</a:t>
              </a: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9286729-84A6-F0A8-5770-BC6A4D986BB5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4910249" y="2570667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1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EC91B52C-4888-0D33-D995-627F841C1125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914452" y="3142294"/>
            <a:ext cx="8166257" cy="559098"/>
            <a:chOff x="4910249" y="3312144"/>
            <a:chExt cx="5704695" cy="390568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DBAF1219-6344-F382-CC5D-A1BDB40A8298}"/>
                </a:ext>
              </a:extLst>
            </p:cNvPr>
            <p:cNvSpPr txBox="1"/>
            <p:nvPr>
              <p:custDataLst>
                <p:tags r:id="rId10"/>
              </p:custDataLst>
            </p:nvPr>
          </p:nvSpPr>
          <p:spPr>
            <a:xfrm>
              <a:off x="5346848" y="3312144"/>
              <a:ext cx="5268096" cy="3586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000" b="1" dirty="0">
                  <a:solidFill>
                    <a:schemeClr val="tx1"/>
                  </a:solidFill>
                  <a:latin typeface="Songti SC" panose="02010600040101010101" pitchFamily="2" charset="-122"/>
                  <a:ea typeface="Songti SC" panose="02010600040101010101" pitchFamily="2" charset="-122"/>
                </a:rPr>
                <a:t>跨层共享页识别：共享页标记不可回收可能影响内存优化效果</a:t>
              </a: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07B7FD6-CBDB-6CC2-F3A2-46CC711D87A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4910249" y="3335384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2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8A8F04B6-4D12-3210-5C12-28476AFBE014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914452" y="4191171"/>
            <a:ext cx="8166257" cy="579417"/>
            <a:chOff x="4910249" y="4048556"/>
            <a:chExt cx="5704695" cy="404762"/>
          </a:xfrm>
        </p:grpSpPr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EC0EC0FE-DFA4-6C50-7628-1A8BE014BA68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5346848" y="4048556"/>
              <a:ext cx="5268096" cy="3586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000" b="1" dirty="0">
                  <a:latin typeface="Songti SC" panose="02010600040101010101" pitchFamily="2" charset="-122"/>
                  <a:ea typeface="Songti SC" panose="02010600040101010101" pitchFamily="2" charset="-122"/>
                </a:rPr>
                <a:t>当前主要验证CPU KV path：GPU backend需重新设计</a:t>
              </a: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73F31D9B-E7F3-4DDE-16E9-09BC1F29A7C8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4910249" y="4085990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3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36A716D-92B5-F93F-B584-ED7B073E1AF5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914452" y="5290844"/>
            <a:ext cx="8909050" cy="548939"/>
            <a:chOff x="4910249" y="4069847"/>
            <a:chExt cx="6223587" cy="383471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973BFB43-0ED7-76FD-3DAC-21510461639A}"/>
                </a:ext>
              </a:extLst>
            </p:cNvPr>
            <p:cNvSpPr txBox="1"/>
            <p:nvPr>
              <p:custDataLst>
                <p:tags r:id="rId6"/>
              </p:custDataLst>
            </p:nvPr>
          </p:nvSpPr>
          <p:spPr>
            <a:xfrm>
              <a:off x="5346743" y="4069847"/>
              <a:ext cx="5787093" cy="3586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000" b="1" dirty="0">
                  <a:latin typeface="Songti SC" panose="02010600040101010101" pitchFamily="2" charset="-122"/>
                  <a:ea typeface="Songti SC" panose="02010600040101010101" pitchFamily="2" charset="-122"/>
                </a:rPr>
                <a:t>prefetch仍是driver协作式：后续可改为独立异步prefetch worker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FA09E859-9208-3E34-634A-60161082C23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4910249" y="4085990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4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79E8B3CC-4125-E9A9-FB17-B95B52EC5AE9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178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20" grpId="0" bldLvl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0003249" y="0"/>
            <a:ext cx="1666001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绪论背景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研究思路</a:t>
            </a: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关键技术难点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研究成果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论文总结</a:t>
            </a: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287842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74509" y="1062571"/>
            <a:ext cx="2693390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5.3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未来发展方向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8337248" y="313246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3"/>
          <p:cNvSpPr/>
          <p:nvPr/>
        </p:nvSpPr>
        <p:spPr>
          <a:xfrm>
            <a:off x="425752" y="3038659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1" name="TextBox 75"/>
          <p:cNvSpPr txBox="1"/>
          <p:nvPr/>
        </p:nvSpPr>
        <p:spPr>
          <a:xfrm>
            <a:off x="4464895" y="1836452"/>
            <a:ext cx="6842413" cy="735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ts val="2000"/>
              </a:lnSpc>
            </a:pP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从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layer / expert / KV block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进一步细化到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block-level weight streaming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，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结合运行时内存压力统一调整权重驻留窗口、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KV reclaim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频率和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prefetch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强度。</a:t>
            </a:r>
          </a:p>
          <a:p>
            <a:pPr algn="just">
              <a:lnSpc>
                <a:spcPts val="2000"/>
              </a:lnSpc>
            </a:pP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目标是在不同模型、上下文长度和并发规模下自动寻找内存</a:t>
            </a: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-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性能平衡点。</a:t>
            </a:r>
            <a:endParaRPr lang="en-US" altLang="zh-CN" sz="1335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3" name="TextBox 76"/>
          <p:cNvSpPr txBox="1"/>
          <p:nvPr/>
        </p:nvSpPr>
        <p:spPr>
          <a:xfrm>
            <a:off x="4464895" y="3061271"/>
            <a:ext cx="6842412" cy="735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ts val="2000"/>
              </a:lnSpc>
            </a:pP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将当前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driver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协作式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prefetch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改造成独立后台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worker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。</a:t>
            </a:r>
          </a:p>
          <a:p>
            <a:pPr algn="just">
              <a:lnSpc>
                <a:spcPts val="2000"/>
              </a:lnSpc>
            </a:pP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根据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resume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预测、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session deadline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和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I/O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队列状态提前恢复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swapped KV blocks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，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减少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resume first-token latency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，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并避免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active decode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热路径抖动。</a:t>
            </a:r>
            <a:endParaRPr lang="en-US" altLang="zh-CN" sz="1335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5" name="矩形 3"/>
          <p:cNvSpPr/>
          <p:nvPr/>
        </p:nvSpPr>
        <p:spPr>
          <a:xfrm>
            <a:off x="425752" y="1769352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37" name="矩形 3"/>
          <p:cNvSpPr/>
          <p:nvPr/>
        </p:nvSpPr>
        <p:spPr>
          <a:xfrm>
            <a:off x="425752" y="4305457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44" name="TextBox 82"/>
          <p:cNvSpPr txBox="1"/>
          <p:nvPr/>
        </p:nvSpPr>
        <p:spPr>
          <a:xfrm>
            <a:off x="989459" y="1846996"/>
            <a:ext cx="229806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更细粒度的权重与 </a:t>
            </a:r>
            <a:r>
              <a:rPr lang="en" altLang="zh-CN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KV </a:t>
            </a:r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协同调度</a:t>
            </a:r>
          </a:p>
        </p:txBody>
      </p:sp>
      <p:sp>
        <p:nvSpPr>
          <p:cNvPr id="45" name="TextBox 83"/>
          <p:cNvSpPr txBox="1"/>
          <p:nvPr/>
        </p:nvSpPr>
        <p:spPr>
          <a:xfrm>
            <a:off x="707665" y="3104156"/>
            <a:ext cx="286165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真正异步化的 </a:t>
            </a:r>
            <a:r>
              <a:rPr lang="en" altLang="zh-CN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KV prefetch worker</a:t>
            </a:r>
            <a:endParaRPr lang="zh-CN" altLang="en-US" sz="2400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46" name="TextBox 84"/>
          <p:cNvSpPr txBox="1"/>
          <p:nvPr/>
        </p:nvSpPr>
        <p:spPr>
          <a:xfrm>
            <a:off x="1006110" y="4370954"/>
            <a:ext cx="229806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扩展到 </a:t>
            </a:r>
            <a:r>
              <a:rPr lang="en" altLang="zh-CN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GPU / </a:t>
            </a:r>
          </a:p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异构后端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90F6F00-96EA-4C85-D84F-9F6E77D564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3" name="TextBox 76">
            <a:extLst>
              <a:ext uri="{FF2B5EF4-FFF2-40B4-BE49-F238E27FC236}">
                <a16:creationId xmlns:a16="http://schemas.microsoft.com/office/drawing/2014/main" id="{28DF0D41-D43C-507C-EB7B-9321ADFD7F39}"/>
              </a:ext>
            </a:extLst>
          </p:cNvPr>
          <p:cNvSpPr txBox="1"/>
          <p:nvPr/>
        </p:nvSpPr>
        <p:spPr>
          <a:xfrm>
            <a:off x="4464895" y="5650043"/>
            <a:ext cx="6842412" cy="735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ts val="2000"/>
              </a:lnSpc>
            </a:pP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从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trace replay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扩展到长期运行的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server workload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。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引入多用户并发、不同上下文长度、不同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idle/resume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分布和真实请求到达模式，评估系统在长期运行下的稳定性、尾延迟和内存收益。</a:t>
            </a:r>
            <a:endParaRPr lang="en-US" altLang="zh-CN" sz="1335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3C24780-104D-6025-567D-0B9EDC70C8C0}"/>
              </a:ext>
            </a:extLst>
          </p:cNvPr>
          <p:cNvSpPr/>
          <p:nvPr/>
        </p:nvSpPr>
        <p:spPr>
          <a:xfrm>
            <a:off x="425750" y="5582943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400" b="1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面向真实服务负载的</a:t>
            </a:r>
            <a:endParaRPr lang="en-US" altLang="zh-CN" sz="2400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  <a:p>
            <a:pPr algn="ctr"/>
            <a:r>
              <a:rPr lang="zh-CN" altLang="zh-CN" sz="2400" b="1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系统化验证</a:t>
            </a:r>
            <a:endParaRPr lang="zh-CN" altLang="en-US" sz="2400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" name="TextBox 76">
            <a:extLst>
              <a:ext uri="{FF2B5EF4-FFF2-40B4-BE49-F238E27FC236}">
                <a16:creationId xmlns:a16="http://schemas.microsoft.com/office/drawing/2014/main" id="{D95AE8D2-EA46-0FA0-48A5-87EEC434B68F}"/>
              </a:ext>
            </a:extLst>
          </p:cNvPr>
          <p:cNvSpPr txBox="1"/>
          <p:nvPr/>
        </p:nvSpPr>
        <p:spPr>
          <a:xfrm>
            <a:off x="4464895" y="4439658"/>
            <a:ext cx="6842412" cy="735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ts val="2000"/>
              </a:lnSpc>
            </a:pP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针对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GPU backend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重新设计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KV backing store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host-device transfer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和显存页管理策略。</a:t>
            </a:r>
          </a:p>
          <a:p>
            <a:pPr algn="just">
              <a:lnSpc>
                <a:spcPts val="2000"/>
              </a:lnSpc>
            </a:pP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探索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CPU DRAM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SSD</a:t>
            </a:r>
            <a:r>
              <a:rPr lang="zh-CN" altLang="e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GPU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显存之间的分层驻留与数据迁移，使系统适配更真实的边缘 </a:t>
            </a:r>
            <a:r>
              <a:rPr lang="e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GPU 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或异构计算平台。</a:t>
            </a:r>
            <a:endParaRPr lang="en-US" altLang="zh-CN" sz="1335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5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800"/>
                            </p:stCondLst>
                            <p:childTnLst>
                              <p:par>
                                <p:cTn id="3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300"/>
                            </p:stCondLst>
                            <p:childTnLst>
                              <p:par>
                                <p:cTn id="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800"/>
                            </p:stCondLst>
                            <p:childTnLst>
                              <p:par>
                                <p:cTn id="4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3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9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47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18" grpId="0" animBg="1"/>
      <p:bldP spid="21" grpId="0"/>
      <p:bldP spid="23" grpId="0"/>
      <p:bldP spid="25" grpId="0" animBg="1"/>
      <p:bldP spid="37" grpId="0" animBg="1"/>
      <p:bldP spid="44" grpId="0"/>
      <p:bldP spid="45" grpId="0"/>
      <p:bldP spid="46" grpId="0"/>
      <p:bldP spid="3" grpId="0"/>
      <p:bldP spid="4" grpId="0" animBg="1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-5" y="0"/>
            <a:ext cx="12192000" cy="46801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20" y="205089"/>
            <a:ext cx="3922388" cy="7200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999085" y="2160677"/>
            <a:ext cx="10195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Thanks</a:t>
            </a:r>
          </a:p>
        </p:txBody>
      </p:sp>
      <p:grpSp>
        <p:nvGrpSpPr>
          <p:cNvPr id="31" name="组合 30"/>
          <p:cNvGrpSpPr/>
          <p:nvPr/>
        </p:nvGrpSpPr>
        <p:grpSpPr>
          <a:xfrm>
            <a:off x="2151350" y="1337698"/>
            <a:ext cx="8364250" cy="688357"/>
            <a:chOff x="2151350" y="1337698"/>
            <a:chExt cx="8364250" cy="688357"/>
          </a:xfrm>
        </p:grpSpPr>
        <p:sp>
          <p:nvSpPr>
            <p:cNvPr id="20" name="文本框 19"/>
            <p:cNvSpPr txBox="1"/>
            <p:nvPr/>
          </p:nvSpPr>
          <p:spPr>
            <a:xfrm>
              <a:off x="2151350" y="1337698"/>
              <a:ext cx="83642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rgbClr val="FFFFFF"/>
                  </a:solidFill>
                  <a:effectLst/>
                  <a:latin typeface="Songti SC Black" panose="02010600040101010101" pitchFamily="2" charset="-122"/>
                  <a:ea typeface="Songti SC Black" panose="02010600040101010101" pitchFamily="2" charset="-122"/>
                </a:rPr>
                <a:t>2026</a:t>
              </a:r>
              <a:r>
                <a:rPr lang="zh-CN" altLang="en-US" sz="2800" b="1" dirty="0">
                  <a:solidFill>
                    <a:srgbClr val="FFFFFF"/>
                  </a:solidFill>
                  <a:effectLst/>
                  <a:latin typeface="Songti SC Black" panose="02010600040101010101" pitchFamily="2" charset="-122"/>
                  <a:ea typeface="Songti SC Black" panose="02010600040101010101" pitchFamily="2" charset="-122"/>
                </a:rPr>
                <a:t>年全国大学生计算机系统能力大赛操作系统设计</a:t>
              </a:r>
              <a:endParaRPr lang="zh-CN" altLang="en-US" sz="2800" b="1" dirty="0">
                <a:latin typeface="Songti SC Black" panose="02010600040101010101" pitchFamily="2" charset="-122"/>
                <a:ea typeface="Songti SC Black" panose="0201060004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接连接符 22"/>
            <p:cNvCxnSpPr>
              <a:cxnSpLocks/>
            </p:cNvCxnSpPr>
            <p:nvPr/>
          </p:nvCxnSpPr>
          <p:spPr>
            <a:xfrm>
              <a:off x="2231059" y="2026055"/>
              <a:ext cx="820483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文本框 3"/>
          <p:cNvSpPr txBox="1"/>
          <p:nvPr/>
        </p:nvSpPr>
        <p:spPr>
          <a:xfrm>
            <a:off x="3251169" y="4877513"/>
            <a:ext cx="5793105" cy="1705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2400" b="1" dirty="0"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队伍名称：</a:t>
            </a:r>
            <a:r>
              <a:rPr lang="zh-CN" altLang="en-US" sz="2400" b="1" dirty="0">
                <a:latin typeface="Songti SC" panose="02010600040101010101" pitchFamily="2" charset="-122"/>
                <a:ea typeface="Songti SC" panose="02010600040101010101" pitchFamily="2" charset="-122"/>
                <a:sym typeface="+mn-ea"/>
              </a:rPr>
              <a:t>一起去爬梧桐山队</a:t>
            </a:r>
            <a:endParaRPr lang="en-US" altLang="zh-CN" sz="2400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 fontAlgn="auto">
              <a:lnSpc>
                <a:spcPct val="150000"/>
              </a:lnSpc>
            </a:pPr>
            <a:r>
              <a:rPr lang="zh-CN" altLang="en-US" sz="2400" b="1" dirty="0"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队伍成员：</a:t>
            </a:r>
            <a:r>
              <a:rPr lang="zh-CN" altLang="en-US" sz="2400" b="1" dirty="0">
                <a:latin typeface="Songti SC" panose="02010600040101010101" pitchFamily="2" charset="-122"/>
                <a:ea typeface="Songti SC" panose="02010600040101010101" pitchFamily="2" charset="-122"/>
                <a:sym typeface="+mn-ea"/>
              </a:rPr>
              <a:t>苏安炫、李思甜</a:t>
            </a:r>
            <a:endParaRPr lang="en-US" altLang="zh-CN" sz="2400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 fontAlgn="auto">
              <a:lnSpc>
                <a:spcPct val="150000"/>
              </a:lnSpc>
            </a:pPr>
            <a:r>
              <a:rPr lang="zh-CN" altLang="en-US" sz="2400" b="1" dirty="0"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指导老师：</a:t>
            </a:r>
            <a:r>
              <a:rPr lang="zh-CN" altLang="en-US" sz="2400" b="1" dirty="0">
                <a:latin typeface="Songti SC" panose="02010600040101010101" pitchFamily="2" charset="-122"/>
                <a:ea typeface="Songti SC" panose="02010600040101010101" pitchFamily="2" charset="-122"/>
                <a:sym typeface="+mn-ea"/>
              </a:rPr>
              <a:t>夏文、李诗逸</a:t>
            </a:r>
            <a:endParaRPr lang="en-US" altLang="zh-CN" sz="2400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151350" y="3352443"/>
            <a:ext cx="79927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Proj59-Runtime Optimization of LLM Inference for the Memory Constraint System</a:t>
            </a:r>
            <a:endParaRPr lang="en-US" altLang="zh-CN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0855325" y="6308090"/>
            <a:ext cx="1336675" cy="5499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Tm="4944">
        <p159:morph option="byObject"/>
      </p:transition>
    </mc:Choice>
    <mc:Fallback xmlns="">
      <p:transition advTm="4944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82*277"/>
  <p:tag name="TABLE_ENDDRAG_RECT" val="50*147*382*27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0*169"/>
  <p:tag name="TABLE_ENDDRAG_RECT" val="52*345*810*169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94*153"/>
  <p:tag name="TABLE_ENDDRAG_RECT" val="49*147*394*15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heme/theme1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011892"/>
      </a:accent6>
      <a:hlink>
        <a:srgbClr val="6B9F25"/>
      </a:hlink>
      <a:folHlink>
        <a:srgbClr val="9F6715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276</TotalTime>
  <Words>4134</Words>
  <Application>Microsoft Macintosh PowerPoint</Application>
  <PresentationFormat>宽屏</PresentationFormat>
  <Paragraphs>641</Paragraphs>
  <Slides>37</Slides>
  <Notes>37</Notes>
  <HiddenSlides>0</HiddenSlides>
  <MMClips>1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4" baseType="lpstr">
      <vt:lpstr>Songti SC</vt:lpstr>
      <vt:lpstr>Songti SC Black</vt:lpstr>
      <vt:lpstr>Songti SC Black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答辩-19</dc:title>
  <dc:creator>LP</dc:creator>
  <cp:lastModifiedBy>思甜 李</cp:lastModifiedBy>
  <cp:revision>127</cp:revision>
  <dcterms:created xsi:type="dcterms:W3CDTF">2016-11-24T09:20:00Z</dcterms:created>
  <dcterms:modified xsi:type="dcterms:W3CDTF">2026-06-30T15:12:00Z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17635949CFED4E798D8EA80D3406116F_13</vt:lpwstr>
  </property>
</Properties>
</file>